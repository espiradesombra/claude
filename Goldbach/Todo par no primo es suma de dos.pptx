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2246052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2_79749C29.xml" ContentType="application/vnd.ms-powerpoint.comments+xml"/>
  <Override PartName="/ppt/notesSlides/notesSlide5.xml" ContentType="application/vnd.openxmlformats-officedocument.presentationml.notesSlide+xml"/>
  <Override PartName="/ppt/comments/modernComment_103_6B868001.xml" ContentType="application/vnd.ms-powerpoint.comments+xml"/>
  <Override PartName="/ppt/notesSlides/notesSlide6.xml" ContentType="application/vnd.openxmlformats-officedocument.presentationml.notesSlide+xml"/>
  <Override PartName="/ppt/comments/modernComment_104_E0D0E88A.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06_CF6892B7.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5"/>
  </p:notesMasterIdLst>
  <p:sldIdLst>
    <p:sldId id="256" r:id="rId2"/>
    <p:sldId id="265" r:id="rId3"/>
    <p:sldId id="257" r:id="rId4"/>
    <p:sldId id="266" r:id="rId5"/>
    <p:sldId id="258" r:id="rId6"/>
    <p:sldId id="259" r:id="rId7"/>
    <p:sldId id="260" r:id="rId8"/>
    <p:sldId id="268" r:id="rId9"/>
    <p:sldId id="262" r:id="rId10"/>
    <p:sldId id="269" r:id="rId11"/>
    <p:sldId id="270" r:id="rId12"/>
    <p:sldId id="263" r:id="rId13"/>
    <p:sldId id="267" r:id="rId14"/>
  </p:sldIdLst>
  <p:sldSz cx="12192000" cy="6858000"/>
  <p:notesSz cx="7104063" cy="102346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D1212C-C91A-FD9A-DF48-A275403A61D6}" name="Víctor Manzanares Alberola" initials="VMA" userId="S::VMANALB@upv.edu.es::719b746a-f1d0-485e-ba71-4130b177cbc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84D70-9033-4FC5-91D4-54E6287DB4BE}" v="24" dt="2024-03-24T10:39:09.93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66382" autoAdjust="0"/>
  </p:normalViewPr>
  <p:slideViewPr>
    <p:cSldViewPr snapToGrid="0">
      <p:cViewPr varScale="1">
        <p:scale>
          <a:sx n="42" d="100"/>
          <a:sy n="42" d="100"/>
        </p:scale>
        <p:origin x="158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modernComment_101_22460520.xml><?xml version="1.0" encoding="utf-8"?>
<p188:cmLst xmlns:a="http://schemas.openxmlformats.org/drawingml/2006/main" xmlns:r="http://schemas.openxmlformats.org/officeDocument/2006/relationships" xmlns:p188="http://schemas.microsoft.com/office/powerpoint/2018/8/main">
  <p188:cm id="{109BE934-07C0-4152-AF5E-5549D023239D}" authorId="{CCD1212C-C91A-FD9A-DF48-A275403A61D6}" created="2024-03-21T23:50:00.799">
    <pc:sldMkLst xmlns:pc="http://schemas.microsoft.com/office/powerpoint/2013/main/command">
      <pc:docMk/>
      <pc:sldMk cId="575014176" sldId="257"/>
    </pc:sldMkLst>
    <p188:txBody>
      <a:bodyPr/>
      <a:lstStyle/>
      <a:p>
        <a:r>
          <a:rPr lang="es-ES"/>
          <a:t>Esta es una de las formas de almacenar informacion, </a:t>
        </a:r>
      </a:p>
    </p188:txBody>
  </p188:cm>
</p188:cmLst>
</file>

<file path=ppt/comments/modernComment_102_79749C29.xml><?xml version="1.0" encoding="utf-8"?>
<p188:cmLst xmlns:a="http://schemas.openxmlformats.org/drawingml/2006/main" xmlns:r="http://schemas.openxmlformats.org/officeDocument/2006/relationships" xmlns:p188="http://schemas.microsoft.com/office/powerpoint/2018/8/main">
  <p188:cm id="{2770B960-4A54-41E3-875E-6F3F021445D3}" authorId="{CCD1212C-C91A-FD9A-DF48-A275403A61D6}" created="2024-03-21T23:51:25.011">
    <ac:deMkLst xmlns:ac="http://schemas.microsoft.com/office/drawing/2013/main/command">
      <pc:docMk xmlns:pc="http://schemas.microsoft.com/office/powerpoint/2013/main/command"/>
      <pc:sldMk xmlns:pc="http://schemas.microsoft.com/office/powerpoint/2013/main/command" cId="2037685289" sldId="258"/>
      <ac:spMk id="3" creationId="{EB42B3D3-23B1-1A78-C2A2-7BD1FE6E59C2}"/>
    </ac:deMkLst>
    <p188:txBody>
      <a:bodyPr/>
      <a:lstStyle/>
      <a:p>
        <a:r>
          <a:rPr lang="es-ES"/>
          <a:t>Este algoritmo sale de invertir listas para generar descomposiciones de goldbach. 
si la entrada del algoritmo es una lista de primos, en la 2 parte de la lista habra 0 en 2n-primo.
de forma que genera listas que si evaluas dicen que la conjetura es falsa. Pero si estas listas no contienen todos los primos, no sera falsa la conjetura por logica. No se esplicarlo mejor. 
El metodo de sacar descomposiciones con inversion
la descomposicion son esos dos primos que siman par. 
00110
invertida
01100
negada
10011
comparando
00110
10011
buscando unos que coinciden en la lista de primos con un 0 en la negada. 
posicion 2 , 2+2=4.
SE puede hacer mas eficiente. 
for(i in n )
if(n-i and n+2+i){print…}
</a:t>
        </a:r>
      </a:p>
    </p188:txBody>
  </p188:cm>
</p188:cmLst>
</file>

<file path=ppt/comments/modernComment_103_6B868001.xml><?xml version="1.0" encoding="utf-8"?>
<p188:cmLst xmlns:a="http://schemas.openxmlformats.org/drawingml/2006/main" xmlns:r="http://schemas.openxmlformats.org/officeDocument/2006/relationships" xmlns:p188="http://schemas.microsoft.com/office/powerpoint/2018/8/main">
  <p188:cm id="{CAB05349-A5AC-4464-846F-E193F8413FA8}" authorId="{CCD1212C-C91A-FD9A-DF48-A275403A61D6}" created="2024-03-21T23:52:37.587">
    <pc:sldMkLst xmlns:pc="http://schemas.microsoft.com/office/powerpoint/2013/main/command">
      <pc:docMk/>
      <pc:sldMk cId="1803976705" sldId="259"/>
    </pc:sldMkLst>
    <p188:txBody>
      <a:bodyPr/>
      <a:lstStyle/>
      <a:p>
        <a:r>
          <a:rPr lang="es-ES"/>
          <a:t>Demostracion de cuando es imposible que el algoritmo genere primos por cantidad para e^12/4 o e^12/ 6 no recuerdo</a:t>
        </a:r>
      </a:p>
    </p188:txBody>
  </p188:cm>
</p188:cmLst>
</file>

<file path=ppt/comments/modernComment_104_E0D0E88A.xml><?xml version="1.0" encoding="utf-8"?>
<p188:cmLst xmlns:a="http://schemas.openxmlformats.org/drawingml/2006/main" xmlns:r="http://schemas.openxmlformats.org/officeDocument/2006/relationships" xmlns:p188="http://schemas.microsoft.com/office/powerpoint/2018/8/main">
  <p188:cm id="{8E12D697-6108-4FE6-AF86-1F916293DF96}" authorId="{CCD1212C-C91A-FD9A-DF48-A275403A61D6}" created="2024-03-21T23:56:15.483">
    <ac:txMkLst xmlns:ac="http://schemas.microsoft.com/office/drawing/2013/main/command">
      <pc:docMk xmlns:pc="http://schemas.microsoft.com/office/powerpoint/2013/main/command"/>
      <pc:sldMk xmlns:pc="http://schemas.microsoft.com/office/powerpoint/2013/main/command" cId="3771787402" sldId="260"/>
      <ac:spMk id="3" creationId="{5ACDC510-998E-FC42-DDA2-745059D88096}"/>
      <ac:txMk cp="142" len="22">
        <ac:context len="167" hash="4184172034"/>
      </ac:txMk>
    </ac:txMkLst>
    <p188:pos x="3019097" y="2851478"/>
    <p188:txBody>
      <a:bodyPr/>
      <a:lstStyle/>
      <a:p>
        <a:r>
          <a:rPr lang="es-ES"/>
          <a:t>{X 0 Xr: X= 0011 y Xr reverso de X negada}
esto es un lenguaje formal que expresa todas las listas que dicen que goldbach es falsa con los maximos 1 o " primos" posibles.
{X 0 Y 0 Z: Z=Xr 0 Yr}
esto lo mismo pero de un uno menos. 
y el error relativo del algoritmo de arriba es de 0,00% de 2n&gt; a e^12/6 es algo grande pero plausible para escribirlo de forma que con un lenguaje formal, al menos una vez para  pasara algo que dicen es imposible, que puede mis trampas sean informales y esto nada. 
pero… 
En lenguaje formal no puedo expresar una lista exhaustiva de primos.
esta afirmacion no se demostrarla pero no es mia, creo es un axioma de esos. 
</a:t>
        </a:r>
      </a:p>
    </p188:txBody>
  </p188:cm>
</p188:cmLst>
</file>

<file path=ppt/comments/modernComment_106_CF6892B7.xml><?xml version="1.0" encoding="utf-8"?>
<p188:cmLst xmlns:a="http://schemas.openxmlformats.org/drawingml/2006/main" xmlns:r="http://schemas.openxmlformats.org/officeDocument/2006/relationships" xmlns:p188="http://schemas.microsoft.com/office/powerpoint/2018/8/main">
  <p188:cm id="{F3346D9B-D175-4E19-80F6-401835036BAF}" authorId="{CCD1212C-C91A-FD9A-DF48-A275403A61D6}" created="2024-03-21T23:59:26.912">
    <pc:sldMkLst xmlns:pc="http://schemas.microsoft.com/office/powerpoint/2013/main/command">
      <pc:docMk/>
      <pc:sldMk cId="3479737015" sldId="262"/>
    </pc:sldMkLst>
    <p188:txBody>
      <a:bodyPr/>
      <a:lstStyle/>
      <a:p>
        <a:r>
          <a:rPr lang="es-ES"/>
          <a:t>Resulta que todo esto pasa si es falsa la conjetura, no se para que numero pero si para uno, 
y dicen que si esto pasa se encuentra un santo grial, cosa que no entiendo, 
pero digo, juzgando si la asimetria es un salto grial podemos saber si la conjetura es cierta ?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E694C1A8-550D-4178-B0C1-4AF39BE49A10}" type="datetimeFigureOut">
              <a:rPr lang="es-ES" smtClean="0"/>
              <a:t>03/03/2026</a:t>
            </a:fld>
            <a:endParaRPr lang="es-ES"/>
          </a:p>
        </p:txBody>
      </p:sp>
      <p:sp>
        <p:nvSpPr>
          <p:cNvPr id="4" name="Marcador de imagen de diapositiva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88019AB-D82B-48D4-A5AA-145E84418907}" type="slidenum">
              <a:rPr lang="es-ES" smtClean="0"/>
              <a:t>‹Nº›</a:t>
            </a:fld>
            <a:endParaRPr lang="es-ES"/>
          </a:p>
        </p:txBody>
      </p:sp>
    </p:spTree>
    <p:extLst>
      <p:ext uri="{BB962C8B-B14F-4D97-AF65-F5344CB8AC3E}">
        <p14:creationId xmlns:p14="http://schemas.microsoft.com/office/powerpoint/2010/main" val="1239002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s.wikipedia.org/wiki/Christian_Goldbach" TargetMode="External"/><Relationship Id="rId7" Type="http://schemas.openxmlformats.org/officeDocument/2006/relationships/hyperlink" Target="https://www.gaussianos.com/la-conjetura-de-goldbach/"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culturacientifica.com/2013/06/26/la-conjetura-de-goldbach/" TargetMode="External"/><Relationship Id="rId5" Type="http://schemas.openxmlformats.org/officeDocument/2006/relationships/hyperlink" Target="https://es.wikipedia.org/wiki/Conjetura_de_Goldbach" TargetMode="External"/><Relationship Id="rId4" Type="http://schemas.openxmlformats.org/officeDocument/2006/relationships/hyperlink" Target="https://www.buscabiografias.com/biografia/verDetalle/8558/Christian%20Goldbach"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upvedues-my.sharepoint.com/:u:/g/personal/vmanalb_upv_edu_es/Ef-lyH5ScEdGr2ieoy0Xb8QBhHOILDM6T8C3_Z5a5yoWvA?e=Y6EfMo"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upvedues-my.sharepoint.com/personal/vmanalb_upv_edu_es/Documents/TODO/goldbach/"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s.wikipedia.org/wiki/Conjetura_de_Goldbach" TargetMode="External"/><Relationship Id="rId7" Type="http://schemas.openxmlformats.org/officeDocument/2006/relationships/hyperlink" Target="https://upvedues-my.sharepoint.com/personal/vmanalb_upv_edu_es/Documents/TODO/goldbach/"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upvedues-my.sharepoint.com/:u:/g/personal/vmanalb_upv_edu_es/Ef-lyH5ScEdGr2ieoy0Xb8QBhHOILDM6T8C3_Z5a5yoWvA?e=Y6EfMo" TargetMode="External"/><Relationship Id="rId5" Type="http://schemas.openxmlformats.org/officeDocument/2006/relationships/hyperlink" Target="https://www.gaussianos.com/la-conjetura-de-goldbach/" TargetMode="External"/><Relationship Id="rId4" Type="http://schemas.openxmlformats.org/officeDocument/2006/relationships/hyperlink" Target="https://culturacientifica.com/2013/06/26/la-conjetura-de-goldbach/"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wolframalpha.com/input?i=solve+n%2F3+-+n%2Fln%28n%29+%3C%3D+n%2Fln%28n%29&amp;lang=es"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www.wolframalpha.com/input?i=solve+n%2F6+%3D+2n%2Fln%282n%29&amp;lang=es" TargetMode="External"/><Relationship Id="rId5" Type="http://schemas.openxmlformats.org/officeDocument/2006/relationships/hyperlink" Target="https://www.wolframalpha.com/input?i=solve+n%2F3+-+n%2Fln%28n%29+%3C%3D+n%2Fln%28n%29&amp;lang=es" TargetMode="External"/><Relationship Id="rId4" Type="http://schemas.openxmlformats.org/officeDocument/2006/relationships/hyperlink" Target="https://www.wolframalpha.com/input?i=solve+n%2F6+%3D+2n%2Fln%282n%29&amp;lang=e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www.baeldung.com/cs/miller-rabin-method" TargetMode="External"/><Relationship Id="rId3" Type="http://schemas.openxmlformats.org/officeDocument/2006/relationships/hyperlink" Target="https://cs.stackexchange.com/questions/108598/why-was-primality-test-thought-to-be-np" TargetMode="External"/><Relationship Id="rId7" Type="http://schemas.openxmlformats.org/officeDocument/2006/relationships/hyperlink" Target="https://math.stackexchange.com/questions/2491045/how-many-primes-do-i-need-to-check-to-confirm-that-an-integer-l-is-prime"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math.stackexchange.com/questions/68473/fastest-prime-generating-algorithm" TargetMode="External"/><Relationship Id="rId5" Type="http://schemas.openxmlformats.org/officeDocument/2006/relationships/hyperlink" Target="https://www.geeksforgeeks.org/new-algorithm-to-generate-prime-numbers-from-1-to-nth-number/" TargetMode="External"/><Relationship Id="rId4" Type="http://schemas.openxmlformats.org/officeDocument/2006/relationships/hyperlink" Target="https://stackoverflow.com/questions/622/most-efficient-code-for-the-first-10000-prime-numbers"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upvedues-my.sharepoint.com/:f:/g/personal/vmanalb_upv_edu_es/EubESTcRvFNEs23REeHkL5EBc5Mv3mCSFk7zOoJJvkt8iQ?e=Se1Qxb"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www.buscabiografias.com/biografia/verDetalle/8558/Christian%20Goldbach" TargetMode="External"/><Relationship Id="rId5" Type="http://schemas.openxmlformats.org/officeDocument/2006/relationships/hyperlink" Target="https://es.wikipedia.org/wiki/Christian_Goldbach" TargetMode="External"/><Relationship Id="rId4" Type="http://schemas.openxmlformats.org/officeDocument/2006/relationships/hyperlink" Target="https://drive.google.com/drive/folders/1Mj1eiX4vXmaOhpVM7R31PlVt-7a82hm6?usp=drive_link" TargetMode="Externa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s://proofassistants.stackexchange.com/questions/1403/auto-generating-the-proof-of-infinitude-of-primes" TargetMode="External"/><Relationship Id="rId13" Type="http://schemas.openxmlformats.org/officeDocument/2006/relationships/hyperlink" Target="https://math.stackexchange.com/questions/4336870/are-there-any-polynomial-functions-that-always-have-prime-outputs-for-integer-in" TargetMode="External"/><Relationship Id="rId3" Type="http://schemas.openxmlformats.org/officeDocument/2006/relationships/hyperlink" Target="https://upvedues-my.sharepoint.com/:f:/g/personal/vmanalb_upv_edu_es/EubESTcRvFNEs23REeHkL5EBc5Mv3mCSFk7zOoJJvkt8iQ?e=Se1Qxb" TargetMode="External"/><Relationship Id="rId7" Type="http://schemas.openxmlformats.org/officeDocument/2006/relationships/hyperlink" Target="https://en.wikipedia.org/wiki/Abel%E2%80%93Ruffini_theorem" TargetMode="External"/><Relationship Id="rId12" Type="http://schemas.openxmlformats.org/officeDocument/2006/relationships/hyperlink" Target="https://es.wikipedia.org/wiki/Teorema_de_Abel-Ruffini" TargetMode="External"/><Relationship Id="rId2" Type="http://schemas.openxmlformats.org/officeDocument/2006/relationships/slide" Target="../slides/slide13.xml"/><Relationship Id="rId16" Type="http://schemas.openxmlformats.org/officeDocument/2006/relationships/hyperlink" Target="http://courses.csail.mit.edu/6.042/fall13/ch1-to-3.pdf" TargetMode="External"/><Relationship Id="rId1" Type="http://schemas.openxmlformats.org/officeDocument/2006/relationships/notesMaster" Target="../notesMasters/notesMaster1.xml"/><Relationship Id="rId6" Type="http://schemas.openxmlformats.org/officeDocument/2006/relationships/hyperlink" Target="https://www.buscabiografias.com/biografia/verDetalle/8558/Christian%20Goldbach" TargetMode="External"/><Relationship Id="rId11" Type="http://schemas.openxmlformats.org/officeDocument/2006/relationships/hyperlink" Target="https://ecuaciones.org/teorema-abel-ruffini/" TargetMode="External"/><Relationship Id="rId5" Type="http://schemas.openxmlformats.org/officeDocument/2006/relationships/hyperlink" Target="https://es.wikipedia.org/wiki/Christian_Goldbach" TargetMode="External"/><Relationship Id="rId15" Type="http://schemas.openxmlformats.org/officeDocument/2006/relationships/hyperlink" Target="https://math.stackexchange.com/questions/3597380/prove-that-there-is-no-non-constant-polynomial-px-with-integer-coefficients" TargetMode="External"/><Relationship Id="rId10" Type="http://schemas.openxmlformats.org/officeDocument/2006/relationships/hyperlink" Target="https://dbpedia.org/page/Abel%E2%80%93Ruffini_theorem" TargetMode="External"/><Relationship Id="rId4" Type="http://schemas.openxmlformats.org/officeDocument/2006/relationships/hyperlink" Target="https://drive.google.com/drive/folders/1Mj1eiX4vXmaOhpVM7R31PlVt-7a82hm6?usp=drive_link" TargetMode="External"/><Relationship Id="rId9" Type="http://schemas.openxmlformats.org/officeDocument/2006/relationships/hyperlink" Target="https://math.stackexchange.com/questions/817062/proof-that-no-polynomial-with-integer-coefficients-can-only-produce-primes" TargetMode="External"/><Relationship Id="rId14" Type="http://schemas.openxmlformats.org/officeDocument/2006/relationships/hyperlink" Target="https://math.stackexchange.com/questions/1922009/prove-that-there-is-no-polynomial-px-a-n-xn-a-n-1-xn-1-ldots-a"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5715" marR="0" lvl="0" indent="-5715" algn="l" defTabSz="914400" rtl="0" eaLnBrk="1" fontAlgn="auto" latinLnBrk="0" hangingPunct="1">
              <a:lnSpc>
                <a:spcPct val="110000"/>
              </a:lnSpc>
              <a:spcBef>
                <a:spcPts val="0"/>
              </a:spcBef>
              <a:spcAft>
                <a:spcPts val="460"/>
              </a:spcAft>
              <a:buClrTx/>
              <a:buSzTx/>
              <a:buFontTx/>
              <a:buNone/>
              <a:tabLst/>
              <a:defRPr/>
            </a:pPr>
            <a:r>
              <a:rPr lang="es-ES" sz="1800" kern="100" dirty="0">
                <a:solidFill>
                  <a:srgbClr val="000000"/>
                </a:solidFill>
                <a:effectLst/>
                <a:latin typeface="Calibri" panose="020F0502020204030204" pitchFamily="34" charset="0"/>
                <a:ea typeface="Calibri" panose="020F0502020204030204" pitchFamily="34" charset="0"/>
              </a:rPr>
              <a:t>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Christian </a:t>
            </a:r>
            <a:r>
              <a:rPr lang="es-ES" sz="18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(18 de marzo de 1690 - 20 de noviembre de 1764) fue un matemático prusiano, nacido en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Königsberg, Prusia</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(hoy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Kaliningrado, Rusia</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hijo de un pastor. </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Estudió leyes, idiomas y matemáticas</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3"/>
              </a:rPr>
              <a:t>1</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4"/>
              </a:rPr>
              <a:t>2</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Durante su vida, tuvo la oportunidad de interactuar con matemáticos destacados como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Gottfried Leibniz</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Leonhard Euler</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y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Daniel Bernoulli</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07000"/>
              </a:lnSpc>
              <a:spcAft>
                <a:spcPts val="800"/>
              </a:spcAft>
            </a:pPr>
            <a:r>
              <a:rPr lang="es-ES" sz="1800" u="sng" kern="100" dirty="0">
                <a:solidFill>
                  <a:srgbClr val="000000"/>
                </a:solidFill>
                <a:effectLst/>
                <a:latin typeface="Calibri" panose="020F0502020204030204" pitchFamily="34" charset="0"/>
                <a:ea typeface="Calibri" panose="020F0502020204030204" pitchFamily="34" charset="0"/>
              </a:rPr>
              <a:t>La conjetura dice todo par no primo es la suma de dos primos.</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Efectivamente, la Conjetura de </a:t>
            </a:r>
            <a:r>
              <a:rPr lang="es-ES" sz="1800" kern="100" dirty="0" err="1">
                <a:solidFill>
                  <a:srgbClr val="000000"/>
                </a:solidFill>
                <a:effectLst/>
                <a:latin typeface="Calibri" panose="020F0502020204030204" pitchFamily="34" charset="0"/>
                <a:ea typeface="Calibri" panose="020F0502020204030204" pitchFamily="34" charset="0"/>
              </a:rPr>
              <a:t>Goldbach</a:t>
            </a:r>
            <a:r>
              <a:rPr lang="es-ES" sz="1800" kern="100" dirty="0">
                <a:solidFill>
                  <a:srgbClr val="000000"/>
                </a:solidFill>
                <a:effectLst/>
                <a:latin typeface="Calibri" panose="020F0502020204030204" pitchFamily="34" charset="0"/>
                <a:ea typeface="Calibri" panose="020F0502020204030204" pitchFamily="34" charset="0"/>
              </a:rPr>
              <a:t> establece que todo número par mayor que 2 es la suma de dos números primos. Esta es una de las conjeturas más antiguas y conocidas en la teoría de números que aún no ha sido probada ni refutada para todos los números pares. Matemáticamente, se puede expresar como:</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a:t>
            </a:r>
            <a:r>
              <a:rPr lang="es-ES" sz="1800" kern="100" dirty="0" err="1">
                <a:solidFill>
                  <a:srgbClr val="000000"/>
                </a:solidFill>
                <a:effectLst/>
                <a:latin typeface="Calibri" panose="020F0502020204030204" pitchFamily="34" charset="0"/>
                <a:ea typeface="Calibri" panose="020F0502020204030204" pitchFamily="34" charset="0"/>
              </a:rPr>
              <a:t>n∈N,n</a:t>
            </a:r>
            <a:r>
              <a:rPr lang="es-ES" sz="1800" kern="100" dirty="0">
                <a:solidFill>
                  <a:srgbClr val="000000"/>
                </a:solidFill>
                <a:effectLst/>
                <a:latin typeface="Calibri" panose="020F0502020204030204" pitchFamily="34" charset="0"/>
                <a:ea typeface="Calibri" panose="020F0502020204030204" pitchFamily="34" charset="0"/>
              </a:rPr>
              <a:t>&gt;2,∃p,q∈P:n=</a:t>
            </a:r>
            <a:r>
              <a:rPr lang="es-ES" sz="1800" kern="100" dirty="0" err="1">
                <a:solidFill>
                  <a:srgbClr val="000000"/>
                </a:solidFill>
                <a:effectLst/>
                <a:latin typeface="Calibri" panose="020F0502020204030204" pitchFamily="34" charset="0"/>
                <a:ea typeface="Calibri" panose="020F0502020204030204" pitchFamily="34" charset="0"/>
              </a:rPr>
              <a:t>p+q</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Donde ( \</a:t>
            </a:r>
            <a:r>
              <a:rPr lang="es-ES" sz="1800" kern="100" dirty="0" err="1">
                <a:solidFill>
                  <a:srgbClr val="000000"/>
                </a:solidFill>
                <a:effectLst/>
                <a:latin typeface="Calibri" panose="020F0502020204030204" pitchFamily="34" charset="0"/>
                <a:ea typeface="Calibri" panose="020F0502020204030204" pitchFamily="34" charset="0"/>
              </a:rPr>
              <a:t>mathbb</a:t>
            </a:r>
            <a:r>
              <a:rPr lang="es-ES" sz="1800" kern="100" dirty="0">
                <a:solidFill>
                  <a:srgbClr val="000000"/>
                </a:solidFill>
                <a:effectLst/>
                <a:latin typeface="Calibri" panose="020F0502020204030204" pitchFamily="34" charset="0"/>
                <a:ea typeface="Calibri" panose="020F0502020204030204" pitchFamily="34" charset="0"/>
              </a:rPr>
              <a:t>{N} ) representa el conjunto de los números naturales y ( \</a:t>
            </a:r>
            <a:r>
              <a:rPr lang="es-ES" sz="1800" kern="100" dirty="0" err="1">
                <a:solidFill>
                  <a:srgbClr val="000000"/>
                </a:solidFill>
                <a:effectLst/>
                <a:latin typeface="Calibri" panose="020F0502020204030204" pitchFamily="34" charset="0"/>
                <a:ea typeface="Calibri" panose="020F0502020204030204" pitchFamily="34" charset="0"/>
              </a:rPr>
              <a:t>mathbb</a:t>
            </a:r>
            <a:r>
              <a:rPr lang="es-ES" sz="1800" kern="100" dirty="0">
                <a:solidFill>
                  <a:srgbClr val="000000"/>
                </a:solidFill>
                <a:effectLst/>
                <a:latin typeface="Calibri" panose="020F0502020204030204" pitchFamily="34" charset="0"/>
                <a:ea typeface="Calibri" panose="020F0502020204030204" pitchFamily="34" charset="0"/>
              </a:rPr>
              <a:t>{P} ) el conjunto de los números primos. Si necesitas ayuda con algún aspecto específico relacionado con esta conjetura o con algún análisis matemático, estaré encantado de asistirte.</a:t>
            </a:r>
          </a:p>
          <a:p>
            <a:pPr marL="5715" indent="-5715" algn="l">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Aquí tienes algunos enlaces que te pueden ser útiles para obtener más información sobre la Conjetura de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800" kern="100" dirty="0">
              <a:solidFill>
                <a:srgbClr val="000000"/>
              </a:solidFill>
              <a:effectLst/>
              <a:latin typeface="Calibri" panose="020F0502020204030204" pitchFamily="34" charset="0"/>
              <a:ea typeface="Calibri" panose="020F0502020204030204" pitchFamily="34" charset="0"/>
            </a:endParaRPr>
          </a:p>
          <a:p>
            <a:pPr marL="342900" lvl="0" indent="-342900" algn="l">
              <a:spcAft>
                <a:spcPts val="460"/>
              </a:spcAft>
              <a:buFont typeface="Wingdings" panose="05000000000000000000" pitchFamily="2" charset="2"/>
              <a:buChar char=""/>
            </a:pP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Puedes leer sobre la historia y los detalles de la conjetura en la </a:t>
            </a:r>
            <a:r>
              <a:rPr lang="es-ES" sz="1800" u="sng" kern="100" dirty="0">
                <a:solidFill>
                  <a:srgbClr val="000000"/>
                </a:solidFill>
                <a:effectLst/>
                <a:highlight>
                  <a:srgbClr val="FFFFFF"/>
                </a:highlight>
                <a:latin typeface="Symbol" panose="05050102010706020507" pitchFamily="18" charset="2"/>
                <a:ea typeface="Calibri" panose="020F0502020204030204" pitchFamily="34" charset="0"/>
                <a:hlinkClick r:id="rId5"/>
              </a:rPr>
              <a:t>Wikipedia</a:t>
            </a: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a:t>
            </a:r>
            <a:endParaRPr lang="es-ES" sz="1800" kern="100" dirty="0">
              <a:solidFill>
                <a:srgbClr val="000000"/>
              </a:solidFill>
              <a:effectLst/>
              <a:latin typeface="Symbol" panose="05050102010706020507" pitchFamily="18" charset="2"/>
              <a:ea typeface="Calibri" panose="020F0502020204030204" pitchFamily="34" charset="0"/>
            </a:endParaRPr>
          </a:p>
          <a:p>
            <a:pPr marL="342900" lvl="0" indent="-342900" algn="l">
              <a:spcAft>
                <a:spcPts val="460"/>
              </a:spcAft>
              <a:buFont typeface="Wingdings" panose="05000000000000000000" pitchFamily="2" charset="2"/>
              <a:buChar char=""/>
            </a:pP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Para una discusión más detallada y un enfoque histórico, el </a:t>
            </a:r>
            <a:r>
              <a:rPr lang="es-ES" sz="1800" u="sng" kern="100" dirty="0">
                <a:solidFill>
                  <a:srgbClr val="000000"/>
                </a:solidFill>
                <a:effectLst/>
                <a:highlight>
                  <a:srgbClr val="FFFFFF"/>
                </a:highlight>
                <a:latin typeface="Symbol" panose="05050102010706020507" pitchFamily="18" charset="2"/>
                <a:ea typeface="Calibri" panose="020F0502020204030204" pitchFamily="34" charset="0"/>
                <a:hlinkClick r:id="rId6"/>
              </a:rPr>
              <a:t>Cuaderno de Cultura Científica</a:t>
            </a: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 ofrece un artículo interesante.</a:t>
            </a:r>
            <a:endParaRPr lang="es-ES" sz="1800" kern="100" dirty="0">
              <a:solidFill>
                <a:srgbClr val="000000"/>
              </a:solidFill>
              <a:effectLst/>
              <a:latin typeface="Symbol" panose="05050102010706020507" pitchFamily="18" charset="2"/>
              <a:ea typeface="Calibri" panose="020F0502020204030204" pitchFamily="34" charset="0"/>
            </a:endParaRPr>
          </a:p>
          <a:p>
            <a:pPr marL="342900" lvl="0" indent="-342900" algn="l">
              <a:spcAft>
                <a:spcPts val="460"/>
              </a:spcAft>
              <a:buFont typeface="Wingdings" panose="05000000000000000000" pitchFamily="2" charset="2"/>
              <a:buChar char=""/>
            </a:pP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En </a:t>
            </a:r>
            <a:r>
              <a:rPr lang="es-ES" sz="1800" u="sng" kern="100" dirty="0">
                <a:solidFill>
                  <a:srgbClr val="000000"/>
                </a:solidFill>
                <a:effectLst/>
                <a:highlight>
                  <a:srgbClr val="FFFFFF"/>
                </a:highlight>
                <a:latin typeface="Symbol" panose="05050102010706020507" pitchFamily="18" charset="2"/>
                <a:ea typeface="Calibri" panose="020F0502020204030204" pitchFamily="34" charset="0"/>
                <a:hlinkClick r:id="rId7"/>
              </a:rPr>
              <a:t>Gaussianos</a:t>
            </a: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 encontrarás una explicación sobre la conjetura y su relevancia en la teoría de números.</a:t>
            </a:r>
            <a:endParaRPr lang="es-ES" sz="1800" kern="100" dirty="0">
              <a:solidFill>
                <a:srgbClr val="000000"/>
              </a:solidFill>
              <a:effectLst/>
              <a:latin typeface="Symbol" panose="05050102010706020507" pitchFamily="18" charset="2"/>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Estos recursos te proporcionarán una visión general y un análisis en profundidad de la Conjetura de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incluyendo los esfuerzos recientes para probarla y su importancia en las matemáticas.</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dirty="0">
                <a:solidFill>
                  <a:srgbClr val="000000"/>
                </a:solidFill>
                <a:effectLst/>
                <a:latin typeface="Calibri" panose="020F0502020204030204" pitchFamily="34" charset="0"/>
                <a:ea typeface="Calibri" panose="020F0502020204030204" pitchFamily="34" charset="0"/>
              </a:rPr>
              <a:t> </a:t>
            </a:r>
            <a:r>
              <a:rPr lang="es-ES" sz="1800" u="sng" dirty="0">
                <a:solidFill>
                  <a:srgbClr val="000000"/>
                </a:solidFill>
                <a:effectLst/>
                <a:latin typeface="Calibri" panose="020F0502020204030204" pitchFamily="34" charset="0"/>
                <a:ea typeface="Calibri" panose="020F0502020204030204" pitchFamily="34" charset="0"/>
              </a:rPr>
              <a:t>Cristian</a:t>
            </a:r>
            <a:r>
              <a:rPr lang="es-ES" sz="1800" dirty="0">
                <a:solidFill>
                  <a:srgbClr val="000000"/>
                </a:solidFill>
                <a:effectLst/>
                <a:latin typeface="Calibri" panose="020F0502020204030204" pitchFamily="34" charset="0"/>
                <a:ea typeface="Calibri" panose="020F0502020204030204" pitchFamily="34" charset="0"/>
              </a:rPr>
              <a:t>  </a:t>
            </a:r>
            <a:r>
              <a:rPr lang="es-ES" sz="1800" kern="100" dirty="0">
                <a:solidFill>
                  <a:srgbClr val="000000"/>
                </a:solidFill>
                <a:effectLst/>
                <a:latin typeface="Calibri" panose="020F0502020204030204" pitchFamily="34" charset="0"/>
                <a:ea typeface="Calibri" panose="020F0502020204030204" pitchFamily="34" charset="0"/>
              </a:rPr>
              <a:t>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Christian </a:t>
            </a:r>
            <a:r>
              <a:rPr lang="es-ES" sz="18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(18 de marzo de 1690 - 20 de noviembre de 1764) fue un matemático prusiano, nacido en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Königsberg, Prusia</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(hoy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Kaliningrado, Rusia</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hijo de un pastor. </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Estudió leyes, idiomas y matemáticas</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3"/>
              </a:rPr>
              <a:t>1</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4"/>
              </a:rPr>
              <a:t>2</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Durante su vida, tuvo la oportunidad de interactuar con matemáticos destacados como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Gottfried Leibniz</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Leonhard Euler</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y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Daniel Bernoulli</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Una de las contribuciones más famosas de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es la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conjetura de </a:t>
            </a:r>
            <a:r>
              <a:rPr lang="es-ES" sz="18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Esta conjetura afirma que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todos los números pares mayores que 2 se pueden representar como la suma de dos números primos</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Aunque el gran matemático suizo </a:t>
            </a:r>
            <a:r>
              <a:rPr lang="es-ES" sz="1800" b="1"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Euler</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 no pudo demostrar ni refutar formalmente esta conjetura, se sabe que es cierta para todos los números menores que un trillón (es decir, 10</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3"/>
              </a:rPr>
              <a:t>18</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3"/>
              </a:rPr>
              <a:t>1</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La conjetura se encontró en una carta que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envió a Euler en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1742</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Además de la famosa conjetura,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también estudió y demostró varios teoremas sobre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potencias perfectas</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Otra variante de la conjetura de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conocida como la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conjetura débil de </a:t>
            </a:r>
            <a:r>
              <a:rPr lang="es-ES" sz="18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establece que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todo número impar mayor que 5 puede escribirse como la suma de tres números primos</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Esta conjetura fue resuelta en </a:t>
            </a:r>
            <a:r>
              <a:rPr lang="es-ES" sz="1800" b="1"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2013</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 por el matemático peruano </a:t>
            </a:r>
            <a:r>
              <a:rPr lang="es-ES" sz="1800" b="1"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Harald Andrés </a:t>
            </a:r>
            <a:r>
              <a:rPr lang="es-ES" sz="1800" b="1" u="sng" kern="100" dirty="0" err="1">
                <a:solidFill>
                  <a:srgbClr val="000000"/>
                </a:solidFill>
                <a:effectLst/>
                <a:highlight>
                  <a:srgbClr val="FFFFFF"/>
                </a:highlight>
                <a:latin typeface="Calibri" panose="020F0502020204030204" pitchFamily="34" charset="0"/>
                <a:ea typeface="Calibri" panose="020F0502020204030204" pitchFamily="34" charset="0"/>
                <a:hlinkClick r:id="rId3"/>
              </a:rPr>
              <a:t>Helfgott</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 quien demostró que para todo número impar mayor que 10</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3"/>
              </a:rPr>
              <a:t>30</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3"/>
              </a:rPr>
              <a:t>, la conjetura es cierta</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3"/>
              </a:rPr>
              <a:t>1</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En resumen, Christian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dejó una huella duradera en las matemáticas con sus conjeturas y contribuciones, y su nombre sigue siendo relevante en la comunidad matemática hasta hoy.</a:t>
            </a:r>
            <a:endParaRPr lang="es-ES" sz="1800" kern="100" dirty="0">
              <a:solidFill>
                <a:srgbClr val="000000"/>
              </a:solidFill>
              <a:effectLst/>
              <a:latin typeface="Calibri" panose="020F0502020204030204" pitchFamily="34" charset="0"/>
              <a:ea typeface="Calibri" panose="020F0502020204030204" pitchFamily="34" charset="0"/>
            </a:endParaRPr>
          </a:p>
          <a:p>
            <a:endParaRPr lang="es-ES" dirty="0"/>
          </a:p>
        </p:txBody>
      </p:sp>
      <p:sp>
        <p:nvSpPr>
          <p:cNvPr id="4" name="Marcador de número de diapositiva 3"/>
          <p:cNvSpPr>
            <a:spLocks noGrp="1"/>
          </p:cNvSpPr>
          <p:nvPr>
            <p:ph type="sldNum" sz="quarter" idx="5"/>
          </p:nvPr>
        </p:nvSpPr>
        <p:spPr/>
        <p:txBody>
          <a:bodyPr/>
          <a:lstStyle/>
          <a:p>
            <a:fld id="{888019AB-D82B-48D4-A5AA-145E84418907}" type="slidenum">
              <a:rPr lang="es-ES" smtClean="0"/>
              <a:t>1</a:t>
            </a:fld>
            <a:endParaRPr lang="es-ES"/>
          </a:p>
        </p:txBody>
      </p:sp>
    </p:spTree>
    <p:extLst>
      <p:ext uri="{BB962C8B-B14F-4D97-AF65-F5344CB8AC3E}">
        <p14:creationId xmlns:p14="http://schemas.microsoft.com/office/powerpoint/2010/main" val="2272490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Listas de primos trabajamos con Lista de booleanos.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donde la posición es igual al número natural que representa, empezando por 0.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el valor es 1 si la posición es un numero primo, y 0 si no es un numero primo.  </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para 4 </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0011</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800" kern="100" dirty="0" err="1">
                <a:solidFill>
                  <a:srgbClr val="000000"/>
                </a:solidFill>
                <a:effectLst/>
                <a:latin typeface="Calibri" panose="020F0502020204030204" pitchFamily="34" charset="0"/>
                <a:ea typeface="Calibri" panose="020F0502020204030204" pitchFamily="34" charset="0"/>
              </a:rPr>
              <a:t>despues</a:t>
            </a:r>
            <a:r>
              <a:rPr lang="es-ES" sz="1800" kern="100" dirty="0">
                <a:solidFill>
                  <a:srgbClr val="000000"/>
                </a:solidFill>
                <a:effectLst/>
                <a:latin typeface="Calibri" panose="020F0502020204030204" pitchFamily="34" charset="0"/>
                <a:ea typeface="Calibri" panose="020F0502020204030204" pitchFamily="34" charset="0"/>
              </a:rPr>
              <a:t> se sigue el </a:t>
            </a:r>
            <a:r>
              <a:rPr lang="es-ES" sz="1800" kern="100" dirty="0" err="1">
                <a:solidFill>
                  <a:srgbClr val="000000"/>
                </a:solidFill>
                <a:effectLst/>
                <a:latin typeface="Calibri" panose="020F0502020204030204" pitchFamily="34" charset="0"/>
                <a:ea typeface="Calibri" panose="020F0502020204030204" pitchFamily="34" charset="0"/>
              </a:rPr>
              <a:t>patron</a:t>
            </a:r>
            <a:r>
              <a:rPr lang="es-ES" sz="1800" kern="100" dirty="0">
                <a:solidFill>
                  <a:srgbClr val="000000"/>
                </a:solidFill>
                <a:effectLst/>
                <a:latin typeface="Calibri" panose="020F0502020204030204" pitchFamily="34" charset="0"/>
                <a:ea typeface="Calibri" panose="020F0502020204030204" pitchFamily="34" charset="0"/>
              </a:rPr>
              <a:t> (010001)* hasta 24 </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001101010</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001101010001010001010</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no es tan </a:t>
            </a:r>
            <a:r>
              <a:rPr lang="es-ES" sz="1800" kern="100" dirty="0" err="1">
                <a:solidFill>
                  <a:srgbClr val="000000"/>
                </a:solidFill>
                <a:effectLst/>
                <a:latin typeface="Calibri" panose="020F0502020204030204" pitchFamily="34" charset="0"/>
                <a:ea typeface="Calibri" panose="020F0502020204030204" pitchFamily="34" charset="0"/>
              </a:rPr>
              <a:t>dificil</a:t>
            </a: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Excepciones hasta el 100</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25;35;55;65;85;95</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49;+=14;+=28...</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11*11 ya se pasa </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pues eso hasta el 15 </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0011010100010100</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r>
              <a:rPr lang="es-ES" sz="1800" dirty="0">
                <a:effectLst/>
                <a:latin typeface="Segoe UI" panose="020B0502040204020203" pitchFamily="34" charset="0"/>
              </a:rPr>
              <a:t>para 4 </a:t>
            </a:r>
            <a:endParaRPr lang="es-ES" sz="1800" dirty="0">
              <a:effectLst/>
              <a:latin typeface="Arial" panose="020B0604020202020204" pitchFamily="34" charset="0"/>
            </a:endParaRPr>
          </a:p>
          <a:p>
            <a:r>
              <a:rPr lang="es-ES" sz="1800" dirty="0">
                <a:effectLst/>
                <a:latin typeface="Segoe UI" panose="020B0502040204020203" pitchFamily="34" charset="0"/>
              </a:rPr>
              <a:t>0011</a:t>
            </a:r>
            <a:endParaRPr lang="es-ES" sz="1800" dirty="0">
              <a:effectLst/>
              <a:latin typeface="Arial" panose="020B0604020202020204" pitchFamily="34" charset="0"/>
            </a:endParaRPr>
          </a:p>
          <a:p>
            <a:r>
              <a:rPr lang="es-ES" sz="1800" dirty="0" err="1">
                <a:effectLst/>
                <a:latin typeface="Segoe UI" panose="020B0502040204020203" pitchFamily="34" charset="0"/>
              </a:rPr>
              <a:t>despues</a:t>
            </a:r>
            <a:r>
              <a:rPr lang="es-ES" sz="1800" dirty="0">
                <a:effectLst/>
                <a:latin typeface="Segoe UI" panose="020B0502040204020203" pitchFamily="34" charset="0"/>
              </a:rPr>
              <a:t> se sigue el </a:t>
            </a:r>
            <a:r>
              <a:rPr lang="es-ES" sz="1800" dirty="0" err="1">
                <a:effectLst/>
                <a:latin typeface="Segoe UI" panose="020B0502040204020203" pitchFamily="34" charset="0"/>
              </a:rPr>
              <a:t>patron</a:t>
            </a:r>
            <a:r>
              <a:rPr lang="es-ES" sz="1800" dirty="0">
                <a:effectLst/>
                <a:latin typeface="Segoe UI" panose="020B0502040204020203" pitchFamily="34" charset="0"/>
              </a:rPr>
              <a:t> (010001)* hasta 24 </a:t>
            </a:r>
            <a:endParaRPr lang="es-ES" sz="1800" dirty="0">
              <a:effectLst/>
              <a:latin typeface="Arial" panose="020B0604020202020204" pitchFamily="34" charset="0"/>
            </a:endParaRPr>
          </a:p>
          <a:p>
            <a:r>
              <a:rPr lang="es-ES" sz="1800" dirty="0">
                <a:effectLst/>
                <a:latin typeface="Segoe UI" panose="020B0502040204020203" pitchFamily="34" charset="0"/>
              </a:rPr>
              <a:t>001101010</a:t>
            </a:r>
            <a:endParaRPr lang="es-ES" sz="1800" dirty="0">
              <a:effectLst/>
              <a:latin typeface="Arial" panose="020B0604020202020204" pitchFamily="34" charset="0"/>
            </a:endParaRPr>
          </a:p>
          <a:p>
            <a:r>
              <a:rPr lang="es-ES" sz="1800" dirty="0">
                <a:effectLst/>
                <a:latin typeface="Segoe UI" panose="020B0502040204020203" pitchFamily="34" charset="0"/>
              </a:rPr>
              <a:t>001101010001010001010</a:t>
            </a:r>
            <a:endParaRPr lang="es-ES" sz="1800" dirty="0">
              <a:effectLst/>
              <a:latin typeface="Arial" panose="020B0604020202020204" pitchFamily="34" charset="0"/>
            </a:endParaRPr>
          </a:p>
          <a:p>
            <a:r>
              <a:rPr lang="es-ES" sz="1800" dirty="0">
                <a:effectLst/>
                <a:latin typeface="Segoe UI" panose="020B0502040204020203" pitchFamily="34" charset="0"/>
              </a:rPr>
              <a:t>no es tan </a:t>
            </a:r>
            <a:r>
              <a:rPr lang="es-ES" sz="1800" dirty="0" err="1">
                <a:effectLst/>
                <a:latin typeface="Segoe UI" panose="020B0502040204020203" pitchFamily="34" charset="0"/>
              </a:rPr>
              <a:t>dificil</a:t>
            </a:r>
            <a:r>
              <a:rPr lang="es-ES" sz="1800" dirty="0">
                <a:effectLst/>
                <a:latin typeface="Segoe UI" panose="020B0502040204020203" pitchFamily="34" charset="0"/>
              </a:rPr>
              <a:t> </a:t>
            </a:r>
            <a:endParaRPr lang="es-ES" sz="1800" dirty="0">
              <a:effectLst/>
              <a:latin typeface="Arial" panose="020B0604020202020204" pitchFamily="34" charset="0"/>
            </a:endParaRPr>
          </a:p>
          <a:p>
            <a:r>
              <a:rPr lang="es-ES" sz="1800" dirty="0">
                <a:effectLst/>
                <a:latin typeface="Segoe UI" panose="020B0502040204020203" pitchFamily="34" charset="0"/>
              </a:rPr>
              <a:t>Excepciones hasta el 100</a:t>
            </a:r>
            <a:endParaRPr lang="es-ES" sz="1800" dirty="0">
              <a:effectLst/>
              <a:latin typeface="Arial" panose="020B0604020202020204" pitchFamily="34" charset="0"/>
            </a:endParaRPr>
          </a:p>
          <a:p>
            <a:r>
              <a:rPr lang="es-ES" sz="1800" dirty="0">
                <a:effectLst/>
                <a:latin typeface="Segoe UI" panose="020B0502040204020203" pitchFamily="34" charset="0"/>
              </a:rPr>
              <a:t>25;35;55;65;85;95</a:t>
            </a:r>
            <a:endParaRPr lang="es-ES" sz="1800" dirty="0">
              <a:effectLst/>
              <a:latin typeface="Arial" panose="020B0604020202020204" pitchFamily="34" charset="0"/>
            </a:endParaRPr>
          </a:p>
          <a:p>
            <a:r>
              <a:rPr lang="es-ES" sz="1800" dirty="0">
                <a:effectLst/>
                <a:latin typeface="Segoe UI" panose="020B0502040204020203" pitchFamily="34" charset="0"/>
              </a:rPr>
              <a:t>49;+=14;+=28...</a:t>
            </a:r>
            <a:endParaRPr lang="es-ES" sz="1800" dirty="0">
              <a:effectLst/>
              <a:latin typeface="Arial" panose="020B0604020202020204" pitchFamily="34" charset="0"/>
            </a:endParaRPr>
          </a:p>
          <a:p>
            <a:r>
              <a:rPr lang="es-ES" sz="1800" dirty="0">
                <a:effectLst/>
                <a:latin typeface="Segoe UI" panose="020B0502040204020203" pitchFamily="34" charset="0"/>
              </a:rPr>
              <a:t>11*11 ya se pasa </a:t>
            </a:r>
            <a:endParaRPr lang="es-ES" sz="1800" dirty="0">
              <a:effectLst/>
              <a:latin typeface="Arial" panose="020B0604020202020204" pitchFamily="34" charset="0"/>
            </a:endParaRPr>
          </a:p>
          <a:p>
            <a:r>
              <a:rPr lang="es-ES" sz="1800" dirty="0">
                <a:effectLst/>
                <a:latin typeface="Segoe UI" panose="020B0502040204020203" pitchFamily="34" charset="0"/>
              </a:rPr>
              <a:t>pues eso hasta el 15 </a:t>
            </a:r>
            <a:endParaRPr lang="es-ES" sz="1800" dirty="0">
              <a:effectLst/>
              <a:latin typeface="Arial" panose="020B0604020202020204" pitchFamily="34" charset="0"/>
            </a:endParaRPr>
          </a:p>
          <a:p>
            <a:r>
              <a:rPr lang="es-ES" sz="1800" dirty="0">
                <a:effectLst/>
                <a:latin typeface="Segoe UI" panose="020B0502040204020203" pitchFamily="34" charset="0"/>
              </a:rPr>
              <a:t>0011010100010100</a:t>
            </a:r>
            <a:endParaRPr lang="es-ES" sz="1800" dirty="0">
              <a:effectLst/>
              <a:latin typeface="Arial" panose="020B0604020202020204" pitchFamily="34" charset="0"/>
            </a:endParaRPr>
          </a:p>
          <a:p>
            <a:endParaRPr lang="es-ES" dirty="0"/>
          </a:p>
        </p:txBody>
      </p:sp>
      <p:sp>
        <p:nvSpPr>
          <p:cNvPr id="4" name="Marcador de número de diapositiva 3"/>
          <p:cNvSpPr>
            <a:spLocks noGrp="1"/>
          </p:cNvSpPr>
          <p:nvPr>
            <p:ph type="sldNum" sz="quarter" idx="5"/>
          </p:nvPr>
        </p:nvSpPr>
        <p:spPr/>
        <p:txBody>
          <a:bodyPr/>
          <a:lstStyle/>
          <a:p>
            <a:fld id="{888019AB-D82B-48D4-A5AA-145E84418907}" type="slidenum">
              <a:rPr lang="es-ES" smtClean="0"/>
              <a:t>3</a:t>
            </a:fld>
            <a:endParaRPr lang="es-ES"/>
          </a:p>
        </p:txBody>
      </p:sp>
    </p:spTree>
    <p:extLst>
      <p:ext uri="{BB962C8B-B14F-4D97-AF65-F5344CB8AC3E}">
        <p14:creationId xmlns:p14="http://schemas.microsoft.com/office/powerpoint/2010/main" val="3895088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5715" indent="-5715" algn="l">
              <a:lnSpc>
                <a:spcPct val="107000"/>
              </a:lnSpc>
              <a:spcAft>
                <a:spcPts val="800"/>
              </a:spcAft>
            </a:pPr>
            <a:r>
              <a:rPr lang="es-ES" sz="1800" kern="100" dirty="0">
                <a:solidFill>
                  <a:srgbClr val="000000"/>
                </a:solidFill>
                <a:effectLst/>
                <a:latin typeface="Calibri" panose="020F0502020204030204" pitchFamily="34" charset="0"/>
                <a:ea typeface="Calibri" panose="020F0502020204030204" pitchFamily="34" charset="0"/>
              </a:rPr>
              <a:t>2.Metodos para encontrar descomposiciones.</a:t>
            </a:r>
          </a:p>
          <a:p>
            <a:pPr marL="5715" indent="-5715" algn="l">
              <a:lnSpc>
                <a:spcPct val="107000"/>
              </a:lnSpc>
              <a:spcAft>
                <a:spcPts val="800"/>
              </a:spcAft>
            </a:pPr>
            <a:r>
              <a:rPr lang="es-ES" sz="1800" kern="100" dirty="0">
                <a:solidFill>
                  <a:srgbClr val="000000"/>
                </a:solidFill>
                <a:effectLst/>
                <a:latin typeface="Calibri" panose="020F0502020204030204" pitchFamily="34" charset="0"/>
                <a:ea typeface="Calibri" panose="020F0502020204030204" pitchFamily="34" charset="0"/>
              </a:rPr>
              <a:t>Las descomposiciones son aquellos pares de primos que suman un par dado.</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Partiendo de las listas de primos con las que trabajamos, podemos invertirlas para sacar descomposiciones.</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00110</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01100</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buscando el patrón 1 1 obtenemos una posición que es prima en la primera lista un 1, y un 1 en la invertida indica una posición 2n-primo.</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o podemos invertirlas y negarlas</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00110</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10011</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buscando el patrón 1 0. el primer uno indica que es un numero primo, y el segundo 0 que no puede ser primo porque si no la conjetura es falsa. Como sé que es un numero primo, y sé que ese no puede ser primo porque si no la conjetura no puede ser falsa, sé que en esa posición tengo una descomposición.</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y así se sabe que pasa, porque han hecho cálculos hasta 2^19 a fecha de que lo dijeron.</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otra forma es con un bucle, y comparando i and n-i.</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para i en n{ </a:t>
            </a:r>
            <a:br>
              <a:rPr lang="es-ES" sz="1800" u="sng"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   si (lista[i] AND lista[2n-i])</a:t>
            </a:r>
            <a:br>
              <a:rPr lang="es-ES" sz="1800" u="sng"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       //descomposición encontrada para 2n</a:t>
            </a:r>
            <a:br>
              <a:rPr lang="es-ES" sz="1800" u="sng"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   }</a:t>
            </a:r>
            <a:br>
              <a:rPr lang="es-ES" sz="1800" u="sng"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a:t>
            </a: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07000"/>
              </a:lnSpc>
              <a:spcAft>
                <a:spcPts val="800"/>
              </a:spcAft>
            </a:pPr>
            <a:br>
              <a:rPr lang="es-ES" sz="18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800" dirty="0">
                <a:solidFill>
                  <a:srgbClr val="000000"/>
                </a:solidFill>
                <a:effectLst/>
                <a:latin typeface="Calibri" panose="020F0502020204030204" pitchFamily="34" charset="0"/>
                <a:ea typeface="Calibri" panose="020F0502020204030204" pitchFamily="34" charset="0"/>
              </a:rPr>
              <a:t>3.Algoritmo que genera todas las listas que dicen que la conjetura es falsa.</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pues nos quedaremos con la forma de invertir y negar, </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y la adaptamos.</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u="sng" dirty="0">
                <a:solidFill>
                  <a:srgbClr val="000000"/>
                </a:solidFill>
                <a:effectLst/>
                <a:latin typeface="Calibri" panose="020F0502020204030204" pitchFamily="34" charset="0"/>
                <a:ea typeface="Calibri" panose="020F0502020204030204" pitchFamily="34" charset="0"/>
              </a:rPr>
              <a:t>00110</a:t>
            </a:r>
            <a:br>
              <a:rPr lang="es-ES" sz="1800" u="sng" dirty="0">
                <a:solidFill>
                  <a:srgbClr val="000000"/>
                </a:solidFill>
                <a:effectLst/>
                <a:latin typeface="Calibri" panose="020F0502020204030204" pitchFamily="34" charset="0"/>
                <a:ea typeface="Calibri" panose="020F0502020204030204" pitchFamily="34" charset="0"/>
              </a:rPr>
            </a:br>
            <a:r>
              <a:rPr lang="es-ES" sz="1800" u="sng" dirty="0">
                <a:solidFill>
                  <a:srgbClr val="000000"/>
                </a:solidFill>
                <a:effectLst/>
                <a:latin typeface="Calibri" panose="020F0502020204030204" pitchFamily="34" charset="0"/>
                <a:ea typeface="Calibri" panose="020F0502020204030204" pitchFamily="34" charset="0"/>
              </a:rPr>
              <a:t>10011</a:t>
            </a:r>
            <a:br>
              <a:rPr lang="es-ES" sz="1800" u="sng"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 </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buscando el patrón 1 0.</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 </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al invertir y negar una lista de primos ponemos un 0 donde si es un numero primo, la conjetura es cierta para esa evaluación, o dicho como me interesa, un 0 donde no puede ser primo para que la conjetura sea falsa., </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Consecuencia, si el siguiente algoritmo pone a 1 todas las posiciones primas alguna vez, la conjetura será falsa, porque al poner a 0 2n – primos y el resultado tener todos los primos a 1, ese 2n no tiene descomposiciones, otra forma de verlo es que según el método de invertir y negar, al todos los primos cuadrar con los unos, no encontraras el patrón que determina en que posiciones hay descomposiciones.</a:t>
            </a:r>
            <a:r>
              <a:rPr lang="es-ES" dirty="0">
                <a:effectLst/>
              </a:rPr>
              <a:t> </a:t>
            </a:r>
            <a:r>
              <a:rPr lang="es-ES" sz="1800" kern="100" dirty="0">
                <a:solidFill>
                  <a:srgbClr val="000000"/>
                </a:solidFill>
                <a:effectLst/>
                <a:latin typeface="Calibri" panose="020F0502020204030204" pitchFamily="34" charset="0"/>
                <a:ea typeface="Calibri" panose="020F0502020204030204" pitchFamily="34" charset="0"/>
              </a:rPr>
              <a:t> </a:t>
            </a:r>
            <a:r>
              <a:rPr lang="es-ES" sz="1800" u="sng" kern="100" dirty="0">
                <a:solidFill>
                  <a:srgbClr val="000000"/>
                </a:solidFill>
                <a:effectLst/>
                <a:latin typeface="Calibri" panose="020F0502020204030204" pitchFamily="34" charset="0"/>
                <a:ea typeface="Calibri" panose="020F0502020204030204" pitchFamily="34" charset="0"/>
                <a:hlinkClick r:id="rId3"/>
              </a:rPr>
              <a:t>main.cpp</a:t>
            </a:r>
            <a:r>
              <a:rPr lang="es-ES" sz="1800" u="sng" kern="100" dirty="0">
                <a:solidFill>
                  <a:srgbClr val="000000"/>
                </a:solidFill>
                <a:effectLst/>
                <a:latin typeface="Calibri" panose="020F0502020204030204" pitchFamily="34" charset="0"/>
                <a:ea typeface="Calibri" panose="020F0502020204030204" pitchFamily="34" charset="0"/>
                <a:hlinkClick r:id="rId4"/>
              </a:rPr>
              <a:t> </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Para 6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0011010</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1010011</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sale 1 porque es la mitad un primo mas el mismo</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para 8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001101010</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101010011</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sales dos porque es un par diferente</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endParaRPr lang="es-ES" dirty="0"/>
          </a:p>
        </p:txBody>
      </p:sp>
      <p:sp>
        <p:nvSpPr>
          <p:cNvPr id="4" name="Marcador de número de diapositiva 3"/>
          <p:cNvSpPr>
            <a:spLocks noGrp="1"/>
          </p:cNvSpPr>
          <p:nvPr>
            <p:ph type="sldNum" sz="quarter" idx="5"/>
          </p:nvPr>
        </p:nvSpPr>
        <p:spPr/>
        <p:txBody>
          <a:bodyPr/>
          <a:lstStyle/>
          <a:p>
            <a:fld id="{888019AB-D82B-48D4-A5AA-145E84418907}" type="slidenum">
              <a:rPr lang="es-ES" smtClean="0"/>
              <a:t>4</a:t>
            </a:fld>
            <a:endParaRPr lang="es-ES"/>
          </a:p>
        </p:txBody>
      </p:sp>
    </p:spTree>
    <p:extLst>
      <p:ext uri="{BB962C8B-B14F-4D97-AF65-F5344CB8AC3E}">
        <p14:creationId xmlns:p14="http://schemas.microsoft.com/office/powerpoint/2010/main" val="424677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5715" indent="-5715" algn="l">
              <a:lnSpc>
                <a:spcPct val="107000"/>
              </a:lnSpc>
              <a:spcAft>
                <a:spcPts val="800"/>
              </a:spcAft>
            </a:pPr>
            <a:r>
              <a:rPr lang="es-ES" sz="1800" u="sng" kern="100" dirty="0">
                <a:solidFill>
                  <a:srgbClr val="000000"/>
                </a:solidFill>
                <a:effectLst/>
                <a:latin typeface="Calibri" panose="020F0502020204030204" pitchFamily="34" charset="0"/>
                <a:ea typeface="Calibri" panose="020F0502020204030204" pitchFamily="34" charset="0"/>
              </a:rPr>
              <a:t>La conjetura dice todo par no primo es la suma de dos primos.</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Efectivamente, la Conjetura de </a:t>
            </a:r>
            <a:r>
              <a:rPr lang="es-ES" sz="1800" kern="100" dirty="0" err="1">
                <a:solidFill>
                  <a:srgbClr val="000000"/>
                </a:solidFill>
                <a:effectLst/>
                <a:latin typeface="Calibri" panose="020F0502020204030204" pitchFamily="34" charset="0"/>
                <a:ea typeface="Calibri" panose="020F0502020204030204" pitchFamily="34" charset="0"/>
              </a:rPr>
              <a:t>Goldbach</a:t>
            </a:r>
            <a:r>
              <a:rPr lang="es-ES" sz="1800" kern="100" dirty="0">
                <a:solidFill>
                  <a:srgbClr val="000000"/>
                </a:solidFill>
                <a:effectLst/>
                <a:latin typeface="Calibri" panose="020F0502020204030204" pitchFamily="34" charset="0"/>
                <a:ea typeface="Calibri" panose="020F0502020204030204" pitchFamily="34" charset="0"/>
              </a:rPr>
              <a:t> establece que todo número par mayor que 2 es la suma de dos números primos. Esta es una de las conjeturas más antiguas y conocidas en la teoría de números que aún no ha sido probada ni refutada para todos los números pares. Matemáticamente, se puede expresar como:</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a:t>
            </a:r>
            <a:r>
              <a:rPr lang="es-ES" sz="1800" kern="100" dirty="0" err="1">
                <a:solidFill>
                  <a:srgbClr val="000000"/>
                </a:solidFill>
                <a:effectLst/>
                <a:latin typeface="Calibri" panose="020F0502020204030204" pitchFamily="34" charset="0"/>
                <a:ea typeface="Calibri" panose="020F0502020204030204" pitchFamily="34" charset="0"/>
              </a:rPr>
              <a:t>n∈N,n</a:t>
            </a:r>
            <a:r>
              <a:rPr lang="es-ES" sz="1800" kern="100" dirty="0">
                <a:solidFill>
                  <a:srgbClr val="000000"/>
                </a:solidFill>
                <a:effectLst/>
                <a:latin typeface="Calibri" panose="020F0502020204030204" pitchFamily="34" charset="0"/>
                <a:ea typeface="Calibri" panose="020F0502020204030204" pitchFamily="34" charset="0"/>
              </a:rPr>
              <a:t>&gt;2,∃p,q∈P:n=</a:t>
            </a:r>
            <a:r>
              <a:rPr lang="es-ES" sz="1800" kern="100" dirty="0" err="1">
                <a:solidFill>
                  <a:srgbClr val="000000"/>
                </a:solidFill>
                <a:effectLst/>
                <a:latin typeface="Calibri" panose="020F0502020204030204" pitchFamily="34" charset="0"/>
                <a:ea typeface="Calibri" panose="020F0502020204030204" pitchFamily="34" charset="0"/>
              </a:rPr>
              <a:t>p+q</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Donde ( \</a:t>
            </a:r>
            <a:r>
              <a:rPr lang="es-ES" sz="1800" kern="100" dirty="0" err="1">
                <a:solidFill>
                  <a:srgbClr val="000000"/>
                </a:solidFill>
                <a:effectLst/>
                <a:latin typeface="Calibri" panose="020F0502020204030204" pitchFamily="34" charset="0"/>
                <a:ea typeface="Calibri" panose="020F0502020204030204" pitchFamily="34" charset="0"/>
              </a:rPr>
              <a:t>mathbb</a:t>
            </a:r>
            <a:r>
              <a:rPr lang="es-ES" sz="1800" kern="100" dirty="0">
                <a:solidFill>
                  <a:srgbClr val="000000"/>
                </a:solidFill>
                <a:effectLst/>
                <a:latin typeface="Calibri" panose="020F0502020204030204" pitchFamily="34" charset="0"/>
                <a:ea typeface="Calibri" panose="020F0502020204030204" pitchFamily="34" charset="0"/>
              </a:rPr>
              <a:t>{N} ) representa el conjunto de los números naturales y ( \</a:t>
            </a:r>
            <a:r>
              <a:rPr lang="es-ES" sz="1800" kern="100" dirty="0" err="1">
                <a:solidFill>
                  <a:srgbClr val="000000"/>
                </a:solidFill>
                <a:effectLst/>
                <a:latin typeface="Calibri" panose="020F0502020204030204" pitchFamily="34" charset="0"/>
                <a:ea typeface="Calibri" panose="020F0502020204030204" pitchFamily="34" charset="0"/>
              </a:rPr>
              <a:t>mathbb</a:t>
            </a:r>
            <a:r>
              <a:rPr lang="es-ES" sz="1800" kern="100" dirty="0">
                <a:solidFill>
                  <a:srgbClr val="000000"/>
                </a:solidFill>
                <a:effectLst/>
                <a:latin typeface="Calibri" panose="020F0502020204030204" pitchFamily="34" charset="0"/>
                <a:ea typeface="Calibri" panose="020F0502020204030204" pitchFamily="34" charset="0"/>
              </a:rPr>
              <a:t>{P} ) el conjunto de los números primos. Si necesitas ayuda con algún aspecto específico relacionado con esta conjetura o con algún análisis matemático, estaré encantado de asistirte.</a:t>
            </a:r>
          </a:p>
          <a:p>
            <a:pPr marL="5715" indent="-5715" algn="l">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Aquí tienes algunos enlaces que te pueden ser útiles para obtener más información sobre la Conjetura de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800" kern="100" dirty="0">
              <a:solidFill>
                <a:srgbClr val="000000"/>
              </a:solidFill>
              <a:effectLst/>
              <a:latin typeface="Calibri" panose="020F0502020204030204" pitchFamily="34" charset="0"/>
              <a:ea typeface="Calibri" panose="020F0502020204030204" pitchFamily="34" charset="0"/>
            </a:endParaRPr>
          </a:p>
          <a:p>
            <a:pPr marL="342900" lvl="0" indent="-342900" algn="l">
              <a:spcAft>
                <a:spcPts val="460"/>
              </a:spcAft>
              <a:buFont typeface="Wingdings" panose="05000000000000000000" pitchFamily="2" charset="2"/>
              <a:buChar char=""/>
            </a:pP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Puedes leer sobre la historia y los detalles de la conjetura en la </a:t>
            </a:r>
            <a:r>
              <a:rPr lang="es-ES" sz="1800" u="sng" kern="100" dirty="0">
                <a:solidFill>
                  <a:srgbClr val="000000"/>
                </a:solidFill>
                <a:effectLst/>
                <a:highlight>
                  <a:srgbClr val="FFFFFF"/>
                </a:highlight>
                <a:latin typeface="Symbol" panose="05050102010706020507" pitchFamily="18" charset="2"/>
                <a:ea typeface="Calibri" panose="020F0502020204030204" pitchFamily="34" charset="0"/>
                <a:hlinkClick r:id="rId3"/>
              </a:rPr>
              <a:t>Wikipedia</a:t>
            </a: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a:t>
            </a:r>
            <a:endParaRPr lang="es-ES" sz="1800" kern="100" dirty="0">
              <a:solidFill>
                <a:srgbClr val="000000"/>
              </a:solidFill>
              <a:effectLst/>
              <a:latin typeface="Symbol" panose="05050102010706020507" pitchFamily="18" charset="2"/>
              <a:ea typeface="Calibri" panose="020F0502020204030204" pitchFamily="34" charset="0"/>
            </a:endParaRPr>
          </a:p>
          <a:p>
            <a:pPr marL="342900" lvl="0" indent="-342900" algn="l">
              <a:spcAft>
                <a:spcPts val="460"/>
              </a:spcAft>
              <a:buFont typeface="Wingdings" panose="05000000000000000000" pitchFamily="2" charset="2"/>
              <a:buChar char=""/>
            </a:pP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Para una discusión más detallada y un enfoque histórico, el </a:t>
            </a:r>
            <a:r>
              <a:rPr lang="es-ES" sz="1800" u="sng" kern="100" dirty="0">
                <a:solidFill>
                  <a:srgbClr val="000000"/>
                </a:solidFill>
                <a:effectLst/>
                <a:highlight>
                  <a:srgbClr val="FFFFFF"/>
                </a:highlight>
                <a:latin typeface="Symbol" panose="05050102010706020507" pitchFamily="18" charset="2"/>
                <a:ea typeface="Calibri" panose="020F0502020204030204" pitchFamily="34" charset="0"/>
                <a:hlinkClick r:id="rId4"/>
              </a:rPr>
              <a:t>Cuaderno de Cultura Científica</a:t>
            </a: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 ofrece un artículo interesante.</a:t>
            </a:r>
            <a:endParaRPr lang="es-ES" sz="1800" kern="100" dirty="0">
              <a:solidFill>
                <a:srgbClr val="000000"/>
              </a:solidFill>
              <a:effectLst/>
              <a:latin typeface="Symbol" panose="05050102010706020507" pitchFamily="18" charset="2"/>
              <a:ea typeface="Calibri" panose="020F0502020204030204" pitchFamily="34" charset="0"/>
            </a:endParaRPr>
          </a:p>
          <a:p>
            <a:pPr marL="342900" lvl="0" indent="-342900" algn="l">
              <a:spcAft>
                <a:spcPts val="460"/>
              </a:spcAft>
              <a:buFont typeface="Wingdings" panose="05000000000000000000" pitchFamily="2" charset="2"/>
              <a:buChar char=""/>
            </a:pP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En </a:t>
            </a:r>
            <a:r>
              <a:rPr lang="es-ES" sz="1800" u="sng" kern="100" dirty="0">
                <a:solidFill>
                  <a:srgbClr val="000000"/>
                </a:solidFill>
                <a:effectLst/>
                <a:highlight>
                  <a:srgbClr val="FFFFFF"/>
                </a:highlight>
                <a:latin typeface="Symbol" panose="05050102010706020507" pitchFamily="18" charset="2"/>
                <a:ea typeface="Calibri" panose="020F0502020204030204" pitchFamily="34" charset="0"/>
                <a:hlinkClick r:id="rId5"/>
              </a:rPr>
              <a:t>Gaussianos</a:t>
            </a: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 encontrarás una explicación sobre la conjetura y su relevancia en la teoría de números.</a:t>
            </a:r>
            <a:endParaRPr lang="es-ES" sz="1800" kern="100" dirty="0">
              <a:solidFill>
                <a:srgbClr val="000000"/>
              </a:solidFill>
              <a:effectLst/>
              <a:latin typeface="Symbol" panose="05050102010706020507" pitchFamily="18" charset="2"/>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Estos recursos te proporcionarán una visión general y un análisis en profundidad de la Conjetura de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incluyendo los esfuerzos recientes para probarla y su importancia en las matemáticas.</a:t>
            </a:r>
            <a:endParaRPr lang="es-ES" sz="1800" kern="100" dirty="0">
              <a:solidFill>
                <a:srgbClr val="000000"/>
              </a:solidFill>
              <a:effectLst/>
              <a:latin typeface="Calibri" panose="020F0502020204030204" pitchFamily="34" charset="0"/>
              <a:ea typeface="Calibri" panose="020F0502020204030204" pitchFamily="34" charset="0"/>
            </a:endParaRPr>
          </a:p>
          <a:p>
            <a:r>
              <a:rPr lang="es-ES" sz="1800" dirty="0">
                <a:effectLst/>
                <a:latin typeface="Segoe UI" panose="020B0502040204020203" pitchFamily="34" charset="0"/>
              </a:rPr>
              <a:t>Efectivamente, la Conjetura de </a:t>
            </a:r>
            <a:r>
              <a:rPr lang="es-ES" sz="1800" dirty="0" err="1">
                <a:effectLst/>
                <a:latin typeface="Segoe UI" panose="020B0502040204020203" pitchFamily="34" charset="0"/>
              </a:rPr>
              <a:t>Goldbach</a:t>
            </a:r>
            <a:r>
              <a:rPr lang="es-ES" sz="1800" dirty="0">
                <a:effectLst/>
                <a:latin typeface="Segoe UI" panose="020B0502040204020203" pitchFamily="34" charset="0"/>
              </a:rPr>
              <a:t> establece que todo número par mayor que 2 es la suma de dos números primos. Esta es una de las conjeturas más antiguas y conocidas en la teoría de números que aún no ha sido probada ni refutada para todos los números pares. Matemáticamente, se puede expresar como:</a:t>
            </a:r>
            <a:endParaRPr lang="es-ES" sz="1800" dirty="0">
              <a:effectLst/>
              <a:latin typeface="Arial" panose="020B0604020202020204" pitchFamily="34" charset="0"/>
            </a:endParaRPr>
          </a:p>
          <a:p>
            <a:r>
              <a:rPr lang="es-ES" sz="1800" dirty="0">
                <a:effectLst/>
                <a:latin typeface="Segoe UI" panose="020B0502040204020203" pitchFamily="34" charset="0"/>
              </a:rPr>
              <a:t>∀</a:t>
            </a:r>
            <a:r>
              <a:rPr lang="es-ES" sz="1800" dirty="0" err="1">
                <a:effectLst/>
                <a:latin typeface="Segoe UI" panose="020B0502040204020203" pitchFamily="34" charset="0"/>
              </a:rPr>
              <a:t>n∈N,n</a:t>
            </a:r>
            <a:r>
              <a:rPr lang="es-ES" sz="1800" dirty="0">
                <a:effectLst/>
                <a:latin typeface="Segoe UI" panose="020B0502040204020203" pitchFamily="34" charset="0"/>
              </a:rPr>
              <a:t>&gt;2,∃p,q∈P:n=</a:t>
            </a:r>
            <a:r>
              <a:rPr lang="es-ES" sz="1800" dirty="0" err="1">
                <a:effectLst/>
                <a:latin typeface="Segoe UI" panose="020B0502040204020203" pitchFamily="34" charset="0"/>
              </a:rPr>
              <a:t>p+q</a:t>
            </a:r>
            <a:endParaRPr lang="es-ES" sz="1800" dirty="0">
              <a:effectLst/>
              <a:latin typeface="Arial" panose="020B0604020202020204" pitchFamily="34" charset="0"/>
            </a:endParaRPr>
          </a:p>
          <a:p>
            <a:r>
              <a:rPr lang="es-ES" sz="1800" dirty="0">
                <a:effectLst/>
                <a:latin typeface="Segoe UI" panose="020B0502040204020203" pitchFamily="34" charset="0"/>
              </a:rPr>
              <a:t>Donde ( \</a:t>
            </a:r>
            <a:r>
              <a:rPr lang="es-ES" sz="1800" dirty="0" err="1">
                <a:effectLst/>
                <a:latin typeface="Segoe UI" panose="020B0502040204020203" pitchFamily="34" charset="0"/>
              </a:rPr>
              <a:t>mathbb</a:t>
            </a:r>
            <a:r>
              <a:rPr lang="es-ES" sz="1800" dirty="0">
                <a:effectLst/>
                <a:latin typeface="Segoe UI" panose="020B0502040204020203" pitchFamily="34" charset="0"/>
              </a:rPr>
              <a:t>{N} ) representa el conjunto de los números naturales y ( \</a:t>
            </a:r>
            <a:r>
              <a:rPr lang="es-ES" sz="1800" dirty="0" err="1">
                <a:effectLst/>
                <a:latin typeface="Segoe UI" panose="020B0502040204020203" pitchFamily="34" charset="0"/>
              </a:rPr>
              <a:t>mathbb</a:t>
            </a:r>
            <a:r>
              <a:rPr lang="es-ES" sz="1800" dirty="0">
                <a:effectLst/>
                <a:latin typeface="Segoe UI" panose="020B0502040204020203" pitchFamily="34" charset="0"/>
              </a:rPr>
              <a:t>{P} ) el conjunto de los números primos. Si necesitas ayuda con algún aspecto específico relacionado con esta conjetura o con algún análisis matemático, estaré encantado de asistirte.</a:t>
            </a:r>
            <a:endParaRPr lang="es-ES" sz="1800" dirty="0">
              <a:effectLst/>
              <a:latin typeface="Arial" panose="020B0604020202020204" pitchFamily="34" charset="0"/>
            </a:endParaRPr>
          </a:p>
          <a:p>
            <a:br>
              <a:rPr lang="es-ES" sz="1800" dirty="0">
                <a:effectLst/>
                <a:latin typeface="Segoe UI" panose="020B0502040204020203" pitchFamily="34" charset="0"/>
              </a:rPr>
            </a:br>
            <a:endParaRPr lang="es-ES" sz="1800" dirty="0">
              <a:effectLst/>
              <a:latin typeface="Arial" panose="020B0604020202020204" pitchFamily="34" charset="0"/>
            </a:endParaRPr>
          </a:p>
          <a:p>
            <a:r>
              <a:rPr lang="es-ES" sz="1800" dirty="0">
                <a:solidFill>
                  <a:srgbClr val="111111"/>
                </a:solidFill>
                <a:effectLst/>
                <a:latin typeface="Segoe UI" panose="020B0502040204020203" pitchFamily="34" charset="0"/>
              </a:rPr>
              <a:t>Aquí tienes algunos enlaces que te pueden ser útiles para obtener más información sobre la Conjetura de </a:t>
            </a:r>
            <a:r>
              <a:rPr lang="es-ES" sz="1800" dirty="0" err="1">
                <a:solidFill>
                  <a:srgbClr val="111111"/>
                </a:solidFill>
                <a:effectLst/>
                <a:latin typeface="Segoe UI" panose="020B0502040204020203" pitchFamily="34" charset="0"/>
              </a:rPr>
              <a:t>Goldbach</a:t>
            </a:r>
            <a:r>
              <a:rPr lang="es-ES" sz="1800" dirty="0">
                <a:solidFill>
                  <a:srgbClr val="111111"/>
                </a:solidFill>
                <a:effectLst/>
                <a:latin typeface="Segoe UI" panose="020B0502040204020203" pitchFamily="34" charset="0"/>
              </a:rPr>
              <a:t>:</a:t>
            </a:r>
            <a:endParaRPr lang="es-ES" sz="1800" dirty="0">
              <a:effectLst/>
              <a:latin typeface="Arial" panose="020B0604020202020204" pitchFamily="34" charset="0"/>
            </a:endParaRPr>
          </a:p>
          <a:p>
            <a:pPr>
              <a:buFont typeface="Arial" panose="020B0604020202020204" pitchFamily="34" charset="0"/>
              <a:buChar char="•"/>
            </a:pPr>
            <a:r>
              <a:rPr lang="es-ES" sz="1800" dirty="0">
                <a:solidFill>
                  <a:srgbClr val="111111"/>
                </a:solidFill>
                <a:effectLst/>
                <a:latin typeface="Segoe UI" panose="020B0502040204020203" pitchFamily="34" charset="0"/>
              </a:rPr>
              <a:t>Puedes leer sobre la historia y los detalles de la conjetura en la </a:t>
            </a:r>
            <a:r>
              <a:rPr lang="es-ES" sz="1800" dirty="0">
                <a:solidFill>
                  <a:srgbClr val="111111"/>
                </a:solidFill>
                <a:effectLst/>
                <a:latin typeface="Segoe UI" panose="020B0502040204020203" pitchFamily="34" charset="0"/>
                <a:hlinkClick r:id="rId3"/>
              </a:rPr>
              <a:t>Wikipedia</a:t>
            </a:r>
            <a:r>
              <a:rPr lang="es-ES" sz="1800" dirty="0">
                <a:solidFill>
                  <a:srgbClr val="111111"/>
                </a:solidFill>
                <a:effectLst/>
                <a:latin typeface="Segoe UI" panose="020B0502040204020203" pitchFamily="34" charset="0"/>
              </a:rPr>
              <a:t>.</a:t>
            </a:r>
            <a:endParaRPr lang="es-ES" sz="1800" dirty="0">
              <a:effectLst/>
              <a:latin typeface="Arial" panose="020B0604020202020204" pitchFamily="34" charset="0"/>
            </a:endParaRPr>
          </a:p>
          <a:p>
            <a:pPr>
              <a:buFont typeface="Arial" panose="020B0604020202020204" pitchFamily="34" charset="0"/>
              <a:buChar char="•"/>
            </a:pPr>
            <a:r>
              <a:rPr lang="es-ES" sz="1800" dirty="0">
                <a:solidFill>
                  <a:srgbClr val="111111"/>
                </a:solidFill>
                <a:effectLst/>
                <a:latin typeface="Segoe UI" panose="020B0502040204020203" pitchFamily="34" charset="0"/>
              </a:rPr>
              <a:t>Para una discusión más detallada y un enfoque histórico, el </a:t>
            </a:r>
            <a:r>
              <a:rPr lang="es-ES" sz="1800" dirty="0">
                <a:solidFill>
                  <a:srgbClr val="111111"/>
                </a:solidFill>
                <a:effectLst/>
                <a:latin typeface="Segoe UI" panose="020B0502040204020203" pitchFamily="34" charset="0"/>
                <a:hlinkClick r:id="rId4"/>
              </a:rPr>
              <a:t>Cuaderno de Cultura Científica</a:t>
            </a:r>
            <a:r>
              <a:rPr lang="es-ES" sz="1800" dirty="0">
                <a:solidFill>
                  <a:srgbClr val="111111"/>
                </a:solidFill>
                <a:effectLst/>
                <a:latin typeface="Segoe UI" panose="020B0502040204020203" pitchFamily="34" charset="0"/>
              </a:rPr>
              <a:t> ofrece un artículo interesante.</a:t>
            </a:r>
            <a:endParaRPr lang="es-ES" sz="1800" dirty="0">
              <a:effectLst/>
              <a:latin typeface="Arial" panose="020B0604020202020204" pitchFamily="34" charset="0"/>
            </a:endParaRPr>
          </a:p>
          <a:p>
            <a:pPr>
              <a:buFont typeface="Arial" panose="020B0604020202020204" pitchFamily="34" charset="0"/>
              <a:buChar char="•"/>
            </a:pPr>
            <a:r>
              <a:rPr lang="es-ES" sz="1800" dirty="0">
                <a:solidFill>
                  <a:srgbClr val="111111"/>
                </a:solidFill>
                <a:effectLst/>
                <a:latin typeface="Segoe UI" panose="020B0502040204020203" pitchFamily="34" charset="0"/>
              </a:rPr>
              <a:t>En </a:t>
            </a:r>
            <a:r>
              <a:rPr lang="es-ES" sz="1800" dirty="0">
                <a:solidFill>
                  <a:srgbClr val="111111"/>
                </a:solidFill>
                <a:effectLst/>
                <a:latin typeface="Segoe UI" panose="020B0502040204020203" pitchFamily="34" charset="0"/>
                <a:hlinkClick r:id="rId5"/>
              </a:rPr>
              <a:t>Gaussianos</a:t>
            </a:r>
            <a:r>
              <a:rPr lang="es-ES" sz="1800" dirty="0">
                <a:solidFill>
                  <a:srgbClr val="111111"/>
                </a:solidFill>
                <a:effectLst/>
                <a:latin typeface="Segoe UI" panose="020B0502040204020203" pitchFamily="34" charset="0"/>
              </a:rPr>
              <a:t>, encontrarás una explicación sobre la conjetura y su relevancia en la teoría de números.</a:t>
            </a:r>
            <a:endParaRPr lang="es-ES" sz="1800" dirty="0">
              <a:effectLst/>
              <a:latin typeface="Arial" panose="020B0604020202020204" pitchFamily="34" charset="0"/>
            </a:endParaRPr>
          </a:p>
          <a:p>
            <a:r>
              <a:rPr lang="es-ES" sz="1800" dirty="0">
                <a:solidFill>
                  <a:srgbClr val="111111"/>
                </a:solidFill>
                <a:effectLst/>
                <a:latin typeface="Segoe UI" panose="020B0502040204020203" pitchFamily="34" charset="0"/>
              </a:rPr>
              <a:t>Estos recursos te proporcionarán una visión general y un análisis en profundidad de la Conjetura de </a:t>
            </a:r>
            <a:r>
              <a:rPr lang="es-ES" sz="1800" dirty="0" err="1">
                <a:solidFill>
                  <a:srgbClr val="111111"/>
                </a:solidFill>
                <a:effectLst/>
                <a:latin typeface="Segoe UI" panose="020B0502040204020203" pitchFamily="34" charset="0"/>
              </a:rPr>
              <a:t>Goldbach</a:t>
            </a:r>
            <a:r>
              <a:rPr lang="es-ES" sz="1800" dirty="0">
                <a:solidFill>
                  <a:srgbClr val="111111"/>
                </a:solidFill>
                <a:effectLst/>
                <a:latin typeface="Segoe UI" panose="020B0502040204020203" pitchFamily="34" charset="0"/>
              </a:rPr>
              <a:t>, incluyendo los esfuerzos recientes para probarla y su importancia en las matemáticas.</a:t>
            </a:r>
            <a:endParaRPr lang="es-ES" sz="1800" dirty="0">
              <a:effectLst/>
              <a:latin typeface="Arial" panose="020B0604020202020204" pitchFamily="34" charset="0"/>
            </a:endParaRPr>
          </a:p>
          <a:p>
            <a:pPr marL="5715" indent="-5715" algn="l">
              <a:spcAft>
                <a:spcPts val="460"/>
              </a:spcAft>
            </a:pPr>
            <a:r>
              <a:rPr lang="es-ES" sz="1800" dirty="0">
                <a:solidFill>
                  <a:srgbClr val="000000"/>
                </a:solidFill>
                <a:effectLst/>
                <a:latin typeface="Calibri" panose="020F0502020204030204" pitchFamily="34" charset="0"/>
                <a:ea typeface="Calibri" panose="020F0502020204030204" pitchFamily="34" charset="0"/>
              </a:rPr>
              <a:t>Las descomposiciones son los dos primos que suman un par dado.  </a:t>
            </a:r>
            <a:r>
              <a:rPr lang="es-ES" dirty="0">
                <a:effectLst/>
              </a:rPr>
              <a:t> </a:t>
            </a:r>
            <a:r>
              <a:rPr lang="es-ES" sz="1800" kern="100" dirty="0">
                <a:solidFill>
                  <a:srgbClr val="000000"/>
                </a:solidFill>
                <a:effectLst/>
                <a:latin typeface="Calibri" panose="020F0502020204030204" pitchFamily="34" charset="0"/>
                <a:ea typeface="Calibri" panose="020F0502020204030204" pitchFamily="34" charset="0"/>
              </a:rPr>
              <a:t> Correcto, en el contexto de la Conjetura de </a:t>
            </a:r>
            <a:r>
              <a:rPr lang="es-ES" sz="1800" kern="100" dirty="0" err="1">
                <a:solidFill>
                  <a:srgbClr val="000000"/>
                </a:solidFill>
                <a:effectLst/>
                <a:latin typeface="Calibri" panose="020F0502020204030204" pitchFamily="34" charset="0"/>
                <a:ea typeface="Calibri" panose="020F0502020204030204" pitchFamily="34" charset="0"/>
              </a:rPr>
              <a:t>Goldbach</a:t>
            </a:r>
            <a:r>
              <a:rPr lang="es-ES" sz="1800" kern="100" dirty="0">
                <a:solidFill>
                  <a:srgbClr val="000000"/>
                </a:solidFill>
                <a:effectLst/>
                <a:latin typeface="Calibri" panose="020F0502020204030204" pitchFamily="34" charset="0"/>
                <a:ea typeface="Calibri" panose="020F0502020204030204" pitchFamily="34" charset="0"/>
              </a:rPr>
              <a:t>, una descomposición se refiere a un par de números primos cuya suma es igual a un número par dado. Matemáticamente, si tenemos un número par ( n ), una descomposición de </a:t>
            </a:r>
            <a:r>
              <a:rPr lang="es-ES" sz="1800" kern="100" dirty="0" err="1">
                <a:solidFill>
                  <a:srgbClr val="000000"/>
                </a:solidFill>
                <a:effectLst/>
                <a:latin typeface="Calibri" panose="020F0502020204030204" pitchFamily="34" charset="0"/>
                <a:ea typeface="Calibri" panose="020F0502020204030204" pitchFamily="34" charset="0"/>
              </a:rPr>
              <a:t>Goldbach</a:t>
            </a:r>
            <a:r>
              <a:rPr lang="es-ES" sz="1800" kern="100" dirty="0">
                <a:solidFill>
                  <a:srgbClr val="000000"/>
                </a:solidFill>
                <a:effectLst/>
                <a:latin typeface="Calibri" panose="020F0502020204030204" pitchFamily="34" charset="0"/>
                <a:ea typeface="Calibri" panose="020F0502020204030204" pitchFamily="34" charset="0"/>
              </a:rPr>
              <a:t> sería encontrar dos números primos ( p ) y ( q ) tales que:</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n=</a:t>
            </a:r>
            <a:r>
              <a:rPr lang="es-ES" sz="1800" kern="100" dirty="0" err="1">
                <a:solidFill>
                  <a:srgbClr val="000000"/>
                </a:solidFill>
                <a:effectLst/>
                <a:latin typeface="Calibri" panose="020F0502020204030204" pitchFamily="34" charset="0"/>
                <a:ea typeface="Calibri" panose="020F0502020204030204" pitchFamily="34" charset="0"/>
              </a:rPr>
              <a:t>p+q</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Por ejemplo, para el número par 10, una descomposición de </a:t>
            </a:r>
            <a:r>
              <a:rPr lang="es-ES" sz="1800" kern="100" dirty="0" err="1">
                <a:solidFill>
                  <a:srgbClr val="000000"/>
                </a:solidFill>
                <a:effectLst/>
                <a:latin typeface="Calibri" panose="020F0502020204030204" pitchFamily="34" charset="0"/>
                <a:ea typeface="Calibri" panose="020F0502020204030204" pitchFamily="34" charset="0"/>
              </a:rPr>
              <a:t>Goldbach</a:t>
            </a:r>
            <a:r>
              <a:rPr lang="es-ES" sz="1800" kern="100" dirty="0">
                <a:solidFill>
                  <a:srgbClr val="000000"/>
                </a:solidFill>
                <a:effectLst/>
                <a:latin typeface="Calibri" panose="020F0502020204030204" pitchFamily="34" charset="0"/>
                <a:ea typeface="Calibri" panose="020F0502020204030204" pitchFamily="34" charset="0"/>
              </a:rPr>
              <a:t> sería ( 3 + 7 ), ya que ambos son números primos y su suma es 10. La conjetura afirma que todas las descomposiciones posibles para cualquier número par mayor que 2 pueden ser expresadas de esta manera. Si necesitas ayuda con algún cálculo o explicación adicional sobre este tema, estaré encantado de asistirte.</a:t>
            </a:r>
          </a:p>
          <a:p>
            <a:pPr marL="5715" indent="-5715" algn="l">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r>
              <a:rPr lang="es-ES" sz="1800" dirty="0">
                <a:effectLst/>
                <a:latin typeface="Segoe UI" panose="020B0502040204020203" pitchFamily="34" charset="0"/>
              </a:rPr>
              <a:t>Correcto, en el contexto de la Conjetura de </a:t>
            </a:r>
            <a:r>
              <a:rPr lang="es-ES" sz="1800" dirty="0" err="1">
                <a:effectLst/>
                <a:latin typeface="Segoe UI" panose="020B0502040204020203" pitchFamily="34" charset="0"/>
              </a:rPr>
              <a:t>Goldbach</a:t>
            </a:r>
            <a:r>
              <a:rPr lang="es-ES" sz="1800" dirty="0">
                <a:effectLst/>
                <a:latin typeface="Segoe UI" panose="020B0502040204020203" pitchFamily="34" charset="0"/>
              </a:rPr>
              <a:t>, una descomposición se refiere a un par de números primos cuya suma es igual a un número par dado. Matemáticamente, si tenemos un número par ( n ), una descomposición de </a:t>
            </a:r>
            <a:r>
              <a:rPr lang="es-ES" sz="1800" dirty="0" err="1">
                <a:effectLst/>
                <a:latin typeface="Segoe UI" panose="020B0502040204020203" pitchFamily="34" charset="0"/>
              </a:rPr>
              <a:t>Goldbach</a:t>
            </a:r>
            <a:r>
              <a:rPr lang="es-ES" sz="1800" dirty="0">
                <a:effectLst/>
                <a:latin typeface="Segoe UI" panose="020B0502040204020203" pitchFamily="34" charset="0"/>
              </a:rPr>
              <a:t> sería encontrar dos números primos ( p ) y ( q ) tales que:</a:t>
            </a:r>
            <a:endParaRPr lang="es-ES" sz="1800" dirty="0">
              <a:effectLst/>
              <a:latin typeface="Arial" panose="020B0604020202020204" pitchFamily="34" charset="0"/>
            </a:endParaRPr>
          </a:p>
          <a:p>
            <a:r>
              <a:rPr lang="es-ES" sz="1800" dirty="0">
                <a:effectLst/>
                <a:latin typeface="Segoe UI" panose="020B0502040204020203" pitchFamily="34" charset="0"/>
              </a:rPr>
              <a:t>n=</a:t>
            </a:r>
            <a:r>
              <a:rPr lang="es-ES" sz="1800" dirty="0" err="1">
                <a:effectLst/>
                <a:latin typeface="Segoe UI" panose="020B0502040204020203" pitchFamily="34" charset="0"/>
              </a:rPr>
              <a:t>p+q</a:t>
            </a:r>
            <a:endParaRPr lang="es-ES" sz="1800" dirty="0">
              <a:effectLst/>
              <a:latin typeface="Arial" panose="020B0604020202020204" pitchFamily="34" charset="0"/>
            </a:endParaRPr>
          </a:p>
          <a:p>
            <a:r>
              <a:rPr lang="es-ES" sz="1800" dirty="0">
                <a:effectLst/>
                <a:latin typeface="Segoe UI" panose="020B0502040204020203" pitchFamily="34" charset="0"/>
              </a:rPr>
              <a:t>Por ejemplo, para el número par 10, una descomposición de </a:t>
            </a:r>
            <a:r>
              <a:rPr lang="es-ES" sz="1800" dirty="0" err="1">
                <a:effectLst/>
                <a:latin typeface="Segoe UI" panose="020B0502040204020203" pitchFamily="34" charset="0"/>
              </a:rPr>
              <a:t>Goldbach</a:t>
            </a:r>
            <a:r>
              <a:rPr lang="es-ES" sz="1800" dirty="0">
                <a:effectLst/>
                <a:latin typeface="Segoe UI" panose="020B0502040204020203" pitchFamily="34" charset="0"/>
              </a:rPr>
              <a:t> sería ( 3 + 7 ), ya que ambos son números primos y su suma es 10. La conjetura afirma que todas las descomposiciones posibles para cualquier número par mayor que 2 pueden ser expresadas de esta manera. Si necesitas ayuda con algún cálculo o explicación adicional sobre este tema, estaré encantado de asistirte.</a:t>
            </a:r>
            <a:endParaRPr lang="es-ES" sz="1800" dirty="0">
              <a:effectLst/>
              <a:latin typeface="Arial" panose="020B0604020202020204" pitchFamily="34" charset="0"/>
            </a:endParaRPr>
          </a:p>
          <a:p>
            <a:pPr marL="5715" indent="-5715" algn="l">
              <a:lnSpc>
                <a:spcPct val="107000"/>
              </a:lnSpc>
              <a:spcAft>
                <a:spcPts val="800"/>
              </a:spcAft>
            </a:pPr>
            <a:r>
              <a:rPr lang="es-ES" sz="1800" kern="100" dirty="0">
                <a:solidFill>
                  <a:srgbClr val="000000"/>
                </a:solidFill>
                <a:effectLst/>
                <a:latin typeface="Calibri" panose="020F0502020204030204" pitchFamily="34" charset="0"/>
                <a:ea typeface="Calibri" panose="020F0502020204030204" pitchFamily="34" charset="0"/>
              </a:rPr>
              <a:t>2.Metodos para encontrar descomposiciones.</a:t>
            </a:r>
          </a:p>
          <a:p>
            <a:pPr marL="5715" indent="-5715" algn="l">
              <a:spcAft>
                <a:spcPts val="460"/>
              </a:spcAft>
            </a:pPr>
            <a:r>
              <a:rPr lang="es-ES" sz="1800" dirty="0">
                <a:solidFill>
                  <a:srgbClr val="000000"/>
                </a:solidFill>
                <a:effectLst/>
                <a:latin typeface="Calibri" panose="020F0502020204030204" pitchFamily="34" charset="0"/>
                <a:ea typeface="Calibri" panose="020F0502020204030204" pitchFamily="34" charset="0"/>
              </a:rPr>
              <a:t>Las descomposiciones son aquellos pares de primos que suman un par dado.</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Partiendo de las listas de primos con las que trabajamos, podemos invertirlas para sacar descomposiciones.</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00110</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01100</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     *</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buscando el patrón 1 1 obtenemos una posición que es prima en la primera lista un 1, y un 1 en la invertida indica una posición 2n-primo.</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o podemos invertirlas y negarlas</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00110</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10011</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     *</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buscando el patrón 1 0. el primer uno indica que es un numero primo, y el segundo 0 que no puede ser primo porque si no la conjetura es falsa. Como sé que es un numero primo, y sé que ese no puede ser primo porque si no la conjetura no puede ser falsa, sé que en esa posición tengo una descomposición.</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y así se sabe que pasa, porque han hecho cálculos hasta 2^19 a fecha de que lo dijeron.</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otra forma es con un bucle, y comparando i and n-i.</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u="sng" dirty="0">
                <a:solidFill>
                  <a:srgbClr val="000000"/>
                </a:solidFill>
                <a:effectLst/>
                <a:latin typeface="Calibri" panose="020F0502020204030204" pitchFamily="34" charset="0"/>
                <a:ea typeface="Calibri" panose="020F0502020204030204" pitchFamily="34" charset="0"/>
              </a:rPr>
              <a:t>para i en n{ </a:t>
            </a:r>
            <a:br>
              <a:rPr lang="es-ES" sz="1800" u="sng" dirty="0">
                <a:solidFill>
                  <a:srgbClr val="000000"/>
                </a:solidFill>
                <a:effectLst/>
                <a:latin typeface="Calibri" panose="020F0502020204030204" pitchFamily="34" charset="0"/>
                <a:ea typeface="Calibri" panose="020F0502020204030204" pitchFamily="34" charset="0"/>
              </a:rPr>
            </a:br>
            <a:r>
              <a:rPr lang="es-ES" sz="1800" u="sng" dirty="0">
                <a:solidFill>
                  <a:srgbClr val="000000"/>
                </a:solidFill>
                <a:effectLst/>
                <a:latin typeface="Calibri" panose="020F0502020204030204" pitchFamily="34" charset="0"/>
                <a:ea typeface="Calibri" panose="020F0502020204030204" pitchFamily="34" charset="0"/>
              </a:rPr>
              <a:t>   si (lista[i] AND lista[2n-i])</a:t>
            </a:r>
            <a:br>
              <a:rPr lang="es-ES" sz="1800" u="sng" dirty="0">
                <a:solidFill>
                  <a:srgbClr val="000000"/>
                </a:solidFill>
                <a:effectLst/>
                <a:latin typeface="Calibri" panose="020F0502020204030204" pitchFamily="34" charset="0"/>
                <a:ea typeface="Calibri" panose="020F0502020204030204" pitchFamily="34" charset="0"/>
              </a:rPr>
            </a:br>
            <a:r>
              <a:rPr lang="es-ES" sz="1800" u="sng" dirty="0">
                <a:solidFill>
                  <a:srgbClr val="000000"/>
                </a:solidFill>
                <a:effectLst/>
                <a:latin typeface="Calibri" panose="020F0502020204030204" pitchFamily="34" charset="0"/>
                <a:ea typeface="Calibri" panose="020F0502020204030204" pitchFamily="34" charset="0"/>
              </a:rPr>
              <a:t>       //descomposición encontrada para 2n</a:t>
            </a:r>
            <a:br>
              <a:rPr lang="es-ES" sz="1800" u="sng" dirty="0">
                <a:solidFill>
                  <a:srgbClr val="000000"/>
                </a:solidFill>
                <a:effectLst/>
                <a:latin typeface="Calibri" panose="020F0502020204030204" pitchFamily="34" charset="0"/>
                <a:ea typeface="Calibri" panose="020F0502020204030204" pitchFamily="34" charset="0"/>
              </a:rPr>
            </a:br>
            <a:r>
              <a:rPr lang="es-ES" sz="1800" u="sng" dirty="0">
                <a:solidFill>
                  <a:srgbClr val="000000"/>
                </a:solidFill>
                <a:effectLst/>
                <a:latin typeface="Calibri" panose="020F0502020204030204" pitchFamily="34" charset="0"/>
                <a:ea typeface="Calibri" panose="020F0502020204030204" pitchFamily="34" charset="0"/>
              </a:rPr>
              <a:t>   }</a:t>
            </a:r>
            <a:br>
              <a:rPr lang="es-ES" sz="1800" u="sng" dirty="0">
                <a:solidFill>
                  <a:srgbClr val="000000"/>
                </a:solidFill>
                <a:effectLst/>
                <a:latin typeface="Calibri" panose="020F0502020204030204" pitchFamily="34" charset="0"/>
                <a:ea typeface="Calibri" panose="020F0502020204030204" pitchFamily="34" charset="0"/>
              </a:rPr>
            </a:br>
            <a:r>
              <a:rPr lang="es-ES" sz="1800" u="sng" dirty="0">
                <a:solidFill>
                  <a:srgbClr val="000000"/>
                </a:solidFill>
                <a:effectLst/>
                <a:latin typeface="Calibri" panose="020F0502020204030204" pitchFamily="34" charset="0"/>
                <a:ea typeface="Calibri" panose="020F0502020204030204" pitchFamily="34" charset="0"/>
              </a:rPr>
              <a:t>}</a:t>
            </a:r>
            <a:r>
              <a:rPr lang="es-ES" sz="1800" dirty="0">
                <a:solidFill>
                  <a:srgbClr val="000000"/>
                </a:solidFill>
                <a:effectLst/>
                <a:latin typeface="Calibri" panose="020F0502020204030204" pitchFamily="34" charset="0"/>
                <a:ea typeface="Calibri" panose="020F0502020204030204" pitchFamily="34" charset="0"/>
              </a:rPr>
              <a:t> </a:t>
            </a:r>
            <a:r>
              <a:rPr lang="es-ES" dirty="0">
                <a:effectLst/>
              </a:rPr>
              <a:t> </a:t>
            </a:r>
            <a:r>
              <a:rPr lang="es-ES" sz="1800" kern="100" dirty="0">
                <a:solidFill>
                  <a:srgbClr val="000000"/>
                </a:solidFill>
                <a:effectLst/>
                <a:latin typeface="Calibri" panose="020F0502020204030204" pitchFamily="34" charset="0"/>
                <a:ea typeface="Calibri" panose="020F0502020204030204" pitchFamily="34" charset="0"/>
              </a:rPr>
              <a:t> </a:t>
            </a:r>
            <a:r>
              <a:rPr lang="es-ES" sz="1800" u="sng" kern="100" dirty="0">
                <a:solidFill>
                  <a:srgbClr val="000000"/>
                </a:solidFill>
                <a:effectLst/>
                <a:latin typeface="Calibri" panose="020F0502020204030204" pitchFamily="34" charset="0"/>
                <a:ea typeface="Calibri" panose="020F0502020204030204" pitchFamily="34" charset="0"/>
                <a:hlinkClick r:id="rId6"/>
              </a:rPr>
              <a:t>main.cpp</a:t>
            </a:r>
            <a:r>
              <a:rPr lang="es-ES" sz="1800" u="sng" kern="100" dirty="0">
                <a:solidFill>
                  <a:srgbClr val="000000"/>
                </a:solidFill>
                <a:effectLst/>
                <a:latin typeface="Calibri" panose="020F0502020204030204" pitchFamily="34" charset="0"/>
                <a:ea typeface="Calibri" panose="020F0502020204030204" pitchFamily="34" charset="0"/>
                <a:hlinkClick r:id="rId7"/>
              </a:rPr>
              <a:t> </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07000"/>
              </a:lnSpc>
              <a:spcAft>
                <a:spcPts val="800"/>
              </a:spcAft>
            </a:pPr>
            <a:r>
              <a:rPr lang="es-ES" sz="1800" kern="100" dirty="0">
                <a:solidFill>
                  <a:srgbClr val="000000"/>
                </a:solidFill>
                <a:effectLst/>
                <a:latin typeface="Calibri" panose="020F0502020204030204" pitchFamily="34" charset="0"/>
                <a:ea typeface="Calibri" panose="020F0502020204030204" pitchFamily="34" charset="0"/>
              </a:rPr>
              <a:t>3.Algoritmo que genera todas las listas que dicen que la conjetura es falsa.</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pues nos quedaremos con la forma de invertir y negar,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y la adaptamos.</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00110</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10011</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buscando el patrón 1 0.</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al invertir y negar una lista de primos ponemos un 0 donde si es un numero primo, la conjetura es cierta para esa evaluación, o dicho como me interesa, un 0 donde no puede ser primo para que la conjetura sea falsa.,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Consecuencia, si el siguiente algoritmo pone a 1 todas las posiciones primas alguna vez, la conjetura será falsa, porque al poner a 0 2n – primos y el resultado tener todos los primos a 1, ese 2n no tiene descomposiciones, otra forma de verlo es que según el método de invertir y negar, al todos los primos cuadrar con los unos, no encontraras el patrón que determina en que posiciones hay descomposiciones.</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copia entrada[] en salida[]</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salida[n+1]=0</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desde ( i en n){</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salida[n+2+i]=NOT entrada[n-i]</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Este algoritmo genera todas las listas que dan por falsa la conjetura con el máximo número posible de unos. </a:t>
            </a: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Para 6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0011010</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1010011</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sale 1 porque es la mitad un primo mas el mismo</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para 8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001101010</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101010011</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sales dos porque es un par diferente</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endParaRPr lang="es-ES" dirty="0"/>
          </a:p>
        </p:txBody>
      </p:sp>
      <p:sp>
        <p:nvSpPr>
          <p:cNvPr id="4" name="Marcador de número de diapositiva 3"/>
          <p:cNvSpPr>
            <a:spLocks noGrp="1"/>
          </p:cNvSpPr>
          <p:nvPr>
            <p:ph type="sldNum" sz="quarter" idx="5"/>
          </p:nvPr>
        </p:nvSpPr>
        <p:spPr/>
        <p:txBody>
          <a:bodyPr/>
          <a:lstStyle/>
          <a:p>
            <a:fld id="{888019AB-D82B-48D4-A5AA-145E84418907}" type="slidenum">
              <a:rPr lang="es-ES" smtClean="0"/>
              <a:t>5</a:t>
            </a:fld>
            <a:endParaRPr lang="es-ES"/>
          </a:p>
        </p:txBody>
      </p:sp>
    </p:spTree>
    <p:extLst>
      <p:ext uri="{BB962C8B-B14F-4D97-AF65-F5344CB8AC3E}">
        <p14:creationId xmlns:p14="http://schemas.microsoft.com/office/powerpoint/2010/main" val="4099234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4. Punto de partida para buscar fallos en las descomposiciones.</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Me dijeron que esto existe.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n/3-n/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(n)&lt;=n/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(n)</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3</m:t>
                        </m:r>
                      </m:den>
                    </m:f>
                    <m:r>
                      <a:rPr lang="es-ES" sz="1800" i="1"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kern="100">
                        <a:solidFill>
                          <a:srgbClr val="000000"/>
                        </a:solidFill>
                        <a:effectLst/>
                        <a:latin typeface="Cambria Math" panose="02040503050406030204" pitchFamily="18" charset="0"/>
                        <a:ea typeface="Calibri" panose="020F0502020204030204" pitchFamily="34" charset="0"/>
                      </a:rPr>
                      <m:t>≤</m:t>
                    </m:r>
                    <m:r>
                      <m:rPr>
                        <m:sty m:val="p"/>
                      </m:rPr>
                      <a:rPr lang="es-ES" sz="1800" kern="100">
                        <a:solidFill>
                          <a:srgbClr val="000000"/>
                        </a:solidFill>
                        <a:effectLst/>
                        <a:latin typeface="Cambria Math" panose="02040503050406030204" pitchFamily="18" charset="0"/>
                        <a:ea typeface="Calibri" panose="020F0502020204030204" pitchFamily="34" charset="0"/>
                      </a:rPr>
                      <m:t>n</m:t>
                    </m:r>
                    <m:f>
                      <m:fPr>
                        <m:ctrlPr>
                          <a:rPr lang="es-ES" sz="1800" i="1" kern="100">
                            <a:solidFill>
                              <a:srgbClr val="000000"/>
                            </a:solidFill>
                            <a:effectLst/>
                            <a:latin typeface="Cambria Math" panose="02040503050406030204" pitchFamily="18" charset="0"/>
                            <a:ea typeface="Calibri" panose="020F0502020204030204" pitchFamily="34" charset="0"/>
                          </a:rPr>
                        </m:ctrlPr>
                      </m:fPr>
                      <m:num>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e>
                            <m:r>
                              <m:rPr>
                                <m:sty m:val="p"/>
                              </m:rPr>
                              <a:rPr lang="es-ES" sz="1800" kern="100">
                                <a:solidFill>
                                  <a:srgbClr val="000000"/>
                                </a:solidFill>
                                <a:effectLst/>
                                <a:latin typeface="Cambria Math" panose="02040503050406030204" pitchFamily="18" charset="0"/>
                                <a:ea typeface="Calibri" panose="020F0502020204030204" pitchFamily="34" charset="0"/>
                              </a:rPr>
                              <m:t>ln</m:t>
                            </m:r>
                          </m:e>
                        </m:func>
                        <m:d>
                          <m:dPr>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n</m:t>
                            </m:r>
                          </m:e>
                        </m:d>
                      </m:num>
                      <m:den>
                        <m:r>
                          <a:rPr lang="es-ES" sz="1800" kern="100">
                            <a:solidFill>
                              <a:srgbClr val="000000"/>
                            </a:solidFill>
                            <a:effectLst/>
                            <a:latin typeface="Cambria Math" panose="02040503050406030204" pitchFamily="18" charset="0"/>
                            <a:ea typeface="Calibri" panose="020F0502020204030204" pitchFamily="34" charset="0"/>
                          </a:rPr>
                          <m:t> </m:t>
                        </m:r>
                      </m:den>
                    </m:f>
                    <m:r>
                      <a:rPr lang="es-ES" sz="1800" i="1" kern="100">
                        <a:solidFill>
                          <a:srgbClr val="000000"/>
                        </a:solidFill>
                        <a:effectLst/>
                        <a:latin typeface="Cambria Math" panose="02040503050406030204" pitchFamily="18" charset="0"/>
                        <a:ea typeface="Calibri" panose="020F0502020204030204" pitchFamily="34" charset="0"/>
                      </a:rPr>
                      <m:t> </m:t>
                    </m:r>
                  </m:oMath>
                </a14:m>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Esto quiere decir, mientras hay más posiciones de forma 6k+-1 primas que no primas, no puede ser falsa la conjetura.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pero vamos a aplicar lo mismo, pero con este algoritmo.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2n/(6*2)=n/6 :  n/6 -n/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 n)</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r>
                          <a:rPr lang="es-ES" sz="1800" i="1" kern="100">
                            <a:solidFill>
                              <a:srgbClr val="000000"/>
                            </a:solidFill>
                            <a:effectLst/>
                            <a:latin typeface="Cambria Math" panose="02040503050406030204" pitchFamily="18" charset="0"/>
                            <a:ea typeface="Calibri" panose="020F0502020204030204" pitchFamily="34" charset="0"/>
                          </a:rPr>
                          <m:t>∗</m:t>
                        </m:r>
                        <m:r>
                          <a:rPr lang="es-ES" sz="1800" kern="100">
                            <a:solidFill>
                              <a:srgbClr val="000000"/>
                            </a:solidFill>
                            <a:effectLst/>
                            <a:latin typeface="Cambria Math" panose="02040503050406030204" pitchFamily="18" charset="0"/>
                            <a:ea typeface="Calibri" panose="020F0502020204030204" pitchFamily="34" charset="0"/>
                          </a:rPr>
                          <m:t>2</m:t>
                        </m:r>
                      </m:den>
                    </m:f>
                    <m:r>
                      <a:rPr lang="es-ES" sz="1800"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den>
                    </m:f>
                  </m:oMath>
                </a14:m>
                <a:r>
                  <a:rPr lang="es-ES" sz="1800" kern="100" dirty="0">
                    <a:solidFill>
                      <a:srgbClr val="000000"/>
                    </a:solidFill>
                    <a:effectLst/>
                    <a:latin typeface="Calibri" panose="020F0502020204030204" pitchFamily="34" charset="0"/>
                    <a:ea typeface="Calibri" panose="020F0502020204030204" pitchFamily="34" charset="0"/>
                  </a:rPr>
                  <a:t>	             </a:t>
                </a: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den>
                    </m:f>
                    <m:r>
                      <a:rPr lang="es-ES" sz="1800" i="1"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oMath>
                </a14:m>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2n/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(2n)-n/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(n)</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i="1"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oMath>
                </a14:m>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por una parte tenemos los unos que genera el algoritmo en posiciones de forma 6k+-1 porque las otras posiciones no pueden ser primas por ser pares o múltiplos de 3, en la segunda parte de la lista y por otra los primos en la segunda parte de la lista</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n/6 -n/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 n)= 2n/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(2n)-n/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(n)</a:t>
                </a: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den>
                    </m:f>
                    <m:r>
                      <a:rPr lang="es-ES" sz="1800" i="1"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i="1"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oMath>
                </a14:m>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n/6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den>
                    </m:f>
                    <m:r>
                      <a:rPr lang="es-ES" sz="1800" kern="100">
                        <a:solidFill>
                          <a:srgbClr val="000000"/>
                        </a:solidFill>
                        <a:effectLst/>
                        <a:latin typeface="Cambria Math" panose="02040503050406030204" pitchFamily="18" charset="0"/>
                        <a:ea typeface="Calibri" panose="020F0502020204030204" pitchFamily="34" charset="0"/>
                      </a:rPr>
                      <m:t>=2</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e>
                            <m:r>
                              <m:rPr>
                                <m:sty m:val="p"/>
                              </m:rPr>
                              <a:rPr lang="es-ES" sz="1800" kern="100">
                                <a:solidFill>
                                  <a:srgbClr val="000000"/>
                                </a:solidFill>
                                <a:effectLst/>
                                <a:latin typeface="Cambria Math" panose="02040503050406030204" pitchFamily="18" charset="0"/>
                                <a:ea typeface="Calibri" panose="020F0502020204030204" pitchFamily="34" charset="0"/>
                              </a:rPr>
                              <m:t>ln</m:t>
                            </m:r>
                          </m:e>
                        </m:func>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num>
                      <m:den>
                        <m:r>
                          <a:rPr lang="es-ES" sz="1800" kern="100">
                            <a:solidFill>
                              <a:srgbClr val="000000"/>
                            </a:solidFill>
                            <a:effectLst/>
                            <a:latin typeface="Cambria Math" panose="02040503050406030204" pitchFamily="18" charset="0"/>
                            <a:ea typeface="Calibri" panose="020F0502020204030204" pitchFamily="34" charset="0"/>
                          </a:rPr>
                          <m:t> </m:t>
                        </m:r>
                      </m:den>
                    </m:f>
                  </m:oMath>
                </a14:m>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Esto quiere decir,  como para 2n-primo ¡= primo, para todos los primos menores a n , la cantidad máxima de primos, en 2n son n/3, que son las posiciones de primos de la primera mitad de forma 6k+-1 más las posiciones no marcadas como primos en la primera mitad de forma 6k+-1 que son los que podrán ser primos en la segunda mitad. Evaluando solo los marcados como primos de la segunda mitad, y comparándolos con los primos reales de la segunda mitad, nos da que podemos tachar cosas de los dos lados del igual y obtener algo que creo da un número mayor a lo de antes, no soy matemático ni se lo que se sabe, que puede esto se sepa, o este mal.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u="sng" kern="100" dirty="0">
                    <a:solidFill>
                      <a:srgbClr val="000000"/>
                    </a:solidFill>
                    <a:effectLst/>
                    <a:latin typeface="Calibri" panose="020F0502020204030204" pitchFamily="34" charset="0"/>
                    <a:ea typeface="Calibri" panose="020F0502020204030204" pitchFamily="34" charset="0"/>
                    <a:hlinkClick r:id="rId3"/>
                  </a:rPr>
                  <a:t>https://www.wolframalpha.com/input?i=solve+n%2F3+-+n%2Fln%28n%29+%3C%3D+n%2Fln%28n%29&amp;lang=es</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u="sng" kern="100" dirty="0">
                    <a:solidFill>
                      <a:srgbClr val="000000"/>
                    </a:solidFill>
                    <a:effectLst/>
                    <a:latin typeface="Calibri" panose="020F0502020204030204" pitchFamily="34" charset="0"/>
                    <a:ea typeface="Calibri" panose="020F0502020204030204" pitchFamily="34" charset="0"/>
                    <a:hlinkClick r:id="rId3"/>
                  </a:rPr>
                  <a:t>https://www.wolframalpha.com/input?i=solve+n%2F3+-+n%2Fln%28n%29+%3C%3D+n%2Fln%28n%29&amp;lang=es</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u="sng" kern="100" dirty="0">
                    <a:solidFill>
                      <a:srgbClr val="000000"/>
                    </a:solidFill>
                    <a:effectLst/>
                    <a:latin typeface="Calibri" panose="020F0502020204030204" pitchFamily="34" charset="0"/>
                    <a:ea typeface="Calibri" panose="020F0502020204030204" pitchFamily="34" charset="0"/>
                    <a:hlinkClick r:id="rId4"/>
                  </a:rPr>
                  <a:t>https://www.wolframalpha.com/input?i=solve+n%2F6+%3D+2n%2Fln%282n%29&amp;lang=es</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u="sng" kern="100" dirty="0">
                    <a:solidFill>
                      <a:srgbClr val="000000"/>
                    </a:solidFill>
                    <a:effectLst/>
                    <a:latin typeface="Calibri" panose="020F0502020204030204" pitchFamily="34" charset="0"/>
                    <a:ea typeface="Calibri" panose="020F0502020204030204" pitchFamily="34" charset="0"/>
                    <a:hlinkClick r:id="rId4"/>
                  </a:rPr>
                  <a:t>https://www.wolframalpha.com/input?i=solve+n%2F6+%3D+2n%2Fln%282n%29&amp;lang=es</a:t>
                </a:r>
                <a:endParaRPr lang="es-ES" sz="1800" kern="100" dirty="0">
                  <a:solidFill>
                    <a:srgbClr val="000000"/>
                  </a:solidFill>
                  <a:effectLst/>
                  <a:latin typeface="Calibri" panose="020F0502020204030204" pitchFamily="34" charset="0"/>
                  <a:ea typeface="Calibri" panose="020F0502020204030204" pitchFamily="34" charset="0"/>
                </a:endParaRPr>
              </a:p>
              <a:p>
                <a:endParaRPr lang="es-ES" dirty="0"/>
              </a:p>
            </p:txBody>
          </p:sp>
        </mc:Choice>
        <mc:Fallback xmlns="">
          <p:sp>
            <p:nvSpPr>
              <p:cNvPr id="3" name="Marcador de notas 2"/>
              <p:cNvSpPr>
                <a:spLocks noGrp="1"/>
              </p:cNvSpPr>
              <p:nvPr>
                <p:ph type="body" idx="1"/>
              </p:nvPr>
            </p:nvSpPr>
            <p:spPr/>
            <p:txBody>
              <a:bodyPr/>
              <a:lstStyle/>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4. Punto de partida para buscar fallos en las descomposiciones.</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Me dijeron que esto existe.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n/3-n/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(n)&lt;=n/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(n)</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i="0" kern="100">
                    <a:solidFill>
                      <a:srgbClr val="000000"/>
                    </a:solidFill>
                    <a:effectLst/>
                    <a:latin typeface="Cambria Math" panose="02040503050406030204" pitchFamily="18" charset="0"/>
                    <a:ea typeface="Calibri" panose="020F0502020204030204" pitchFamily="34" charset="0"/>
                  </a:rPr>
                  <a:t>n/3−n/ln⁡(n) ≤n ( ⁡ln (n))/   </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Esto quiere decir, mientras hay más posiciones de forma 6k+-1 primas que no primas, no puede ser falsa la conjetura.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pero vamos a aplicar lo mismo, pero con este algoritmo.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2n/(6*2)=n/6 :  n/6 -n/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 n)</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i="0" kern="100">
                    <a:solidFill>
                      <a:srgbClr val="000000"/>
                    </a:solidFill>
                    <a:effectLst/>
                    <a:latin typeface="Cambria Math" panose="02040503050406030204" pitchFamily="18" charset="0"/>
                    <a:ea typeface="Calibri" panose="020F0502020204030204" pitchFamily="34" charset="0"/>
                  </a:rPr>
                  <a:t>2n/(6∗2)=n/6</a:t>
                </a:r>
                <a:r>
                  <a:rPr lang="es-ES" sz="1800" kern="100" dirty="0">
                    <a:solidFill>
                      <a:srgbClr val="000000"/>
                    </a:solidFill>
                    <a:effectLst/>
                    <a:latin typeface="Calibri" panose="020F0502020204030204" pitchFamily="34" charset="0"/>
                    <a:ea typeface="Calibri" panose="020F0502020204030204" pitchFamily="34" charset="0"/>
                  </a:rPr>
                  <a:t>	             </a:t>
                </a:r>
                <a:r>
                  <a:rPr lang="es-ES" sz="1800" i="0" kern="100">
                    <a:solidFill>
                      <a:srgbClr val="000000"/>
                    </a:solidFill>
                    <a:effectLst/>
                    <a:latin typeface="Cambria Math" panose="02040503050406030204" pitchFamily="18" charset="0"/>
                    <a:ea typeface="Calibri" panose="020F0502020204030204" pitchFamily="34" charset="0"/>
                  </a:rPr>
                  <a:t>n/6−n/ln⁡( n) </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2n/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(2n)-n/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(n)</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i="0" kern="100">
                    <a:solidFill>
                      <a:srgbClr val="000000"/>
                    </a:solidFill>
                    <a:effectLst/>
                    <a:latin typeface="Cambria Math" panose="02040503050406030204" pitchFamily="18" charset="0"/>
                    <a:ea typeface="Calibri" panose="020F0502020204030204" pitchFamily="34" charset="0"/>
                  </a:rPr>
                  <a:t>2n/ln⁡(2n) −n/ln⁡(n) </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por una parte tenemos los unos que genera el algoritmo en posiciones de forma 6k+-1 porque las otras posiciones no pueden ser primas por ser pares o múltiplos de 3, en la segunda parte de la lista y por otra los primos en la segunda parte de la lista</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n/6 -n/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 n)= 2n/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(2n)-n/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(n)</a:t>
                </a:r>
                <a:r>
                  <a:rPr lang="es-ES" sz="1800" i="0" kern="100">
                    <a:solidFill>
                      <a:srgbClr val="000000"/>
                    </a:solidFill>
                    <a:effectLst/>
                    <a:latin typeface="Cambria Math" panose="02040503050406030204" pitchFamily="18" charset="0"/>
                    <a:ea typeface="Calibri" panose="020F0502020204030204" pitchFamily="34" charset="0"/>
                  </a:rPr>
                  <a:t>n/6−n/ln⁡( n) =2n/ln⁡(2n) −n/ln⁡(n) </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n/6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i="0" kern="100">
                    <a:solidFill>
                      <a:srgbClr val="000000"/>
                    </a:solidFill>
                    <a:effectLst/>
                    <a:latin typeface="Cambria Math" panose="02040503050406030204" pitchFamily="18" charset="0"/>
                    <a:ea typeface="Calibri" panose="020F0502020204030204" pitchFamily="34" charset="0"/>
                  </a:rPr>
                  <a:t>n/6=2 (n ⁡ln (2n))/ </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Esto quiere decir,  como para 2n-primo ¡= primo, para todos los primos menores a n , la cantidad máxima de primos, en 2n son n/3, que son las posiciones de primos de la primera mitad de forma 6k+-1 más las posiciones no marcadas como primos en la primera mitad de forma 6k+-1 que son los que podrán ser primos en la segunda mitad. Evaluando solo los marcados como primos de la segunda mitad, y comparándolos con los primos reales de la segunda mitad, nos da que podemos tachar cosas de los dos lados del igual y obtener algo que creo da un número mayor a lo de antes, no soy matemático ni se lo que se sabe, que puede esto se sepa, o este mal.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u="sng" kern="100" dirty="0">
                    <a:solidFill>
                      <a:srgbClr val="000000"/>
                    </a:solidFill>
                    <a:effectLst/>
                    <a:latin typeface="Calibri" panose="020F0502020204030204" pitchFamily="34" charset="0"/>
                    <a:ea typeface="Calibri" panose="020F0502020204030204" pitchFamily="34" charset="0"/>
                    <a:hlinkClick r:id="rId5"/>
                  </a:rPr>
                  <a:t>https://www.wolframalpha.com/input?i=solve+n%2F3+-+n%2Fln%28n%29+%3C%3D+n%2Fln%28n%29&amp;lang=es</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u="sng" kern="100" dirty="0">
                    <a:solidFill>
                      <a:srgbClr val="000000"/>
                    </a:solidFill>
                    <a:effectLst/>
                    <a:latin typeface="Calibri" panose="020F0502020204030204" pitchFamily="34" charset="0"/>
                    <a:ea typeface="Calibri" panose="020F0502020204030204" pitchFamily="34" charset="0"/>
                    <a:hlinkClick r:id="rId5"/>
                  </a:rPr>
                  <a:t>https://www.wolframalpha.com/input?i=solve+n%2F3+-+n%2Fln%28n%29+%3C%3D+n%2Fln%28n%29&amp;lang=es</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u="sng" kern="100" dirty="0">
                    <a:solidFill>
                      <a:srgbClr val="000000"/>
                    </a:solidFill>
                    <a:effectLst/>
                    <a:latin typeface="Calibri" panose="020F0502020204030204" pitchFamily="34" charset="0"/>
                    <a:ea typeface="Calibri" panose="020F0502020204030204" pitchFamily="34" charset="0"/>
                    <a:hlinkClick r:id="rId6"/>
                  </a:rPr>
                  <a:t>https://www.wolframalpha.com/input?i=solve+n%2F6+%3D+2n%2Fln%282n%29&amp;lang=es</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u="sng" kern="100" dirty="0">
                    <a:solidFill>
                      <a:srgbClr val="000000"/>
                    </a:solidFill>
                    <a:effectLst/>
                    <a:latin typeface="Calibri" panose="020F0502020204030204" pitchFamily="34" charset="0"/>
                    <a:ea typeface="Calibri" panose="020F0502020204030204" pitchFamily="34" charset="0"/>
                    <a:hlinkClick r:id="rId6"/>
                  </a:rPr>
                  <a:t>https://www.wolframalpha.com/input?i=solve+n%2F6+%3D+2n%2Fln%282n%29&amp;lang=es</a:t>
                </a:r>
                <a:endParaRPr lang="es-ES" sz="1800" kern="100" dirty="0">
                  <a:solidFill>
                    <a:srgbClr val="000000"/>
                  </a:solidFill>
                  <a:effectLst/>
                  <a:latin typeface="Calibri" panose="020F0502020204030204" pitchFamily="34" charset="0"/>
                  <a:ea typeface="Calibri" panose="020F0502020204030204" pitchFamily="34" charset="0"/>
                </a:endParaRPr>
              </a:p>
              <a:p>
                <a:endParaRPr lang="es-ES" dirty="0"/>
              </a:p>
            </p:txBody>
          </p:sp>
        </mc:Fallback>
      </mc:AlternateContent>
      <p:sp>
        <p:nvSpPr>
          <p:cNvPr id="4" name="Marcador de número de diapositiva 3"/>
          <p:cNvSpPr>
            <a:spLocks noGrp="1"/>
          </p:cNvSpPr>
          <p:nvPr>
            <p:ph type="sldNum" sz="quarter" idx="5"/>
          </p:nvPr>
        </p:nvSpPr>
        <p:spPr/>
        <p:txBody>
          <a:bodyPr/>
          <a:lstStyle/>
          <a:p>
            <a:fld id="{888019AB-D82B-48D4-A5AA-145E84418907}" type="slidenum">
              <a:rPr lang="es-ES" smtClean="0"/>
              <a:t>6</a:t>
            </a:fld>
            <a:endParaRPr lang="es-ES"/>
          </a:p>
        </p:txBody>
      </p:sp>
    </p:spTree>
    <p:extLst>
      <p:ext uri="{BB962C8B-B14F-4D97-AF65-F5344CB8AC3E}">
        <p14:creationId xmlns:p14="http://schemas.microsoft.com/office/powerpoint/2010/main" val="4243899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5. Frases que indican que la conjetura no puede ser falsa.</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Pasamos a la parte teórica que no se puede implementar, son razonamientos.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Dicen que, en teoría de autómatas, con un lenguaje formal no puedo expresar una lista exhaustiva de primos, es algo así como decir lo de que no puedo obtener primos con una función polinómica .</a:t>
                </a: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Pero la salida del algoritmo si puedo expresarla así,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{X 0 </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X= 0011 y </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reverso de X negada}</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14:m>
                  <m:oMath xmlns:m="http://schemas.openxmlformats.org/officeDocument/2006/math">
                    <m:d>
                      <m:dPr>
                        <m:begChr m:val="{"/>
                        <m:endChr m:val="}"/>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X</m:t>
                        </m:r>
                        <m:r>
                          <a:rPr lang="es-ES" sz="1800" kern="100">
                            <a:solidFill>
                              <a:srgbClr val="000000"/>
                            </a:solidFill>
                            <a:effectLst/>
                            <a:latin typeface="Cambria Math" panose="02040503050406030204" pitchFamily="18" charset="0"/>
                            <a:ea typeface="Calibri" panose="020F0502020204030204" pitchFamily="34" charset="0"/>
                          </a:rPr>
                          <m:t> 0 </m:t>
                        </m:r>
                        <m:r>
                          <m:rPr>
                            <m:sty m:val="p"/>
                          </m:rPr>
                          <a:rPr lang="es-ES" sz="1800" kern="100">
                            <a:solidFill>
                              <a:srgbClr val="000000"/>
                            </a:solidFill>
                            <a:effectLst/>
                            <a:latin typeface="Cambria Math" panose="02040503050406030204" pitchFamily="18" charset="0"/>
                            <a:ea typeface="Calibri" panose="020F0502020204030204" pitchFamily="34" charset="0"/>
                          </a:rPr>
                          <m:t>Xr</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X</m:t>
                        </m:r>
                        <m:r>
                          <a:rPr lang="es-ES" sz="1800" kern="100">
                            <a:solidFill>
                              <a:srgbClr val="000000"/>
                            </a:solidFill>
                            <a:effectLst/>
                            <a:latin typeface="Cambria Math" panose="02040503050406030204" pitchFamily="18" charset="0"/>
                            <a:ea typeface="Calibri" panose="020F0502020204030204" pitchFamily="34" charset="0"/>
                          </a:rPr>
                          <m:t>= 0011 </m:t>
                        </m:r>
                        <m:r>
                          <m:rPr>
                            <m:sty m:val="p"/>
                          </m:rPr>
                          <a:rPr lang="es-ES" sz="1800" kern="100">
                            <a:solidFill>
                              <a:srgbClr val="000000"/>
                            </a:solidFill>
                            <a:effectLst/>
                            <a:latin typeface="Cambria Math" panose="02040503050406030204" pitchFamily="18" charset="0"/>
                            <a:ea typeface="Calibri" panose="020F0502020204030204" pitchFamily="34" charset="0"/>
                          </a:rPr>
                          <m:t>y</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Xr</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reverso</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de</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X</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negada</m:t>
                        </m:r>
                      </m:e>
                    </m:d>
                  </m:oMath>
                </a14:m>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el error relativo del algoritmo para 2n de forma 6k.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  n/6    -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   ) * 100  /  (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   )</a:t>
                </a: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14:m>
                  <m:oMath xmlns:m="http://schemas.openxmlformats.org/officeDocument/2006/math">
                    <m:d>
                      <m:dPr>
                        <m:ctrlPr>
                          <a:rPr lang="es-ES" sz="1800" i="1" kern="100">
                            <a:solidFill>
                              <a:srgbClr val="000000"/>
                            </a:solidFill>
                            <a:effectLst/>
                            <a:latin typeface="Cambria Math" panose="02040503050406030204" pitchFamily="18" charset="0"/>
                            <a:ea typeface="Calibri" panose="020F0502020204030204" pitchFamily="34" charset="0"/>
                          </a:rPr>
                        </m:ctrlPr>
                      </m:dPr>
                      <m:e>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den>
                        </m:f>
                        <m:r>
                          <a:rPr lang="es-ES" sz="1800" kern="100">
                            <a:solidFill>
                              <a:srgbClr val="000000"/>
                            </a:solidFill>
                            <a:effectLst/>
                            <a:latin typeface="Cambria Math" panose="02040503050406030204" pitchFamily="18" charset="0"/>
                            <a:ea typeface="Calibri" panose="020F0502020204030204" pitchFamily="34" charset="0"/>
                          </a:rPr>
                          <m:t>   </m:t>
                        </m:r>
                        <m:r>
                          <a:rPr lang="es-ES" sz="1800" i="1" kern="100">
                            <a:solidFill>
                              <a:srgbClr val="000000"/>
                            </a:solidFill>
                            <a:effectLst/>
                            <a:latin typeface="Cambria Math" panose="02040503050406030204" pitchFamily="18" charset="0"/>
                            <a:ea typeface="Calibri" panose="020F0502020204030204" pitchFamily="34" charset="0"/>
                          </a:rPr>
                          <m:t>−</m:t>
                        </m:r>
                        <m:r>
                          <a:rPr lang="es-ES" sz="1800" kern="100">
                            <a:solidFill>
                              <a:srgbClr val="000000"/>
                            </a:solidFill>
                            <a:effectLst/>
                            <a:latin typeface="Cambria Math" panose="02040503050406030204" pitchFamily="18" charset="0"/>
                            <a:ea typeface="Calibri" panose="020F0502020204030204" pitchFamily="34" charset="0"/>
                          </a:rPr>
                          <m:t>   </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kern="100">
                            <a:solidFill>
                              <a:srgbClr val="000000"/>
                            </a:solidFill>
                            <a:effectLst/>
                            <a:latin typeface="Cambria Math" panose="02040503050406030204" pitchFamily="18" charset="0"/>
                            <a:ea typeface="Calibri" panose="020F0502020204030204" pitchFamily="34" charset="0"/>
                          </a:rPr>
                          <m:t> </m:t>
                        </m:r>
                      </m:e>
                    </m:d>
                    <m:r>
                      <a:rPr lang="es-ES" sz="1800" i="1" kern="100">
                        <a:solidFill>
                          <a:srgbClr val="000000"/>
                        </a:solidFill>
                        <a:effectLst/>
                        <a:latin typeface="Cambria Math" panose="02040503050406030204" pitchFamily="18" charset="0"/>
                        <a:ea typeface="Calibri" panose="020F0502020204030204" pitchFamily="34" charset="0"/>
                      </a:rPr>
                      <m:t>∗</m:t>
                    </m:r>
                    <m:r>
                      <a:rPr lang="es-ES" sz="1800" kern="100">
                        <a:solidFill>
                          <a:srgbClr val="000000"/>
                        </a:solidFill>
                        <a:effectLst/>
                        <a:latin typeface="Cambria Math" panose="02040503050406030204" pitchFamily="18" charset="0"/>
                        <a:ea typeface="Calibri" panose="020F0502020204030204" pitchFamily="34" charset="0"/>
                      </a:rPr>
                      <m:t>1</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00 </m:t>
                        </m:r>
                      </m:num>
                      <m:den>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kern="100">
                            <a:solidFill>
                              <a:srgbClr val="000000"/>
                            </a:solidFill>
                            <a:effectLst/>
                            <a:latin typeface="Cambria Math" panose="02040503050406030204" pitchFamily="18" charset="0"/>
                            <a:ea typeface="Calibri" panose="020F0502020204030204" pitchFamily="34" charset="0"/>
                          </a:rPr>
                          <m:t>    </m:t>
                        </m:r>
                      </m:den>
                    </m:f>
                  </m:oMath>
                </a14:m>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si 2n que afirma que la conjetura es falsa existe y es infinito nos quedamos con el algoritmo de antes, y si no es infinito propongo el siguiente lenguaje formal como ejemplo.</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{X 0 Y 0 Z: Z=</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0 </a:t>
                </a:r>
                <a:r>
                  <a:rPr lang="es-ES" sz="1800" u="sng" kern="100" dirty="0" err="1">
                    <a:solidFill>
                      <a:srgbClr val="000000"/>
                    </a:solidFill>
                    <a:effectLst/>
                    <a:latin typeface="Calibri" panose="020F0502020204030204" pitchFamily="34" charset="0"/>
                    <a:ea typeface="Calibri" panose="020F0502020204030204" pitchFamily="34" charset="0"/>
                  </a:rPr>
                  <a:t>Yr</a:t>
                </a:r>
                <a:r>
                  <a:rPr lang="es-ES" sz="1800" u="sng" kern="100" dirty="0">
                    <a:solidFill>
                      <a:srgbClr val="000000"/>
                    </a:solidFill>
                    <a:effectLst/>
                    <a:latin typeface="Calibri" panose="020F0502020204030204" pitchFamily="34" charset="0"/>
                    <a:ea typeface="Calibri" panose="020F0502020204030204" pitchFamily="34" charset="0"/>
                  </a:rPr>
                  <a:t>}</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14:m>
                  <m:oMath xmlns:m="http://schemas.openxmlformats.org/officeDocument/2006/math">
                    <m:d>
                      <m:dPr>
                        <m:begChr m:val="{"/>
                        <m:endChr m:val="}"/>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X</m:t>
                        </m:r>
                        <m:r>
                          <a:rPr lang="es-ES" sz="1800" kern="100">
                            <a:solidFill>
                              <a:srgbClr val="000000"/>
                            </a:solidFill>
                            <a:effectLst/>
                            <a:latin typeface="Cambria Math" panose="02040503050406030204" pitchFamily="18" charset="0"/>
                            <a:ea typeface="Calibri" panose="020F0502020204030204" pitchFamily="34" charset="0"/>
                          </a:rPr>
                          <m:t> 0 </m:t>
                        </m:r>
                        <m:r>
                          <m:rPr>
                            <m:sty m:val="p"/>
                          </m:rPr>
                          <a:rPr lang="es-ES" sz="1800" kern="100">
                            <a:solidFill>
                              <a:srgbClr val="000000"/>
                            </a:solidFill>
                            <a:effectLst/>
                            <a:latin typeface="Cambria Math" panose="02040503050406030204" pitchFamily="18" charset="0"/>
                            <a:ea typeface="Calibri" panose="020F0502020204030204" pitchFamily="34" charset="0"/>
                          </a:rPr>
                          <m:t>Y</m:t>
                        </m:r>
                        <m:r>
                          <a:rPr lang="es-ES" sz="1800" kern="100">
                            <a:solidFill>
                              <a:srgbClr val="000000"/>
                            </a:solidFill>
                            <a:effectLst/>
                            <a:latin typeface="Cambria Math" panose="02040503050406030204" pitchFamily="18" charset="0"/>
                            <a:ea typeface="Calibri" panose="020F0502020204030204" pitchFamily="34" charset="0"/>
                          </a:rPr>
                          <m:t> 0 </m:t>
                        </m:r>
                        <m:r>
                          <m:rPr>
                            <m:sty m:val="p"/>
                          </m:rPr>
                          <a:rPr lang="es-ES" sz="1800" kern="100">
                            <a:solidFill>
                              <a:srgbClr val="000000"/>
                            </a:solidFill>
                            <a:effectLst/>
                            <a:latin typeface="Cambria Math" panose="02040503050406030204" pitchFamily="18" charset="0"/>
                            <a:ea typeface="Calibri" panose="020F0502020204030204" pitchFamily="34" charset="0"/>
                          </a:rPr>
                          <m:t>Z</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Z</m:t>
                        </m:r>
                        <m:r>
                          <a:rPr lang="es-ES" sz="1800" kern="100">
                            <a:solidFill>
                              <a:srgbClr val="000000"/>
                            </a:solidFill>
                            <a:effectLst/>
                            <a:latin typeface="Cambria Math" panose="02040503050406030204" pitchFamily="18" charset="0"/>
                            <a:ea typeface="Calibri" panose="020F0502020204030204" pitchFamily="34" charset="0"/>
                          </a:rPr>
                          <m:t>=</m:t>
                        </m:r>
                        <m:r>
                          <m:rPr>
                            <m:sty m:val="p"/>
                          </m:rPr>
                          <a:rPr lang="es-ES" sz="1800" kern="100">
                            <a:solidFill>
                              <a:srgbClr val="000000"/>
                            </a:solidFill>
                            <a:effectLst/>
                            <a:latin typeface="Cambria Math" panose="02040503050406030204" pitchFamily="18" charset="0"/>
                            <a:ea typeface="Calibri" panose="020F0502020204030204" pitchFamily="34" charset="0"/>
                          </a:rPr>
                          <m:t>Xr</m:t>
                        </m:r>
                        <m:r>
                          <a:rPr lang="es-ES" sz="1800" kern="100">
                            <a:solidFill>
                              <a:srgbClr val="000000"/>
                            </a:solidFill>
                            <a:effectLst/>
                            <a:latin typeface="Cambria Math" panose="02040503050406030204" pitchFamily="18" charset="0"/>
                            <a:ea typeface="Calibri" panose="020F0502020204030204" pitchFamily="34" charset="0"/>
                          </a:rPr>
                          <m:t> 0 </m:t>
                        </m:r>
                        <m:r>
                          <m:rPr>
                            <m:sty m:val="p"/>
                          </m:rPr>
                          <a:rPr lang="es-ES" sz="1800" kern="100">
                            <a:solidFill>
                              <a:srgbClr val="000000"/>
                            </a:solidFill>
                            <a:effectLst/>
                            <a:latin typeface="Cambria Math" panose="02040503050406030204" pitchFamily="18" charset="0"/>
                            <a:ea typeface="Calibri" panose="020F0502020204030204" pitchFamily="34" charset="0"/>
                          </a:rPr>
                          <m:t>Yr</m:t>
                        </m:r>
                      </m:e>
                    </m:d>
                  </m:oMath>
                </a14:m>
                <a:r>
                  <a:rPr lang="es-ES" sz="1800" kern="100" dirty="0">
                    <a:solidFill>
                      <a:srgbClr val="000000"/>
                    </a:solidFill>
                    <a:effectLst/>
                    <a:latin typeface="Cambria Math" panose="02040503050406030204" pitchFamily="18" charset="0"/>
                    <a:ea typeface="Calibri" panose="020F0502020204030204" pitchFamily="34" charset="0"/>
                  </a:rPr>
                  <a:t> </a:t>
                </a:r>
                <a:r>
                  <a:rPr lang="es-ES" sz="1800" kern="100" dirty="0">
                    <a:solidFill>
                      <a:srgbClr val="000000"/>
                    </a:solidFill>
                    <a:effectLst/>
                    <a:latin typeface="Calibri" panose="020F0502020204030204" pitchFamily="34" charset="0"/>
                    <a:ea typeface="Calibri" panose="020F0502020204030204" pitchFamily="34" charset="0"/>
                  </a:rPr>
                  <a:t> </a:t>
                </a:r>
              </a:p>
              <a:p>
                <a:endParaRPr lang="es-ES" dirty="0"/>
              </a:p>
            </p:txBody>
          </p:sp>
        </mc:Choice>
        <mc:Fallback xmlns="">
          <p:sp>
            <p:nvSpPr>
              <p:cNvPr id="3" name="Marcador de notas 2"/>
              <p:cNvSpPr>
                <a:spLocks noGrp="1"/>
              </p:cNvSpPr>
              <p:nvPr>
                <p:ph type="body" idx="1"/>
              </p:nvPr>
            </p:nvSpPr>
            <p:spPr/>
            <p:txBody>
              <a:bodyPr/>
              <a:lstStyle/>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5. Frases que indican que la conjetura no puede ser falsa.</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Pasamos a la parte teórica que no se puede implementar, son razonamientos.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Dicen que, en teoría de autómatas, con un lenguaje formal no puedo expresar una lista exhaustiva de primos, es algo así como decir lo de que no puedo obtener primos con una función polinómica .</a:t>
                </a: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Pero la salida del algoritmo si puedo expresarla así,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{X 0 </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X= 0011 y </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reverso de X negada}</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i="0" kern="100">
                    <a:solidFill>
                      <a:srgbClr val="000000"/>
                    </a:solidFill>
                    <a:effectLst/>
                    <a:latin typeface="Cambria Math" panose="02040503050406030204" pitchFamily="18" charset="0"/>
                    <a:ea typeface="Calibri" panose="020F0502020204030204" pitchFamily="34" charset="0"/>
                  </a:rPr>
                  <a:t>{X 0 Xr: X= 0011 y Xr reverso de X negada}</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el error relativo del algoritmo para 2n de forma 6k.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  n/6    -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   ) * 100  /  (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   )</a:t>
                </a: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r>
                  <a:rPr lang="es-ES" sz="1800" i="0" kern="100">
                    <a:solidFill>
                      <a:srgbClr val="000000"/>
                    </a:solidFill>
                    <a:effectLst/>
                    <a:latin typeface="Cambria Math" panose="02040503050406030204" pitchFamily="18" charset="0"/>
                    <a:ea typeface="Calibri" panose="020F0502020204030204" pitchFamily="34" charset="0"/>
                  </a:rPr>
                  <a:t>(n/6    −   2n/ln⁡(2n)   )∗1 (00 )/(2n/ln⁡(2n)      )</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si 2n que afirma que la conjetura es falsa existe y es infinito nos quedamos con el algoritmo de antes, y si no es infinito propongo el siguiente lenguaje formal como ejemplo.</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{X 0 Y 0 Z: Z=</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0 </a:t>
                </a:r>
                <a:r>
                  <a:rPr lang="es-ES" sz="1800" u="sng" kern="100" dirty="0" err="1">
                    <a:solidFill>
                      <a:srgbClr val="000000"/>
                    </a:solidFill>
                    <a:effectLst/>
                    <a:latin typeface="Calibri" panose="020F0502020204030204" pitchFamily="34" charset="0"/>
                    <a:ea typeface="Calibri" panose="020F0502020204030204" pitchFamily="34" charset="0"/>
                  </a:rPr>
                  <a:t>Yr</a:t>
                </a:r>
                <a:r>
                  <a:rPr lang="es-ES" sz="1800" u="sng" kern="100" dirty="0">
                    <a:solidFill>
                      <a:srgbClr val="000000"/>
                    </a:solidFill>
                    <a:effectLst/>
                    <a:latin typeface="Calibri" panose="020F0502020204030204" pitchFamily="34" charset="0"/>
                    <a:ea typeface="Calibri" panose="020F0502020204030204" pitchFamily="34" charset="0"/>
                  </a:rPr>
                  <a:t>}</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i="0" kern="100">
                    <a:solidFill>
                      <a:srgbClr val="000000"/>
                    </a:solidFill>
                    <a:effectLst/>
                    <a:latin typeface="Cambria Math" panose="02040503050406030204" pitchFamily="18" charset="0"/>
                    <a:ea typeface="Calibri" panose="020F0502020204030204" pitchFamily="34" charset="0"/>
                  </a:rPr>
                  <a:t>{X 0 Y 0 Z: Z=Xr 0 Yr}</a:t>
                </a:r>
                <a:r>
                  <a:rPr lang="es-ES" sz="1800" kern="100" dirty="0">
                    <a:solidFill>
                      <a:srgbClr val="000000"/>
                    </a:solidFill>
                    <a:effectLst/>
                    <a:latin typeface="Cambria Math" panose="02040503050406030204" pitchFamily="18" charset="0"/>
                    <a:ea typeface="Calibri" panose="020F0502020204030204" pitchFamily="34" charset="0"/>
                  </a:rPr>
                  <a:t> </a:t>
                </a:r>
                <a:r>
                  <a:rPr lang="es-ES" sz="1800" kern="100" dirty="0">
                    <a:solidFill>
                      <a:srgbClr val="000000"/>
                    </a:solidFill>
                    <a:effectLst/>
                    <a:latin typeface="Calibri" panose="020F0502020204030204" pitchFamily="34" charset="0"/>
                    <a:ea typeface="Calibri" panose="020F0502020204030204" pitchFamily="34" charset="0"/>
                  </a:rPr>
                  <a:t> </a:t>
                </a:r>
              </a:p>
              <a:p>
                <a:endParaRPr lang="es-ES" dirty="0"/>
              </a:p>
            </p:txBody>
          </p:sp>
        </mc:Fallback>
      </mc:AlternateContent>
      <p:sp>
        <p:nvSpPr>
          <p:cNvPr id="4" name="Marcador de número de diapositiva 3"/>
          <p:cNvSpPr>
            <a:spLocks noGrp="1"/>
          </p:cNvSpPr>
          <p:nvPr>
            <p:ph type="sldNum" sz="quarter" idx="5"/>
          </p:nvPr>
        </p:nvSpPr>
        <p:spPr/>
        <p:txBody>
          <a:bodyPr/>
          <a:lstStyle/>
          <a:p>
            <a:fld id="{888019AB-D82B-48D4-A5AA-145E84418907}" type="slidenum">
              <a:rPr lang="es-ES" smtClean="0"/>
              <a:t>7</a:t>
            </a:fld>
            <a:endParaRPr lang="es-ES"/>
          </a:p>
        </p:txBody>
      </p:sp>
    </p:spTree>
    <p:extLst>
      <p:ext uri="{BB962C8B-B14F-4D97-AF65-F5344CB8AC3E}">
        <p14:creationId xmlns:p14="http://schemas.microsoft.com/office/powerpoint/2010/main" val="1667526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4. Punto de partida para buscar fallos en las descomposiciones.</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Me dijeron que esto existe.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n/3-n/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(n)&lt;=n/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(n)</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3</m:t>
                        </m:r>
                      </m:den>
                    </m:f>
                    <m:r>
                      <a:rPr lang="es-ES" sz="1800" i="1"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kern="100">
                        <a:solidFill>
                          <a:srgbClr val="000000"/>
                        </a:solidFill>
                        <a:effectLst/>
                        <a:latin typeface="Cambria Math" panose="02040503050406030204" pitchFamily="18" charset="0"/>
                        <a:ea typeface="Calibri" panose="020F0502020204030204" pitchFamily="34" charset="0"/>
                      </a:rPr>
                      <m:t>≤</m:t>
                    </m:r>
                    <m:r>
                      <m:rPr>
                        <m:sty m:val="p"/>
                      </m:rPr>
                      <a:rPr lang="es-ES" sz="1800" kern="100">
                        <a:solidFill>
                          <a:srgbClr val="000000"/>
                        </a:solidFill>
                        <a:effectLst/>
                        <a:latin typeface="Cambria Math" panose="02040503050406030204" pitchFamily="18" charset="0"/>
                        <a:ea typeface="Calibri" panose="020F0502020204030204" pitchFamily="34" charset="0"/>
                      </a:rPr>
                      <m:t>n</m:t>
                    </m:r>
                    <m:f>
                      <m:fPr>
                        <m:ctrlPr>
                          <a:rPr lang="es-ES" sz="1800" i="1" kern="100">
                            <a:solidFill>
                              <a:srgbClr val="000000"/>
                            </a:solidFill>
                            <a:effectLst/>
                            <a:latin typeface="Cambria Math" panose="02040503050406030204" pitchFamily="18" charset="0"/>
                            <a:ea typeface="Calibri" panose="020F0502020204030204" pitchFamily="34" charset="0"/>
                          </a:rPr>
                        </m:ctrlPr>
                      </m:fPr>
                      <m:num>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e>
                            <m:r>
                              <m:rPr>
                                <m:sty m:val="p"/>
                              </m:rPr>
                              <a:rPr lang="es-ES" sz="1800" kern="100">
                                <a:solidFill>
                                  <a:srgbClr val="000000"/>
                                </a:solidFill>
                                <a:effectLst/>
                                <a:latin typeface="Cambria Math" panose="02040503050406030204" pitchFamily="18" charset="0"/>
                                <a:ea typeface="Calibri" panose="020F0502020204030204" pitchFamily="34" charset="0"/>
                              </a:rPr>
                              <m:t>ln</m:t>
                            </m:r>
                          </m:e>
                        </m:func>
                        <m:d>
                          <m:dPr>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n</m:t>
                            </m:r>
                          </m:e>
                        </m:d>
                      </m:num>
                      <m:den>
                        <m:r>
                          <a:rPr lang="es-ES" sz="1800" kern="100">
                            <a:solidFill>
                              <a:srgbClr val="000000"/>
                            </a:solidFill>
                            <a:effectLst/>
                            <a:latin typeface="Cambria Math" panose="02040503050406030204" pitchFamily="18" charset="0"/>
                            <a:ea typeface="Calibri" panose="020F0502020204030204" pitchFamily="34" charset="0"/>
                          </a:rPr>
                          <m:t> </m:t>
                        </m:r>
                      </m:den>
                    </m:f>
                    <m:r>
                      <a:rPr lang="es-ES" sz="1800" i="1" kern="100">
                        <a:solidFill>
                          <a:srgbClr val="000000"/>
                        </a:solidFill>
                        <a:effectLst/>
                        <a:latin typeface="Cambria Math" panose="02040503050406030204" pitchFamily="18" charset="0"/>
                        <a:ea typeface="Calibri" panose="020F0502020204030204" pitchFamily="34" charset="0"/>
                      </a:rPr>
                      <m:t> </m:t>
                    </m:r>
                  </m:oMath>
                </a14:m>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Esto quiere decir, mientras hay más posiciones de forma 6k+-1 primas que no primas, no puede ser falsa la conjetura.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pero vamos a aplicar lo mismo, pero con este algoritmo.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2n/(6*2)=n/6 :  n/6 -n/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 n)</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r>
                          <a:rPr lang="es-ES" sz="1800" i="1" kern="100">
                            <a:solidFill>
                              <a:srgbClr val="000000"/>
                            </a:solidFill>
                            <a:effectLst/>
                            <a:latin typeface="Cambria Math" panose="02040503050406030204" pitchFamily="18" charset="0"/>
                            <a:ea typeface="Calibri" panose="020F0502020204030204" pitchFamily="34" charset="0"/>
                          </a:rPr>
                          <m:t>∗</m:t>
                        </m:r>
                        <m:r>
                          <a:rPr lang="es-ES" sz="1800" kern="100">
                            <a:solidFill>
                              <a:srgbClr val="000000"/>
                            </a:solidFill>
                            <a:effectLst/>
                            <a:latin typeface="Cambria Math" panose="02040503050406030204" pitchFamily="18" charset="0"/>
                            <a:ea typeface="Calibri" panose="020F0502020204030204" pitchFamily="34" charset="0"/>
                          </a:rPr>
                          <m:t>2</m:t>
                        </m:r>
                      </m:den>
                    </m:f>
                    <m:r>
                      <a:rPr lang="es-ES" sz="1800"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den>
                    </m:f>
                  </m:oMath>
                </a14:m>
                <a:r>
                  <a:rPr lang="es-ES" sz="1800" kern="100" dirty="0">
                    <a:solidFill>
                      <a:srgbClr val="000000"/>
                    </a:solidFill>
                    <a:effectLst/>
                    <a:latin typeface="Calibri" panose="020F0502020204030204" pitchFamily="34" charset="0"/>
                    <a:ea typeface="Calibri" panose="020F0502020204030204" pitchFamily="34" charset="0"/>
                  </a:rPr>
                  <a:t>	             </a:t>
                </a: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den>
                    </m:f>
                    <m:r>
                      <a:rPr lang="es-ES" sz="1800" i="1"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oMath>
                </a14:m>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2n/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(2n)-n/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(n)</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i="1"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oMath>
                </a14:m>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por una parte tenemos los unos que genera el algoritmo en posiciones de forma 6k+-1 porque las otras posiciones no pueden ser primas por ser pares o múltiplos de 3, en la segunda parte de la lista y por otra los primos en la segunda parte de la lista</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n/6 -n/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 n)= 2n/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(2n)-n/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(n)</a:t>
                </a: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den>
                    </m:f>
                    <m:r>
                      <a:rPr lang="es-ES" sz="1800" i="1"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i="1" kern="100">
                        <a:solidFill>
                          <a:srgbClr val="000000"/>
                        </a:solidFill>
                        <a:effectLst/>
                        <a:latin typeface="Cambria Math" panose="02040503050406030204" pitchFamily="18" charset="0"/>
                        <a:ea typeface="Calibri" panose="020F0502020204030204" pitchFamily="34" charset="0"/>
                      </a:rPr>
                      <m:t>−</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oMath>
                </a14:m>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n/6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14:m>
                  <m:oMath xmlns:m="http://schemas.openxmlformats.org/officeDocument/2006/math">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den>
                    </m:f>
                    <m:r>
                      <a:rPr lang="es-ES" sz="1800" kern="100">
                        <a:solidFill>
                          <a:srgbClr val="000000"/>
                        </a:solidFill>
                        <a:effectLst/>
                        <a:latin typeface="Cambria Math" panose="02040503050406030204" pitchFamily="18" charset="0"/>
                        <a:ea typeface="Calibri" panose="020F0502020204030204" pitchFamily="34" charset="0"/>
                      </a:rPr>
                      <m:t>=2</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e>
                            <m:r>
                              <m:rPr>
                                <m:sty m:val="p"/>
                              </m:rPr>
                              <a:rPr lang="es-ES" sz="1800" kern="100">
                                <a:solidFill>
                                  <a:srgbClr val="000000"/>
                                </a:solidFill>
                                <a:effectLst/>
                                <a:latin typeface="Cambria Math" panose="02040503050406030204" pitchFamily="18" charset="0"/>
                                <a:ea typeface="Calibri" panose="020F0502020204030204" pitchFamily="34" charset="0"/>
                              </a:rPr>
                              <m:t>ln</m:t>
                            </m:r>
                          </m:e>
                        </m:func>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num>
                      <m:den>
                        <m:r>
                          <a:rPr lang="es-ES" sz="1800" kern="100">
                            <a:solidFill>
                              <a:srgbClr val="000000"/>
                            </a:solidFill>
                            <a:effectLst/>
                            <a:latin typeface="Cambria Math" panose="02040503050406030204" pitchFamily="18" charset="0"/>
                            <a:ea typeface="Calibri" panose="020F0502020204030204" pitchFamily="34" charset="0"/>
                          </a:rPr>
                          <m:t> </m:t>
                        </m:r>
                      </m:den>
                    </m:f>
                  </m:oMath>
                </a14:m>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Esto quiere decir,  como para 2n-primo ¡= primo, para todos los primos menores a n , la cantidad máxima de primos, en 2n son n/3, que son las posiciones de primos de la primera mitad de forma 6k+-1 más las posiciones no marcadas como primos en la primera mitad de forma 6k+-1 que son los que podrán ser primos en la segunda mitad. Evaluando solo los marcados como primos de la segunda mitad, y comparándolos con los primos reales de la segunda mitad, nos da que podemos tachar cosas de los dos lados del igual y obtener algo que creo da un número mayor a lo de antes, no soy matemático ni se lo que se sabe, que puede esto se sepa, o este mal.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5. Frases que indican que la conjetura no puede ser falsa.</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Pasamos a la parte teórica que no se puede implementar, son razonamientos.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Dicen que, en teoría de autómatas, con un lenguaje formal no puedo expresar una lista exhaustiva de primos, es algo así como decir lo de que no puedo obtener primos con una función polinómica .</a:t>
                </a: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Pero la salida del algoritmo si puedo expresarla así,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{X 0 </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X= 0011 y </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reverso de X negada}</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14:m>
                  <m:oMath xmlns:m="http://schemas.openxmlformats.org/officeDocument/2006/math">
                    <m:d>
                      <m:dPr>
                        <m:begChr m:val="{"/>
                        <m:endChr m:val="}"/>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X</m:t>
                        </m:r>
                        <m:r>
                          <a:rPr lang="es-ES" sz="1800" kern="100">
                            <a:solidFill>
                              <a:srgbClr val="000000"/>
                            </a:solidFill>
                            <a:effectLst/>
                            <a:latin typeface="Cambria Math" panose="02040503050406030204" pitchFamily="18" charset="0"/>
                            <a:ea typeface="Calibri" panose="020F0502020204030204" pitchFamily="34" charset="0"/>
                          </a:rPr>
                          <m:t> 0 </m:t>
                        </m:r>
                        <m:r>
                          <m:rPr>
                            <m:sty m:val="p"/>
                          </m:rPr>
                          <a:rPr lang="es-ES" sz="1800" kern="100">
                            <a:solidFill>
                              <a:srgbClr val="000000"/>
                            </a:solidFill>
                            <a:effectLst/>
                            <a:latin typeface="Cambria Math" panose="02040503050406030204" pitchFamily="18" charset="0"/>
                            <a:ea typeface="Calibri" panose="020F0502020204030204" pitchFamily="34" charset="0"/>
                          </a:rPr>
                          <m:t>Xr</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X</m:t>
                        </m:r>
                        <m:r>
                          <a:rPr lang="es-ES" sz="1800" kern="100">
                            <a:solidFill>
                              <a:srgbClr val="000000"/>
                            </a:solidFill>
                            <a:effectLst/>
                            <a:latin typeface="Cambria Math" panose="02040503050406030204" pitchFamily="18" charset="0"/>
                            <a:ea typeface="Calibri" panose="020F0502020204030204" pitchFamily="34" charset="0"/>
                          </a:rPr>
                          <m:t>= 0011 </m:t>
                        </m:r>
                        <m:r>
                          <m:rPr>
                            <m:sty m:val="p"/>
                          </m:rPr>
                          <a:rPr lang="es-ES" sz="1800" kern="100">
                            <a:solidFill>
                              <a:srgbClr val="000000"/>
                            </a:solidFill>
                            <a:effectLst/>
                            <a:latin typeface="Cambria Math" panose="02040503050406030204" pitchFamily="18" charset="0"/>
                            <a:ea typeface="Calibri" panose="020F0502020204030204" pitchFamily="34" charset="0"/>
                          </a:rPr>
                          <m:t>y</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Xr</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reverso</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de</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X</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negada</m:t>
                        </m:r>
                      </m:e>
                    </m:d>
                  </m:oMath>
                </a14:m>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el error relativo del algoritmo para 2n de forma 6k.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  n/6    -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   ) * 100  /  (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   )</a:t>
                </a: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14:m>
                  <m:oMath xmlns:m="http://schemas.openxmlformats.org/officeDocument/2006/math">
                    <m:d>
                      <m:dPr>
                        <m:ctrlPr>
                          <a:rPr lang="es-ES" sz="1800" i="1" kern="100">
                            <a:solidFill>
                              <a:srgbClr val="000000"/>
                            </a:solidFill>
                            <a:effectLst/>
                            <a:latin typeface="Cambria Math" panose="02040503050406030204" pitchFamily="18" charset="0"/>
                            <a:ea typeface="Calibri" panose="020F0502020204030204" pitchFamily="34" charset="0"/>
                          </a:rPr>
                        </m:ctrlPr>
                      </m:dPr>
                      <m:e>
                        <m:f>
                          <m:fPr>
                            <m:ctrlPr>
                              <a:rPr lang="es-ES" sz="1800" i="1" kern="100">
                                <a:solidFill>
                                  <a:srgbClr val="000000"/>
                                </a:solidFill>
                                <a:effectLst/>
                                <a:latin typeface="Cambria Math" panose="02040503050406030204" pitchFamily="18" charset="0"/>
                                <a:ea typeface="Calibri" panose="020F0502020204030204" pitchFamily="34" charset="0"/>
                              </a:rPr>
                            </m:ctrlPr>
                          </m:fPr>
                          <m:num>
                            <m:r>
                              <m:rPr>
                                <m:sty m:val="p"/>
                              </m:rPr>
                              <a:rPr lang="es-ES" sz="1800" kern="100">
                                <a:solidFill>
                                  <a:srgbClr val="000000"/>
                                </a:solidFill>
                                <a:effectLst/>
                                <a:latin typeface="Cambria Math" panose="02040503050406030204" pitchFamily="18" charset="0"/>
                                <a:ea typeface="Calibri" panose="020F0502020204030204" pitchFamily="34" charset="0"/>
                              </a:rPr>
                              <m:t>n</m:t>
                            </m:r>
                          </m:num>
                          <m:den>
                            <m:r>
                              <a:rPr lang="es-ES" sz="1800" kern="100">
                                <a:solidFill>
                                  <a:srgbClr val="000000"/>
                                </a:solidFill>
                                <a:effectLst/>
                                <a:latin typeface="Cambria Math" panose="02040503050406030204" pitchFamily="18" charset="0"/>
                                <a:ea typeface="Calibri" panose="020F0502020204030204" pitchFamily="34" charset="0"/>
                              </a:rPr>
                              <m:t>6</m:t>
                            </m:r>
                          </m:den>
                        </m:f>
                        <m:r>
                          <a:rPr lang="es-ES" sz="1800" kern="100">
                            <a:solidFill>
                              <a:srgbClr val="000000"/>
                            </a:solidFill>
                            <a:effectLst/>
                            <a:latin typeface="Cambria Math" panose="02040503050406030204" pitchFamily="18" charset="0"/>
                            <a:ea typeface="Calibri" panose="020F0502020204030204" pitchFamily="34" charset="0"/>
                          </a:rPr>
                          <m:t>   </m:t>
                        </m:r>
                        <m:r>
                          <a:rPr lang="es-ES" sz="1800" i="1" kern="100">
                            <a:solidFill>
                              <a:srgbClr val="000000"/>
                            </a:solidFill>
                            <a:effectLst/>
                            <a:latin typeface="Cambria Math" panose="02040503050406030204" pitchFamily="18" charset="0"/>
                            <a:ea typeface="Calibri" panose="020F0502020204030204" pitchFamily="34" charset="0"/>
                          </a:rPr>
                          <m:t>−</m:t>
                        </m:r>
                        <m:r>
                          <a:rPr lang="es-ES" sz="1800" kern="100">
                            <a:solidFill>
                              <a:srgbClr val="000000"/>
                            </a:solidFill>
                            <a:effectLst/>
                            <a:latin typeface="Cambria Math" panose="02040503050406030204" pitchFamily="18" charset="0"/>
                            <a:ea typeface="Calibri" panose="020F0502020204030204" pitchFamily="34" charset="0"/>
                          </a:rPr>
                          <m:t>   </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kern="100">
                            <a:solidFill>
                              <a:srgbClr val="000000"/>
                            </a:solidFill>
                            <a:effectLst/>
                            <a:latin typeface="Cambria Math" panose="02040503050406030204" pitchFamily="18" charset="0"/>
                            <a:ea typeface="Calibri" panose="020F0502020204030204" pitchFamily="34" charset="0"/>
                          </a:rPr>
                          <m:t> </m:t>
                        </m:r>
                      </m:e>
                    </m:d>
                    <m:r>
                      <a:rPr lang="es-ES" sz="1800" i="1" kern="100">
                        <a:solidFill>
                          <a:srgbClr val="000000"/>
                        </a:solidFill>
                        <a:effectLst/>
                        <a:latin typeface="Cambria Math" panose="02040503050406030204" pitchFamily="18" charset="0"/>
                        <a:ea typeface="Calibri" panose="020F0502020204030204" pitchFamily="34" charset="0"/>
                      </a:rPr>
                      <m:t>∗</m:t>
                    </m:r>
                    <m:r>
                      <a:rPr lang="es-ES" sz="1800" kern="100">
                        <a:solidFill>
                          <a:srgbClr val="000000"/>
                        </a:solidFill>
                        <a:effectLst/>
                        <a:latin typeface="Cambria Math" panose="02040503050406030204" pitchFamily="18" charset="0"/>
                        <a:ea typeface="Calibri" panose="020F0502020204030204" pitchFamily="34" charset="0"/>
                      </a:rPr>
                      <m:t>1</m:t>
                    </m:r>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00 </m:t>
                        </m:r>
                      </m:num>
                      <m:den>
                        <m:f>
                          <m:fPr>
                            <m:ctrlPr>
                              <a:rPr lang="es-ES" sz="1800" i="1" kern="100">
                                <a:solidFill>
                                  <a:srgbClr val="000000"/>
                                </a:solidFill>
                                <a:effectLst/>
                                <a:latin typeface="Cambria Math" panose="02040503050406030204" pitchFamily="18" charset="0"/>
                                <a:ea typeface="Calibri" panose="020F0502020204030204" pitchFamily="34" charset="0"/>
                              </a:rPr>
                            </m:ctrlPr>
                          </m:fPr>
                          <m:num>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num>
                          <m:den>
                            <m:func>
                              <m:funcPr>
                                <m:ctrlPr>
                                  <a:rPr lang="es-ES" sz="1800" i="1" kern="100">
                                    <a:solidFill>
                                      <a:srgbClr val="000000"/>
                                    </a:solidFill>
                                    <a:effectLst/>
                                    <a:latin typeface="Cambria Math" panose="02040503050406030204" pitchFamily="18" charset="0"/>
                                    <a:ea typeface="Calibri" panose="020F0502020204030204" pitchFamily="34" charset="0"/>
                                  </a:rPr>
                                </m:ctrlPr>
                              </m:funcPr>
                              <m:fName>
                                <m:r>
                                  <m:rPr>
                                    <m:sty m:val="p"/>
                                  </m:rPr>
                                  <a:rPr lang="es-ES" sz="1800" kern="100">
                                    <a:solidFill>
                                      <a:srgbClr val="000000"/>
                                    </a:solidFill>
                                    <a:effectLst/>
                                    <a:latin typeface="Cambria Math" panose="02040503050406030204" pitchFamily="18" charset="0"/>
                                    <a:ea typeface="Calibri" panose="020F0502020204030204" pitchFamily="34" charset="0"/>
                                  </a:rPr>
                                  <m:t>ln</m:t>
                                </m:r>
                              </m:fName>
                              <m:e>
                                <m:d>
                                  <m:dPr>
                                    <m:ctrlPr>
                                      <a:rPr lang="es-ES" sz="1800" i="1" kern="100">
                                        <a:solidFill>
                                          <a:srgbClr val="000000"/>
                                        </a:solidFill>
                                        <a:effectLst/>
                                        <a:latin typeface="Cambria Math" panose="02040503050406030204" pitchFamily="18" charset="0"/>
                                        <a:ea typeface="Calibri" panose="020F0502020204030204" pitchFamily="34" charset="0"/>
                                      </a:rPr>
                                    </m:ctrlPr>
                                  </m:dPr>
                                  <m:e>
                                    <m:r>
                                      <a:rPr lang="es-ES" sz="1800" kern="100">
                                        <a:solidFill>
                                          <a:srgbClr val="000000"/>
                                        </a:solidFill>
                                        <a:effectLst/>
                                        <a:latin typeface="Cambria Math" panose="02040503050406030204" pitchFamily="18" charset="0"/>
                                        <a:ea typeface="Calibri" panose="020F0502020204030204" pitchFamily="34" charset="0"/>
                                      </a:rPr>
                                      <m:t>2</m:t>
                                    </m:r>
                                    <m:r>
                                      <m:rPr>
                                        <m:sty m:val="p"/>
                                      </m:rPr>
                                      <a:rPr lang="es-ES" sz="1800" kern="100">
                                        <a:solidFill>
                                          <a:srgbClr val="000000"/>
                                        </a:solidFill>
                                        <a:effectLst/>
                                        <a:latin typeface="Cambria Math" panose="02040503050406030204" pitchFamily="18" charset="0"/>
                                        <a:ea typeface="Calibri" panose="020F0502020204030204" pitchFamily="34" charset="0"/>
                                      </a:rPr>
                                      <m:t>n</m:t>
                                    </m:r>
                                  </m:e>
                                </m:d>
                              </m:e>
                            </m:func>
                          </m:den>
                        </m:f>
                        <m:r>
                          <a:rPr lang="es-ES" sz="1800" kern="100">
                            <a:solidFill>
                              <a:srgbClr val="000000"/>
                            </a:solidFill>
                            <a:effectLst/>
                            <a:latin typeface="Cambria Math" panose="02040503050406030204" pitchFamily="18" charset="0"/>
                            <a:ea typeface="Calibri" panose="020F0502020204030204" pitchFamily="34" charset="0"/>
                          </a:rPr>
                          <m:t>    </m:t>
                        </m:r>
                      </m:den>
                    </m:f>
                  </m:oMath>
                </a14:m>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si 2n que afirma que la conjetura es falsa existe y es infinito nos quedamos con el algoritmo de antes, y si no es infinito propongo el siguiente lenguaje formal como ejemplo.</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{X 0 Y 0 Z: Z=</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0 </a:t>
                </a:r>
                <a:r>
                  <a:rPr lang="es-ES" sz="1800" u="sng" kern="100" dirty="0" err="1">
                    <a:solidFill>
                      <a:srgbClr val="000000"/>
                    </a:solidFill>
                    <a:effectLst/>
                    <a:latin typeface="Calibri" panose="020F0502020204030204" pitchFamily="34" charset="0"/>
                    <a:ea typeface="Calibri" panose="020F0502020204030204" pitchFamily="34" charset="0"/>
                  </a:rPr>
                  <a:t>Yr</a:t>
                </a:r>
                <a:r>
                  <a:rPr lang="es-ES" sz="1800" u="sng" kern="100" dirty="0">
                    <a:solidFill>
                      <a:srgbClr val="000000"/>
                    </a:solidFill>
                    <a:effectLst/>
                    <a:latin typeface="Calibri" panose="020F0502020204030204" pitchFamily="34" charset="0"/>
                    <a:ea typeface="Calibri" panose="020F0502020204030204" pitchFamily="34" charset="0"/>
                  </a:rPr>
                  <a:t>}</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14:m>
                  <m:oMath xmlns:m="http://schemas.openxmlformats.org/officeDocument/2006/math">
                    <m:d>
                      <m:dPr>
                        <m:begChr m:val="{"/>
                        <m:endChr m:val="}"/>
                        <m:ctrlPr>
                          <a:rPr lang="es-ES" sz="1800" i="1" kern="100">
                            <a:solidFill>
                              <a:srgbClr val="000000"/>
                            </a:solidFill>
                            <a:effectLst/>
                            <a:latin typeface="Cambria Math" panose="02040503050406030204" pitchFamily="18" charset="0"/>
                            <a:ea typeface="Calibri" panose="020F0502020204030204" pitchFamily="34" charset="0"/>
                          </a:rPr>
                        </m:ctrlPr>
                      </m:dPr>
                      <m:e>
                        <m:r>
                          <m:rPr>
                            <m:sty m:val="p"/>
                          </m:rPr>
                          <a:rPr lang="es-ES" sz="1800" kern="100">
                            <a:solidFill>
                              <a:srgbClr val="000000"/>
                            </a:solidFill>
                            <a:effectLst/>
                            <a:latin typeface="Cambria Math" panose="02040503050406030204" pitchFamily="18" charset="0"/>
                            <a:ea typeface="Calibri" panose="020F0502020204030204" pitchFamily="34" charset="0"/>
                          </a:rPr>
                          <m:t>X</m:t>
                        </m:r>
                        <m:r>
                          <a:rPr lang="es-ES" sz="1800" kern="100">
                            <a:solidFill>
                              <a:srgbClr val="000000"/>
                            </a:solidFill>
                            <a:effectLst/>
                            <a:latin typeface="Cambria Math" panose="02040503050406030204" pitchFamily="18" charset="0"/>
                            <a:ea typeface="Calibri" panose="020F0502020204030204" pitchFamily="34" charset="0"/>
                          </a:rPr>
                          <m:t> 0 </m:t>
                        </m:r>
                        <m:r>
                          <m:rPr>
                            <m:sty m:val="p"/>
                          </m:rPr>
                          <a:rPr lang="es-ES" sz="1800" kern="100">
                            <a:solidFill>
                              <a:srgbClr val="000000"/>
                            </a:solidFill>
                            <a:effectLst/>
                            <a:latin typeface="Cambria Math" panose="02040503050406030204" pitchFamily="18" charset="0"/>
                            <a:ea typeface="Calibri" panose="020F0502020204030204" pitchFamily="34" charset="0"/>
                          </a:rPr>
                          <m:t>Y</m:t>
                        </m:r>
                        <m:r>
                          <a:rPr lang="es-ES" sz="1800" kern="100">
                            <a:solidFill>
                              <a:srgbClr val="000000"/>
                            </a:solidFill>
                            <a:effectLst/>
                            <a:latin typeface="Cambria Math" panose="02040503050406030204" pitchFamily="18" charset="0"/>
                            <a:ea typeface="Calibri" panose="020F0502020204030204" pitchFamily="34" charset="0"/>
                          </a:rPr>
                          <m:t> 0 </m:t>
                        </m:r>
                        <m:r>
                          <m:rPr>
                            <m:sty m:val="p"/>
                          </m:rPr>
                          <a:rPr lang="es-ES" sz="1800" kern="100">
                            <a:solidFill>
                              <a:srgbClr val="000000"/>
                            </a:solidFill>
                            <a:effectLst/>
                            <a:latin typeface="Cambria Math" panose="02040503050406030204" pitchFamily="18" charset="0"/>
                            <a:ea typeface="Calibri" panose="020F0502020204030204" pitchFamily="34" charset="0"/>
                          </a:rPr>
                          <m:t>Z</m:t>
                        </m:r>
                        <m:r>
                          <a:rPr lang="es-ES" sz="1800" kern="100">
                            <a:solidFill>
                              <a:srgbClr val="000000"/>
                            </a:solidFill>
                            <a:effectLst/>
                            <a:latin typeface="Cambria Math" panose="02040503050406030204" pitchFamily="18" charset="0"/>
                            <a:ea typeface="Calibri" panose="020F0502020204030204" pitchFamily="34" charset="0"/>
                          </a:rPr>
                          <m:t>: </m:t>
                        </m:r>
                        <m:r>
                          <m:rPr>
                            <m:sty m:val="p"/>
                          </m:rPr>
                          <a:rPr lang="es-ES" sz="1800" kern="100">
                            <a:solidFill>
                              <a:srgbClr val="000000"/>
                            </a:solidFill>
                            <a:effectLst/>
                            <a:latin typeface="Cambria Math" panose="02040503050406030204" pitchFamily="18" charset="0"/>
                            <a:ea typeface="Calibri" panose="020F0502020204030204" pitchFamily="34" charset="0"/>
                          </a:rPr>
                          <m:t>Z</m:t>
                        </m:r>
                        <m:r>
                          <a:rPr lang="es-ES" sz="1800" kern="100">
                            <a:solidFill>
                              <a:srgbClr val="000000"/>
                            </a:solidFill>
                            <a:effectLst/>
                            <a:latin typeface="Cambria Math" panose="02040503050406030204" pitchFamily="18" charset="0"/>
                            <a:ea typeface="Calibri" panose="020F0502020204030204" pitchFamily="34" charset="0"/>
                          </a:rPr>
                          <m:t>=</m:t>
                        </m:r>
                        <m:r>
                          <m:rPr>
                            <m:sty m:val="p"/>
                          </m:rPr>
                          <a:rPr lang="es-ES" sz="1800" kern="100">
                            <a:solidFill>
                              <a:srgbClr val="000000"/>
                            </a:solidFill>
                            <a:effectLst/>
                            <a:latin typeface="Cambria Math" panose="02040503050406030204" pitchFamily="18" charset="0"/>
                            <a:ea typeface="Calibri" panose="020F0502020204030204" pitchFamily="34" charset="0"/>
                          </a:rPr>
                          <m:t>Xr</m:t>
                        </m:r>
                        <m:r>
                          <a:rPr lang="es-ES" sz="1800" kern="100">
                            <a:solidFill>
                              <a:srgbClr val="000000"/>
                            </a:solidFill>
                            <a:effectLst/>
                            <a:latin typeface="Cambria Math" panose="02040503050406030204" pitchFamily="18" charset="0"/>
                            <a:ea typeface="Calibri" panose="020F0502020204030204" pitchFamily="34" charset="0"/>
                          </a:rPr>
                          <m:t> 0 </m:t>
                        </m:r>
                        <m:r>
                          <m:rPr>
                            <m:sty m:val="p"/>
                          </m:rPr>
                          <a:rPr lang="es-ES" sz="1800" kern="100">
                            <a:solidFill>
                              <a:srgbClr val="000000"/>
                            </a:solidFill>
                            <a:effectLst/>
                            <a:latin typeface="Cambria Math" panose="02040503050406030204" pitchFamily="18" charset="0"/>
                            <a:ea typeface="Calibri" panose="020F0502020204030204" pitchFamily="34" charset="0"/>
                          </a:rPr>
                          <m:t>Yr</m:t>
                        </m:r>
                      </m:e>
                    </m:d>
                  </m:oMath>
                </a14:m>
                <a:r>
                  <a:rPr lang="es-ES" sz="1800" kern="100" dirty="0">
                    <a:solidFill>
                      <a:srgbClr val="000000"/>
                    </a:solidFill>
                    <a:effectLst/>
                    <a:latin typeface="Cambria Math" panose="02040503050406030204" pitchFamily="18" charset="0"/>
                    <a:ea typeface="Calibri" panose="020F0502020204030204" pitchFamily="34" charset="0"/>
                  </a:rPr>
                  <a:t> </a:t>
                </a:r>
                <a:r>
                  <a:rPr lang="es-ES" sz="1800" kern="100" dirty="0">
                    <a:solidFill>
                      <a:srgbClr val="000000"/>
                    </a:solidFill>
                    <a:effectLst/>
                    <a:latin typeface="Calibri" panose="020F0502020204030204" pitchFamily="34" charset="0"/>
                    <a:ea typeface="Calibri" panose="020F0502020204030204" pitchFamily="34" charset="0"/>
                  </a:rPr>
                  <a:t> </a:t>
                </a:r>
              </a:p>
              <a:p>
                <a:endParaRPr lang="es-ES" dirty="0"/>
              </a:p>
            </p:txBody>
          </p:sp>
        </mc:Choice>
        <mc:Fallback xmlns="">
          <p:sp>
            <p:nvSpPr>
              <p:cNvPr id="3" name="Marcador de notas 2"/>
              <p:cNvSpPr>
                <a:spLocks noGrp="1"/>
              </p:cNvSpPr>
              <p:nvPr>
                <p:ph type="body" idx="1"/>
              </p:nvPr>
            </p:nvSpPr>
            <p:spPr/>
            <p:txBody>
              <a:bodyPr/>
              <a:lstStyle/>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4. Punto de partida para buscar fallos en las descomposiciones.</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Me dijeron que esto existe.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n/3-n/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(n)&lt;=n/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(n)</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i="0" kern="100">
                    <a:solidFill>
                      <a:srgbClr val="000000"/>
                    </a:solidFill>
                    <a:effectLst/>
                    <a:latin typeface="Cambria Math" panose="02040503050406030204" pitchFamily="18" charset="0"/>
                    <a:ea typeface="Calibri" panose="020F0502020204030204" pitchFamily="34" charset="0"/>
                  </a:rPr>
                  <a:t>n/3−n/ln⁡(n) ≤n ( ⁡ln (n))/   </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Esto quiere decir, mientras hay más posiciones de forma 6k+-1 primas que no primas, no puede ser falsa la conjetura.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pero vamos a aplicar lo mismo, pero con este algoritmo.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2n/(6*2)=n/6 :  n/6 -n/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 n)</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i="0" kern="100">
                    <a:solidFill>
                      <a:srgbClr val="000000"/>
                    </a:solidFill>
                    <a:effectLst/>
                    <a:latin typeface="Cambria Math" panose="02040503050406030204" pitchFamily="18" charset="0"/>
                    <a:ea typeface="Calibri" panose="020F0502020204030204" pitchFamily="34" charset="0"/>
                  </a:rPr>
                  <a:t>2n/(6∗2)=n/6</a:t>
                </a:r>
                <a:r>
                  <a:rPr lang="es-ES" sz="1800" kern="100" dirty="0">
                    <a:solidFill>
                      <a:srgbClr val="000000"/>
                    </a:solidFill>
                    <a:effectLst/>
                    <a:latin typeface="Calibri" panose="020F0502020204030204" pitchFamily="34" charset="0"/>
                    <a:ea typeface="Calibri" panose="020F0502020204030204" pitchFamily="34" charset="0"/>
                  </a:rPr>
                  <a:t>	             </a:t>
                </a:r>
                <a:r>
                  <a:rPr lang="es-ES" sz="1800" i="0" kern="100">
                    <a:solidFill>
                      <a:srgbClr val="000000"/>
                    </a:solidFill>
                    <a:effectLst/>
                    <a:latin typeface="Cambria Math" panose="02040503050406030204" pitchFamily="18" charset="0"/>
                    <a:ea typeface="Calibri" panose="020F0502020204030204" pitchFamily="34" charset="0"/>
                  </a:rPr>
                  <a:t>n/6−n/ln⁡( n) </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2n/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(2n)-n/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(n)</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i="0" kern="100">
                    <a:solidFill>
                      <a:srgbClr val="000000"/>
                    </a:solidFill>
                    <a:effectLst/>
                    <a:latin typeface="Cambria Math" panose="02040503050406030204" pitchFamily="18" charset="0"/>
                    <a:ea typeface="Calibri" panose="020F0502020204030204" pitchFamily="34" charset="0"/>
                  </a:rPr>
                  <a:t>2n/ln⁡(2n) −n/ln⁡(n) </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por una parte tenemos los unos que genera el algoritmo en posiciones de forma 6k+-1 porque las otras posiciones no pueden ser primas por ser pares o múltiplos de 3, en la segunda parte de la lista y por otra los primos en la segunda parte de la lista</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n/6 -n/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 n)= 2n/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(2n)-n/</a:t>
                </a:r>
                <a:r>
                  <a:rPr lang="es-ES" sz="1800" kern="100" dirty="0" err="1">
                    <a:solidFill>
                      <a:srgbClr val="000000"/>
                    </a:solidFill>
                    <a:effectLst/>
                    <a:latin typeface="Calibri" panose="020F0502020204030204" pitchFamily="34" charset="0"/>
                    <a:ea typeface="Calibri" panose="020F0502020204030204" pitchFamily="34" charset="0"/>
                  </a:rPr>
                  <a:t>ln</a:t>
                </a:r>
                <a:r>
                  <a:rPr lang="es-ES" sz="1800" kern="100" dirty="0">
                    <a:solidFill>
                      <a:srgbClr val="000000"/>
                    </a:solidFill>
                    <a:effectLst/>
                    <a:latin typeface="Calibri" panose="020F0502020204030204" pitchFamily="34" charset="0"/>
                    <a:ea typeface="Calibri" panose="020F0502020204030204" pitchFamily="34" charset="0"/>
                  </a:rPr>
                  <a:t>(n)</a:t>
                </a:r>
                <a:r>
                  <a:rPr lang="es-ES" sz="1800" i="0" kern="100">
                    <a:solidFill>
                      <a:srgbClr val="000000"/>
                    </a:solidFill>
                    <a:effectLst/>
                    <a:latin typeface="Cambria Math" panose="02040503050406030204" pitchFamily="18" charset="0"/>
                    <a:ea typeface="Calibri" panose="020F0502020204030204" pitchFamily="34" charset="0"/>
                  </a:rPr>
                  <a:t>n/6−n/ln⁡( n) =2n/ln⁡(2n) −n/ln⁡(n) </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n/6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i="0" kern="100">
                    <a:solidFill>
                      <a:srgbClr val="000000"/>
                    </a:solidFill>
                    <a:effectLst/>
                    <a:latin typeface="Cambria Math" panose="02040503050406030204" pitchFamily="18" charset="0"/>
                    <a:ea typeface="Calibri" panose="020F0502020204030204" pitchFamily="34" charset="0"/>
                  </a:rPr>
                  <a:t>n/6=2 (n ⁡ln (2n))/ </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Esto quiere decir,  como para 2n-primo ¡= primo, para todos los primos menores a n , la cantidad máxima de primos, en 2n son n/3, que son las posiciones de primos de la primera mitad de forma 6k+-1 más las posiciones no marcadas como primos en la primera mitad de forma 6k+-1 que son los que podrán ser primos en la segunda mitad. Evaluando solo los marcados como primos de la segunda mitad, y comparándolos con los primos reales de la segunda mitad, nos da que podemos tachar cosas de los dos lados del igual y obtener algo que creo da un número mayor a lo de antes, no soy matemático ni se lo que se sabe, que puede esto se sepa, o este mal.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5. Frases que indican que la conjetura no puede ser falsa.</a:t>
                </a: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Pasamos a la parte teórica que no se puede implementar, son razonamientos.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Dicen que, en teoría de autómatas, con un lenguaje formal no puedo expresar una lista exhaustiva de primos, es algo así como decir lo de que no puedo obtener primos con una función polinómica .</a:t>
                </a: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Pero la salida del algoritmo si puedo expresarla así,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{X 0 </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X= 0011 y </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reverso de X negada}</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i="0" kern="100">
                    <a:solidFill>
                      <a:srgbClr val="000000"/>
                    </a:solidFill>
                    <a:effectLst/>
                    <a:latin typeface="Cambria Math" panose="02040503050406030204" pitchFamily="18" charset="0"/>
                    <a:ea typeface="Calibri" panose="020F0502020204030204" pitchFamily="34" charset="0"/>
                  </a:rPr>
                  <a:t>{X 0 Xr: X= 0011 y Xr reverso de X negada}</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el error relativo del algoritmo para 2n de forma 6k.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  n/6    -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   ) * 100  /  (  2n/</a:t>
                </a:r>
                <a:r>
                  <a:rPr lang="es-ES" sz="1800" u="sng" kern="100" dirty="0" err="1">
                    <a:solidFill>
                      <a:srgbClr val="000000"/>
                    </a:solidFill>
                    <a:effectLst/>
                    <a:latin typeface="Calibri" panose="020F0502020204030204" pitchFamily="34" charset="0"/>
                    <a:ea typeface="Calibri" panose="020F0502020204030204" pitchFamily="34" charset="0"/>
                  </a:rPr>
                  <a:t>ln</a:t>
                </a:r>
                <a:r>
                  <a:rPr lang="es-ES" sz="1800" u="sng" kern="100" dirty="0">
                    <a:solidFill>
                      <a:srgbClr val="000000"/>
                    </a:solidFill>
                    <a:effectLst/>
                    <a:latin typeface="Calibri" panose="020F0502020204030204" pitchFamily="34" charset="0"/>
                    <a:ea typeface="Calibri" panose="020F0502020204030204" pitchFamily="34" charset="0"/>
                  </a:rPr>
                  <a:t>(2n)   )</a:t>
                </a: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r>
                  <a:rPr lang="es-ES" sz="1800" i="0" kern="100">
                    <a:solidFill>
                      <a:srgbClr val="000000"/>
                    </a:solidFill>
                    <a:effectLst/>
                    <a:latin typeface="Cambria Math" panose="02040503050406030204" pitchFamily="18" charset="0"/>
                    <a:ea typeface="Calibri" panose="020F0502020204030204" pitchFamily="34" charset="0"/>
                  </a:rPr>
                  <a:t>(n/6    −   2n/ln⁡(2n)   )∗1 (00 )/(2n/ln⁡(2n)      )</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si 2n que afirma que la conjetura es falsa existe y es infinito nos quedamos con el algoritmo de antes, y si no es infinito propongo el siguiente lenguaje formal como ejemplo.</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u="sng" kern="100" dirty="0">
                    <a:solidFill>
                      <a:srgbClr val="000000"/>
                    </a:solidFill>
                    <a:effectLst/>
                    <a:latin typeface="Calibri" panose="020F0502020204030204" pitchFamily="34" charset="0"/>
                    <a:ea typeface="Calibri" panose="020F0502020204030204" pitchFamily="34" charset="0"/>
                  </a:rPr>
                  <a:t>{X 0 Y 0 Z: Z=</a:t>
                </a:r>
                <a:r>
                  <a:rPr lang="es-ES" sz="1800" u="sng" kern="100" dirty="0" err="1">
                    <a:solidFill>
                      <a:srgbClr val="000000"/>
                    </a:solidFill>
                    <a:effectLst/>
                    <a:latin typeface="Calibri" panose="020F0502020204030204" pitchFamily="34" charset="0"/>
                    <a:ea typeface="Calibri" panose="020F0502020204030204" pitchFamily="34" charset="0"/>
                  </a:rPr>
                  <a:t>Xr</a:t>
                </a:r>
                <a:r>
                  <a:rPr lang="es-ES" sz="1800" u="sng" kern="100" dirty="0">
                    <a:solidFill>
                      <a:srgbClr val="000000"/>
                    </a:solidFill>
                    <a:effectLst/>
                    <a:latin typeface="Calibri" panose="020F0502020204030204" pitchFamily="34" charset="0"/>
                    <a:ea typeface="Calibri" panose="020F0502020204030204" pitchFamily="34" charset="0"/>
                  </a:rPr>
                  <a:t> 0 </a:t>
                </a:r>
                <a:r>
                  <a:rPr lang="es-ES" sz="1800" u="sng" kern="100" dirty="0" err="1">
                    <a:solidFill>
                      <a:srgbClr val="000000"/>
                    </a:solidFill>
                    <a:effectLst/>
                    <a:latin typeface="Calibri" panose="020F0502020204030204" pitchFamily="34" charset="0"/>
                    <a:ea typeface="Calibri" panose="020F0502020204030204" pitchFamily="34" charset="0"/>
                  </a:rPr>
                  <a:t>Yr</a:t>
                </a:r>
                <a:r>
                  <a:rPr lang="es-ES" sz="1800" u="sng" kern="100" dirty="0">
                    <a:solidFill>
                      <a:srgbClr val="000000"/>
                    </a:solidFill>
                    <a:effectLst/>
                    <a:latin typeface="Calibri" panose="020F0502020204030204" pitchFamily="34" charset="0"/>
                    <a:ea typeface="Calibri" panose="020F0502020204030204" pitchFamily="34" charset="0"/>
                  </a:rPr>
                  <a:t>}</a:t>
                </a:r>
                <a:r>
                  <a:rPr lang="es-ES" sz="1800" kern="100" dirty="0">
                    <a:solidFill>
                      <a:srgbClr val="000000"/>
                    </a:solidFill>
                    <a:effectLst/>
                    <a:latin typeface="Calibri" panose="020F0502020204030204" pitchFamily="34" charset="0"/>
                    <a:ea typeface="Calibri" panose="020F0502020204030204" pitchFamily="34" charset="0"/>
                  </a:rPr>
                  <a:t> </a:t>
                </a:r>
              </a:p>
              <a:p>
                <a:pPr marL="5715" indent="-5715" algn="l">
                  <a:lnSpc>
                    <a:spcPct val="110000"/>
                  </a:lnSpc>
                  <a:spcAft>
                    <a:spcPts val="460"/>
                  </a:spcAft>
                </a:pPr>
                <a:r>
                  <a:rPr lang="es-ES" sz="1800" i="0" kern="100">
                    <a:solidFill>
                      <a:srgbClr val="000000"/>
                    </a:solidFill>
                    <a:effectLst/>
                    <a:latin typeface="Cambria Math" panose="02040503050406030204" pitchFamily="18" charset="0"/>
                    <a:ea typeface="Calibri" panose="020F0502020204030204" pitchFamily="34" charset="0"/>
                  </a:rPr>
                  <a:t>{X 0 Y 0 Z: Z=Xr 0 Yr}</a:t>
                </a:r>
                <a:r>
                  <a:rPr lang="es-ES" sz="1800" kern="100" dirty="0">
                    <a:solidFill>
                      <a:srgbClr val="000000"/>
                    </a:solidFill>
                    <a:effectLst/>
                    <a:latin typeface="Cambria Math" panose="02040503050406030204" pitchFamily="18" charset="0"/>
                    <a:ea typeface="Calibri" panose="020F0502020204030204" pitchFamily="34" charset="0"/>
                  </a:rPr>
                  <a:t> </a:t>
                </a:r>
                <a:r>
                  <a:rPr lang="es-ES" sz="1800" kern="100" dirty="0">
                    <a:solidFill>
                      <a:srgbClr val="000000"/>
                    </a:solidFill>
                    <a:effectLst/>
                    <a:latin typeface="Calibri" panose="020F0502020204030204" pitchFamily="34" charset="0"/>
                    <a:ea typeface="Calibri" panose="020F0502020204030204" pitchFamily="34" charset="0"/>
                  </a:rPr>
                  <a:t> </a:t>
                </a:r>
              </a:p>
              <a:p>
                <a:endParaRPr lang="es-ES" dirty="0"/>
              </a:p>
            </p:txBody>
          </p:sp>
        </mc:Fallback>
      </mc:AlternateContent>
      <p:sp>
        <p:nvSpPr>
          <p:cNvPr id="4" name="Marcador de número de diapositiva 3"/>
          <p:cNvSpPr>
            <a:spLocks noGrp="1"/>
          </p:cNvSpPr>
          <p:nvPr>
            <p:ph type="sldNum" sz="quarter" idx="5"/>
          </p:nvPr>
        </p:nvSpPr>
        <p:spPr/>
        <p:txBody>
          <a:bodyPr/>
          <a:lstStyle/>
          <a:p>
            <a:fld id="{888019AB-D82B-48D4-A5AA-145E84418907}" type="slidenum">
              <a:rPr lang="es-ES" smtClean="0"/>
              <a:t>8</a:t>
            </a:fld>
            <a:endParaRPr lang="es-ES"/>
          </a:p>
        </p:txBody>
      </p:sp>
    </p:spTree>
    <p:extLst>
      <p:ext uri="{BB962C8B-B14F-4D97-AF65-F5344CB8AC3E}">
        <p14:creationId xmlns:p14="http://schemas.microsoft.com/office/powerpoint/2010/main" val="173636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effectLst/>
              </a:rPr>
              <a:t>laro</a:t>
            </a:r>
            <a:r>
              <a:rPr lang="es-ES" dirty="0">
                <a:effectLst/>
              </a:rPr>
              <a:t>, aquí tienes algunas referencias y explicaciones sobre el </a:t>
            </a:r>
            <a:r>
              <a:rPr lang="es-ES" b="1" dirty="0">
                <a:effectLst/>
              </a:rPr>
              <a:t>coste teórico mínimo</a:t>
            </a:r>
            <a:r>
              <a:rPr lang="es-ES" dirty="0">
                <a:effectLst/>
              </a:rPr>
              <a:t> para verificar si un número es primo y para generar números primos:</a:t>
            </a:r>
          </a:p>
          <a:p>
            <a:pPr>
              <a:buFont typeface="+mj-lt"/>
              <a:buAutoNum type="arabicPeriod"/>
            </a:pPr>
            <a:r>
              <a:rPr lang="es-ES" b="1" dirty="0">
                <a:effectLst/>
              </a:rPr>
              <a:t>Verificación de números primos</a:t>
            </a:r>
            <a:r>
              <a:rPr lang="es-ES" dirty="0">
                <a:effectLst/>
              </a:rPr>
              <a:t>:</a:t>
            </a:r>
          </a:p>
          <a:p>
            <a:pPr marL="742950" lvl="1" indent="-285750">
              <a:buFont typeface="+mj-lt"/>
              <a:buAutoNum type="arabicPeriod"/>
            </a:pPr>
            <a:r>
              <a:rPr lang="es-ES" dirty="0">
                <a:effectLst/>
              </a:rPr>
              <a:t>La verificación de si un número dado es primo se puede realizar utilizando algoritmos eficientes, como la </a:t>
            </a:r>
            <a:r>
              <a:rPr lang="es-ES" b="1" dirty="0">
                <a:effectLst/>
              </a:rPr>
              <a:t>criba de Eratóstenes</a:t>
            </a:r>
            <a:r>
              <a:rPr lang="es-ES" dirty="0">
                <a:effectLst/>
              </a:rPr>
              <a:t>.</a:t>
            </a:r>
          </a:p>
          <a:p>
            <a:pPr marL="742950" lvl="1" indent="-285750">
              <a:buFont typeface="+mj-lt"/>
              <a:buAutoNum type="arabicPeriod"/>
            </a:pPr>
            <a:r>
              <a:rPr lang="es-ES" dirty="0">
                <a:effectLst/>
              </a:rPr>
              <a:t>La criba de Eratóstenes tiene una complejidad de tiempo de </a:t>
            </a:r>
            <a:r>
              <a:rPr lang="es-ES" b="1" dirty="0">
                <a:effectLst/>
              </a:rPr>
              <a:t>O(n log </a:t>
            </a:r>
            <a:r>
              <a:rPr lang="es-ES" b="1" dirty="0" err="1">
                <a:effectLst/>
              </a:rPr>
              <a:t>log</a:t>
            </a:r>
            <a:r>
              <a:rPr lang="es-ES" b="1" dirty="0">
                <a:effectLst/>
              </a:rPr>
              <a:t> n)</a:t>
            </a:r>
            <a:r>
              <a:rPr lang="es-ES" dirty="0">
                <a:effectLst/>
              </a:rPr>
              <a:t>, lo que significa que es un algoritmo polinómico.</a:t>
            </a:r>
          </a:p>
          <a:p>
            <a:pPr marL="742950" lvl="1" indent="-285750">
              <a:buFont typeface="+mj-lt"/>
              <a:buAutoNum type="arabicPeriod"/>
            </a:pPr>
            <a:r>
              <a:rPr lang="es-ES" dirty="0">
                <a:effectLst/>
                <a:hlinkClick r:id="rId3"/>
              </a:rPr>
              <a:t>Por lo tanto, el coste teórico mínimo para verificar si un número es primo es </a:t>
            </a:r>
            <a:r>
              <a:rPr lang="es-ES" b="1" dirty="0">
                <a:effectLst/>
                <a:hlinkClick r:id="rId3"/>
              </a:rPr>
              <a:t>polinómico</a:t>
            </a:r>
            <a:r>
              <a:rPr lang="es-ES" baseline="30000" dirty="0">
                <a:effectLst/>
                <a:hlinkClick r:id="rId3"/>
              </a:rPr>
              <a:t>1</a:t>
            </a:r>
            <a:r>
              <a:rPr lang="es-ES" dirty="0">
                <a:effectLst/>
              </a:rPr>
              <a:t>.</a:t>
            </a:r>
          </a:p>
          <a:p>
            <a:pPr>
              <a:buFont typeface="+mj-lt"/>
              <a:buAutoNum type="arabicPeriod"/>
            </a:pPr>
            <a:r>
              <a:rPr lang="es-ES" b="1" dirty="0">
                <a:effectLst/>
              </a:rPr>
              <a:t>Generación de primos de 0 a n</a:t>
            </a:r>
            <a:r>
              <a:rPr lang="es-ES" dirty="0">
                <a:effectLst/>
              </a:rPr>
              <a:t>:</a:t>
            </a:r>
          </a:p>
          <a:p>
            <a:pPr marL="742950" lvl="1" indent="-285750">
              <a:buFont typeface="+mj-lt"/>
              <a:buAutoNum type="arabicPeriod"/>
            </a:pPr>
            <a:r>
              <a:rPr lang="es-ES" dirty="0">
                <a:effectLst/>
              </a:rPr>
              <a:t>La generación de todos los números primos hasta </a:t>
            </a:r>
            <a:r>
              <a:rPr lang="es-ES" b="1" dirty="0">
                <a:effectLst/>
              </a:rPr>
              <a:t>n</a:t>
            </a:r>
            <a:r>
              <a:rPr lang="es-ES" dirty="0">
                <a:effectLst/>
              </a:rPr>
              <a:t> también se puede hacer de manera eficiente utilizando la criba de Eratóstenes.</a:t>
            </a:r>
          </a:p>
          <a:p>
            <a:pPr marL="742950" lvl="1" indent="-285750">
              <a:buFont typeface="+mj-lt"/>
              <a:buAutoNum type="arabicPeriod"/>
            </a:pPr>
            <a:r>
              <a:rPr lang="es-ES" dirty="0">
                <a:effectLst/>
              </a:rPr>
              <a:t>El coste teórico mínimo para generar primos de 0 a </a:t>
            </a:r>
            <a:r>
              <a:rPr lang="es-ES" b="1" dirty="0">
                <a:effectLst/>
              </a:rPr>
              <a:t>n</a:t>
            </a:r>
            <a:r>
              <a:rPr lang="es-ES" dirty="0">
                <a:effectLst/>
              </a:rPr>
              <a:t> es la suma de los primeros </a:t>
            </a:r>
            <a:r>
              <a:rPr lang="es-ES" b="1" dirty="0">
                <a:effectLst/>
              </a:rPr>
              <a:t>n</a:t>
            </a:r>
            <a:r>
              <a:rPr lang="es-ES" dirty="0">
                <a:effectLst/>
              </a:rPr>
              <a:t> números primos.</a:t>
            </a:r>
          </a:p>
          <a:p>
            <a:pPr marL="742950" lvl="1" indent="-285750">
              <a:buFont typeface="+mj-lt"/>
              <a:buAutoNum type="arabicPeriod"/>
            </a:pPr>
            <a:r>
              <a:rPr lang="es-ES" dirty="0">
                <a:effectLst/>
                <a:hlinkClick r:id="rId4"/>
              </a:rPr>
              <a:t>Por ejemplo, si tomamos </a:t>
            </a:r>
            <a:r>
              <a:rPr lang="es-ES" b="1" dirty="0">
                <a:effectLst/>
                <a:hlinkClick r:id="rId4"/>
              </a:rPr>
              <a:t>n = 1000</a:t>
            </a:r>
            <a:r>
              <a:rPr lang="es-ES" dirty="0">
                <a:effectLst/>
                <a:hlinkClick r:id="rId4"/>
              </a:rPr>
              <a:t>, el coste teórico mínimo sería la suma de los primeros 1000 números primos, que es </a:t>
            </a:r>
            <a:r>
              <a:rPr lang="es-ES" b="1" dirty="0">
                <a:effectLst/>
                <a:hlinkClick r:id="rId4"/>
              </a:rPr>
              <a:t>76127</a:t>
            </a:r>
            <a:r>
              <a:rPr lang="es-ES" baseline="30000" dirty="0">
                <a:effectLst/>
                <a:hlinkClick r:id="rId4"/>
              </a:rPr>
              <a:t>2</a:t>
            </a:r>
            <a:r>
              <a:rPr lang="es-ES" dirty="0">
                <a:effectLst/>
              </a:rPr>
              <a:t>.</a:t>
            </a:r>
          </a:p>
          <a:p>
            <a:r>
              <a:rPr lang="es-ES" dirty="0">
                <a:effectLst/>
              </a:rPr>
              <a:t>En resumen, aunque la generación de números primos puede ser un desafío interesante, su clasificación en las clases </a:t>
            </a:r>
            <a:r>
              <a:rPr lang="es-ES" b="1" dirty="0">
                <a:effectLst/>
              </a:rPr>
              <a:t>NP</a:t>
            </a:r>
            <a:r>
              <a:rPr lang="es-ES" dirty="0">
                <a:effectLst/>
              </a:rPr>
              <a:t> y </a:t>
            </a:r>
            <a:r>
              <a:rPr lang="es-ES" b="1" dirty="0" err="1">
                <a:effectLst/>
              </a:rPr>
              <a:t>co</a:t>
            </a:r>
            <a:r>
              <a:rPr lang="es-ES" b="1" dirty="0">
                <a:effectLst/>
              </a:rPr>
              <a:t>-NP</a:t>
            </a:r>
            <a:r>
              <a:rPr lang="es-ES" dirty="0">
                <a:effectLst/>
              </a:rPr>
              <a:t> sigue siendo un área intrigante de estudio en la teoría de la computación. 🤓</a:t>
            </a:r>
          </a:p>
          <a:p>
            <a:r>
              <a:rPr lang="es-ES" b="1" dirty="0">
                <a:effectLst/>
              </a:rPr>
              <a:t>Más información</a:t>
            </a:r>
          </a:p>
          <a:p>
            <a:r>
              <a:rPr lang="es-ES" u="none" strike="noStrike" dirty="0">
                <a:effectLst/>
                <a:latin typeface="var(--cib-font-text)"/>
                <a:hlinkClick r:id="rId3"/>
              </a:rPr>
              <a:t>1cs.stackexchange.com</a:t>
            </a:r>
            <a:r>
              <a:rPr lang="es-ES" u="none" strike="noStrike" dirty="0">
                <a:effectLst/>
                <a:latin typeface="var(--cib-font-text)"/>
                <a:hlinkClick r:id="rId4"/>
              </a:rPr>
              <a:t>2stackoverflow.com</a:t>
            </a:r>
            <a:r>
              <a:rPr lang="es-ES" u="none" strike="noStrike" dirty="0">
                <a:effectLst/>
                <a:latin typeface="var(--cib-font-text)"/>
                <a:hlinkClick r:id="rId5"/>
              </a:rPr>
              <a:t>3geeksforgeeks.org</a:t>
            </a:r>
            <a:r>
              <a:rPr lang="es-ES" u="none" strike="noStrike" dirty="0">
                <a:effectLst/>
                <a:latin typeface="var(--cib-font-text)"/>
                <a:hlinkClick r:id="rId6"/>
              </a:rPr>
              <a:t>4math.stackexchange.com</a:t>
            </a:r>
            <a:r>
              <a:rPr lang="es-ES" u="none" strike="noStrike" dirty="0">
                <a:effectLst/>
                <a:latin typeface="var(--cib-font-text)"/>
                <a:hlinkClick r:id="rId7"/>
              </a:rPr>
              <a:t>5math.stackexchange.com</a:t>
            </a:r>
            <a:r>
              <a:rPr lang="es-ES" u="none" strike="noStrike" dirty="0">
                <a:effectLst/>
                <a:latin typeface="var(--cib-font-text)"/>
                <a:hlinkClick r:id="rId8"/>
              </a:rPr>
              <a:t>6baeldung.com</a:t>
            </a:r>
            <a:r>
              <a:rPr lang="es-ES" dirty="0">
                <a:effectLst/>
              </a:rPr>
              <a:t>+3 más</a:t>
            </a:r>
          </a:p>
        </p:txBody>
      </p:sp>
      <p:sp>
        <p:nvSpPr>
          <p:cNvPr id="4" name="Marcador de número de diapositiva 3"/>
          <p:cNvSpPr>
            <a:spLocks noGrp="1"/>
          </p:cNvSpPr>
          <p:nvPr>
            <p:ph type="sldNum" sz="quarter" idx="5"/>
          </p:nvPr>
        </p:nvSpPr>
        <p:spPr/>
        <p:txBody>
          <a:bodyPr/>
          <a:lstStyle/>
          <a:p>
            <a:fld id="{888019AB-D82B-48D4-A5AA-145E84418907}" type="slidenum">
              <a:rPr lang="es-ES" smtClean="0"/>
              <a:t>9</a:t>
            </a:fld>
            <a:endParaRPr lang="es-ES"/>
          </a:p>
        </p:txBody>
      </p:sp>
    </p:spTree>
    <p:extLst>
      <p:ext uri="{BB962C8B-B14F-4D97-AF65-F5344CB8AC3E}">
        <p14:creationId xmlns:p14="http://schemas.microsoft.com/office/powerpoint/2010/main" val="1874516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Como veis si 12K1 es múltiplo de un primo, si la conjetura fuera falsa, los múltiplos de ese primo serian no primos y primos. </a:t>
            </a:r>
            <a:br>
              <a:rPr lang="es-ES" dirty="0"/>
            </a:br>
            <a:r>
              <a:rPr lang="es-ES" dirty="0"/>
              <a:t>Forma de rellenar la tabla, </a:t>
            </a:r>
            <a:br>
              <a:rPr lang="es-ES" dirty="0"/>
            </a:br>
            <a:br>
              <a:rPr lang="es-ES" dirty="0"/>
            </a:br>
            <a:r>
              <a:rPr lang="es-ES" dirty="0"/>
              <a:t>Los no primos de forma 6k+-1 son calculables, y esta evaluación es para un 2n de forma 6k,</a:t>
            </a:r>
            <a:br>
              <a:rPr lang="es-ES" dirty="0"/>
            </a:br>
            <a:r>
              <a:rPr lang="es-ES" dirty="0"/>
              <a:t>la columna de k2 la rellenamos ordenando las siguientes series </a:t>
            </a:r>
            <a:br>
              <a:rPr lang="es-ES" dirty="0"/>
            </a:br>
            <a:br>
              <a:rPr lang="es-ES" dirty="0"/>
            </a:br>
            <a:r>
              <a:rPr lang="es-ES" dirty="0"/>
              <a:t>5:  25,35,55,65,85,95,105…</a:t>
            </a:r>
            <a:br>
              <a:rPr lang="es-ES" dirty="0"/>
            </a:br>
            <a:r>
              <a:rPr lang="es-ES" dirty="0"/>
              <a:t>7: 7*7;+=14*=28;+=2*7;+=4*7…</a:t>
            </a:r>
            <a:br>
              <a:rPr lang="es-ES" dirty="0"/>
            </a:br>
            <a:br>
              <a:rPr lang="es-ES" dirty="0"/>
            </a:br>
            <a:r>
              <a:rPr lang="es-ES" dirty="0"/>
              <a:t>y así para cada primo que es siguiente no marcado como primo de forma 6k+-1</a:t>
            </a:r>
            <a:br>
              <a:rPr lang="es-ES" dirty="0"/>
            </a:br>
            <a:br>
              <a:rPr lang="es-ES" dirty="0"/>
            </a:br>
            <a:r>
              <a:rPr lang="es-ES" dirty="0"/>
              <a:t>después suponemos un 12k1, </a:t>
            </a:r>
            <a:br>
              <a:rPr lang="es-ES" dirty="0"/>
            </a:br>
            <a:r>
              <a:rPr lang="es-ES" dirty="0"/>
              <a:t> y creamos la tabla, </a:t>
            </a:r>
            <a:br>
              <a:rPr lang="es-ES" dirty="0"/>
            </a:br>
            <a:br>
              <a:rPr lang="es-ES" dirty="0"/>
            </a:br>
            <a:r>
              <a:rPr lang="es-ES" dirty="0"/>
              <a:t>veremos que, si k1 es primo o múltiplo de uno, en la tabla habrá coincidencias  entre las asignaciones de primo </a:t>
            </a:r>
            <a:r>
              <a:rPr lang="es-ES" dirty="0" err="1"/>
              <a:t>noprimo</a:t>
            </a:r>
            <a:r>
              <a:rPr lang="es-ES" dirty="0"/>
              <a:t> según siendo falsa la conjetura para los múltiplos de dicho primo del que k1 es el  o múltiplo.</a:t>
            </a:r>
            <a:br>
              <a:rPr lang="es-ES" dirty="0"/>
            </a:br>
            <a:br>
              <a:rPr lang="es-ES" dirty="0"/>
            </a:br>
            <a:r>
              <a:rPr lang="es-ES" dirty="0"/>
              <a:t>El algoritmo pone a primo 2n- </a:t>
            </a:r>
            <a:r>
              <a:rPr lang="es-ES" dirty="0" err="1"/>
              <a:t>noPrimo</a:t>
            </a:r>
            <a:r>
              <a:rPr lang="es-ES" dirty="0"/>
              <a:t>, y para 2n de forma 6k,</a:t>
            </a:r>
            <a:br>
              <a:rPr lang="es-ES" dirty="0"/>
            </a:br>
            <a:br>
              <a:rPr lang="es-ES" dirty="0"/>
            </a:br>
            <a:r>
              <a:rPr lang="es-ES" dirty="0"/>
              <a:t>los no primos múltiplos del 5</a:t>
            </a:r>
            <a:br>
              <a:rPr lang="es-ES" dirty="0"/>
            </a:br>
            <a:br>
              <a:rPr lang="es-ES" dirty="0"/>
            </a:br>
            <a:r>
              <a:rPr lang="es-ES" dirty="0"/>
              <a:t>25;35;55…</a:t>
            </a:r>
            <a:br>
              <a:rPr lang="es-ES" dirty="0"/>
            </a:br>
            <a:br>
              <a:rPr lang="es-ES" dirty="0"/>
            </a:br>
            <a:r>
              <a:rPr lang="es-ES" dirty="0"/>
              <a:t>si p es no primo 2n-p puede ser primo. </a:t>
            </a:r>
            <a:br>
              <a:rPr lang="es-ES" dirty="0"/>
            </a:br>
            <a:br>
              <a:rPr lang="es-ES" dirty="0"/>
            </a:br>
            <a:r>
              <a:rPr lang="es-ES" dirty="0"/>
              <a:t>12 K1 – (6 k2 +-1)=6k3 +-1</a:t>
            </a:r>
            <a:br>
              <a:rPr lang="es-ES" dirty="0"/>
            </a:br>
            <a:br>
              <a:rPr lang="es-ES" dirty="0"/>
            </a:br>
            <a:r>
              <a:rPr lang="es-ES" dirty="0"/>
              <a:t>(6 k2 +-1) no primo</a:t>
            </a:r>
            <a:br>
              <a:rPr lang="es-ES" dirty="0"/>
            </a:br>
            <a:r>
              <a:rPr lang="es-ES" dirty="0"/>
              <a:t>6k3 +-1  primo. </a:t>
            </a:r>
            <a:br>
              <a:rPr lang="es-ES" dirty="0"/>
            </a:br>
            <a:r>
              <a:rPr lang="es-ES" dirty="0"/>
              <a:t>Y nunca para algún 12 K1 dado,</a:t>
            </a:r>
            <a:br>
              <a:rPr lang="es-ES" dirty="0"/>
            </a:br>
            <a:r>
              <a:rPr lang="es-ES" dirty="0"/>
              <a:t>(6 k2 +-1) primo</a:t>
            </a:r>
            <a:br>
              <a:rPr lang="es-ES" dirty="0"/>
            </a:br>
            <a:r>
              <a:rPr lang="es-ES" dirty="0"/>
              <a:t>6k3 +-1  primo.</a:t>
            </a:r>
            <a:br>
              <a:rPr lang="es-ES" dirty="0"/>
            </a:br>
            <a:br>
              <a:rPr lang="es-ES" dirty="0"/>
            </a:br>
            <a:br>
              <a:rPr lang="es-ES" dirty="0"/>
            </a:br>
            <a:r>
              <a:rPr lang="es-ES" dirty="0"/>
              <a:t>12 K1=(6 k3 +-1)+(6 k2 +-1)</a:t>
            </a:r>
            <a:br>
              <a:rPr lang="es-ES" dirty="0"/>
            </a:br>
            <a:br>
              <a:rPr lang="es-ES" dirty="0"/>
            </a:br>
            <a:r>
              <a:rPr lang="es-ES" dirty="0"/>
              <a:t>12 K1=(6 k3 +1)+(6 k2 +1)</a:t>
            </a:r>
            <a:br>
              <a:rPr lang="es-ES" dirty="0"/>
            </a:br>
            <a:r>
              <a:rPr lang="es-ES" dirty="0"/>
              <a:t>12 K1=(6 k3 -1)+(6 k2 +1)</a:t>
            </a:r>
            <a:br>
              <a:rPr lang="es-ES" dirty="0"/>
            </a:br>
            <a:r>
              <a:rPr lang="es-ES" dirty="0"/>
              <a:t>12 K1=(6 k3 +1)+(6 k2 -1)</a:t>
            </a:r>
            <a:br>
              <a:rPr lang="es-ES" dirty="0"/>
            </a:br>
            <a:r>
              <a:rPr lang="es-ES" dirty="0"/>
              <a:t>12 K1=(6 k3 -1)+(6 k2 -1)</a:t>
            </a:r>
          </a:p>
          <a:p>
            <a:endParaRPr lang="es-ES" dirty="0"/>
          </a:p>
        </p:txBody>
      </p:sp>
      <p:sp>
        <p:nvSpPr>
          <p:cNvPr id="4" name="Marcador de número de diapositiva 3"/>
          <p:cNvSpPr>
            <a:spLocks noGrp="1"/>
          </p:cNvSpPr>
          <p:nvPr>
            <p:ph type="sldNum" sz="quarter" idx="5"/>
          </p:nvPr>
        </p:nvSpPr>
        <p:spPr/>
        <p:txBody>
          <a:bodyPr/>
          <a:lstStyle/>
          <a:p>
            <a:fld id="{888019AB-D82B-48D4-A5AA-145E84418907}" type="slidenum">
              <a:rPr lang="es-ES" smtClean="0"/>
              <a:t>10</a:t>
            </a:fld>
            <a:endParaRPr lang="es-ES"/>
          </a:p>
        </p:txBody>
      </p:sp>
    </p:spTree>
    <p:extLst>
      <p:ext uri="{BB962C8B-B14F-4D97-AF65-F5344CB8AC3E}">
        <p14:creationId xmlns:p14="http://schemas.microsoft.com/office/powerpoint/2010/main" val="2323532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Como veis si 12K1 es múltiplo de un primo, si la conjetura fuera falsa, los múltiplos de ese primo serian no primos y marcados como posibles primos</a:t>
            </a:r>
            <a:r>
              <a:rPr lang="es-ES"/>
              <a:t>. </a:t>
            </a:r>
            <a:br>
              <a:rPr lang="es-ES" dirty="0"/>
            </a:br>
            <a:br>
              <a:rPr lang="es-ES" dirty="0"/>
            </a:br>
            <a:r>
              <a:rPr lang="es-ES" dirty="0"/>
              <a:t>Forma de rellenar la tabla, </a:t>
            </a:r>
            <a:br>
              <a:rPr lang="es-ES" dirty="0"/>
            </a:br>
            <a:br>
              <a:rPr lang="es-ES" dirty="0"/>
            </a:br>
            <a:r>
              <a:rPr lang="es-ES" dirty="0"/>
              <a:t>Los no primos de forma 6k+-1 son calculables, y esta evaluación es para un 2n de forma 6k,</a:t>
            </a:r>
            <a:br>
              <a:rPr lang="es-ES" dirty="0"/>
            </a:br>
            <a:r>
              <a:rPr lang="es-ES" dirty="0"/>
              <a:t>la columna de k2 la rellenamos ordenando las siguientes series </a:t>
            </a:r>
            <a:br>
              <a:rPr lang="es-ES" dirty="0"/>
            </a:br>
            <a:br>
              <a:rPr lang="es-ES" dirty="0"/>
            </a:br>
            <a:r>
              <a:rPr lang="es-ES" dirty="0"/>
              <a:t>5:  25,35,55,65,85,95,105…</a:t>
            </a:r>
            <a:br>
              <a:rPr lang="es-ES" dirty="0"/>
            </a:br>
            <a:r>
              <a:rPr lang="es-ES" dirty="0"/>
              <a:t>7: 7*7;+=14*=28;+=2*7;+=4*7…</a:t>
            </a:r>
            <a:br>
              <a:rPr lang="es-ES" dirty="0"/>
            </a:br>
            <a:br>
              <a:rPr lang="es-ES" dirty="0"/>
            </a:br>
            <a:r>
              <a:rPr lang="es-ES" dirty="0"/>
              <a:t>y así para cada primo que es siguiente no marcado como primo de forma 6k+-1</a:t>
            </a:r>
            <a:br>
              <a:rPr lang="es-ES" dirty="0"/>
            </a:br>
            <a:br>
              <a:rPr lang="es-ES" dirty="0"/>
            </a:br>
            <a:r>
              <a:rPr lang="es-ES" dirty="0"/>
              <a:t>después suponemos un 12k1, </a:t>
            </a:r>
            <a:br>
              <a:rPr lang="es-ES" dirty="0"/>
            </a:br>
            <a:r>
              <a:rPr lang="es-ES" dirty="0"/>
              <a:t> y creamos la tabla, </a:t>
            </a:r>
            <a:br>
              <a:rPr lang="es-ES" dirty="0"/>
            </a:br>
            <a:br>
              <a:rPr lang="es-ES" dirty="0"/>
            </a:br>
            <a:r>
              <a:rPr lang="es-ES" dirty="0"/>
              <a:t>veremos que si k1 es primo o </a:t>
            </a:r>
            <a:r>
              <a:rPr lang="es-ES" dirty="0" err="1"/>
              <a:t>multiplo</a:t>
            </a:r>
            <a:r>
              <a:rPr lang="es-ES" dirty="0"/>
              <a:t> de uno, en la tabla habrá coincidencias  entre las asignaciones de primo no primo según siendo falsa la conjetura para los múltiplos de dicho primo del que k1 es el  o múltiplo.</a:t>
            </a:r>
            <a:br>
              <a:rPr lang="es-ES" dirty="0"/>
            </a:br>
            <a:br>
              <a:rPr lang="es-ES" dirty="0"/>
            </a:br>
            <a:r>
              <a:rPr lang="es-ES" dirty="0"/>
              <a:t>El algoritmo pone a primo 2n- </a:t>
            </a:r>
            <a:r>
              <a:rPr lang="es-ES" dirty="0" err="1"/>
              <a:t>noPrimo</a:t>
            </a:r>
            <a:r>
              <a:rPr lang="es-ES" dirty="0"/>
              <a:t>, y para 2n de forma 6k,</a:t>
            </a:r>
            <a:br>
              <a:rPr lang="es-ES" dirty="0"/>
            </a:br>
            <a:br>
              <a:rPr lang="es-ES" dirty="0"/>
            </a:br>
            <a:r>
              <a:rPr lang="es-ES" dirty="0"/>
              <a:t>los no primos múltiplos del 5</a:t>
            </a:r>
            <a:br>
              <a:rPr lang="es-ES" dirty="0"/>
            </a:br>
            <a:br>
              <a:rPr lang="es-ES" dirty="0"/>
            </a:br>
            <a:r>
              <a:rPr lang="es-ES" dirty="0"/>
              <a:t>25;35;55…</a:t>
            </a:r>
            <a:br>
              <a:rPr lang="es-ES" dirty="0"/>
            </a:br>
            <a:br>
              <a:rPr lang="es-ES" dirty="0"/>
            </a:br>
            <a:r>
              <a:rPr lang="es-ES" dirty="0"/>
              <a:t>si p es no primo 2n-p puede ser primo. </a:t>
            </a:r>
            <a:br>
              <a:rPr lang="es-ES" dirty="0"/>
            </a:br>
            <a:br>
              <a:rPr lang="es-ES" dirty="0"/>
            </a:br>
            <a:r>
              <a:rPr lang="es-ES" dirty="0"/>
              <a:t>12 K1 – (6 k2 +-1)=6k3 +-1</a:t>
            </a:r>
            <a:br>
              <a:rPr lang="es-ES" dirty="0"/>
            </a:br>
            <a:br>
              <a:rPr lang="es-ES" dirty="0"/>
            </a:br>
            <a:r>
              <a:rPr lang="es-ES" dirty="0"/>
              <a:t>(6 k2 +-1) no primo</a:t>
            </a:r>
            <a:br>
              <a:rPr lang="es-ES" dirty="0"/>
            </a:br>
            <a:r>
              <a:rPr lang="es-ES" dirty="0"/>
              <a:t>6k3 +-1  puede ser primo. </a:t>
            </a:r>
            <a:br>
              <a:rPr lang="es-ES" dirty="0"/>
            </a:br>
            <a:r>
              <a:rPr lang="es-ES" dirty="0"/>
              <a:t>Y nunca para algún 12 K1 dado,</a:t>
            </a:r>
            <a:br>
              <a:rPr lang="es-ES" dirty="0"/>
            </a:br>
            <a:r>
              <a:rPr lang="es-ES" dirty="0"/>
              <a:t>(6 k2 +-1) primo</a:t>
            </a:r>
            <a:br>
              <a:rPr lang="es-ES" dirty="0"/>
            </a:br>
            <a:r>
              <a:rPr lang="es-ES" dirty="0"/>
              <a:t>6k3 +-1  primo.</a:t>
            </a:r>
            <a:br>
              <a:rPr lang="es-ES" dirty="0"/>
            </a:br>
            <a:br>
              <a:rPr lang="es-ES" dirty="0"/>
            </a:br>
            <a:br>
              <a:rPr lang="es-ES" dirty="0"/>
            </a:br>
            <a:r>
              <a:rPr lang="es-ES" dirty="0"/>
              <a:t>12 K1=(6 k3 +-1)+(6 k2 +-1)</a:t>
            </a:r>
            <a:br>
              <a:rPr lang="es-ES" dirty="0"/>
            </a:br>
            <a:br>
              <a:rPr lang="es-ES" dirty="0"/>
            </a:br>
            <a:r>
              <a:rPr lang="es-ES" dirty="0"/>
              <a:t>12 K1=(6 k3 +1)+(6 k2 +1)</a:t>
            </a:r>
            <a:br>
              <a:rPr lang="es-ES" dirty="0"/>
            </a:br>
            <a:r>
              <a:rPr lang="es-ES" dirty="0"/>
              <a:t>12 K1=(6 k3 -1)+(6 k2 +1)</a:t>
            </a:r>
            <a:br>
              <a:rPr lang="es-ES" dirty="0"/>
            </a:br>
            <a:r>
              <a:rPr lang="es-ES" dirty="0"/>
              <a:t>12 K1=(6 k3 +1)+(6 k2 -1)</a:t>
            </a:r>
            <a:br>
              <a:rPr lang="es-ES" dirty="0"/>
            </a:br>
            <a:r>
              <a:rPr lang="es-ES" dirty="0"/>
              <a:t>12 K1=(6 k3 -1)+(6 k2 -1)</a:t>
            </a:r>
          </a:p>
          <a:p>
            <a:endParaRPr lang="es-ES" dirty="0"/>
          </a:p>
        </p:txBody>
      </p:sp>
      <p:sp>
        <p:nvSpPr>
          <p:cNvPr id="4" name="Marcador de número de diapositiva 3"/>
          <p:cNvSpPr>
            <a:spLocks noGrp="1"/>
          </p:cNvSpPr>
          <p:nvPr>
            <p:ph type="sldNum" sz="quarter" idx="5"/>
          </p:nvPr>
        </p:nvSpPr>
        <p:spPr/>
        <p:txBody>
          <a:bodyPr/>
          <a:lstStyle/>
          <a:p>
            <a:fld id="{888019AB-D82B-48D4-A5AA-145E84418907}" type="slidenum">
              <a:rPr lang="es-ES" smtClean="0"/>
              <a:t>11</a:t>
            </a:fld>
            <a:endParaRPr lang="es-ES"/>
          </a:p>
        </p:txBody>
      </p:sp>
    </p:spTree>
    <p:extLst>
      <p:ext uri="{BB962C8B-B14F-4D97-AF65-F5344CB8AC3E}">
        <p14:creationId xmlns:p14="http://schemas.microsoft.com/office/powerpoint/2010/main" val="2454329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5715" indent="-5715" algn="l">
              <a:lnSpc>
                <a:spcPct val="107000"/>
              </a:lnSpc>
              <a:spcAft>
                <a:spcPts val="800"/>
              </a:spcAft>
            </a:pPr>
            <a:r>
              <a:rPr lang="es-ES" sz="1800" kern="100" dirty="0">
                <a:solidFill>
                  <a:srgbClr val="000000"/>
                </a:solidFill>
                <a:effectLst/>
                <a:latin typeface="Calibri" panose="020F0502020204030204" pitchFamily="34" charset="0"/>
                <a:ea typeface="Calibri" panose="020F0502020204030204" pitchFamily="34" charset="0"/>
              </a:rPr>
              <a:t>7. Conclusiones.</a:t>
            </a:r>
            <a:br>
              <a:rPr lang="es-ES" sz="1800" kern="100" dirty="0">
                <a:solidFill>
                  <a:srgbClr val="000000"/>
                </a:solidFill>
                <a:effectLst/>
                <a:latin typeface="Calibri" panose="020F0502020204030204" pitchFamily="34" charset="0"/>
                <a:ea typeface="Calibri" panose="020F0502020204030204" pitchFamily="34" charset="0"/>
              </a:rPr>
            </a:b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800" u="sng" kern="100" dirty="0">
                <a:solidFill>
                  <a:srgbClr val="000000"/>
                </a:solidFill>
                <a:effectLst/>
                <a:latin typeface="Calibri" panose="020F0502020204030204" pitchFamily="34" charset="0"/>
                <a:ea typeface="Calibri" panose="020F0502020204030204" pitchFamily="34" charset="0"/>
              </a:rPr>
              <a:t>Pero aunque los primos cumplen </a:t>
            </a:r>
            <a:br>
              <a:rPr lang="es-ES" sz="1800" u="sng"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(010001)*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salvo el 2 y el 3. </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hay múltiplos de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err="1">
                <a:solidFill>
                  <a:srgbClr val="000000"/>
                </a:solidFill>
                <a:effectLst/>
                <a:latin typeface="Calibri" panose="020F0502020204030204" pitchFamily="34" charset="0"/>
                <a:ea typeface="Calibri" panose="020F0502020204030204" pitchFamily="34" charset="0"/>
              </a:rPr>
              <a:t>noprimo</a:t>
            </a:r>
            <a:r>
              <a:rPr lang="es-ES" sz="1800" kern="100" dirty="0">
                <a:solidFill>
                  <a:srgbClr val="000000"/>
                </a:solidFill>
                <a:effectLst/>
                <a:latin typeface="Calibri" panose="020F0502020204030204" pitchFamily="34" charset="0"/>
                <a:ea typeface="Calibri" panose="020F0502020204030204" pitchFamily="34" charset="0"/>
              </a:rPr>
              <a:t>=primo * primo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siempre(</a:t>
            </a:r>
            <a:r>
              <a:rPr lang="es-ES" sz="1800" kern="100" dirty="0" err="1">
                <a:solidFill>
                  <a:srgbClr val="000000"/>
                </a:solidFill>
                <a:effectLst/>
                <a:latin typeface="Calibri" panose="020F0502020204030204" pitchFamily="34" charset="0"/>
                <a:ea typeface="Calibri" panose="020F0502020204030204" pitchFamily="34" charset="0"/>
              </a:rPr>
              <a:t>noprimo</a:t>
            </a:r>
            <a:r>
              <a:rPr lang="es-ES" sz="1800" kern="100" dirty="0">
                <a:solidFill>
                  <a:srgbClr val="000000"/>
                </a:solidFill>
                <a:effectLst/>
                <a:latin typeface="Calibri" panose="020F0502020204030204" pitchFamily="34" charset="0"/>
                <a:ea typeface="Calibri" panose="020F0502020204030204" pitchFamily="34" charset="0"/>
              </a:rPr>
              <a:t>+=2*primo; </a:t>
            </a:r>
            <a:r>
              <a:rPr lang="es-ES" sz="1800" kern="100" dirty="0" err="1">
                <a:solidFill>
                  <a:srgbClr val="000000"/>
                </a:solidFill>
                <a:effectLst/>
                <a:latin typeface="Calibri" panose="020F0502020204030204" pitchFamily="34" charset="0"/>
                <a:ea typeface="Calibri" panose="020F0502020204030204" pitchFamily="34" charset="0"/>
              </a:rPr>
              <a:t>noprimo</a:t>
            </a:r>
            <a:r>
              <a:rPr lang="es-ES" sz="1800" kern="100" dirty="0">
                <a:solidFill>
                  <a:srgbClr val="000000"/>
                </a:solidFill>
                <a:effectLst/>
                <a:latin typeface="Calibri" panose="020F0502020204030204" pitchFamily="34" charset="0"/>
                <a:ea typeface="Calibri" panose="020F0502020204030204" pitchFamily="34" charset="0"/>
              </a:rPr>
              <a:t>+=4*primo)</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que también tienen esta forma y cada vez son más frecuentes por que aparecen primo*primo y los múltiplos de ese primo menores al número evaluado y por tanto cada vez hay menos primos.,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Pero si algo que es potencialmente simétrico, y totalmente de 0 a 24. Aunque esa simetría empiece a degenerar ¿alguna vez se convertirá en asimetría?.</a:t>
            </a:r>
            <a:br>
              <a:rPr lang="es-ES" sz="1800" kern="100" dirty="0">
                <a:solidFill>
                  <a:srgbClr val="000000"/>
                </a:solidFill>
                <a:effectLst/>
                <a:latin typeface="Calibri" panose="020F0502020204030204" pitchFamily="34" charset="0"/>
                <a:ea typeface="Calibri" panose="020F0502020204030204" pitchFamily="34" charset="0"/>
              </a:rPr>
            </a:b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Parece que todo indica que sí, alguna vez la conjetura de </a:t>
            </a:r>
            <a:r>
              <a:rPr lang="es-ES" sz="1800" u="sng" kern="100" dirty="0">
                <a:solidFill>
                  <a:srgbClr val="000000"/>
                </a:solidFill>
                <a:effectLst/>
                <a:latin typeface="Calibri" panose="020F0502020204030204" pitchFamily="34" charset="0"/>
                <a:ea typeface="Calibri" panose="020F0502020204030204" pitchFamily="34" charset="0"/>
              </a:rPr>
              <a:t>Cristian</a:t>
            </a:r>
            <a:r>
              <a:rPr lang="es-ES" sz="1800" kern="100" dirty="0">
                <a:solidFill>
                  <a:srgbClr val="000000"/>
                </a:solidFill>
                <a:effectLst/>
                <a:latin typeface="Calibri" panose="020F0502020204030204" pitchFamily="34" charset="0"/>
                <a:ea typeface="Calibri" panose="020F0502020204030204" pitchFamily="34" charset="0"/>
              </a:rPr>
              <a:t>  será falsa, pero analizando las implicaciones de que sea falsa, creo no puede ser falsa.</a:t>
            </a:r>
          </a:p>
          <a:p>
            <a:pPr marL="5715" indent="-5715" algn="l">
              <a:spcAft>
                <a:spcPts val="460"/>
              </a:spcAft>
            </a:pP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Links del autor de este texto.</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u="sng" dirty="0">
                <a:solidFill>
                  <a:srgbClr val="000000"/>
                </a:solidFill>
                <a:effectLst/>
                <a:latin typeface="Calibri" panose="020F0502020204030204" pitchFamily="34" charset="0"/>
                <a:ea typeface="Calibri" panose="020F0502020204030204" pitchFamily="34" charset="0"/>
                <a:hlinkClick r:id="rId3"/>
              </a:rPr>
              <a:t>UPV</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u="sng" dirty="0">
                <a:solidFill>
                  <a:srgbClr val="000000"/>
                </a:solidFill>
                <a:effectLst/>
                <a:latin typeface="Calibri" panose="020F0502020204030204" pitchFamily="34" charset="0"/>
                <a:ea typeface="Calibri" panose="020F0502020204030204" pitchFamily="34" charset="0"/>
                <a:hlinkClick r:id="rId4"/>
              </a:rPr>
              <a:t>https://drive.google.com/drive/folders/1Mj1eiX4vXmaOhpVM7R31PlVt-7a82hm6?usp=drive_link</a:t>
            </a:r>
            <a:br>
              <a:rPr lang="es-ES" sz="1800" dirty="0">
                <a:solidFill>
                  <a:srgbClr val="000000"/>
                </a:solidFill>
                <a:effectLst/>
                <a:latin typeface="Calibri" panose="020F0502020204030204" pitchFamily="34" charset="0"/>
                <a:ea typeface="Calibri" panose="020F0502020204030204" pitchFamily="34" charset="0"/>
              </a:rPr>
            </a:br>
            <a:br>
              <a:rPr lang="es-ES" sz="18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 </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La relación que estableces entre los múltiplos de números primos y la forma ( 6k \pm 1 ) es correcta. Cuando multiplicas un número primo por sí mismo, como en ( 5 \times 5 = 25 ), obtienes un cuadrado perfecto, que es un múltiplo de un número primo. Al incrementar este cuadrado perfecto por múltiplos de ( 2 \times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text</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{primo} ), como en ( 25 + 2 \times 5 = 35 ), estás efectivamente generando múltiplos de ( 5 ) que son de la forma ( 6k \pm 1 ), siempre que ( k ) sea un entero.</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Para que el resultado de multiplicar dos números de la forma ( 6k \pm 1 ) sea también de la forma ( 6k \pm 1 ), ambos números deben ser de la misma forma, es decir, ambos deben ser ( 6k + 1 ) o ambos ( 6k - 1 ). Esto se debe a que la multiplicación de dos números de la misma forma conservará la forma general:</a:t>
            </a:r>
            <a:endParaRPr lang="es-ES" sz="1800" kern="100" dirty="0">
              <a:solidFill>
                <a:srgbClr val="000000"/>
              </a:solidFill>
              <a:effectLst/>
              <a:latin typeface="Calibri" panose="020F0502020204030204" pitchFamily="34" charset="0"/>
              <a:ea typeface="Calibri" panose="020F0502020204030204" pitchFamily="34" charset="0"/>
            </a:endParaRPr>
          </a:p>
          <a:p>
            <a:pPr marL="342900" lvl="0" indent="-342900" algn="l">
              <a:spcAft>
                <a:spcPts val="460"/>
              </a:spcAft>
              <a:buFont typeface="Wingdings" panose="05000000000000000000" pitchFamily="2" charset="2"/>
              <a:buChar char=""/>
            </a:pP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 (6k + 1)(6m + 1) = 36km + 6k + 6m + 1 = 6(6km + k + m) + 1 )</a:t>
            </a:r>
            <a:endParaRPr lang="es-ES" sz="1800" kern="100" dirty="0">
              <a:solidFill>
                <a:srgbClr val="000000"/>
              </a:solidFill>
              <a:effectLst/>
              <a:latin typeface="Symbol" panose="05050102010706020507" pitchFamily="18" charset="2"/>
              <a:ea typeface="Calibri" panose="020F0502020204030204" pitchFamily="34" charset="0"/>
            </a:endParaRPr>
          </a:p>
          <a:p>
            <a:pPr marL="342900" lvl="0" indent="-342900" algn="l">
              <a:spcAft>
                <a:spcPts val="460"/>
              </a:spcAft>
              <a:buFont typeface="Wingdings" panose="05000000000000000000" pitchFamily="2" charset="2"/>
              <a:buChar char=""/>
            </a:pPr>
            <a:r>
              <a:rPr lang="es-ES" sz="1800" kern="100" dirty="0">
                <a:solidFill>
                  <a:srgbClr val="111111"/>
                </a:solidFill>
                <a:effectLst/>
                <a:highlight>
                  <a:srgbClr val="FFFFFF"/>
                </a:highlight>
                <a:latin typeface="Symbol" panose="05050102010706020507" pitchFamily="18" charset="2"/>
                <a:ea typeface="Calibri" panose="020F0502020204030204" pitchFamily="34" charset="0"/>
              </a:rPr>
              <a:t>( (6k - 1)(6m - 1) = 36km - 6k - 6m + 1 = 6(6km - k - m) + 1 )</a:t>
            </a:r>
            <a:endParaRPr lang="es-ES" sz="1800" kern="100" dirty="0">
              <a:solidFill>
                <a:srgbClr val="000000"/>
              </a:solidFill>
              <a:effectLst/>
              <a:latin typeface="Symbol" panose="05050102010706020507" pitchFamily="18" charset="2"/>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En ambos casos, el resultado es de la forma ( 6n \pm 1 ), donde ( n ) es un entero.</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Este patrón es parte de la estructura de los números primos y su distribución, y es relevante para entender por qué ciertos números son más propensos a ser primos que otros. Sin embargo, es importante recordar que estos patrones no proporcionan una prueba directa de la Conjetura de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ni de la distribución exacta de los números primos, sino que son observaciones que pueden ayudar a guiar la investigación en teoría de números.</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000000"/>
                </a:solidFill>
                <a:effectLst/>
                <a:latin typeface="Calibri" panose="020F0502020204030204" pitchFamily="34" charset="0"/>
                <a:ea typeface="Calibri" panose="020F0502020204030204" pitchFamily="34" charset="0"/>
              </a:rPr>
              <a:t>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Christian </a:t>
            </a:r>
            <a:r>
              <a:rPr lang="es-ES" sz="18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(18 de marzo de 1690 - 20 de noviembre de 1764) fue un matemático prusiano, nacido en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Königsberg, Prusia</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(hoy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Kaliningrado, Rusia</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hijo de un pastor. </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Estudió leyes, idiomas y matemáticas</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5"/>
              </a:rPr>
              <a:t>1</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6"/>
              </a:rPr>
              <a:t>2</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Durante su vida, tuvo la oportunidad de interactuar con matemáticos destacados como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Gottfried Leibniz</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Leonhard Euler</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y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Daniel Bernoulli</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Una de las contribuciones más famosas de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es la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conjetura de </a:t>
            </a:r>
            <a:r>
              <a:rPr lang="es-ES" sz="18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Esta conjetura afirma que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todos los números pares mayores que 2 se pueden representar como la suma de dos números primos</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Aunque el gran matemático suizo </a:t>
            </a:r>
            <a:r>
              <a:rPr lang="es-ES" sz="1800" b="1"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Euler</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 no pudo demostrar ni refutar formalmente esta conjetura, se sabe que es cierta para todos los números menores que un trillón (es decir, 10</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5"/>
              </a:rPr>
              <a:t>18</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5"/>
              </a:rPr>
              <a:t>1</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La conjetura se encontró en una carta que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envió a Euler en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1742</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Además de la famosa conjetura,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también estudió y demostró varios teoremas sobre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potencias perfectas</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Otra variante de la conjetura de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conocida como la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conjetura débil de </a:t>
            </a:r>
            <a:r>
              <a:rPr lang="es-ES" sz="18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establece que </a:t>
            </a:r>
            <a:r>
              <a:rPr lang="es-ES" sz="1800" b="1" kern="100" dirty="0">
                <a:solidFill>
                  <a:srgbClr val="111111"/>
                </a:solidFill>
                <a:effectLst/>
                <a:highlight>
                  <a:srgbClr val="FFFFFF"/>
                </a:highlight>
                <a:latin typeface="Calibri" panose="020F0502020204030204" pitchFamily="34" charset="0"/>
                <a:ea typeface="Calibri" panose="020F0502020204030204" pitchFamily="34" charset="0"/>
              </a:rPr>
              <a:t>todo número impar mayor que 5 puede escribirse como la suma de tres números primos</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Esta conjetura fue resuelta en </a:t>
            </a:r>
            <a:r>
              <a:rPr lang="es-ES" sz="1800" b="1"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2013</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 por el matemático peruano </a:t>
            </a:r>
            <a:r>
              <a:rPr lang="es-ES" sz="1800" b="1"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Harald Andrés </a:t>
            </a:r>
            <a:r>
              <a:rPr lang="es-ES" sz="1800" b="1" u="sng" kern="100" dirty="0" err="1">
                <a:solidFill>
                  <a:srgbClr val="000000"/>
                </a:solidFill>
                <a:effectLst/>
                <a:highlight>
                  <a:srgbClr val="FFFFFF"/>
                </a:highlight>
                <a:latin typeface="Calibri" panose="020F0502020204030204" pitchFamily="34" charset="0"/>
                <a:ea typeface="Calibri" panose="020F0502020204030204" pitchFamily="34" charset="0"/>
                <a:hlinkClick r:id="rId5"/>
              </a:rPr>
              <a:t>Helfgott</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 quien demostró que para todo número impar mayor que 10</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5"/>
              </a:rPr>
              <a:t>30</a:t>
            </a:r>
            <a:r>
              <a:rPr lang="es-ES" sz="18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 la conjetura es cierta</a:t>
            </a:r>
            <a:r>
              <a:rPr lang="es-ES" sz="18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5"/>
              </a:rPr>
              <a:t>1</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En resumen, Christian </a:t>
            </a:r>
            <a:r>
              <a:rPr lang="es-ES" sz="18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800" kern="100" dirty="0">
                <a:solidFill>
                  <a:srgbClr val="111111"/>
                </a:solidFill>
                <a:effectLst/>
                <a:highlight>
                  <a:srgbClr val="FFFFFF"/>
                </a:highlight>
                <a:latin typeface="Calibri" panose="020F0502020204030204" pitchFamily="34" charset="0"/>
                <a:ea typeface="Calibri" panose="020F0502020204030204" pitchFamily="34" charset="0"/>
              </a:rPr>
              <a:t> dejó una huella duradera en las matemáticas con sus conjeturas y contribuciones, y su nombre sigue siendo relevante en la comunidad matemática hasta hoy.</a:t>
            </a:r>
            <a:endParaRPr lang="es-ES" sz="1800" kern="100" dirty="0">
              <a:solidFill>
                <a:srgbClr val="000000"/>
              </a:solidFill>
              <a:effectLst/>
              <a:latin typeface="Calibri" panose="020F0502020204030204" pitchFamily="34" charset="0"/>
              <a:ea typeface="Calibri" panose="020F0502020204030204" pitchFamily="34" charset="0"/>
            </a:endParaRPr>
          </a:p>
          <a:p>
            <a:endParaRPr lang="es-ES" dirty="0"/>
          </a:p>
        </p:txBody>
      </p:sp>
      <p:sp>
        <p:nvSpPr>
          <p:cNvPr id="4" name="Marcador de número de diapositiva 3"/>
          <p:cNvSpPr>
            <a:spLocks noGrp="1"/>
          </p:cNvSpPr>
          <p:nvPr>
            <p:ph type="sldNum" sz="quarter" idx="5"/>
          </p:nvPr>
        </p:nvSpPr>
        <p:spPr/>
        <p:txBody>
          <a:bodyPr/>
          <a:lstStyle/>
          <a:p>
            <a:fld id="{888019AB-D82B-48D4-A5AA-145E84418907}" type="slidenum">
              <a:rPr lang="es-ES" smtClean="0"/>
              <a:t>12</a:t>
            </a:fld>
            <a:endParaRPr lang="es-ES"/>
          </a:p>
        </p:txBody>
      </p:sp>
    </p:spTree>
    <p:extLst>
      <p:ext uri="{BB962C8B-B14F-4D97-AF65-F5344CB8AC3E}">
        <p14:creationId xmlns:p14="http://schemas.microsoft.com/office/powerpoint/2010/main" val="1831241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5715" indent="-5715" algn="l">
              <a:lnSpc>
                <a:spcPct val="107000"/>
              </a:lnSpc>
              <a:spcAft>
                <a:spcPts val="800"/>
              </a:spcAft>
            </a:pPr>
            <a:r>
              <a:rPr lang="es-ES" sz="1200" kern="100" dirty="0">
                <a:solidFill>
                  <a:srgbClr val="000000"/>
                </a:solidFill>
                <a:effectLst/>
                <a:latin typeface="Calibri" panose="020F0502020204030204" pitchFamily="34" charset="0"/>
                <a:ea typeface="Calibri" panose="020F0502020204030204" pitchFamily="34" charset="0"/>
              </a:rPr>
              <a:t>7. Conclusiones.</a:t>
            </a:r>
            <a:br>
              <a:rPr lang="es-ES" sz="1200" kern="100" dirty="0">
                <a:solidFill>
                  <a:srgbClr val="000000"/>
                </a:solidFill>
                <a:effectLst/>
                <a:latin typeface="Calibri" panose="020F0502020204030204" pitchFamily="34" charset="0"/>
                <a:ea typeface="Calibri" panose="020F0502020204030204" pitchFamily="34" charset="0"/>
              </a:rPr>
            </a:br>
            <a:endParaRPr lang="es-ES" sz="2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200" u="sng" kern="100" dirty="0">
                <a:solidFill>
                  <a:srgbClr val="000000"/>
                </a:solidFill>
                <a:effectLst/>
                <a:latin typeface="Calibri" panose="020F0502020204030204" pitchFamily="34" charset="0"/>
                <a:ea typeface="Calibri" panose="020F0502020204030204" pitchFamily="34" charset="0"/>
              </a:rPr>
              <a:t>Pero aunque los primos cumplen </a:t>
            </a:r>
            <a:br>
              <a:rPr lang="es-ES" sz="2800" u="sng" kern="100" dirty="0">
                <a:solidFill>
                  <a:srgbClr val="000000"/>
                </a:solidFill>
                <a:effectLst/>
                <a:latin typeface="Calibri" panose="020F0502020204030204" pitchFamily="34" charset="0"/>
                <a:ea typeface="Calibri" panose="020F0502020204030204" pitchFamily="34" charset="0"/>
              </a:rPr>
            </a:br>
            <a:r>
              <a:rPr lang="es-ES" sz="1200" kern="100" dirty="0">
                <a:solidFill>
                  <a:srgbClr val="000000"/>
                </a:solidFill>
                <a:effectLst/>
                <a:latin typeface="Calibri" panose="020F0502020204030204" pitchFamily="34" charset="0"/>
                <a:ea typeface="Calibri" panose="020F0502020204030204" pitchFamily="34" charset="0"/>
              </a:rPr>
              <a:t>(010001)* </a:t>
            </a:r>
            <a:br>
              <a:rPr lang="es-ES" sz="2800" kern="100" dirty="0">
                <a:solidFill>
                  <a:srgbClr val="000000"/>
                </a:solidFill>
                <a:effectLst/>
                <a:latin typeface="Calibri" panose="020F0502020204030204" pitchFamily="34" charset="0"/>
                <a:ea typeface="Calibri" panose="020F0502020204030204" pitchFamily="34" charset="0"/>
              </a:rPr>
            </a:br>
            <a:r>
              <a:rPr lang="es-ES" sz="1200" kern="100" dirty="0">
                <a:solidFill>
                  <a:srgbClr val="000000"/>
                </a:solidFill>
                <a:effectLst/>
                <a:latin typeface="Calibri" panose="020F0502020204030204" pitchFamily="34" charset="0"/>
                <a:ea typeface="Calibri" panose="020F0502020204030204" pitchFamily="34" charset="0"/>
              </a:rPr>
              <a:t>salvo el 2 y el 3. </a:t>
            </a:r>
            <a:br>
              <a:rPr lang="es-ES" sz="1200" kern="100" dirty="0">
                <a:solidFill>
                  <a:srgbClr val="000000"/>
                </a:solidFill>
                <a:effectLst/>
                <a:latin typeface="Calibri" panose="020F0502020204030204" pitchFamily="34" charset="0"/>
                <a:ea typeface="Calibri" panose="020F0502020204030204" pitchFamily="34" charset="0"/>
              </a:rPr>
            </a:br>
            <a:br>
              <a:rPr lang="es-ES" sz="1200" kern="100" dirty="0">
                <a:solidFill>
                  <a:srgbClr val="000000"/>
                </a:solidFill>
                <a:effectLst/>
                <a:latin typeface="Calibri" panose="020F0502020204030204" pitchFamily="34" charset="0"/>
                <a:ea typeface="Calibri" panose="020F0502020204030204" pitchFamily="34" charset="0"/>
              </a:rPr>
            </a:br>
            <a:r>
              <a:rPr lang="es-ES" sz="1200" kern="100" dirty="0">
                <a:solidFill>
                  <a:srgbClr val="000000"/>
                </a:solidFill>
                <a:effectLst/>
                <a:latin typeface="Calibri" panose="020F0502020204030204" pitchFamily="34" charset="0"/>
                <a:ea typeface="Calibri" panose="020F0502020204030204" pitchFamily="34" charset="0"/>
              </a:rPr>
              <a:t>hay múltiplos de </a:t>
            </a:r>
            <a:br>
              <a:rPr lang="es-ES" sz="1200" kern="100" dirty="0">
                <a:solidFill>
                  <a:srgbClr val="000000"/>
                </a:solidFill>
                <a:effectLst/>
                <a:latin typeface="Calibri" panose="020F0502020204030204" pitchFamily="34" charset="0"/>
                <a:ea typeface="Calibri" panose="020F0502020204030204" pitchFamily="34" charset="0"/>
              </a:rPr>
            </a:br>
            <a:r>
              <a:rPr lang="es-ES" sz="1200" kern="100" dirty="0" err="1">
                <a:solidFill>
                  <a:srgbClr val="000000"/>
                </a:solidFill>
                <a:effectLst/>
                <a:latin typeface="Calibri" panose="020F0502020204030204" pitchFamily="34" charset="0"/>
                <a:ea typeface="Calibri" panose="020F0502020204030204" pitchFamily="34" charset="0"/>
              </a:rPr>
              <a:t>noprimo</a:t>
            </a:r>
            <a:r>
              <a:rPr lang="es-ES" sz="1200" kern="100" dirty="0">
                <a:solidFill>
                  <a:srgbClr val="000000"/>
                </a:solidFill>
                <a:effectLst/>
                <a:latin typeface="Calibri" panose="020F0502020204030204" pitchFamily="34" charset="0"/>
                <a:ea typeface="Calibri" panose="020F0502020204030204" pitchFamily="34" charset="0"/>
              </a:rPr>
              <a:t>=primo * primo </a:t>
            </a:r>
            <a:br>
              <a:rPr lang="es-ES" sz="2800" kern="100" dirty="0">
                <a:solidFill>
                  <a:srgbClr val="000000"/>
                </a:solidFill>
                <a:effectLst/>
                <a:latin typeface="Calibri" panose="020F0502020204030204" pitchFamily="34" charset="0"/>
                <a:ea typeface="Calibri" panose="020F0502020204030204" pitchFamily="34" charset="0"/>
              </a:rPr>
            </a:br>
            <a:r>
              <a:rPr lang="es-ES" sz="1200" kern="100" dirty="0">
                <a:solidFill>
                  <a:srgbClr val="000000"/>
                </a:solidFill>
                <a:effectLst/>
                <a:latin typeface="Calibri" panose="020F0502020204030204" pitchFamily="34" charset="0"/>
                <a:ea typeface="Calibri" panose="020F0502020204030204" pitchFamily="34" charset="0"/>
              </a:rPr>
              <a:t>siempre(</a:t>
            </a:r>
            <a:r>
              <a:rPr lang="es-ES" sz="1200" kern="100" dirty="0" err="1">
                <a:solidFill>
                  <a:srgbClr val="000000"/>
                </a:solidFill>
                <a:effectLst/>
                <a:latin typeface="Calibri" panose="020F0502020204030204" pitchFamily="34" charset="0"/>
                <a:ea typeface="Calibri" panose="020F0502020204030204" pitchFamily="34" charset="0"/>
              </a:rPr>
              <a:t>noprimo</a:t>
            </a:r>
            <a:r>
              <a:rPr lang="es-ES" sz="1200" kern="100" dirty="0">
                <a:solidFill>
                  <a:srgbClr val="000000"/>
                </a:solidFill>
                <a:effectLst/>
                <a:latin typeface="Calibri" panose="020F0502020204030204" pitchFamily="34" charset="0"/>
                <a:ea typeface="Calibri" panose="020F0502020204030204" pitchFamily="34" charset="0"/>
              </a:rPr>
              <a:t>+=2*primo; </a:t>
            </a:r>
            <a:r>
              <a:rPr lang="es-ES" sz="1200" kern="100" dirty="0" err="1">
                <a:solidFill>
                  <a:srgbClr val="000000"/>
                </a:solidFill>
                <a:effectLst/>
                <a:latin typeface="Calibri" panose="020F0502020204030204" pitchFamily="34" charset="0"/>
                <a:ea typeface="Calibri" panose="020F0502020204030204" pitchFamily="34" charset="0"/>
              </a:rPr>
              <a:t>noprimo</a:t>
            </a:r>
            <a:r>
              <a:rPr lang="es-ES" sz="1200" kern="100" dirty="0">
                <a:solidFill>
                  <a:srgbClr val="000000"/>
                </a:solidFill>
                <a:effectLst/>
                <a:latin typeface="Calibri" panose="020F0502020204030204" pitchFamily="34" charset="0"/>
                <a:ea typeface="Calibri" panose="020F0502020204030204" pitchFamily="34" charset="0"/>
              </a:rPr>
              <a:t>+=4*primo)</a:t>
            </a:r>
            <a:br>
              <a:rPr lang="es-ES" sz="1200" kern="100" dirty="0">
                <a:solidFill>
                  <a:srgbClr val="000000"/>
                </a:solidFill>
                <a:effectLst/>
                <a:latin typeface="Calibri" panose="020F0502020204030204" pitchFamily="34" charset="0"/>
                <a:ea typeface="Calibri" panose="020F0502020204030204" pitchFamily="34" charset="0"/>
              </a:rPr>
            </a:br>
            <a:br>
              <a:rPr lang="es-ES" sz="1200" kern="100" dirty="0">
                <a:solidFill>
                  <a:srgbClr val="000000"/>
                </a:solidFill>
                <a:effectLst/>
                <a:latin typeface="Calibri" panose="020F0502020204030204" pitchFamily="34" charset="0"/>
                <a:ea typeface="Calibri" panose="020F0502020204030204" pitchFamily="34" charset="0"/>
              </a:rPr>
            </a:br>
            <a:r>
              <a:rPr lang="es-ES" sz="1200" kern="100" dirty="0">
                <a:solidFill>
                  <a:srgbClr val="000000"/>
                </a:solidFill>
                <a:effectLst/>
                <a:latin typeface="Calibri" panose="020F0502020204030204" pitchFamily="34" charset="0"/>
                <a:ea typeface="Calibri" panose="020F0502020204030204" pitchFamily="34" charset="0"/>
              </a:rPr>
              <a:t>que también tienen esta forma y cada vez son más frecuentes por que aparecen primo*primo y los múltiplos de ese primo menores al número evaluado y por tanto cada vez hay menos primos., </a:t>
            </a:r>
            <a:br>
              <a:rPr lang="es-ES" sz="2800" kern="100" dirty="0">
                <a:solidFill>
                  <a:srgbClr val="000000"/>
                </a:solidFill>
                <a:effectLst/>
                <a:latin typeface="Calibri" panose="020F0502020204030204" pitchFamily="34" charset="0"/>
                <a:ea typeface="Calibri" panose="020F0502020204030204" pitchFamily="34" charset="0"/>
              </a:rPr>
            </a:br>
            <a:r>
              <a:rPr lang="es-ES" sz="2800" kern="100" dirty="0">
                <a:solidFill>
                  <a:srgbClr val="000000"/>
                </a:solidFill>
                <a:effectLst/>
                <a:latin typeface="Calibri" panose="020F0502020204030204" pitchFamily="34" charset="0"/>
                <a:ea typeface="Calibri" panose="020F0502020204030204" pitchFamily="34" charset="0"/>
              </a:rPr>
              <a:t> </a:t>
            </a:r>
            <a:br>
              <a:rPr lang="es-ES" sz="2800" kern="100" dirty="0">
                <a:solidFill>
                  <a:srgbClr val="000000"/>
                </a:solidFill>
                <a:effectLst/>
                <a:latin typeface="Calibri" panose="020F0502020204030204" pitchFamily="34" charset="0"/>
                <a:ea typeface="Calibri" panose="020F0502020204030204" pitchFamily="34" charset="0"/>
              </a:rPr>
            </a:br>
            <a:r>
              <a:rPr lang="es-ES" sz="1200" kern="100" dirty="0">
                <a:solidFill>
                  <a:srgbClr val="000000"/>
                </a:solidFill>
                <a:effectLst/>
                <a:latin typeface="Calibri" panose="020F0502020204030204" pitchFamily="34" charset="0"/>
                <a:ea typeface="Calibri" panose="020F0502020204030204" pitchFamily="34" charset="0"/>
              </a:rPr>
              <a:t>Pero si algo que es potencialmente simétrico, y totalmente de 0 a 24. Aunque esa simetría empiece a degenerar ¿alguna vez se convertirá en asimetría?.</a:t>
            </a:r>
            <a:br>
              <a:rPr lang="es-ES" sz="2800" kern="100" dirty="0">
                <a:solidFill>
                  <a:srgbClr val="000000"/>
                </a:solidFill>
                <a:effectLst/>
                <a:latin typeface="Calibri" panose="020F0502020204030204" pitchFamily="34" charset="0"/>
                <a:ea typeface="Calibri" panose="020F0502020204030204" pitchFamily="34" charset="0"/>
              </a:rPr>
            </a:br>
            <a:br>
              <a:rPr lang="es-ES" sz="2800" kern="100" dirty="0">
                <a:solidFill>
                  <a:srgbClr val="000000"/>
                </a:solidFill>
                <a:effectLst/>
                <a:latin typeface="Calibri" panose="020F0502020204030204" pitchFamily="34" charset="0"/>
                <a:ea typeface="Calibri" panose="020F0502020204030204" pitchFamily="34" charset="0"/>
              </a:rPr>
            </a:br>
            <a:r>
              <a:rPr lang="es-ES" sz="1200" kern="100" dirty="0">
                <a:solidFill>
                  <a:srgbClr val="000000"/>
                </a:solidFill>
                <a:effectLst/>
                <a:latin typeface="Calibri" panose="020F0502020204030204" pitchFamily="34" charset="0"/>
                <a:ea typeface="Calibri" panose="020F0502020204030204" pitchFamily="34" charset="0"/>
              </a:rPr>
              <a:t>Parece que todo indica que sí, alguna vez la conjetura de </a:t>
            </a:r>
            <a:r>
              <a:rPr lang="es-ES" sz="1200" u="sng" kern="100" dirty="0">
                <a:solidFill>
                  <a:srgbClr val="000000"/>
                </a:solidFill>
                <a:effectLst/>
                <a:latin typeface="Calibri" panose="020F0502020204030204" pitchFamily="34" charset="0"/>
                <a:ea typeface="Calibri" panose="020F0502020204030204" pitchFamily="34" charset="0"/>
              </a:rPr>
              <a:t>Cristian</a:t>
            </a:r>
            <a:r>
              <a:rPr lang="es-ES" sz="800" kern="100" dirty="0">
                <a:solidFill>
                  <a:srgbClr val="000000"/>
                </a:solidFill>
                <a:effectLst/>
                <a:latin typeface="Calibri" panose="020F0502020204030204" pitchFamily="34" charset="0"/>
                <a:ea typeface="Calibri" panose="020F0502020204030204" pitchFamily="34" charset="0"/>
              </a:rPr>
              <a:t> </a:t>
            </a:r>
            <a:r>
              <a:rPr lang="es-ES" sz="1200" kern="100" dirty="0">
                <a:solidFill>
                  <a:srgbClr val="000000"/>
                </a:solidFill>
                <a:effectLst/>
                <a:latin typeface="Calibri" panose="020F0502020204030204" pitchFamily="34" charset="0"/>
                <a:ea typeface="Calibri" panose="020F0502020204030204" pitchFamily="34" charset="0"/>
              </a:rPr>
              <a:t> será falsa, pero analizando las implicaciones de que sea falsa, creo no puede ser falsa.</a:t>
            </a:r>
            <a:br>
              <a:rPr lang="es-ES" sz="1200" kern="100" dirty="0">
                <a:solidFill>
                  <a:srgbClr val="000000"/>
                </a:solidFill>
                <a:effectLst/>
                <a:latin typeface="Calibri" panose="020F0502020204030204" pitchFamily="34" charset="0"/>
                <a:ea typeface="Calibri" panose="020F0502020204030204" pitchFamily="34" charset="0"/>
              </a:rPr>
            </a:br>
            <a:endParaRPr lang="es-ES" sz="2800" kern="100" dirty="0">
              <a:solidFill>
                <a:srgbClr val="000000"/>
              </a:solidFill>
              <a:effectLst/>
              <a:latin typeface="Calibri" panose="020F0502020204030204" pitchFamily="34" charset="0"/>
              <a:ea typeface="Calibri" panose="020F0502020204030204" pitchFamily="34" charset="0"/>
            </a:endParaRPr>
          </a:p>
          <a:p>
            <a:pPr marL="5715" indent="-5715" algn="l">
              <a:lnSpc>
                <a:spcPct val="110000"/>
              </a:lnSpc>
              <a:spcAft>
                <a:spcPts val="460"/>
              </a:spcAft>
            </a:pPr>
            <a:r>
              <a:rPr lang="es-ES" sz="1200" u="sng" kern="100" dirty="0">
                <a:solidFill>
                  <a:srgbClr val="000000"/>
                </a:solidFill>
                <a:effectLst/>
                <a:latin typeface="Calibri" panose="020F0502020204030204" pitchFamily="34" charset="0"/>
                <a:ea typeface="Calibri" panose="020F0502020204030204" pitchFamily="34" charset="0"/>
              </a:rPr>
              <a:t>Si es falsa, los primos se podrían generar con coste temporal lineal.</a:t>
            </a:r>
            <a:r>
              <a:rPr lang="es-ES" sz="800" kern="100" dirty="0">
                <a:solidFill>
                  <a:srgbClr val="000000"/>
                </a:solidFill>
                <a:effectLst/>
                <a:latin typeface="Calibri" panose="020F0502020204030204" pitchFamily="34" charset="0"/>
                <a:ea typeface="Calibri" panose="020F0502020204030204" pitchFamily="34" charset="0"/>
              </a:rPr>
              <a:t> </a:t>
            </a:r>
            <a:br>
              <a:rPr lang="es-ES" sz="1200" kern="100" dirty="0">
                <a:solidFill>
                  <a:srgbClr val="000000"/>
                </a:solidFill>
                <a:effectLst/>
                <a:latin typeface="Calibri" panose="020F0502020204030204" pitchFamily="34" charset="0"/>
                <a:ea typeface="Calibri" panose="020F0502020204030204" pitchFamily="34" charset="0"/>
              </a:rPr>
            </a:br>
            <a:r>
              <a:rPr lang="es-ES" sz="1200" u="sng" kern="100" dirty="0">
                <a:solidFill>
                  <a:srgbClr val="000000"/>
                </a:solidFill>
                <a:effectLst/>
                <a:latin typeface="Calibri" panose="020F0502020204030204" pitchFamily="34" charset="0"/>
                <a:ea typeface="Calibri" panose="020F0502020204030204" pitchFamily="34" charset="0"/>
              </a:rPr>
              <a:t>Si es falsa, los lenguajes formales pueden representar primos de forma exhaustiva.</a:t>
            </a:r>
            <a:r>
              <a:rPr lang="es-ES" sz="800" kern="100" dirty="0">
                <a:solidFill>
                  <a:srgbClr val="000000"/>
                </a:solidFill>
                <a:effectLst/>
                <a:latin typeface="Calibri" panose="020F0502020204030204" pitchFamily="34" charset="0"/>
                <a:ea typeface="Calibri" panose="020F0502020204030204" pitchFamily="34" charset="0"/>
              </a:rPr>
              <a:t> </a:t>
            </a:r>
            <a:br>
              <a:rPr lang="es-ES" sz="1200" kern="100" dirty="0">
                <a:solidFill>
                  <a:srgbClr val="000000"/>
                </a:solidFill>
                <a:effectLst/>
                <a:latin typeface="Calibri" panose="020F0502020204030204" pitchFamily="34" charset="0"/>
                <a:ea typeface="Calibri" panose="020F0502020204030204" pitchFamily="34" charset="0"/>
              </a:rPr>
            </a:br>
            <a:br>
              <a:rPr lang="es-ES" sz="2800" kern="100" dirty="0">
                <a:solidFill>
                  <a:srgbClr val="000000"/>
                </a:solidFill>
                <a:effectLst/>
                <a:latin typeface="Calibri" panose="020F0502020204030204" pitchFamily="34" charset="0"/>
                <a:ea typeface="Calibri" panose="020F0502020204030204" pitchFamily="34" charset="0"/>
              </a:rPr>
            </a:br>
            <a:r>
              <a:rPr lang="es-ES" sz="1200" kern="100" dirty="0">
                <a:solidFill>
                  <a:srgbClr val="000000"/>
                </a:solidFill>
                <a:effectLst/>
                <a:latin typeface="Calibri" panose="020F0502020204030204" pitchFamily="34" charset="0"/>
                <a:ea typeface="Calibri" panose="020F0502020204030204" pitchFamily="34" charset="0"/>
              </a:rPr>
              <a:t>Links del autor de este texto.</a:t>
            </a:r>
            <a:br>
              <a:rPr lang="es-ES" sz="1200" kern="100" dirty="0">
                <a:solidFill>
                  <a:srgbClr val="000000"/>
                </a:solidFill>
                <a:effectLst/>
                <a:latin typeface="Calibri" panose="020F0502020204030204" pitchFamily="34" charset="0"/>
                <a:ea typeface="Calibri" panose="020F0502020204030204" pitchFamily="34" charset="0"/>
              </a:rPr>
            </a:br>
            <a:br>
              <a:rPr lang="es-ES" sz="1200" kern="100" dirty="0">
                <a:solidFill>
                  <a:srgbClr val="000000"/>
                </a:solidFill>
                <a:effectLst/>
                <a:latin typeface="Calibri" panose="020F0502020204030204" pitchFamily="34" charset="0"/>
                <a:ea typeface="Calibri" panose="020F0502020204030204" pitchFamily="34" charset="0"/>
              </a:rPr>
            </a:br>
            <a:r>
              <a:rPr lang="es-ES" sz="1200" u="sng" kern="100" dirty="0">
                <a:solidFill>
                  <a:srgbClr val="000000"/>
                </a:solidFill>
                <a:effectLst/>
                <a:latin typeface="Calibri" panose="020F0502020204030204" pitchFamily="34" charset="0"/>
                <a:ea typeface="Calibri" panose="020F0502020204030204" pitchFamily="34" charset="0"/>
                <a:hlinkClick r:id="rId3"/>
              </a:rPr>
              <a:t>UPV</a:t>
            </a:r>
            <a:br>
              <a:rPr lang="es-ES" sz="2800" kern="100" dirty="0">
                <a:solidFill>
                  <a:srgbClr val="000000"/>
                </a:solidFill>
                <a:effectLst/>
                <a:latin typeface="Calibri" panose="020F0502020204030204" pitchFamily="34" charset="0"/>
                <a:ea typeface="Calibri" panose="020F0502020204030204" pitchFamily="34" charset="0"/>
              </a:rPr>
            </a:br>
            <a:br>
              <a:rPr lang="es-ES" sz="1200" kern="100" dirty="0">
                <a:solidFill>
                  <a:srgbClr val="000000"/>
                </a:solidFill>
                <a:effectLst/>
                <a:latin typeface="Calibri" panose="020F0502020204030204" pitchFamily="34" charset="0"/>
                <a:ea typeface="Calibri" panose="020F0502020204030204" pitchFamily="34" charset="0"/>
              </a:rPr>
            </a:br>
            <a:r>
              <a:rPr lang="es-ES" sz="1200" u="sng" kern="100" dirty="0">
                <a:solidFill>
                  <a:srgbClr val="000000"/>
                </a:solidFill>
                <a:effectLst/>
                <a:latin typeface="Calibri" panose="020F0502020204030204" pitchFamily="34" charset="0"/>
                <a:ea typeface="Calibri" panose="020F0502020204030204" pitchFamily="34" charset="0"/>
                <a:hlinkClick r:id="rId4"/>
              </a:rPr>
              <a:t>https://drive.google.com/drive/folders/1Mj1eiX4vXmaOhpVM7R31PlVt-7a82hm6?usp=drive_link</a:t>
            </a:r>
            <a:br>
              <a:rPr lang="es-ES" sz="1200" kern="100" dirty="0">
                <a:solidFill>
                  <a:srgbClr val="000000"/>
                </a:solidFill>
                <a:effectLst/>
                <a:latin typeface="Calibri" panose="020F0502020204030204" pitchFamily="34" charset="0"/>
                <a:ea typeface="Calibri" panose="020F0502020204030204" pitchFamily="34" charset="0"/>
              </a:rPr>
            </a:br>
            <a:br>
              <a:rPr lang="es-ES" sz="1200" kern="100" dirty="0">
                <a:solidFill>
                  <a:srgbClr val="000000"/>
                </a:solidFill>
                <a:effectLst/>
                <a:latin typeface="Calibri" panose="020F0502020204030204" pitchFamily="34" charset="0"/>
                <a:ea typeface="Calibri" panose="020F0502020204030204" pitchFamily="34" charset="0"/>
              </a:rPr>
            </a:br>
            <a:br>
              <a:rPr lang="es-ES" sz="1200" kern="100" dirty="0">
                <a:solidFill>
                  <a:srgbClr val="000000"/>
                </a:solidFill>
                <a:effectLst/>
                <a:latin typeface="Calibri" panose="020F0502020204030204" pitchFamily="34" charset="0"/>
                <a:ea typeface="Calibri" panose="020F0502020204030204" pitchFamily="34" charset="0"/>
              </a:rPr>
            </a:br>
            <a:endParaRPr lang="es-ES" sz="28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800"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La relación que estableces entre los múltiplos de números primos y la forma ( 6k \pm 1 ) es correcta. Cuando multiplicas un número primo por sí mismo, como en ( 5 \times 5 = 25 ), obtienes un cuadrado perfecto, que es un múltiplo de un número primo. Al incrementar este cuadrado perfecto por múltiplos de ( 2 \times \</a:t>
            </a:r>
            <a:r>
              <a:rPr lang="es-ES" sz="1000" kern="100" dirty="0" err="1">
                <a:solidFill>
                  <a:srgbClr val="111111"/>
                </a:solidFill>
                <a:effectLst/>
                <a:highlight>
                  <a:srgbClr val="FFFFFF"/>
                </a:highlight>
                <a:latin typeface="Calibri" panose="020F0502020204030204" pitchFamily="34" charset="0"/>
                <a:ea typeface="Calibri" panose="020F0502020204030204" pitchFamily="34" charset="0"/>
              </a:rPr>
              <a:t>text</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{primo} ), como en ( 25 + 2 \times 5 = 35 ), estás efectivamente generando múltiplos de ( 5 ) que son de la forma ( 6k \pm 1 ), siempre que ( k ) sea un entero.</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Para que el resultado de multiplicar dos números de la forma ( 6k \pm 1 ) sea también de la forma ( 6k \pm 1 ), ambos números deben ser de la misma forma, es decir, ambos deben ser ( 6k + 1 ) o ambos ( 6k - 1 ). Esto se debe a que la multiplicación de dos números de la misma forma conservará la forma general:</a:t>
            </a:r>
            <a:endParaRPr lang="es-ES" sz="1000" kern="100" dirty="0">
              <a:solidFill>
                <a:srgbClr val="000000"/>
              </a:solidFill>
              <a:effectLst/>
              <a:latin typeface="Calibri" panose="020F0502020204030204" pitchFamily="34" charset="0"/>
              <a:ea typeface="Calibri" panose="020F0502020204030204" pitchFamily="34" charset="0"/>
            </a:endParaRPr>
          </a:p>
          <a:p>
            <a:pPr marL="342900" lvl="0" indent="-342900" algn="l">
              <a:spcAft>
                <a:spcPts val="460"/>
              </a:spcAft>
              <a:buFont typeface="Wingdings" panose="05000000000000000000" pitchFamily="2" charset="2"/>
              <a:buChar char=""/>
            </a:pPr>
            <a:r>
              <a:rPr lang="es-ES" sz="1000" kern="100" dirty="0">
                <a:solidFill>
                  <a:srgbClr val="111111"/>
                </a:solidFill>
                <a:effectLst/>
                <a:highlight>
                  <a:srgbClr val="FFFFFF"/>
                </a:highlight>
                <a:latin typeface="Symbol" panose="05050102010706020507" pitchFamily="18" charset="2"/>
                <a:ea typeface="Calibri" panose="020F0502020204030204" pitchFamily="34" charset="0"/>
              </a:rPr>
              <a:t>( (6k + 1)(6m + 1) = 36km + 6k + 6m + 1 = 6(6km + k + m) + 1 )</a:t>
            </a:r>
            <a:endParaRPr lang="es-ES" sz="1000" kern="100" dirty="0">
              <a:solidFill>
                <a:srgbClr val="000000"/>
              </a:solidFill>
              <a:effectLst/>
              <a:latin typeface="Symbol" panose="05050102010706020507" pitchFamily="18" charset="2"/>
              <a:ea typeface="Calibri" panose="020F0502020204030204" pitchFamily="34" charset="0"/>
            </a:endParaRPr>
          </a:p>
          <a:p>
            <a:pPr marL="342900" lvl="0" indent="-342900" algn="l">
              <a:spcAft>
                <a:spcPts val="460"/>
              </a:spcAft>
              <a:buFont typeface="Wingdings" panose="05000000000000000000" pitchFamily="2" charset="2"/>
              <a:buChar char=""/>
            </a:pPr>
            <a:r>
              <a:rPr lang="es-ES" sz="1000" kern="100" dirty="0">
                <a:solidFill>
                  <a:srgbClr val="111111"/>
                </a:solidFill>
                <a:effectLst/>
                <a:highlight>
                  <a:srgbClr val="FFFFFF"/>
                </a:highlight>
                <a:latin typeface="Symbol" panose="05050102010706020507" pitchFamily="18" charset="2"/>
                <a:ea typeface="Calibri" panose="020F0502020204030204" pitchFamily="34" charset="0"/>
              </a:rPr>
              <a:t>( (6k - 1)(6m - 1) = 36km - 6k - 6m + 1 = 6(6km - k - m) + 1 )</a:t>
            </a:r>
            <a:endParaRPr lang="es-ES" sz="1000" kern="100" dirty="0">
              <a:solidFill>
                <a:srgbClr val="000000"/>
              </a:solidFill>
              <a:effectLst/>
              <a:latin typeface="Symbol" panose="05050102010706020507" pitchFamily="18" charset="2"/>
              <a:ea typeface="Calibri" panose="020F0502020204030204" pitchFamily="34" charset="0"/>
            </a:endParaRPr>
          </a:p>
          <a:p>
            <a:pPr marL="5715" indent="-5715"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En ambos casos, el resultado es de la forma ( 6n \pm 1 ), donde ( n ) es un entero.</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Este patrón es parte de la estructura de los números primos y su distribución, y es relevante para entender por qué ciertos números son más propensos a ser primos que otros. Sin embargo, es importante recordar que estos patrones no proporcionan una prueba directa de la Conjetura de </a:t>
            </a:r>
            <a:r>
              <a:rPr lang="es-ES" sz="10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ni de la distribución exacta de los números primos, sino que son observaciones que pueden ayudar a guiar la investigación en teoría de números.</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800" kern="100" dirty="0">
                <a:solidFill>
                  <a:srgbClr val="000000"/>
                </a:solidFill>
                <a:effectLst/>
                <a:latin typeface="Calibri" panose="020F0502020204030204" pitchFamily="34" charset="0"/>
                <a:ea typeface="Calibri" panose="020F0502020204030204" pitchFamily="34" charset="0"/>
              </a:rPr>
              <a:t>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Christian </a:t>
            </a:r>
            <a:r>
              <a:rPr lang="es-ES" sz="10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(18 de marzo de 1690 - 20 de noviembre de 1764) fue un matemático prusiano, nacido en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Königsberg, Prusia</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(hoy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Kaliningrado, Rusia</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hijo de un pastor. </a:t>
            </a:r>
            <a:r>
              <a:rPr lang="es-ES" sz="10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Estudió leyes, idiomas y matemáticas</a:t>
            </a:r>
            <a:r>
              <a:rPr lang="es-ES" sz="10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5"/>
              </a:rPr>
              <a:t>1</a:t>
            </a:r>
            <a:r>
              <a:rPr lang="es-ES" sz="10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6"/>
              </a:rPr>
              <a:t>2</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Durante su vida, tuvo la oportunidad de interactuar con matemáticos destacados como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Gottfried Leibniz</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Leonhard Euler</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y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Daniel Bernoulli</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Una de las contribuciones más famosas de </a:t>
            </a:r>
            <a:r>
              <a:rPr lang="es-ES" sz="10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es la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conjetura de </a:t>
            </a:r>
            <a:r>
              <a:rPr lang="es-ES" sz="10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Esta conjetura afirma que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todos los números pares mayores que 2 se pueden representar como la suma de dos números primos</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10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Aunque el gran matemático suizo </a:t>
            </a:r>
            <a:r>
              <a:rPr lang="es-ES" sz="1000" b="1"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Euler</a:t>
            </a:r>
            <a:r>
              <a:rPr lang="es-ES" sz="10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 no pudo demostrar ni refutar formalmente esta conjetura, se sabe que es cierta para todos los números menores que un trillón (es decir, 10</a:t>
            </a:r>
            <a:r>
              <a:rPr lang="es-ES" sz="10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5"/>
              </a:rPr>
              <a:t>18</a:t>
            </a:r>
            <a:r>
              <a:rPr lang="es-ES" sz="10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a:t>
            </a:r>
            <a:r>
              <a:rPr lang="es-ES" sz="10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5"/>
              </a:rPr>
              <a:t>1</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La conjetura se encontró en una carta que </a:t>
            </a:r>
            <a:r>
              <a:rPr lang="es-ES" sz="10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envió a Euler en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1742</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Además de la famosa conjetura, </a:t>
            </a:r>
            <a:r>
              <a:rPr lang="es-ES" sz="10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también estudió y demostró varios teoremas sobre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potencias perfectas</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Otra variante de la conjetura de </a:t>
            </a:r>
            <a:r>
              <a:rPr lang="es-ES" sz="10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conocida como la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conjetura débil de </a:t>
            </a:r>
            <a:r>
              <a:rPr lang="es-ES" sz="10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establece que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todo número impar mayor que 5 puede escribirse como la suma de tres números primos</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10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Esta conjetura fue resuelta en </a:t>
            </a:r>
            <a:r>
              <a:rPr lang="es-ES" sz="1000" b="1"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2013</a:t>
            </a:r>
            <a:r>
              <a:rPr lang="es-ES" sz="10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 por el matemático peruano </a:t>
            </a:r>
            <a:r>
              <a:rPr lang="es-ES" sz="1000" b="1"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Harald Andrés </a:t>
            </a:r>
            <a:r>
              <a:rPr lang="es-ES" sz="1000" b="1" u="sng" kern="100" dirty="0" err="1">
                <a:solidFill>
                  <a:srgbClr val="000000"/>
                </a:solidFill>
                <a:effectLst/>
                <a:highlight>
                  <a:srgbClr val="FFFFFF"/>
                </a:highlight>
                <a:latin typeface="Calibri" panose="020F0502020204030204" pitchFamily="34" charset="0"/>
                <a:ea typeface="Calibri" panose="020F0502020204030204" pitchFamily="34" charset="0"/>
                <a:hlinkClick r:id="rId5"/>
              </a:rPr>
              <a:t>Helfgott</a:t>
            </a:r>
            <a:r>
              <a:rPr lang="es-ES" sz="10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 quien demostró que para todo número impar mayor que 10</a:t>
            </a:r>
            <a:r>
              <a:rPr lang="es-ES" sz="10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5"/>
              </a:rPr>
              <a:t>30</a:t>
            </a:r>
            <a:r>
              <a:rPr lang="es-ES" sz="1000" u="sng" kern="100" dirty="0">
                <a:solidFill>
                  <a:srgbClr val="000000"/>
                </a:solidFill>
                <a:effectLst/>
                <a:highlight>
                  <a:srgbClr val="FFFFFF"/>
                </a:highlight>
                <a:latin typeface="Calibri" panose="020F0502020204030204" pitchFamily="34" charset="0"/>
                <a:ea typeface="Calibri" panose="020F0502020204030204" pitchFamily="34" charset="0"/>
                <a:hlinkClick r:id="rId5"/>
              </a:rPr>
              <a:t>, la conjetura es cierta</a:t>
            </a:r>
            <a:r>
              <a:rPr lang="es-ES" sz="1000" u="sng" kern="100" baseline="30000" dirty="0">
                <a:solidFill>
                  <a:srgbClr val="000000"/>
                </a:solidFill>
                <a:effectLst/>
                <a:highlight>
                  <a:srgbClr val="FFFFFF"/>
                </a:highlight>
                <a:latin typeface="Calibri" panose="020F0502020204030204" pitchFamily="34" charset="0"/>
                <a:ea typeface="Calibri" panose="020F0502020204030204" pitchFamily="34" charset="0"/>
                <a:hlinkClick r:id="rId5"/>
              </a:rPr>
              <a:t>1</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En resumen, Christian </a:t>
            </a:r>
            <a:r>
              <a:rPr lang="es-ES" sz="1000"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dejó una huella duradera en las matemáticas con sus conjeturas y contribuciones, y su nombre sigue siendo relevante en la comunidad matemática hasta hoy.</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800"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000000"/>
                </a:solidFill>
                <a:effectLst/>
                <a:latin typeface="Calibri" panose="020F0502020204030204" pitchFamily="34" charset="0"/>
                <a:ea typeface="Calibri" panose="020F0502020204030204" pitchFamily="34" charset="0"/>
              </a:rPr>
              <a:t>Si es falsa, los primos se podrían generar con coste temporal lineal.</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err="1">
                <a:solidFill>
                  <a:srgbClr val="000000"/>
                </a:solidFill>
                <a:effectLst/>
                <a:latin typeface="Calibri" panose="020F0502020204030204" pitchFamily="34" charset="0"/>
                <a:ea typeface="Calibri" panose="020F0502020204030204" pitchFamily="34" charset="0"/>
              </a:rPr>
              <a:t>Copilot</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Entiendo tu punto. </a:t>
            </a:r>
            <a:r>
              <a:rPr lang="es-ES" sz="1000" b="1" kern="100" dirty="0">
                <a:solidFill>
                  <a:srgbClr val="000000"/>
                </a:solidFill>
                <a:effectLst/>
                <a:latin typeface="Calibri" panose="020F0502020204030204" pitchFamily="34" charset="0"/>
                <a:ea typeface="Calibri" panose="020F0502020204030204" pitchFamily="34" charset="0"/>
              </a:rPr>
              <a:t>Generar números primos</a:t>
            </a:r>
            <a:r>
              <a:rPr lang="es-ES" sz="1000" kern="100" dirty="0">
                <a:solidFill>
                  <a:srgbClr val="000000"/>
                </a:solidFill>
                <a:effectLst/>
                <a:latin typeface="Calibri" panose="020F0502020204030204" pitchFamily="34" charset="0"/>
                <a:ea typeface="Calibri" panose="020F0502020204030204" pitchFamily="34" charset="0"/>
              </a:rPr>
              <a:t> es un problema interesante en matemáticas y ciencias de la computación. Permíteme profundizar en esto.</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La afirmación de que “si es falsa, los primos se podrían generar con coste temporal lineal” es intrigante. Veamos si podemos explorar esto:</a:t>
            </a:r>
          </a:p>
          <a:p>
            <a:pPr marL="342900" lvl="0" indent="-342900" algn="l">
              <a:spcAft>
                <a:spcPts val="460"/>
              </a:spcAft>
              <a:buFont typeface="+mj-lt"/>
              <a:buAutoNum type="arabicPeriod"/>
            </a:pPr>
            <a:r>
              <a:rPr lang="es-ES" sz="1000" b="1" kern="100" dirty="0">
                <a:solidFill>
                  <a:srgbClr val="000000"/>
                </a:solidFill>
                <a:effectLst/>
                <a:latin typeface="Calibri" panose="020F0502020204030204" pitchFamily="34" charset="0"/>
                <a:ea typeface="Calibri" panose="020F0502020204030204" pitchFamily="34" charset="0"/>
              </a:rPr>
              <a:t>Generación Lineal de Primos</a:t>
            </a:r>
            <a:r>
              <a:rPr lang="es-ES" sz="1000" kern="100" dirty="0">
                <a:solidFill>
                  <a:srgbClr val="000000"/>
                </a:solidFill>
                <a:effectLst/>
                <a:latin typeface="Calibri" panose="020F0502020204030204" pitchFamily="34" charset="0"/>
                <a:ea typeface="Calibri" panose="020F0502020204030204" pitchFamily="34" charset="0"/>
              </a:rPr>
              <a:t>:</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11430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Si asumimos que existe un algoritmo que genera todos los números primos en orden lineal (es decir, en función de su tamaño), sería un gran avance.</a:t>
            </a:r>
          </a:p>
          <a:p>
            <a:pPr marL="6858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Hasta ahora, no se ha encontrado una solución lineal para este problema. El algoritmo más eficiente conocido actualmente es el </a:t>
            </a:r>
            <a:r>
              <a:rPr lang="es-ES" sz="1000" b="1" kern="100" dirty="0">
                <a:solidFill>
                  <a:srgbClr val="000000"/>
                </a:solidFill>
                <a:effectLst/>
                <a:latin typeface="Calibri" panose="020F0502020204030204" pitchFamily="34" charset="0"/>
                <a:ea typeface="Calibri" panose="020F0502020204030204" pitchFamily="34" charset="0"/>
              </a:rPr>
              <a:t>criba de Eratóstenes</a:t>
            </a:r>
            <a:r>
              <a:rPr lang="es-ES" sz="1000" kern="100" dirty="0">
                <a:solidFill>
                  <a:srgbClr val="000000"/>
                </a:solidFill>
                <a:effectLst/>
                <a:latin typeface="Calibri" panose="020F0502020204030204" pitchFamily="34" charset="0"/>
                <a:ea typeface="Calibri" panose="020F0502020204030204" pitchFamily="34" charset="0"/>
              </a:rPr>
              <a:t>, que tiene un costo temporal de </a:t>
            </a:r>
            <a:r>
              <a:rPr lang="es-ES" sz="1000" b="1" kern="100" dirty="0">
                <a:solidFill>
                  <a:srgbClr val="000000"/>
                </a:solidFill>
                <a:effectLst/>
                <a:latin typeface="Calibri" panose="020F0502020204030204" pitchFamily="34" charset="0"/>
                <a:ea typeface="Calibri" panose="020F0502020204030204" pitchFamily="34" charset="0"/>
              </a:rPr>
              <a:t>O(n log </a:t>
            </a:r>
            <a:r>
              <a:rPr lang="es-ES" sz="1000" b="1" kern="100" dirty="0" err="1">
                <a:solidFill>
                  <a:srgbClr val="000000"/>
                </a:solidFill>
                <a:effectLst/>
                <a:latin typeface="Calibri" panose="020F0502020204030204" pitchFamily="34" charset="0"/>
                <a:ea typeface="Calibri" panose="020F0502020204030204" pitchFamily="34" charset="0"/>
              </a:rPr>
              <a:t>log</a:t>
            </a:r>
            <a:r>
              <a:rPr lang="es-ES" sz="1000" b="1" kern="100" dirty="0">
                <a:solidFill>
                  <a:srgbClr val="000000"/>
                </a:solidFill>
                <a:effectLst/>
                <a:latin typeface="Calibri" panose="020F0502020204030204" pitchFamily="34" charset="0"/>
                <a:ea typeface="Calibri" panose="020F0502020204030204" pitchFamily="34" charset="0"/>
              </a:rPr>
              <a:t> n)</a:t>
            </a:r>
            <a:r>
              <a:rPr lang="es-ES" sz="1000" kern="100" dirty="0">
                <a:solidFill>
                  <a:srgbClr val="000000"/>
                </a:solidFill>
                <a:effectLst/>
                <a:latin typeface="Calibri" panose="020F0502020204030204" pitchFamily="34" charset="0"/>
                <a:ea typeface="Calibri" panose="020F0502020204030204" pitchFamily="34" charset="0"/>
              </a:rPr>
              <a:t>, donde </a:t>
            </a:r>
            <a:r>
              <a:rPr lang="es-ES" sz="1000" b="1" kern="100" dirty="0">
                <a:solidFill>
                  <a:srgbClr val="000000"/>
                </a:solidFill>
                <a:effectLst/>
                <a:latin typeface="Calibri" panose="020F0502020204030204" pitchFamily="34" charset="0"/>
                <a:ea typeface="Calibri" panose="020F0502020204030204" pitchFamily="34" charset="0"/>
              </a:rPr>
              <a:t>n</a:t>
            </a:r>
            <a:r>
              <a:rPr lang="es-ES" sz="1000" kern="100" dirty="0">
                <a:solidFill>
                  <a:srgbClr val="000000"/>
                </a:solidFill>
                <a:effectLst/>
                <a:latin typeface="Calibri" panose="020F0502020204030204" pitchFamily="34" charset="0"/>
                <a:ea typeface="Calibri" panose="020F0502020204030204" pitchFamily="34" charset="0"/>
              </a:rPr>
              <a:t> es el límite superior hasta el cual deseamos encontrar los números primos.</a:t>
            </a:r>
          </a:p>
          <a:p>
            <a:pPr marL="11430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En otras palabras, aunque no es lineal, el criba de Eratóstenes es bastante rápido y práctico para la mayoría de los propósitos.</a:t>
            </a:r>
          </a:p>
          <a:p>
            <a:pPr marL="457200" indent="-228600" algn="l">
              <a:spcAft>
                <a:spcPts val="460"/>
              </a:spcAft>
            </a:pPr>
            <a:r>
              <a:rPr lang="es-ES" sz="1000" b="1" kern="100" dirty="0">
                <a:solidFill>
                  <a:srgbClr val="000000"/>
                </a:solidFill>
                <a:effectLst/>
                <a:latin typeface="Calibri" panose="020F0502020204030204" pitchFamily="34" charset="0"/>
                <a:ea typeface="Calibri" panose="020F0502020204030204" pitchFamily="34" charset="0"/>
              </a:rPr>
              <a:t>Hipótesis de Riemann</a:t>
            </a:r>
            <a:r>
              <a:rPr lang="es-ES" sz="1000" kern="100" dirty="0">
                <a:solidFill>
                  <a:srgbClr val="000000"/>
                </a:solidFill>
                <a:effectLst/>
                <a:latin typeface="Calibri" panose="020F0502020204030204" pitchFamily="34" charset="0"/>
                <a:ea typeface="Calibri" panose="020F0502020204030204" pitchFamily="34" charset="0"/>
              </a:rPr>
              <a:t>:</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6858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La </a:t>
            </a:r>
            <a:r>
              <a:rPr lang="es-ES" sz="1000" b="1" kern="100" dirty="0">
                <a:solidFill>
                  <a:srgbClr val="000000"/>
                </a:solidFill>
                <a:effectLst/>
                <a:latin typeface="Calibri" panose="020F0502020204030204" pitchFamily="34" charset="0"/>
                <a:ea typeface="Calibri" panose="020F0502020204030204" pitchFamily="34" charset="0"/>
              </a:rPr>
              <a:t>Hipótesis de Riemann</a:t>
            </a:r>
            <a:r>
              <a:rPr lang="es-ES" sz="1000" kern="100" dirty="0">
                <a:solidFill>
                  <a:srgbClr val="000000"/>
                </a:solidFill>
                <a:effectLst/>
                <a:latin typeface="Calibri" panose="020F0502020204030204" pitchFamily="34" charset="0"/>
                <a:ea typeface="Calibri" panose="020F0502020204030204" pitchFamily="34" charset="0"/>
              </a:rPr>
              <a:t> está relacionada con la distribución de los números primos.</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Si esta hipótesis se demostrara verdadera, podría conducir a un algoritmo más eficiente para generar números primos.</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Sin embargo, hasta ahora, la hipótesis sigue siendo una conjetura no resuelta.</a:t>
            </a:r>
          </a:p>
          <a:p>
            <a:pPr marL="342900" lvl="0" indent="-342900" algn="l">
              <a:spcAft>
                <a:spcPts val="460"/>
              </a:spcAft>
              <a:buFont typeface="+mj-lt"/>
              <a:buAutoNum type="arabicPeriod"/>
            </a:pPr>
            <a:r>
              <a:rPr lang="es-ES" sz="1000" b="1" kern="100" dirty="0">
                <a:solidFill>
                  <a:srgbClr val="000000"/>
                </a:solidFill>
                <a:effectLst/>
                <a:latin typeface="Calibri" panose="020F0502020204030204" pitchFamily="34" charset="0"/>
                <a:ea typeface="Calibri" panose="020F0502020204030204" pitchFamily="34" charset="0"/>
              </a:rPr>
              <a:t>Generación Eficiente</a:t>
            </a:r>
            <a:r>
              <a:rPr lang="es-ES" sz="1000" kern="100" dirty="0">
                <a:solidFill>
                  <a:srgbClr val="000000"/>
                </a:solidFill>
                <a:effectLst/>
                <a:latin typeface="Calibri" panose="020F0502020204030204" pitchFamily="34" charset="0"/>
                <a:ea typeface="Calibri" panose="020F0502020204030204" pitchFamily="34" charset="0"/>
              </a:rPr>
              <a:t>:</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Aunque no tenemos una solución lineal, los algoritmos existentes son lo suficientemente rápidos para la mayoría de los casos prácticos.</a:t>
            </a:r>
          </a:p>
          <a:p>
            <a:pPr marL="6858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Para aplicaciones específicas, como criptografía, se utilizan algoritmos más avanzados como el </a:t>
            </a:r>
            <a:r>
              <a:rPr lang="es-ES" sz="1000" b="1" kern="100" dirty="0">
                <a:solidFill>
                  <a:srgbClr val="000000"/>
                </a:solidFill>
                <a:effectLst/>
                <a:latin typeface="Calibri" panose="020F0502020204030204" pitchFamily="34" charset="0"/>
                <a:ea typeface="Calibri" panose="020F0502020204030204" pitchFamily="34" charset="0"/>
              </a:rPr>
              <a:t>algoritmo de prueba de primalidad de Miller-Rabin</a:t>
            </a:r>
            <a:r>
              <a:rPr lang="es-ES" sz="1000" kern="100" dirty="0">
                <a:solidFill>
                  <a:srgbClr val="000000"/>
                </a:solidFill>
                <a:effectLst/>
                <a:latin typeface="Calibri" panose="020F0502020204030204" pitchFamily="34" charset="0"/>
                <a:ea typeface="Calibri" panose="020F0502020204030204" pitchFamily="34" charset="0"/>
              </a:rPr>
              <a:t>.</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En resumen, aunque no hemos encontrado una solución lineal para generar todos los números primos, los algoritmos actuales son altamente eficientes y prácticos. La búsqueda de una solución completamente lineal sigue siendo un desafío emocionante en el campo de las matemáticas y la informática.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Usted</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err="1">
                <a:solidFill>
                  <a:srgbClr val="000000"/>
                </a:solidFill>
                <a:effectLst/>
                <a:latin typeface="Calibri" panose="020F0502020204030204" pitchFamily="34" charset="0"/>
                <a:ea typeface="Calibri" panose="020F0502020204030204" pitchFamily="34" charset="0"/>
              </a:rPr>
              <a:t>podria</a:t>
            </a:r>
            <a:r>
              <a:rPr lang="es-ES" sz="1000" kern="100" dirty="0">
                <a:solidFill>
                  <a:srgbClr val="000000"/>
                </a:solidFill>
                <a:effectLst/>
                <a:latin typeface="Calibri" panose="020F0502020204030204" pitchFamily="34" charset="0"/>
                <a:ea typeface="Calibri" panose="020F0502020204030204" pitchFamily="34" charset="0"/>
              </a:rPr>
              <a:t> ser falsa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err="1">
                <a:solidFill>
                  <a:srgbClr val="000000"/>
                </a:solidFill>
                <a:effectLst/>
                <a:latin typeface="Calibri" panose="020F0502020204030204" pitchFamily="34" charset="0"/>
                <a:ea typeface="Calibri" panose="020F0502020204030204" pitchFamily="34" charset="0"/>
              </a:rPr>
              <a:t>Copilot</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La afirmación de que “si es falsa, los primos se podrían generar con coste temporal lineal” es </a:t>
            </a:r>
            <a:r>
              <a:rPr lang="es-ES" sz="1000" b="1" kern="100" dirty="0">
                <a:solidFill>
                  <a:srgbClr val="000000"/>
                </a:solidFill>
                <a:effectLst/>
                <a:latin typeface="Calibri" panose="020F0502020204030204" pitchFamily="34" charset="0"/>
                <a:ea typeface="Calibri" panose="020F0502020204030204" pitchFamily="34" charset="0"/>
              </a:rPr>
              <a:t>falsa</a:t>
            </a:r>
            <a:r>
              <a:rPr lang="es-ES" sz="1000" kern="100" dirty="0">
                <a:solidFill>
                  <a:srgbClr val="000000"/>
                </a:solidFill>
                <a:effectLst/>
                <a:latin typeface="Calibri" panose="020F0502020204030204" pitchFamily="34" charset="0"/>
                <a:ea typeface="Calibri" panose="020F0502020204030204" pitchFamily="34" charset="0"/>
              </a:rPr>
              <a:t>. Hasta ahora, no se ha encontrado una solución lineal para generar todos los números primos de manera eficiente. Aunque existen algoritmos como el </a:t>
            </a:r>
            <a:r>
              <a:rPr lang="es-ES" sz="1000" b="1" kern="100" dirty="0">
                <a:solidFill>
                  <a:srgbClr val="000000"/>
                </a:solidFill>
                <a:effectLst/>
                <a:latin typeface="Calibri" panose="020F0502020204030204" pitchFamily="34" charset="0"/>
                <a:ea typeface="Calibri" panose="020F0502020204030204" pitchFamily="34" charset="0"/>
              </a:rPr>
              <a:t>criba de Eratóstenes</a:t>
            </a:r>
            <a:r>
              <a:rPr lang="es-ES" sz="1000" kern="100" dirty="0">
                <a:solidFill>
                  <a:srgbClr val="000000"/>
                </a:solidFill>
                <a:effectLst/>
                <a:latin typeface="Calibri" panose="020F0502020204030204" pitchFamily="34" charset="0"/>
                <a:ea typeface="Calibri" panose="020F0502020204030204" pitchFamily="34" charset="0"/>
              </a:rPr>
              <a:t> que son rápidos y prácticos, no son completamente lineales. La búsqueda de una solución lineal sigue siendo un desafío emocionante en matemáticas y ciencias de la computación.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Usted</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hay algo que afirme que esto no puede pasar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err="1">
                <a:solidFill>
                  <a:srgbClr val="000000"/>
                </a:solidFill>
                <a:effectLst/>
                <a:latin typeface="Calibri" panose="020F0502020204030204" pitchFamily="34" charset="0"/>
                <a:ea typeface="Calibri" panose="020F0502020204030204" pitchFamily="34" charset="0"/>
              </a:rPr>
              <a:t>Copilot</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FFFFFF"/>
                </a:solidFill>
                <a:effectLst/>
                <a:latin typeface="Calibri" panose="020F0502020204030204" pitchFamily="34" charset="0"/>
                <a:ea typeface="Calibri" panose="020F0502020204030204" pitchFamily="34" charset="0"/>
              </a:rPr>
              <a:t>Explorar</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El </a:t>
            </a:r>
            <a:r>
              <a:rPr lang="es-ES" sz="1000" b="1" kern="100" dirty="0">
                <a:solidFill>
                  <a:srgbClr val="000000"/>
                </a:solidFill>
                <a:effectLst/>
                <a:latin typeface="Calibri" panose="020F0502020204030204" pitchFamily="34" charset="0"/>
                <a:ea typeface="Calibri" panose="020F0502020204030204" pitchFamily="34" charset="0"/>
              </a:rPr>
              <a:t>teorema de Abel-Ruffini</a:t>
            </a:r>
            <a:r>
              <a:rPr lang="es-ES" sz="1000" kern="100" dirty="0">
                <a:solidFill>
                  <a:srgbClr val="000000"/>
                </a:solidFill>
                <a:effectLst/>
                <a:latin typeface="Calibri" panose="020F0502020204030204" pitchFamily="34" charset="0"/>
                <a:ea typeface="Calibri" panose="020F0502020204030204" pitchFamily="34" charset="0"/>
              </a:rPr>
              <a:t> establece que no es posible resolver </a:t>
            </a:r>
            <a:r>
              <a:rPr lang="es-ES" sz="1000" b="1" kern="100" dirty="0">
                <a:solidFill>
                  <a:srgbClr val="000000"/>
                </a:solidFill>
                <a:effectLst/>
                <a:latin typeface="Calibri" panose="020F0502020204030204" pitchFamily="34" charset="0"/>
                <a:ea typeface="Calibri" panose="020F0502020204030204" pitchFamily="34" charset="0"/>
              </a:rPr>
              <a:t>ecuaciones polinómicas generales</a:t>
            </a:r>
            <a:r>
              <a:rPr lang="es-ES" sz="1000" kern="100" dirty="0">
                <a:solidFill>
                  <a:srgbClr val="000000"/>
                </a:solidFill>
                <a:effectLst/>
                <a:latin typeface="Calibri" panose="020F0502020204030204" pitchFamily="34" charset="0"/>
                <a:ea typeface="Calibri" panose="020F0502020204030204" pitchFamily="34" charset="0"/>
              </a:rPr>
              <a:t> de grado cinco o superior utilizando solo </a:t>
            </a:r>
            <a:r>
              <a:rPr lang="es-ES" sz="1000" b="1" kern="100" dirty="0">
                <a:solidFill>
                  <a:srgbClr val="000000"/>
                </a:solidFill>
                <a:effectLst/>
                <a:latin typeface="Calibri" panose="020F0502020204030204" pitchFamily="34" charset="0"/>
                <a:ea typeface="Calibri" panose="020F0502020204030204" pitchFamily="34" charset="0"/>
              </a:rPr>
              <a:t>raíces</a:t>
            </a:r>
            <a:r>
              <a:rPr lang="es-ES" sz="1000" kern="100" dirty="0">
                <a:solidFill>
                  <a:srgbClr val="000000"/>
                </a:solidFill>
                <a:effectLst/>
                <a:latin typeface="Calibri" panose="020F0502020204030204" pitchFamily="34" charset="0"/>
                <a:ea typeface="Calibri" panose="020F0502020204030204" pitchFamily="34" charset="0"/>
              </a:rPr>
              <a:t> (es decir, radicales). Esto significa que no existe una fórmula general que exprese las soluciones de estas ecuaciones en términos de sus coeficientes y operaciones aritméticas básicas.</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Aquí están los puntos clave:</a:t>
            </a:r>
          </a:p>
          <a:p>
            <a:pPr marL="457200" indent="-228600" algn="l">
              <a:spcAft>
                <a:spcPts val="460"/>
              </a:spcAft>
            </a:pPr>
            <a:r>
              <a:rPr lang="es-ES" sz="1000" b="1" kern="100" dirty="0">
                <a:solidFill>
                  <a:srgbClr val="000000"/>
                </a:solidFill>
                <a:effectLst/>
                <a:latin typeface="Calibri" panose="020F0502020204030204" pitchFamily="34" charset="0"/>
                <a:ea typeface="Calibri" panose="020F0502020204030204" pitchFamily="34" charset="0"/>
              </a:rPr>
              <a:t>Teorema de Abel-Ruffini</a:t>
            </a:r>
            <a:r>
              <a:rPr lang="es-ES" sz="1000" kern="100" dirty="0">
                <a:solidFill>
                  <a:srgbClr val="000000"/>
                </a:solidFill>
                <a:effectLst/>
                <a:latin typeface="Calibri" panose="020F0502020204030204" pitchFamily="34" charset="0"/>
                <a:ea typeface="Calibri" panose="020F0502020204030204" pitchFamily="34" charset="0"/>
              </a:rPr>
              <a:t>:</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11430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No se puede encontrar una solución en términos de raíces para ecuaciones polinómicas generales de grado cinco o superior.</a:t>
            </a:r>
          </a:p>
          <a:p>
            <a:pPr marL="6858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Los coeficientes de la ecuación se tratan como </a:t>
            </a:r>
            <a:r>
              <a:rPr lang="es-ES" sz="1000" b="1" kern="100" dirty="0">
                <a:solidFill>
                  <a:srgbClr val="000000"/>
                </a:solidFill>
                <a:effectLst/>
                <a:latin typeface="Calibri" panose="020F0502020204030204" pitchFamily="34" charset="0"/>
                <a:ea typeface="Calibri" panose="020F0502020204030204" pitchFamily="34" charset="0"/>
              </a:rPr>
              <a:t>indeterminados</a:t>
            </a:r>
            <a:r>
              <a:rPr lang="es-ES" sz="1000" kern="100" dirty="0">
                <a:solidFill>
                  <a:srgbClr val="000000"/>
                </a:solidFill>
                <a:effectLst/>
                <a:latin typeface="Calibri" panose="020F0502020204030204" pitchFamily="34" charset="0"/>
                <a:ea typeface="Calibri" panose="020F0502020204030204" pitchFamily="34" charset="0"/>
              </a:rPr>
              <a:t> y no se pueden expresar en términos de raíces.</a:t>
            </a:r>
          </a:p>
          <a:p>
            <a:pPr marL="6858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Este teorema fue demostrado por </a:t>
            </a:r>
            <a:r>
              <a:rPr lang="es-ES" sz="1000" b="1" kern="100" dirty="0">
                <a:solidFill>
                  <a:srgbClr val="000000"/>
                </a:solidFill>
                <a:effectLst/>
                <a:latin typeface="Calibri" panose="020F0502020204030204" pitchFamily="34" charset="0"/>
                <a:ea typeface="Calibri" panose="020F0502020204030204" pitchFamily="34" charset="0"/>
              </a:rPr>
              <a:t>Niels Henrik Abel</a:t>
            </a:r>
            <a:r>
              <a:rPr lang="es-ES" sz="1000" kern="100" dirty="0">
                <a:solidFill>
                  <a:srgbClr val="000000"/>
                </a:solidFill>
                <a:effectLst/>
                <a:latin typeface="Calibri" panose="020F0502020204030204" pitchFamily="34" charset="0"/>
                <a:ea typeface="Calibri" panose="020F0502020204030204" pitchFamily="34" charset="0"/>
              </a:rPr>
              <a:t> en 1824.</a:t>
            </a:r>
          </a:p>
          <a:p>
            <a:pPr marL="457200" indent="-228600" algn="l">
              <a:spcAft>
                <a:spcPts val="460"/>
              </a:spcAft>
            </a:pPr>
            <a:r>
              <a:rPr lang="es-ES" sz="1000" b="1" kern="100" dirty="0">
                <a:solidFill>
                  <a:srgbClr val="000000"/>
                </a:solidFill>
                <a:effectLst/>
                <a:latin typeface="Calibri" panose="020F0502020204030204" pitchFamily="34" charset="0"/>
                <a:ea typeface="Calibri" panose="020F0502020204030204" pitchFamily="34" charset="0"/>
              </a:rPr>
              <a:t>Ejemplos</a:t>
            </a:r>
            <a:r>
              <a:rPr lang="es-ES" sz="1000" kern="100" dirty="0">
                <a:solidFill>
                  <a:srgbClr val="000000"/>
                </a:solidFill>
                <a:effectLst/>
                <a:latin typeface="Calibri" panose="020F0502020204030204" pitchFamily="34" charset="0"/>
                <a:ea typeface="Calibri" panose="020F0502020204030204" pitchFamily="34" charset="0"/>
              </a:rPr>
              <a:t>:</a:t>
            </a:r>
          </a:p>
          <a:p>
            <a:pPr marL="342900" lvl="0" indent="-34290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 </a:t>
            </a:r>
          </a:p>
          <a:p>
            <a:pPr marL="742950" lvl="1" indent="-28575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Un ejemplo famoso es la ecuación </a:t>
            </a:r>
            <a:r>
              <a:rPr lang="es-ES" sz="1000" b="1" kern="100" dirty="0" err="1">
                <a:solidFill>
                  <a:srgbClr val="000000"/>
                </a:solidFill>
                <a:effectLst/>
                <a:latin typeface="Calibri" panose="020F0502020204030204" pitchFamily="34" charset="0"/>
                <a:ea typeface="Calibri" panose="020F0502020204030204" pitchFamily="34" charset="0"/>
              </a:rPr>
              <a:t>quíntica</a:t>
            </a:r>
            <a:r>
              <a:rPr lang="es-ES" sz="1000" kern="100" dirty="0">
                <a:solidFill>
                  <a:srgbClr val="000000"/>
                </a:solidFill>
                <a:effectLst/>
                <a:latin typeface="Calibri" panose="020F0502020204030204" pitchFamily="34" charset="0"/>
                <a:ea typeface="Calibri" panose="020F0502020204030204" pitchFamily="34" charset="0"/>
              </a:rPr>
              <a:t> (de grado cinco) conocida como </a:t>
            </a:r>
            <a:r>
              <a:rPr lang="es-ES" sz="1000" b="1" kern="100" dirty="0">
                <a:solidFill>
                  <a:srgbClr val="000000"/>
                </a:solidFill>
                <a:effectLst/>
                <a:latin typeface="Calibri" panose="020F0502020204030204" pitchFamily="34" charset="0"/>
                <a:ea typeface="Calibri" panose="020F0502020204030204" pitchFamily="34" charset="0"/>
              </a:rPr>
              <a:t>ecuación de la quinta potencia</a:t>
            </a:r>
            <a:r>
              <a:rPr lang="es-ES" sz="1000" kern="100" dirty="0">
                <a:solidFill>
                  <a:srgbClr val="000000"/>
                </a:solidFill>
                <a:effectLst/>
                <a:latin typeface="Calibri" panose="020F0502020204030204" pitchFamily="34" charset="0"/>
                <a:ea typeface="Calibri" panose="020F0502020204030204" pitchFamily="34" charset="0"/>
              </a:rPr>
              <a:t>:⁅ ⁆</a:t>
            </a:r>
            <a:r>
              <a:rPr lang="es-ES" sz="1000" i="1"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000000"/>
                </a:solidFill>
                <a:effectLst/>
                <a:latin typeface="Calibri" panose="020F0502020204030204" pitchFamily="34" charset="0"/>
                <a:ea typeface="Calibri" panose="020F0502020204030204" pitchFamily="34" charset="0"/>
              </a:rPr>
              <a:t>⁅5⁆</a:t>
            </a:r>
            <a:r>
              <a:rPr lang="es-ES" sz="1000" i="1"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000000"/>
                </a:solidFill>
                <a:effectLst/>
                <a:latin typeface="Calibri" panose="020F0502020204030204" pitchFamily="34" charset="0"/>
                <a:ea typeface="Calibri" panose="020F0502020204030204" pitchFamily="34" charset="0"/>
              </a:rPr>
              <a:t>⁅+ ⁆⁅ ⁆</a:t>
            </a:r>
            <a:r>
              <a:rPr lang="es-ES" sz="1000" i="1"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000000"/>
                </a:solidFill>
                <a:effectLst/>
                <a:latin typeface="Calibri" panose="020F0502020204030204" pitchFamily="34" charset="0"/>
                <a:ea typeface="Calibri" panose="020F0502020204030204" pitchFamily="34" charset="0"/>
              </a:rPr>
              <a:t>⁅4⁆</a:t>
            </a:r>
            <a:r>
              <a:rPr lang="es-ES" sz="1000" i="1"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000000"/>
                </a:solidFill>
                <a:effectLst/>
                <a:latin typeface="Calibri" panose="020F0502020204030204" pitchFamily="34" charset="0"/>
                <a:ea typeface="Calibri" panose="020F0502020204030204" pitchFamily="34" charset="0"/>
              </a:rPr>
              <a:t>⁅+ ⁆⁅ ⁆</a:t>
            </a:r>
            <a:r>
              <a:rPr lang="es-ES" sz="1000" i="1"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000000"/>
                </a:solidFill>
                <a:effectLst/>
                <a:latin typeface="Calibri" panose="020F0502020204030204" pitchFamily="34" charset="0"/>
                <a:ea typeface="Calibri" panose="020F0502020204030204" pitchFamily="34" charset="0"/>
              </a:rPr>
              <a:t>⁅3⁆</a:t>
            </a:r>
            <a:r>
              <a:rPr lang="es-ES" sz="1000" i="1"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000000"/>
                </a:solidFill>
                <a:effectLst/>
                <a:latin typeface="Calibri" panose="020F0502020204030204" pitchFamily="34" charset="0"/>
                <a:ea typeface="Calibri" panose="020F0502020204030204" pitchFamily="34" charset="0"/>
              </a:rPr>
              <a:t>⁅+ ⁆⁅ ⁆</a:t>
            </a:r>
            <a:r>
              <a:rPr lang="es-ES" sz="1000" i="1"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000000"/>
                </a:solidFill>
                <a:effectLst/>
                <a:latin typeface="Calibri" panose="020F0502020204030204" pitchFamily="34" charset="0"/>
                <a:ea typeface="Calibri" panose="020F0502020204030204" pitchFamily="34" charset="0"/>
              </a:rPr>
              <a:t>⁅2⁆</a:t>
            </a:r>
            <a:r>
              <a:rPr lang="es-ES" sz="1000" i="1"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000000"/>
                </a:solidFill>
                <a:effectLst/>
                <a:latin typeface="Calibri" panose="020F0502020204030204" pitchFamily="34" charset="0"/>
                <a:ea typeface="Calibri" panose="020F0502020204030204" pitchFamily="34" charset="0"/>
              </a:rPr>
              <a:t>⁅+  + =0⁆x5+ax4+bx3+cx2+dx+e=0</a:t>
            </a:r>
          </a:p>
          <a:p>
            <a:pPr marL="742950" lvl="1" indent="-28575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Aunque hay ecuaciones específicas de grado cinco o superior que se pueden resolver en términos de raíces (por ejemplo, las ecuaciones </a:t>
            </a:r>
            <a:r>
              <a:rPr lang="es-ES" sz="1000" b="1" kern="100" dirty="0">
                <a:solidFill>
                  <a:srgbClr val="000000"/>
                </a:solidFill>
                <a:effectLst/>
                <a:latin typeface="Calibri" panose="020F0502020204030204" pitchFamily="34" charset="0"/>
                <a:ea typeface="Calibri" panose="020F0502020204030204" pitchFamily="34" charset="0"/>
              </a:rPr>
              <a:t>cíclicas</a:t>
            </a:r>
            <a:r>
              <a:rPr lang="es-ES" sz="1000" kern="100" dirty="0">
                <a:solidFill>
                  <a:srgbClr val="000000"/>
                </a:solidFill>
                <a:effectLst/>
                <a:latin typeface="Calibri" panose="020F0502020204030204" pitchFamily="34" charset="0"/>
                <a:ea typeface="Calibri" panose="020F0502020204030204" pitchFamily="34" charset="0"/>
              </a:rPr>
              <a:t>), el teorema de Abel-Ruffini se refiere a ecuaciones generales con coeficientes arbitrarios.</a:t>
            </a:r>
          </a:p>
          <a:p>
            <a:pPr marL="457200" indent="-228600" algn="l">
              <a:spcAft>
                <a:spcPts val="460"/>
              </a:spcAft>
            </a:pPr>
            <a:r>
              <a:rPr lang="es-ES" sz="1000" b="1" kern="100" dirty="0">
                <a:solidFill>
                  <a:srgbClr val="000000"/>
                </a:solidFill>
                <a:effectLst/>
                <a:latin typeface="Calibri" panose="020F0502020204030204" pitchFamily="34" charset="0"/>
                <a:ea typeface="Calibri" panose="020F0502020204030204" pitchFamily="34" charset="0"/>
              </a:rPr>
              <a:t>Fundamentalmente Imposible</a:t>
            </a:r>
            <a:r>
              <a:rPr lang="es-ES" sz="1000" kern="100" dirty="0">
                <a:solidFill>
                  <a:srgbClr val="000000"/>
                </a:solidFill>
                <a:effectLst/>
                <a:latin typeface="Calibri" panose="020F0502020204030204" pitchFamily="34" charset="0"/>
                <a:ea typeface="Calibri" panose="020F0502020204030204" pitchFamily="34" charset="0"/>
              </a:rPr>
              <a:t>:</a:t>
            </a:r>
          </a:p>
          <a:p>
            <a:pPr marL="342900" lvl="0" indent="-34290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 </a:t>
            </a:r>
          </a:p>
          <a:p>
            <a:pPr marL="742950" lvl="1" indent="-28575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La imposibilidad de resolver estas ecuaciones en términos de raíces contrasta con los casos de menor grado.</a:t>
            </a:r>
          </a:p>
          <a:p>
            <a:pPr marL="742950" lvl="1" indent="-28575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Para ecuaciones de segundo, tercer y cuarto grado, existen fórmulas específicas (como la </a:t>
            </a:r>
            <a:r>
              <a:rPr lang="es-ES" sz="1000" b="1" kern="100" dirty="0">
                <a:solidFill>
                  <a:srgbClr val="000000"/>
                </a:solidFill>
                <a:effectLst/>
                <a:latin typeface="Calibri" panose="020F0502020204030204" pitchFamily="34" charset="0"/>
                <a:ea typeface="Calibri" panose="020F0502020204030204" pitchFamily="34" charset="0"/>
              </a:rPr>
              <a:t>fórmula cuadrática</a:t>
            </a:r>
            <a:r>
              <a:rPr lang="es-ES" sz="1000" kern="100" dirty="0">
                <a:solidFill>
                  <a:srgbClr val="000000"/>
                </a:solidFill>
                <a:effectLst/>
                <a:latin typeface="Calibri" panose="020F0502020204030204" pitchFamily="34" charset="0"/>
                <a:ea typeface="Calibri" panose="020F0502020204030204" pitchFamily="34" charset="0"/>
              </a:rPr>
              <a:t>, la </a:t>
            </a:r>
            <a:r>
              <a:rPr lang="es-ES" sz="1000" b="1" kern="100" dirty="0">
                <a:solidFill>
                  <a:srgbClr val="000000"/>
                </a:solidFill>
                <a:effectLst/>
                <a:latin typeface="Calibri" panose="020F0502020204030204" pitchFamily="34" charset="0"/>
                <a:ea typeface="Calibri" panose="020F0502020204030204" pitchFamily="34" charset="0"/>
              </a:rPr>
              <a:t>fórmula cúbica</a:t>
            </a:r>
            <a:r>
              <a:rPr lang="es-ES" sz="1000" kern="100" dirty="0">
                <a:solidFill>
                  <a:srgbClr val="000000"/>
                </a:solidFill>
                <a:effectLst/>
                <a:latin typeface="Calibri" panose="020F0502020204030204" pitchFamily="34" charset="0"/>
                <a:ea typeface="Calibri" panose="020F0502020204030204" pitchFamily="34" charset="0"/>
              </a:rPr>
              <a:t> y la </a:t>
            </a:r>
            <a:r>
              <a:rPr lang="es-ES" sz="1000" b="1" kern="100" dirty="0">
                <a:solidFill>
                  <a:srgbClr val="000000"/>
                </a:solidFill>
                <a:effectLst/>
                <a:latin typeface="Calibri" panose="020F0502020204030204" pitchFamily="34" charset="0"/>
                <a:ea typeface="Calibri" panose="020F0502020204030204" pitchFamily="34" charset="0"/>
              </a:rPr>
              <a:t>fórmula </a:t>
            </a:r>
            <a:r>
              <a:rPr lang="es-ES" sz="1000" b="1" kern="100" dirty="0" err="1">
                <a:solidFill>
                  <a:srgbClr val="000000"/>
                </a:solidFill>
                <a:effectLst/>
                <a:latin typeface="Calibri" panose="020F0502020204030204" pitchFamily="34" charset="0"/>
                <a:ea typeface="Calibri" panose="020F0502020204030204" pitchFamily="34" charset="0"/>
              </a:rPr>
              <a:t>cuártica</a:t>
            </a:r>
            <a:r>
              <a:rPr lang="es-ES" sz="1000" kern="100" dirty="0">
                <a:solidFill>
                  <a:srgbClr val="000000"/>
                </a:solidFill>
                <a:effectLst/>
                <a:latin typeface="Calibri" panose="020F0502020204030204" pitchFamily="34" charset="0"/>
                <a:ea typeface="Calibri" panose="020F0502020204030204" pitchFamily="34" charset="0"/>
              </a:rPr>
              <a:t>) que proporcionan soluciones en términos de raíces.</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En resumen, aunque no podemos expresar todas las soluciones de ecuaciones polinómicas generales de grado cinco o superior en términos de raíces, sí existen ecuaciones específicas que se pueden resolver de esta manera. El teorema de Abel-Ruffini establece una limitación fundamental en la búsqueda de fórmulas generales para estas ecuaciones. 🌟🔢</a:t>
            </a:r>
          </a:p>
          <a:p>
            <a:pPr marL="5715" indent="-5715" algn="l">
              <a:spcAft>
                <a:spcPts val="460"/>
              </a:spcAft>
            </a:pPr>
            <a:r>
              <a:rPr lang="es-ES" sz="1000" u="sng" kern="100" baseline="30000" dirty="0">
                <a:solidFill>
                  <a:srgbClr val="0000FF"/>
                </a:solidFill>
                <a:effectLst/>
                <a:latin typeface="Calibri" panose="020F0502020204030204" pitchFamily="34" charset="0"/>
                <a:ea typeface="Calibri" panose="020F0502020204030204" pitchFamily="34" charset="0"/>
                <a:hlinkClick r:id="rId7"/>
              </a:rPr>
              <a:t>1</a:t>
            </a:r>
            <a:r>
              <a:rPr lang="es-ES" sz="1000" kern="100" dirty="0">
                <a:solidFill>
                  <a:srgbClr val="000000"/>
                </a:solidFill>
                <a:effectLst/>
                <a:latin typeface="Calibri" panose="020F0502020204030204" pitchFamily="34" charset="0"/>
                <a:ea typeface="Calibri" panose="020F0502020204030204" pitchFamily="34" charset="0"/>
              </a:rPr>
              <a:t>: </a:t>
            </a:r>
            <a:r>
              <a:rPr lang="es-ES" sz="1000" u="sng" kern="100" dirty="0">
                <a:solidFill>
                  <a:srgbClr val="0000FF"/>
                </a:solidFill>
                <a:effectLst/>
                <a:latin typeface="Calibri" panose="020F0502020204030204" pitchFamily="34" charset="0"/>
                <a:ea typeface="Calibri" panose="020F0502020204030204" pitchFamily="34" charset="0"/>
                <a:hlinkClick r:id="rId7"/>
              </a:rPr>
              <a:t>Wikipedia - Abel-Ruffini </a:t>
            </a:r>
            <a:r>
              <a:rPr lang="es-ES" sz="1000" u="sng" kern="100" dirty="0" err="1">
                <a:solidFill>
                  <a:srgbClr val="0000FF"/>
                </a:solidFill>
                <a:effectLst/>
                <a:latin typeface="Calibri" panose="020F0502020204030204" pitchFamily="34" charset="0"/>
                <a:ea typeface="Calibri" panose="020F0502020204030204" pitchFamily="34" charset="0"/>
                <a:hlinkClick r:id="rId7"/>
              </a:rPr>
              <a:t>theorem</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b="1" kern="100" dirty="0">
                <a:solidFill>
                  <a:srgbClr val="000000"/>
                </a:solidFill>
                <a:effectLst/>
                <a:latin typeface="Calibri" panose="020F0502020204030204" pitchFamily="34" charset="0"/>
                <a:ea typeface="Calibri" panose="020F0502020204030204" pitchFamily="34" charset="0"/>
              </a:rPr>
              <a:t>Más información</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u="sng" kern="100" dirty="0">
                <a:solidFill>
                  <a:srgbClr val="0000FF"/>
                </a:solidFill>
                <a:effectLst/>
                <a:latin typeface="Calibri" panose="020F0502020204030204" pitchFamily="34" charset="0"/>
                <a:ea typeface="Calibri" panose="020F0502020204030204" pitchFamily="34" charset="0"/>
                <a:hlinkClick r:id="rId7"/>
              </a:rPr>
              <a:t>1en.wikipedia.org</a:t>
            </a:r>
            <a:r>
              <a:rPr lang="es-ES" sz="1000" u="sng" kern="100" dirty="0">
                <a:solidFill>
                  <a:srgbClr val="0000FF"/>
                </a:solidFill>
                <a:effectLst/>
                <a:latin typeface="Calibri" panose="020F0502020204030204" pitchFamily="34" charset="0"/>
                <a:ea typeface="Calibri" panose="020F0502020204030204" pitchFamily="34" charset="0"/>
                <a:hlinkClick r:id="rId8"/>
              </a:rPr>
              <a:t>2proofassistants.stackexchange.com</a:t>
            </a:r>
            <a:r>
              <a:rPr lang="es-ES" sz="1000" u="sng" kern="100" dirty="0">
                <a:solidFill>
                  <a:srgbClr val="0000FF"/>
                </a:solidFill>
                <a:effectLst/>
                <a:latin typeface="Calibri" panose="020F0502020204030204" pitchFamily="34" charset="0"/>
                <a:ea typeface="Calibri" panose="020F0502020204030204" pitchFamily="34" charset="0"/>
                <a:hlinkClick r:id="rId9"/>
              </a:rPr>
              <a:t>3math.stackexchange.com</a:t>
            </a:r>
            <a:r>
              <a:rPr lang="es-ES" sz="1000" u="sng" kern="100" dirty="0">
                <a:solidFill>
                  <a:srgbClr val="0000FF"/>
                </a:solidFill>
                <a:effectLst/>
                <a:latin typeface="Calibri" panose="020F0502020204030204" pitchFamily="34" charset="0"/>
                <a:ea typeface="Calibri" panose="020F0502020204030204" pitchFamily="34" charset="0"/>
                <a:hlinkClick r:id="rId10"/>
              </a:rPr>
              <a:t>4dbpedia.org</a:t>
            </a:r>
            <a:r>
              <a:rPr lang="es-ES" sz="1000" u="sng" kern="100" dirty="0">
                <a:solidFill>
                  <a:srgbClr val="0000FF"/>
                </a:solidFill>
                <a:effectLst/>
                <a:latin typeface="Calibri" panose="020F0502020204030204" pitchFamily="34" charset="0"/>
                <a:ea typeface="Calibri" panose="020F0502020204030204" pitchFamily="34" charset="0"/>
                <a:hlinkClick r:id="rId11"/>
              </a:rPr>
              <a:t>5ecuaciones.org</a:t>
            </a:r>
            <a:r>
              <a:rPr lang="es-ES" sz="1000" u="sng" kern="100" dirty="0">
                <a:solidFill>
                  <a:srgbClr val="0000FF"/>
                </a:solidFill>
                <a:effectLst/>
                <a:latin typeface="Calibri" panose="020F0502020204030204" pitchFamily="34" charset="0"/>
                <a:ea typeface="Calibri" panose="020F0502020204030204" pitchFamily="34" charset="0"/>
                <a:hlinkClick r:id="rId12"/>
              </a:rPr>
              <a:t>6es.wikipedia.org</a:t>
            </a:r>
            <a:r>
              <a:rPr lang="es-ES" sz="1000" u="sng" kern="100" dirty="0">
                <a:solidFill>
                  <a:srgbClr val="0000FF"/>
                </a:solidFill>
                <a:effectLst/>
                <a:latin typeface="Calibri" panose="020F0502020204030204" pitchFamily="34" charset="0"/>
                <a:ea typeface="Calibri" panose="020F0502020204030204" pitchFamily="34" charset="0"/>
                <a:hlinkClick r:id="rId13"/>
              </a:rPr>
              <a:t>7math.stackexchange.com</a:t>
            </a:r>
            <a:r>
              <a:rPr lang="es-ES" sz="1000" u="sng" kern="100" dirty="0">
                <a:solidFill>
                  <a:srgbClr val="0000FF"/>
                </a:solidFill>
                <a:effectLst/>
                <a:latin typeface="Calibri" panose="020F0502020204030204" pitchFamily="34" charset="0"/>
                <a:ea typeface="Calibri" panose="020F0502020204030204" pitchFamily="34" charset="0"/>
                <a:hlinkClick r:id="rId14"/>
              </a:rPr>
              <a:t>8math.stackexchange.com</a:t>
            </a:r>
            <a:r>
              <a:rPr lang="es-ES" sz="1000" u="sng" kern="100" dirty="0">
                <a:solidFill>
                  <a:srgbClr val="0000FF"/>
                </a:solidFill>
                <a:effectLst/>
                <a:latin typeface="Calibri" panose="020F0502020204030204" pitchFamily="34" charset="0"/>
                <a:ea typeface="Calibri" panose="020F0502020204030204" pitchFamily="34" charset="0"/>
                <a:hlinkClick r:id="rId15"/>
              </a:rPr>
              <a:t>9math.stackexchange.com</a:t>
            </a:r>
            <a:r>
              <a:rPr lang="es-ES" sz="1000" u="sng" kern="100" dirty="0">
                <a:solidFill>
                  <a:srgbClr val="0000FF"/>
                </a:solidFill>
                <a:effectLst/>
                <a:latin typeface="Calibri" panose="020F0502020204030204" pitchFamily="34" charset="0"/>
                <a:ea typeface="Calibri" panose="020F0502020204030204" pitchFamily="34" charset="0"/>
                <a:hlinkClick r:id="rId16"/>
              </a:rPr>
              <a:t>10courses.csail.mit.edu</a:t>
            </a:r>
            <a:r>
              <a:rPr lang="es-ES" sz="1000" u="sng" kern="100" dirty="0">
                <a:solidFill>
                  <a:srgbClr val="0000FF"/>
                </a:solidFill>
                <a:effectLst/>
                <a:latin typeface="Calibri" panose="020F0502020204030204" pitchFamily="34" charset="0"/>
                <a:ea typeface="Calibri" panose="020F0502020204030204" pitchFamily="34" charset="0"/>
                <a:hlinkClick r:id="rId12"/>
              </a:rPr>
              <a:t>11es.wikipedia.org</a:t>
            </a:r>
            <a:r>
              <a:rPr lang="es-ES" sz="1000" kern="100" dirty="0">
                <a:solidFill>
                  <a:srgbClr val="000000"/>
                </a:solidFill>
                <a:effectLst/>
                <a:latin typeface="Calibri" panose="020F0502020204030204" pitchFamily="34" charset="0"/>
                <a:ea typeface="Calibri" panose="020F0502020204030204" pitchFamily="34" charset="0"/>
              </a:rPr>
              <a:t>+9 más</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Usted</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como se relaciona esto con la imposibilidad de generar primos en coste lineal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err="1">
                <a:solidFill>
                  <a:srgbClr val="000000"/>
                </a:solidFill>
                <a:effectLst/>
                <a:latin typeface="Calibri" panose="020F0502020204030204" pitchFamily="34" charset="0"/>
                <a:ea typeface="Calibri" panose="020F0502020204030204" pitchFamily="34" charset="0"/>
              </a:rPr>
              <a:t>Copilot</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El </a:t>
            </a:r>
            <a:r>
              <a:rPr lang="es-ES" sz="1000" b="1" kern="100" dirty="0">
                <a:solidFill>
                  <a:srgbClr val="000000"/>
                </a:solidFill>
                <a:effectLst/>
                <a:latin typeface="Calibri" panose="020F0502020204030204" pitchFamily="34" charset="0"/>
                <a:ea typeface="Calibri" panose="020F0502020204030204" pitchFamily="34" charset="0"/>
              </a:rPr>
              <a:t>teorema de Abel-Ruffini</a:t>
            </a:r>
            <a:r>
              <a:rPr lang="es-ES" sz="1000" kern="100" dirty="0">
                <a:solidFill>
                  <a:srgbClr val="000000"/>
                </a:solidFill>
                <a:effectLst/>
                <a:latin typeface="Calibri" panose="020F0502020204030204" pitchFamily="34" charset="0"/>
                <a:ea typeface="Calibri" panose="020F0502020204030204" pitchFamily="34" charset="0"/>
              </a:rPr>
              <a:t> y la </a:t>
            </a:r>
            <a:r>
              <a:rPr lang="es-ES" sz="1000" b="1" kern="100" dirty="0">
                <a:solidFill>
                  <a:srgbClr val="000000"/>
                </a:solidFill>
                <a:effectLst/>
                <a:latin typeface="Calibri" panose="020F0502020204030204" pitchFamily="34" charset="0"/>
                <a:ea typeface="Calibri" panose="020F0502020204030204" pitchFamily="34" charset="0"/>
              </a:rPr>
              <a:t>imposibilidad de generar primos en coste lineal</a:t>
            </a:r>
            <a:r>
              <a:rPr lang="es-ES" sz="1000" kern="100" dirty="0">
                <a:solidFill>
                  <a:srgbClr val="000000"/>
                </a:solidFill>
                <a:effectLst/>
                <a:latin typeface="Calibri" panose="020F0502020204030204" pitchFamily="34" charset="0"/>
                <a:ea typeface="Calibri" panose="020F0502020204030204" pitchFamily="34" charset="0"/>
              </a:rPr>
              <a:t> están relacionados en el contexto de las matemáticas y la teoría de números. Permíteme explicarte cómo se conectan:</a:t>
            </a:r>
          </a:p>
          <a:p>
            <a:pPr marL="457200" indent="-228600" algn="l">
              <a:spcAft>
                <a:spcPts val="460"/>
              </a:spcAft>
            </a:pPr>
            <a:r>
              <a:rPr lang="es-ES" sz="1000" b="1" kern="100" dirty="0">
                <a:solidFill>
                  <a:srgbClr val="000000"/>
                </a:solidFill>
                <a:effectLst/>
                <a:latin typeface="Calibri" panose="020F0502020204030204" pitchFamily="34" charset="0"/>
                <a:ea typeface="Calibri" panose="020F0502020204030204" pitchFamily="34" charset="0"/>
              </a:rPr>
              <a:t>Teorema de Abel-Ruffini</a:t>
            </a:r>
            <a:r>
              <a:rPr lang="es-ES" sz="1000" kern="100" dirty="0">
                <a:solidFill>
                  <a:srgbClr val="000000"/>
                </a:solidFill>
                <a:effectLst/>
                <a:latin typeface="Calibri" panose="020F0502020204030204" pitchFamily="34" charset="0"/>
                <a:ea typeface="Calibri" panose="020F0502020204030204" pitchFamily="34" charset="0"/>
              </a:rPr>
              <a:t>:</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6858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El teorema de Abel-Ruffini establece que no es posible resolver </a:t>
            </a:r>
            <a:r>
              <a:rPr lang="es-ES" sz="1000" b="1" kern="100" dirty="0">
                <a:solidFill>
                  <a:srgbClr val="000000"/>
                </a:solidFill>
                <a:effectLst/>
                <a:latin typeface="Calibri" panose="020F0502020204030204" pitchFamily="34" charset="0"/>
                <a:ea typeface="Calibri" panose="020F0502020204030204" pitchFamily="34" charset="0"/>
              </a:rPr>
              <a:t>ecuaciones polinómicas generales</a:t>
            </a:r>
            <a:r>
              <a:rPr lang="es-ES" sz="1000" kern="100" dirty="0">
                <a:solidFill>
                  <a:srgbClr val="000000"/>
                </a:solidFill>
                <a:effectLst/>
                <a:latin typeface="Calibri" panose="020F0502020204030204" pitchFamily="34" charset="0"/>
                <a:ea typeface="Calibri" panose="020F0502020204030204" pitchFamily="34" charset="0"/>
              </a:rPr>
              <a:t> de grado cinco o superior utilizando solo </a:t>
            </a:r>
            <a:r>
              <a:rPr lang="es-ES" sz="1000" b="1" kern="100" dirty="0">
                <a:solidFill>
                  <a:srgbClr val="000000"/>
                </a:solidFill>
                <a:effectLst/>
                <a:latin typeface="Calibri" panose="020F0502020204030204" pitchFamily="34" charset="0"/>
                <a:ea typeface="Calibri" panose="020F0502020204030204" pitchFamily="34" charset="0"/>
              </a:rPr>
              <a:t>raíces</a:t>
            </a:r>
            <a:r>
              <a:rPr lang="es-ES" sz="1000" kern="100" dirty="0">
                <a:solidFill>
                  <a:srgbClr val="000000"/>
                </a:solidFill>
                <a:effectLst/>
                <a:latin typeface="Calibri" panose="020F0502020204030204" pitchFamily="34" charset="0"/>
                <a:ea typeface="Calibri" panose="020F0502020204030204" pitchFamily="34" charset="0"/>
              </a:rPr>
              <a:t> (es decir, radicales).</a:t>
            </a:r>
          </a:p>
          <a:p>
            <a:pPr marL="11430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Esto significa que no existe una fórmula general que exprese las soluciones de estas ecuaciones en términos de sus coeficientes y operaciones aritméticas básicas.</a:t>
            </a:r>
          </a:p>
          <a:p>
            <a:pPr marL="11430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En otras palabras, no podemos encontrar una solución en términos de raíces para ecuaciones polinómicas de alto grado.</a:t>
            </a:r>
          </a:p>
          <a:p>
            <a:pPr marL="342900" lvl="0" indent="-342900" algn="l">
              <a:spcAft>
                <a:spcPts val="460"/>
              </a:spcAft>
              <a:buFont typeface="+mj-lt"/>
              <a:buAutoNum type="arabicPeriod"/>
            </a:pPr>
            <a:r>
              <a:rPr lang="es-ES" sz="1000" b="1" kern="100" dirty="0">
                <a:solidFill>
                  <a:srgbClr val="000000"/>
                </a:solidFill>
                <a:effectLst/>
                <a:latin typeface="Calibri" panose="020F0502020204030204" pitchFamily="34" charset="0"/>
                <a:ea typeface="Calibri" panose="020F0502020204030204" pitchFamily="34" charset="0"/>
              </a:rPr>
              <a:t>Imposibilidad de Generar Primos en Coste Lineal</a:t>
            </a:r>
            <a:r>
              <a:rPr lang="es-ES" sz="1000" kern="100" dirty="0">
                <a:solidFill>
                  <a:srgbClr val="000000"/>
                </a:solidFill>
                <a:effectLst/>
                <a:latin typeface="Calibri" panose="020F0502020204030204" pitchFamily="34" charset="0"/>
                <a:ea typeface="Calibri" panose="020F0502020204030204" pitchFamily="34" charset="0"/>
              </a:rPr>
              <a:t>:</a:t>
            </a:r>
          </a:p>
          <a:p>
            <a:pPr marL="342900" lvl="0" indent="-34290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 </a:t>
            </a:r>
          </a:p>
          <a:p>
            <a:pPr marL="742950" lvl="1" indent="-28575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La afirmación de que “si es falsa, los primos se podrían generar con coste temporal lineal” se refiere a la búsqueda de un algoritmo que genere todos los números primos de manera eficiente.</a:t>
            </a:r>
          </a:p>
          <a:p>
            <a:pPr marL="742950" lvl="1" indent="-28575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Hasta ahora, no se ha encontrado una solución lineal para este problema. El algoritmo más eficiente conocido actualmente es el </a:t>
            </a:r>
            <a:r>
              <a:rPr lang="es-ES" sz="1000" b="1" kern="100" dirty="0">
                <a:solidFill>
                  <a:srgbClr val="000000"/>
                </a:solidFill>
                <a:effectLst/>
                <a:latin typeface="Calibri" panose="020F0502020204030204" pitchFamily="34" charset="0"/>
                <a:ea typeface="Calibri" panose="020F0502020204030204" pitchFamily="34" charset="0"/>
              </a:rPr>
              <a:t>criba de Eratóstenes</a:t>
            </a:r>
            <a:r>
              <a:rPr lang="es-ES" sz="1000" kern="100" dirty="0">
                <a:solidFill>
                  <a:srgbClr val="000000"/>
                </a:solidFill>
                <a:effectLst/>
                <a:latin typeface="Calibri" panose="020F0502020204030204" pitchFamily="34" charset="0"/>
                <a:ea typeface="Calibri" panose="020F0502020204030204" pitchFamily="34" charset="0"/>
              </a:rPr>
              <a:t>, que tiene un costo temporal de </a:t>
            </a:r>
            <a:r>
              <a:rPr lang="es-ES" sz="1000" b="1" kern="100" dirty="0">
                <a:solidFill>
                  <a:srgbClr val="000000"/>
                </a:solidFill>
                <a:effectLst/>
                <a:latin typeface="Calibri" panose="020F0502020204030204" pitchFamily="34" charset="0"/>
                <a:ea typeface="Calibri" panose="020F0502020204030204" pitchFamily="34" charset="0"/>
              </a:rPr>
              <a:t>O(n log </a:t>
            </a:r>
            <a:r>
              <a:rPr lang="es-ES" sz="1000" b="1" kern="100" dirty="0" err="1">
                <a:solidFill>
                  <a:srgbClr val="000000"/>
                </a:solidFill>
                <a:effectLst/>
                <a:latin typeface="Calibri" panose="020F0502020204030204" pitchFamily="34" charset="0"/>
                <a:ea typeface="Calibri" panose="020F0502020204030204" pitchFamily="34" charset="0"/>
              </a:rPr>
              <a:t>log</a:t>
            </a:r>
            <a:r>
              <a:rPr lang="es-ES" sz="1000" b="1" kern="100" dirty="0">
                <a:solidFill>
                  <a:srgbClr val="000000"/>
                </a:solidFill>
                <a:effectLst/>
                <a:latin typeface="Calibri" panose="020F0502020204030204" pitchFamily="34" charset="0"/>
                <a:ea typeface="Calibri" panose="020F0502020204030204" pitchFamily="34" charset="0"/>
              </a:rPr>
              <a:t> n)</a:t>
            </a:r>
            <a:r>
              <a:rPr lang="es-ES" sz="1000" kern="100" dirty="0">
                <a:solidFill>
                  <a:srgbClr val="000000"/>
                </a:solidFill>
                <a:effectLst/>
                <a:latin typeface="Calibri" panose="020F0502020204030204" pitchFamily="34" charset="0"/>
                <a:ea typeface="Calibri" panose="020F0502020204030204" pitchFamily="34" charset="0"/>
              </a:rPr>
              <a:t>.</a:t>
            </a:r>
          </a:p>
          <a:p>
            <a:pPr marL="742950" lvl="1" indent="-28575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Aunque no es lineal, el criba de Eratóstenes es rápido y práctico para la mayoría de los propósitos.</a:t>
            </a:r>
          </a:p>
          <a:p>
            <a:pPr marL="342900" lvl="0" indent="-342900" algn="l">
              <a:spcAft>
                <a:spcPts val="460"/>
              </a:spcAft>
              <a:buFont typeface="+mj-lt"/>
              <a:buAutoNum type="arabicPeriod"/>
            </a:pPr>
            <a:r>
              <a:rPr lang="es-ES" sz="1000" b="1" kern="100" dirty="0">
                <a:solidFill>
                  <a:srgbClr val="000000"/>
                </a:solidFill>
                <a:effectLst/>
                <a:latin typeface="Calibri" panose="020F0502020204030204" pitchFamily="34" charset="0"/>
                <a:ea typeface="Calibri" panose="020F0502020204030204" pitchFamily="34" charset="0"/>
              </a:rPr>
              <a:t>Conexión</a:t>
            </a:r>
            <a:r>
              <a:rPr lang="es-ES" sz="1000" kern="100" dirty="0">
                <a:solidFill>
                  <a:srgbClr val="000000"/>
                </a:solidFill>
                <a:effectLst/>
                <a:latin typeface="Calibri" panose="020F0502020204030204" pitchFamily="34" charset="0"/>
                <a:ea typeface="Calibri" panose="020F0502020204030204" pitchFamily="34" charset="0"/>
              </a:rPr>
              <a:t>:</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El teorema de Abel-Ruffini demuestra que no podemos resolver ecuaciones polinómicas de alto grado en términos de raíces.</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La imposibilidad de generar primos en coste lineal se refiere a la búsqueda de un algoritmo que genere todos los números primos de manera eficiente.</a:t>
            </a: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Ambos conceptos se relacionan con la búsqueda de soluciones sistemáticas y eficientes en matemáticas.</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En resumen, aunque no podemos resolver ecuaciones polinómicas generales de alto grado en términos de raíces, sí podemos utilizar algoritmos como el criba de Eratóstenes para enumerar los números primos de manera eficiente. Ambos temas son fascinantes y desafiantes en el campo de las matemáticas.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5715" indent="-5715" algn="l">
              <a:spcAft>
                <a:spcPts val="460"/>
              </a:spcAft>
            </a:pPr>
            <a:r>
              <a:rPr lang="es-ES" sz="800" kern="100" dirty="0">
                <a:solidFill>
                  <a:srgbClr val="000000"/>
                </a:solidFill>
                <a:effectLst/>
                <a:latin typeface="Calibri" panose="020F0502020204030204" pitchFamily="34" charset="0"/>
                <a:ea typeface="Calibri" panose="020F0502020204030204" pitchFamily="34" charset="0"/>
              </a:rPr>
              <a:t> </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El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teorema de Abel-Ruffini</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establece que no es posible resolver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ecuaciones polinómicas generales</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de grado cinco o superior utilizando solo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raíces</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(es decir, radicales). </a:t>
            </a:r>
            <a:r>
              <a:rPr lang="es-ES" sz="1000" u="sng" kern="100" dirty="0">
                <a:solidFill>
                  <a:srgbClr val="0000FF"/>
                </a:solidFill>
                <a:effectLst/>
                <a:highlight>
                  <a:srgbClr val="FFFFFF"/>
                </a:highlight>
                <a:latin typeface="Calibri" panose="020F0502020204030204" pitchFamily="34" charset="0"/>
                <a:ea typeface="Calibri" panose="020F0502020204030204" pitchFamily="34" charset="0"/>
                <a:hlinkClick r:id="rId7"/>
              </a:rPr>
              <a:t>Esto significa que no existe una fórmula general que exprese las soluciones de estas ecuaciones en términos de sus coeficientes y operaciones aritméticas básicas</a:t>
            </a:r>
            <a:r>
              <a:rPr lang="es-ES" sz="1000" u="sng" kern="100" baseline="30000" dirty="0">
                <a:solidFill>
                  <a:srgbClr val="0000FF"/>
                </a:solidFill>
                <a:effectLst/>
                <a:highlight>
                  <a:srgbClr val="FFFFFF"/>
                </a:highlight>
                <a:latin typeface="Calibri" panose="020F0502020204030204" pitchFamily="34" charset="0"/>
                <a:ea typeface="Calibri" panose="020F0502020204030204" pitchFamily="34" charset="0"/>
                <a:hlinkClick r:id="rId7"/>
              </a:rPr>
              <a:t>1</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En el contexto de los números primos, esto tiene implicaciones interesantes:</a:t>
            </a:r>
            <a:endParaRPr lang="es-ES" sz="1000" kern="100" dirty="0">
              <a:solidFill>
                <a:srgbClr val="000000"/>
              </a:solidFill>
              <a:effectLst/>
              <a:latin typeface="Calibri" panose="020F0502020204030204" pitchFamily="34" charset="0"/>
              <a:ea typeface="Calibri" panose="020F0502020204030204" pitchFamily="34" charset="0"/>
            </a:endParaRPr>
          </a:p>
          <a:p>
            <a:pPr marL="457200" indent="-228600" algn="l">
              <a:spcAft>
                <a:spcPts val="460"/>
              </a:spcAft>
            </a:pP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Generación Lineal de Primos</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000" kern="100" dirty="0">
              <a:solidFill>
                <a:srgbClr val="000000"/>
              </a:solidFill>
              <a:effectLst/>
              <a:latin typeface="Calibri" panose="020F0502020204030204" pitchFamily="34" charset="0"/>
              <a:ea typeface="Calibri" panose="020F0502020204030204" pitchFamily="34" charset="0"/>
            </a:endParaRP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1143000" indent="-228600"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Si interpretamos “generar linealmente” como encontrar una fórmula o algoritmo que produzca todos los números primos, entonces la afirmación es falsa.</a:t>
            </a:r>
            <a:endParaRPr lang="es-ES" sz="1000" kern="100" dirty="0">
              <a:solidFill>
                <a:srgbClr val="000000"/>
              </a:solidFill>
              <a:effectLst/>
              <a:latin typeface="Calibri" panose="020F0502020204030204" pitchFamily="34" charset="0"/>
              <a:ea typeface="Calibri" panose="020F0502020204030204" pitchFamily="34" charset="0"/>
            </a:endParaRPr>
          </a:p>
          <a:p>
            <a:pPr marL="685800" indent="-228600"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Hasta ahora, no se ha encontrado una solución lineal para este problema. El algoritmo más eficiente conocido actualmente es el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criba de Eratóstenes</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 que tiene un costo temporal de </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O(n log </a:t>
            </a:r>
            <a:r>
              <a:rPr lang="es-ES" sz="1000" b="1" kern="100" dirty="0" err="1">
                <a:solidFill>
                  <a:srgbClr val="111111"/>
                </a:solidFill>
                <a:effectLst/>
                <a:highlight>
                  <a:srgbClr val="FFFFFF"/>
                </a:highlight>
                <a:latin typeface="Calibri" panose="020F0502020204030204" pitchFamily="34" charset="0"/>
                <a:ea typeface="Calibri" panose="020F0502020204030204" pitchFamily="34" charset="0"/>
              </a:rPr>
              <a:t>log</a:t>
            </a: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 n)</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000" kern="100" dirty="0">
              <a:solidFill>
                <a:srgbClr val="000000"/>
              </a:solidFill>
              <a:effectLst/>
              <a:latin typeface="Calibri" panose="020F0502020204030204" pitchFamily="34" charset="0"/>
              <a:ea typeface="Calibri" panose="020F0502020204030204" pitchFamily="34" charset="0"/>
            </a:endParaRPr>
          </a:p>
          <a:p>
            <a:pPr marL="1143000" indent="-228600"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Aunque no es lineal, el criba de Eratóstenes es rápido y práctico para la mayoría de los propósitos.</a:t>
            </a:r>
            <a:endParaRPr lang="es-ES" sz="1000" kern="100" dirty="0">
              <a:solidFill>
                <a:srgbClr val="000000"/>
              </a:solidFill>
              <a:effectLst/>
              <a:latin typeface="Calibri" panose="020F0502020204030204" pitchFamily="34" charset="0"/>
              <a:ea typeface="Calibri" panose="020F0502020204030204" pitchFamily="34" charset="0"/>
            </a:endParaRPr>
          </a:p>
          <a:p>
            <a:pPr marL="342900" lvl="0" indent="-342900" algn="l">
              <a:spcAft>
                <a:spcPts val="460"/>
              </a:spcAft>
              <a:buFont typeface="+mj-lt"/>
              <a:buAutoNum type="arabicPeriod"/>
            </a:pP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Imposibilidad de Generar Primos en Coste Lineal</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000" kern="100" dirty="0">
              <a:solidFill>
                <a:srgbClr val="000000"/>
              </a:solidFill>
              <a:effectLst/>
              <a:latin typeface="Calibri" panose="020F0502020204030204" pitchFamily="34" charset="0"/>
              <a:ea typeface="Calibri" panose="020F0502020204030204" pitchFamily="34" charset="0"/>
            </a:endParaRPr>
          </a:p>
          <a:p>
            <a:pPr marL="342900" lvl="0" indent="-342900" algn="l">
              <a:spcAft>
                <a:spcPts val="460"/>
              </a:spcAft>
              <a:buFont typeface="+mj-lt"/>
              <a:buAutoNum type="arabicParenBoth"/>
            </a:pPr>
            <a:r>
              <a:rPr lang="es-ES" sz="1000" kern="100" dirty="0">
                <a:solidFill>
                  <a:srgbClr val="000000"/>
                </a:solidFill>
                <a:effectLst/>
                <a:latin typeface="Calibri" panose="020F0502020204030204" pitchFamily="34" charset="0"/>
                <a:ea typeface="Calibri" panose="020F0502020204030204" pitchFamily="34" charset="0"/>
              </a:rPr>
              <a:t> </a:t>
            </a:r>
          </a:p>
          <a:p>
            <a:pPr marL="742950" lvl="1" indent="-285750" algn="l">
              <a:spcAft>
                <a:spcPts val="460"/>
              </a:spcAft>
              <a:buFont typeface="+mj-lt"/>
              <a:buAutoNum type="arabicParenBoth"/>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La afirmación de que “si es falsa, los primos se podrían generar con coste temporal lineal” se refiere a la búsqueda de un algoritmo que genere todos los números primos de manera eficiente.</a:t>
            </a:r>
            <a:endParaRPr lang="es-ES" sz="1000" kern="100" dirty="0">
              <a:solidFill>
                <a:srgbClr val="000000"/>
              </a:solidFill>
              <a:effectLst/>
              <a:latin typeface="Calibri" panose="020F0502020204030204" pitchFamily="34" charset="0"/>
              <a:ea typeface="Calibri" panose="020F0502020204030204" pitchFamily="34" charset="0"/>
            </a:endParaRPr>
          </a:p>
          <a:p>
            <a:pPr marL="742950" lvl="1" indent="-285750" algn="l">
              <a:spcAft>
                <a:spcPts val="460"/>
              </a:spcAft>
              <a:buFont typeface="+mj-lt"/>
              <a:buAutoNum type="arabicParenBoth"/>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Aunque no podemos hacerlo de manera lineal, los algoritmos actuales son altamente eficientes y prácticos.</a:t>
            </a:r>
            <a:endParaRPr lang="es-ES" sz="1000" kern="100" dirty="0">
              <a:solidFill>
                <a:srgbClr val="000000"/>
              </a:solidFill>
              <a:effectLst/>
              <a:latin typeface="Calibri" panose="020F0502020204030204" pitchFamily="34" charset="0"/>
              <a:ea typeface="Calibri" panose="020F0502020204030204" pitchFamily="34" charset="0"/>
            </a:endParaRPr>
          </a:p>
          <a:p>
            <a:pPr marL="457200" indent="-228600" algn="l">
              <a:spcAft>
                <a:spcPts val="460"/>
              </a:spcAft>
            </a:pPr>
            <a:r>
              <a:rPr lang="es-ES" sz="1000" b="1" kern="100" dirty="0">
                <a:solidFill>
                  <a:srgbClr val="111111"/>
                </a:solidFill>
                <a:effectLst/>
                <a:highlight>
                  <a:srgbClr val="FFFFFF"/>
                </a:highlight>
                <a:latin typeface="Calibri" panose="020F0502020204030204" pitchFamily="34" charset="0"/>
                <a:ea typeface="Calibri" panose="020F0502020204030204" pitchFamily="34" charset="0"/>
              </a:rPr>
              <a:t>Relación con Lenguajes Formales</a:t>
            </a: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t>
            </a:r>
            <a:endParaRPr lang="es-ES" sz="1000" kern="100" dirty="0">
              <a:solidFill>
                <a:srgbClr val="000000"/>
              </a:solidFill>
              <a:effectLst/>
              <a:latin typeface="Calibri" panose="020F0502020204030204" pitchFamily="34" charset="0"/>
              <a:ea typeface="Calibri" panose="020F0502020204030204" pitchFamily="34" charset="0"/>
            </a:endParaRPr>
          </a:p>
          <a:p>
            <a:pPr marL="914400" indent="-228600" algn="l">
              <a:spcAft>
                <a:spcPts val="460"/>
              </a:spcAft>
            </a:pPr>
            <a:r>
              <a:rPr lang="es-ES" sz="1000" kern="100" dirty="0">
                <a:solidFill>
                  <a:srgbClr val="000000"/>
                </a:solidFill>
                <a:effectLst/>
                <a:latin typeface="Calibri" panose="020F0502020204030204" pitchFamily="34" charset="0"/>
                <a:ea typeface="Calibri" panose="020F0502020204030204" pitchFamily="34" charset="0"/>
              </a:rPr>
              <a:t> </a:t>
            </a:r>
          </a:p>
          <a:p>
            <a:pPr marL="914400" indent="-228600"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Los lenguajes formales, como los utilizados en la teoría de autómatas y gramáticas, no pueden representar exhaustivamente todos los números primos.</a:t>
            </a:r>
            <a:endParaRPr lang="es-ES" sz="1000" kern="100" dirty="0">
              <a:solidFill>
                <a:srgbClr val="000000"/>
              </a:solidFill>
              <a:effectLst/>
              <a:latin typeface="Calibri" panose="020F0502020204030204" pitchFamily="34" charset="0"/>
              <a:ea typeface="Calibri" panose="020F0502020204030204" pitchFamily="34" charset="0"/>
            </a:endParaRPr>
          </a:p>
          <a:p>
            <a:pPr marL="914400" indent="-228600"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Aunque los lenguajes formales pueden describir propiedades y patrones de los números primos, no pueden generarlos todos de manera lineal o exhaustiva.</a:t>
            </a:r>
            <a:endParaRPr lang="es-ES" sz="1000" kern="100" dirty="0">
              <a:solidFill>
                <a:srgbClr val="000000"/>
              </a:solidFill>
              <a:effectLst/>
              <a:latin typeface="Calibri" panose="020F0502020204030204" pitchFamily="34" charset="0"/>
              <a:ea typeface="Calibri" panose="020F0502020204030204" pitchFamily="34" charset="0"/>
            </a:endParaRPr>
          </a:p>
          <a:p>
            <a:pPr marL="5715" indent="-5715" algn="l">
              <a:spcAft>
                <a:spcPts val="460"/>
              </a:spcAft>
            </a:pPr>
            <a:r>
              <a:rPr lang="es-ES" sz="1000" kern="100" dirty="0">
                <a:solidFill>
                  <a:srgbClr val="111111"/>
                </a:solidFill>
                <a:effectLst/>
                <a:highlight>
                  <a:srgbClr val="FFFFFF"/>
                </a:highlight>
                <a:latin typeface="Calibri" panose="020F0502020204030204" pitchFamily="34" charset="0"/>
                <a:ea typeface="Calibri" panose="020F0502020204030204" pitchFamily="34" charset="0"/>
              </a:rPr>
              <a:t>En resumen, aunque no podemos generar todos los números primos de manera lineal, los algoritmos actuales y los lenguajes formales nos permiten estudiar y comprender sus propiedades de manera eficiente. 🌟🔢</a:t>
            </a:r>
            <a:endParaRPr lang="es-ES" sz="1000" kern="100" dirty="0">
              <a:solidFill>
                <a:srgbClr val="000000"/>
              </a:solidFill>
              <a:effectLst/>
              <a:latin typeface="Calibri" panose="020F0502020204030204" pitchFamily="34" charset="0"/>
              <a:ea typeface="Calibri" panose="020F0502020204030204" pitchFamily="34" charset="0"/>
            </a:endParaRPr>
          </a:p>
          <a:p>
            <a:endParaRPr lang="es-ES" dirty="0"/>
          </a:p>
        </p:txBody>
      </p:sp>
      <p:sp>
        <p:nvSpPr>
          <p:cNvPr id="4" name="Marcador de número de diapositiva 3"/>
          <p:cNvSpPr>
            <a:spLocks noGrp="1"/>
          </p:cNvSpPr>
          <p:nvPr>
            <p:ph type="sldNum" sz="quarter" idx="5"/>
          </p:nvPr>
        </p:nvSpPr>
        <p:spPr/>
        <p:txBody>
          <a:bodyPr/>
          <a:lstStyle/>
          <a:p>
            <a:fld id="{888019AB-D82B-48D4-A5AA-145E84418907}" type="slidenum">
              <a:rPr lang="es-ES" smtClean="0"/>
              <a:t>13</a:t>
            </a:fld>
            <a:endParaRPr lang="es-ES"/>
          </a:p>
        </p:txBody>
      </p:sp>
    </p:spTree>
    <p:extLst>
      <p:ext uri="{BB962C8B-B14F-4D97-AF65-F5344CB8AC3E}">
        <p14:creationId xmlns:p14="http://schemas.microsoft.com/office/powerpoint/2010/main" val="2958435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09340A-1821-9FC0-808E-46DE807579A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2459D9FE-31A6-E8DC-D52B-7C5D5FFE3C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68C7A249-BCBC-6531-C984-4654B0352D00}"/>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5" name="Marcador de pie de página 4">
            <a:extLst>
              <a:ext uri="{FF2B5EF4-FFF2-40B4-BE49-F238E27FC236}">
                <a16:creationId xmlns:a16="http://schemas.microsoft.com/office/drawing/2014/main" id="{EF8AB2D4-D4C0-08DF-A121-1C7C064DE73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3ABB690-D5B3-1B2B-5422-903E696ED5F6}"/>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698612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811C2-BFC5-590A-A2C1-86DEA6D17DE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2607D17-09F8-EC05-1870-D037FE9CDBE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B0A49E3-6ED2-B0FE-BAFB-7BA25C2DA945}"/>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5" name="Marcador de pie de página 4">
            <a:extLst>
              <a:ext uri="{FF2B5EF4-FFF2-40B4-BE49-F238E27FC236}">
                <a16:creationId xmlns:a16="http://schemas.microsoft.com/office/drawing/2014/main" id="{6975D7D4-DCEC-78E2-4228-ED02435B35C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8B13411-B4A1-B6BC-FA2D-6C8C5ED48985}"/>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511783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006235-4A3D-FC5C-9F7B-505ADA9DDE6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4E1BB3E3-9256-AC8A-5BAF-EA9CEE91D2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2E987A9-CE08-8AA7-D8B4-0A92D4150117}"/>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5" name="Marcador de pie de página 4">
            <a:extLst>
              <a:ext uri="{FF2B5EF4-FFF2-40B4-BE49-F238E27FC236}">
                <a16:creationId xmlns:a16="http://schemas.microsoft.com/office/drawing/2014/main" id="{49816178-5366-9213-208F-AF2B12035F3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4BDAD47-901A-F870-D05A-150D84351AB5}"/>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1514732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50CE8E-5681-217D-361E-96B21920E9E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0D624C4-7324-A27F-504A-3F846BE6FB0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C99B55AF-0618-CF5D-96C7-0167140622B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9A930E2E-A9E9-4778-CFB4-9E5B69EABBB4}"/>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6" name="Marcador de pie de página 5">
            <a:extLst>
              <a:ext uri="{FF2B5EF4-FFF2-40B4-BE49-F238E27FC236}">
                <a16:creationId xmlns:a16="http://schemas.microsoft.com/office/drawing/2014/main" id="{79A638EE-3E00-DDB7-0DC8-7915500DB9E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E3BB86E-3600-DB17-F988-8420361F141A}"/>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2422646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DA2F8B-B807-8F3C-07C8-6AA1CBE865BB}"/>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ABEFF0B-503D-02A0-3C67-289B0BAF83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E6117D1-EC35-9FF5-B97C-8054D7EC746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85BE475-3E0E-88BB-1139-9F61B5736C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7458B20-1231-8C36-B5CB-26C4459B45F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B81D9C6-3E5D-0E39-6689-CA1BFB277115}"/>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8" name="Marcador de pie de página 7">
            <a:extLst>
              <a:ext uri="{FF2B5EF4-FFF2-40B4-BE49-F238E27FC236}">
                <a16:creationId xmlns:a16="http://schemas.microsoft.com/office/drawing/2014/main" id="{589F96B7-4D44-670A-2CE9-C5F528B32BE1}"/>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52E6DA8-906A-657A-A57E-E0FBC2885604}"/>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1090733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E2970F-0010-3846-E810-52B78C9E58D8}"/>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BF8D4C03-2365-3571-9BA4-B8B44B9F1B97}"/>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4" name="Marcador de pie de página 3">
            <a:extLst>
              <a:ext uri="{FF2B5EF4-FFF2-40B4-BE49-F238E27FC236}">
                <a16:creationId xmlns:a16="http://schemas.microsoft.com/office/drawing/2014/main" id="{FA162E6B-C14A-A0FA-ED26-B9E7A4B7B1CB}"/>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5777F9E-4237-46C1-6F1B-1BECC71A5A0A}"/>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2964826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687AA96-A968-5C3F-804C-9BB716CC1271}"/>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3" name="Marcador de pie de página 2">
            <a:extLst>
              <a:ext uri="{FF2B5EF4-FFF2-40B4-BE49-F238E27FC236}">
                <a16:creationId xmlns:a16="http://schemas.microsoft.com/office/drawing/2014/main" id="{78B50D26-F4D5-16EA-C9E2-CEC4647EBE6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585669C5-ECD1-1857-4248-22CB052A0241}"/>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2650229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A34194-74B9-1CC0-9213-129DC72FBB4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343A0F49-FC05-B3B9-C65A-268C8CDE62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223C4692-C8ED-C02F-96FD-EB00ECDFF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A9F9E9F-EE30-2072-9F9D-C62020C9480D}"/>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6" name="Marcador de pie de página 5">
            <a:extLst>
              <a:ext uri="{FF2B5EF4-FFF2-40B4-BE49-F238E27FC236}">
                <a16:creationId xmlns:a16="http://schemas.microsoft.com/office/drawing/2014/main" id="{238093C8-A49C-3F2A-A00B-9111CEDC48B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8B58364-AEF8-B58F-B9A1-1E1DA5103502}"/>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56356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5EB3FB-BC96-0933-3EC7-84E923F9A0E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CB82307-4650-847E-75FB-14D1908531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9AE5036D-E8DB-5BB4-71C1-D0A246841E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6A0C9C2-101B-0DB0-C0D9-B3B570433F63}"/>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6" name="Marcador de pie de página 5">
            <a:extLst>
              <a:ext uri="{FF2B5EF4-FFF2-40B4-BE49-F238E27FC236}">
                <a16:creationId xmlns:a16="http://schemas.microsoft.com/office/drawing/2014/main" id="{54E35D7E-C816-0482-D7AC-36BF316504E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BACCAFD-C7A2-9FF5-4428-62EDDF3FEFA0}"/>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325293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46D23B-547B-0646-941F-AF0479958A7A}"/>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F6D82D0-4881-BB3A-8D2E-959CC4B432E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F243137-86A1-39A1-45C5-64B2525A04AD}"/>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5" name="Marcador de pie de página 4">
            <a:extLst>
              <a:ext uri="{FF2B5EF4-FFF2-40B4-BE49-F238E27FC236}">
                <a16:creationId xmlns:a16="http://schemas.microsoft.com/office/drawing/2014/main" id="{5B4E28E2-A3D5-F613-2991-C217BAB9860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D7CF634-B9E2-861F-EE38-A147EC4B7669}"/>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4005003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2E6A8D9-564D-D946-B160-A98C50EB8C7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3F77CBBA-3048-E985-3E2F-291E38D21A8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E4A3AD1-463D-B5D6-9811-B670A19E8E8B}"/>
              </a:ext>
            </a:extLst>
          </p:cNvPr>
          <p:cNvSpPr>
            <a:spLocks noGrp="1"/>
          </p:cNvSpPr>
          <p:nvPr>
            <p:ph type="dt" sz="half" idx="10"/>
          </p:nvPr>
        </p:nvSpPr>
        <p:spPr/>
        <p:txBody>
          <a:bodyPr/>
          <a:lstStyle/>
          <a:p>
            <a:fld id="{3D2C2AB1-899B-4780-85F0-BDEC6B9A562A}" type="datetimeFigureOut">
              <a:rPr lang="es-ES" smtClean="0"/>
              <a:t>03/03/2026</a:t>
            </a:fld>
            <a:endParaRPr lang="es-ES"/>
          </a:p>
        </p:txBody>
      </p:sp>
      <p:sp>
        <p:nvSpPr>
          <p:cNvPr id="5" name="Marcador de pie de página 4">
            <a:extLst>
              <a:ext uri="{FF2B5EF4-FFF2-40B4-BE49-F238E27FC236}">
                <a16:creationId xmlns:a16="http://schemas.microsoft.com/office/drawing/2014/main" id="{46F5FE21-B8D3-9F18-1B5C-6828EBA9321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3358129-10DE-99CB-1504-F21849CA3817}"/>
              </a:ext>
            </a:extLst>
          </p:cNvPr>
          <p:cNvSpPr>
            <a:spLocks noGrp="1"/>
          </p:cNvSpPr>
          <p:nvPr>
            <p:ph type="sldNum" sz="quarter" idx="12"/>
          </p:nvPr>
        </p:nvSpPr>
        <p:spPr/>
        <p:txBody>
          <a:bodyPr/>
          <a:lstStyle/>
          <a:p>
            <a:fld id="{304D39C0-59B6-4D56-A5F0-08FD4F9BE76F}" type="slidenum">
              <a:rPr lang="es-ES" smtClean="0"/>
              <a:t>‹Nº›</a:t>
            </a:fld>
            <a:endParaRPr lang="es-ES"/>
          </a:p>
        </p:txBody>
      </p:sp>
    </p:spTree>
    <p:extLst>
      <p:ext uri="{BB962C8B-B14F-4D97-AF65-F5344CB8AC3E}">
        <p14:creationId xmlns:p14="http://schemas.microsoft.com/office/powerpoint/2010/main" val="689476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6438D01-45A0-8A00-323E-CC817EA578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B4990340-FFC8-C86A-9682-4FDB9C8A24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8AF752A-5102-7CE8-13DE-8F6594DEC4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2C2AB1-899B-4780-85F0-BDEC6B9A562A}" type="datetimeFigureOut">
              <a:rPr lang="es-ES" smtClean="0"/>
              <a:t>03/03/2026</a:t>
            </a:fld>
            <a:endParaRPr lang="es-ES"/>
          </a:p>
        </p:txBody>
      </p:sp>
      <p:sp>
        <p:nvSpPr>
          <p:cNvPr id="5" name="Marcador de pie de página 4">
            <a:extLst>
              <a:ext uri="{FF2B5EF4-FFF2-40B4-BE49-F238E27FC236}">
                <a16:creationId xmlns:a16="http://schemas.microsoft.com/office/drawing/2014/main" id="{51849C83-F5F7-C6FB-3486-69C01CA540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E49496B6-B9A1-909C-2007-76A1B2EF66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4D39C0-59B6-4D56-A5F0-08FD4F9BE76F}" type="slidenum">
              <a:rPr lang="es-ES" smtClean="0"/>
              <a:t>‹Nº›</a:t>
            </a:fld>
            <a:endParaRPr lang="es-ES"/>
          </a:p>
        </p:txBody>
      </p:sp>
    </p:spTree>
    <p:extLst>
      <p:ext uri="{BB962C8B-B14F-4D97-AF65-F5344CB8AC3E}">
        <p14:creationId xmlns:p14="http://schemas.microsoft.com/office/powerpoint/2010/main" val="4284261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upvedues-my.sharepoint.com/:w:/g/personal/vmanalb_upv_edu_es/Ec9TJlXisvVIgXBREzkpG8kBnc3WtA-XVwJiA399XgGTtA?e=mK2L94"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1_22460520.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upvedues-my.sharepoint.com/:u:/g/personal/vmanalb_upv_edu_es/Ef-lyH5ScEdGr2ieoy0Xb8QBhHOILDM6T8C3_Z5a5yoWvA?e=4kVve6"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2_79749C29.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18/10/relationships/comments" Target="../comments/modernComment_103_6B868001.xml"/><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4_E0D0E88A.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6_CF6892B7.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11EF2C-D976-716B-9C89-601DB1A9985E}"/>
              </a:ext>
            </a:extLst>
          </p:cNvPr>
          <p:cNvSpPr>
            <a:spLocks noGrp="1"/>
          </p:cNvSpPr>
          <p:nvPr>
            <p:ph type="ctrTitle"/>
          </p:nvPr>
        </p:nvSpPr>
        <p:spPr>
          <a:xfrm>
            <a:off x="1524000" y="2631123"/>
            <a:ext cx="9144000" cy="2387600"/>
          </a:xfrm>
        </p:spPr>
        <p:txBody>
          <a:bodyPr>
            <a:normAutofit fontScale="90000"/>
          </a:bodyPr>
          <a:lstStyle/>
          <a:p>
            <a:r>
              <a:rPr lang="es-ES" dirty="0"/>
              <a:t>Todo par no primo es suma de dos primos</a:t>
            </a:r>
            <a:br>
              <a:rPr lang="es-ES" dirty="0"/>
            </a:br>
            <a:r>
              <a:rPr lang="es-ES" sz="6000" kern="100" dirty="0">
                <a:solidFill>
                  <a:srgbClr val="000000"/>
                </a:solidFill>
                <a:effectLst/>
                <a:latin typeface="Calibri" panose="020F0502020204030204" pitchFamily="34" charset="0"/>
                <a:ea typeface="Calibri" panose="020F0502020204030204" pitchFamily="34" charset="0"/>
              </a:rPr>
              <a:t> </a:t>
            </a:r>
            <a:r>
              <a:rPr lang="es-ES" sz="6000" b="1" kern="100" dirty="0">
                <a:solidFill>
                  <a:srgbClr val="111111"/>
                </a:solidFill>
                <a:effectLst/>
                <a:highlight>
                  <a:srgbClr val="FFFFFF"/>
                </a:highlight>
                <a:latin typeface="Calibri" panose="020F0502020204030204" pitchFamily="34" charset="0"/>
                <a:ea typeface="Calibri" panose="020F0502020204030204" pitchFamily="34" charset="0"/>
              </a:rPr>
              <a:t>Christian </a:t>
            </a:r>
            <a:r>
              <a:rPr lang="es-ES" sz="6000" b="1" kern="100" dirty="0" err="1">
                <a:solidFill>
                  <a:srgbClr val="111111"/>
                </a:solidFill>
                <a:effectLst/>
                <a:highlight>
                  <a:srgbClr val="FFFFFF"/>
                </a:highlight>
                <a:latin typeface="Calibri" panose="020F0502020204030204" pitchFamily="34" charset="0"/>
                <a:ea typeface="Calibri" panose="020F0502020204030204" pitchFamily="34" charset="0"/>
              </a:rPr>
              <a:t>Goldbach</a:t>
            </a:r>
            <a:r>
              <a:rPr lang="es-ES" sz="6000" kern="100" dirty="0">
                <a:solidFill>
                  <a:srgbClr val="111111"/>
                </a:solidFill>
                <a:effectLst/>
                <a:highlight>
                  <a:srgbClr val="FFFFFF"/>
                </a:highlight>
                <a:latin typeface="Calibri" panose="020F0502020204030204" pitchFamily="34" charset="0"/>
                <a:ea typeface="Calibri" panose="020F0502020204030204" pitchFamily="34" charset="0"/>
              </a:rPr>
              <a:t> </a:t>
            </a:r>
            <a:r>
              <a:rPr lang="es-ES" sz="3100" kern="100" dirty="0">
                <a:solidFill>
                  <a:srgbClr val="111111"/>
                </a:solidFill>
                <a:effectLst/>
                <a:highlight>
                  <a:srgbClr val="FFFFFF"/>
                </a:highlight>
                <a:latin typeface="Calibri" panose="020F0502020204030204" pitchFamily="34" charset="0"/>
                <a:ea typeface="Calibri" panose="020F0502020204030204" pitchFamily="34" charset="0"/>
              </a:rPr>
              <a:t>(18 del 3 de 1690 - 20 del 11 de 1764) </a:t>
            </a:r>
            <a:r>
              <a:rPr lang="es-ES" sz="6000" kern="100" dirty="0">
                <a:solidFill>
                  <a:srgbClr val="111111"/>
                </a:solidFill>
                <a:effectLst/>
                <a:highlight>
                  <a:srgbClr val="FFFFFF"/>
                </a:highlight>
                <a:latin typeface="Calibri" panose="020F0502020204030204" pitchFamily="34" charset="0"/>
                <a:ea typeface="Calibri" panose="020F0502020204030204" pitchFamily="34" charset="0"/>
              </a:rPr>
              <a:t>hijo de un pastor. </a:t>
            </a:r>
            <a:endParaRPr lang="es-ES" dirty="0"/>
          </a:p>
        </p:txBody>
      </p:sp>
      <p:sp>
        <p:nvSpPr>
          <p:cNvPr id="3" name="Subtítulo 2">
            <a:extLst>
              <a:ext uri="{FF2B5EF4-FFF2-40B4-BE49-F238E27FC236}">
                <a16:creationId xmlns:a16="http://schemas.microsoft.com/office/drawing/2014/main" id="{C690F193-2C44-A6F8-853B-9AE619328FE2}"/>
              </a:ext>
            </a:extLst>
          </p:cNvPr>
          <p:cNvSpPr>
            <a:spLocks noGrp="1"/>
          </p:cNvSpPr>
          <p:nvPr>
            <p:ph type="subTitle" idx="1"/>
          </p:nvPr>
        </p:nvSpPr>
        <p:spPr>
          <a:xfrm>
            <a:off x="1524000" y="4907756"/>
            <a:ext cx="9144000" cy="1655762"/>
          </a:xfrm>
        </p:spPr>
        <p:txBody>
          <a:bodyPr/>
          <a:lstStyle/>
          <a:p>
            <a:br>
              <a:rPr lang="es-ES" dirty="0"/>
            </a:br>
            <a:r>
              <a:rPr lang="es-ES" dirty="0" err="1"/>
              <a:t>albmanvic</a:t>
            </a:r>
            <a:br>
              <a:rPr lang="es-ES" dirty="0"/>
            </a:br>
            <a:r>
              <a:rPr lang="es-ES" dirty="0"/>
              <a:t>UPV EPSA</a:t>
            </a:r>
          </a:p>
        </p:txBody>
      </p:sp>
    </p:spTree>
    <p:extLst>
      <p:ext uri="{BB962C8B-B14F-4D97-AF65-F5344CB8AC3E}">
        <p14:creationId xmlns:p14="http://schemas.microsoft.com/office/powerpoint/2010/main" val="3052626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E6A865-20D8-5E70-DF22-B3AC162EF706}"/>
              </a:ext>
            </a:extLst>
          </p:cNvPr>
          <p:cNvSpPr>
            <a:spLocks noGrp="1"/>
          </p:cNvSpPr>
          <p:nvPr>
            <p:ph type="title"/>
          </p:nvPr>
        </p:nvSpPr>
        <p:spPr/>
        <p:txBody>
          <a:bodyPr/>
          <a:lstStyle/>
          <a:p>
            <a:r>
              <a:rPr lang="es-ES" dirty="0"/>
              <a:t>resumen</a:t>
            </a:r>
          </a:p>
        </p:txBody>
      </p:sp>
      <p:sp>
        <p:nvSpPr>
          <p:cNvPr id="3" name="Marcador de contenido 2">
            <a:extLst>
              <a:ext uri="{FF2B5EF4-FFF2-40B4-BE49-F238E27FC236}">
                <a16:creationId xmlns:a16="http://schemas.microsoft.com/office/drawing/2014/main" id="{4768BAFF-3B76-445D-35FF-6FC37B697AFE}"/>
              </a:ext>
            </a:extLst>
          </p:cNvPr>
          <p:cNvSpPr>
            <a:spLocks noGrp="1"/>
          </p:cNvSpPr>
          <p:nvPr>
            <p:ph idx="1"/>
          </p:nvPr>
        </p:nvSpPr>
        <p:spPr/>
        <p:txBody>
          <a:bodyPr>
            <a:normAutofit/>
          </a:bodyPr>
          <a:lstStyle/>
          <a:p>
            <a:pPr marL="0" indent="0">
              <a:buNone/>
            </a:pPr>
            <a:br>
              <a:rPr lang="es-ES" dirty="0"/>
            </a:br>
            <a:br>
              <a:rPr lang="es-ES" dirty="0"/>
            </a:br>
            <a:endParaRPr lang="es-ES" dirty="0"/>
          </a:p>
        </p:txBody>
      </p:sp>
      <p:sp>
        <p:nvSpPr>
          <p:cNvPr id="4" name="Rectangle 1">
            <a:extLst>
              <a:ext uri="{FF2B5EF4-FFF2-40B4-BE49-F238E27FC236}">
                <a16:creationId xmlns:a16="http://schemas.microsoft.com/office/drawing/2014/main" id="{C37E8DD1-FB65-B388-C1DD-D1AB11D0F427}"/>
              </a:ext>
            </a:extLst>
          </p:cNvPr>
          <p:cNvSpPr>
            <a:spLocks noChangeArrowheads="1"/>
          </p:cNvSpPr>
          <p:nvPr/>
        </p:nvSpPr>
        <p:spPr bwMode="auto">
          <a:xfrm>
            <a:off x="995680" y="236728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chemeClr val="tx1"/>
                </a:solidFill>
                <a:effectLst/>
                <a:latin typeface="Arial" panose="020B0604020202020204" pitchFamily="34" charset="0"/>
                <a:hlinkClick r:id="rId2"/>
              </a:rPr>
              <a:t>Todo par no primo es suma de dos.docx</a:t>
            </a: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16AD31B6-41C8-8181-28B0-4E4EE035312B}"/>
              </a:ext>
            </a:extLst>
          </p:cNvPr>
          <p:cNvSpPr txBox="1"/>
          <p:nvPr/>
        </p:nvSpPr>
        <p:spPr>
          <a:xfrm>
            <a:off x="838200" y="2704912"/>
            <a:ext cx="7985760" cy="3793859"/>
          </a:xfrm>
          <a:prstGeom prst="rect">
            <a:avLst/>
          </a:prstGeom>
          <a:noFill/>
        </p:spPr>
        <p:txBody>
          <a:bodyPr wrap="square">
            <a:spAutoFit/>
          </a:bodyPr>
          <a:lstStyle/>
          <a:p>
            <a:pPr marL="5715" indent="-5715" algn="l">
              <a:lnSpc>
                <a:spcPct val="110000"/>
              </a:lnSpc>
              <a:spcAft>
                <a:spcPts val="460"/>
              </a:spcAft>
            </a:pPr>
            <a:r>
              <a:rPr lang="es-ES" sz="1800" dirty="0">
                <a:solidFill>
                  <a:srgbClr val="000000"/>
                </a:solidFill>
                <a:effectLst/>
                <a:latin typeface="Calibri" panose="020F0502020204030204" pitchFamily="34" charset="0"/>
                <a:ea typeface="Calibri" panose="020F0502020204030204" pitchFamily="34" charset="0"/>
              </a:rPr>
              <a:t>El resumen explicativo tiene este índice y notas de búsquedas en algunas líneas.</a:t>
            </a:r>
            <a:br>
              <a:rPr lang="es-ES" sz="18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1. Esta página</a:t>
            </a:r>
          </a:p>
          <a:p>
            <a:pPr marL="5715" indent="-5715" algn="l">
              <a:lnSpc>
                <a:spcPct val="110000"/>
              </a:lnSpc>
              <a:spcAft>
                <a:spcPts val="460"/>
              </a:spcAft>
            </a:pPr>
            <a:r>
              <a:rPr lang="es-ES" sz="1800" kern="100" dirty="0">
                <a:solidFill>
                  <a:srgbClr val="000000"/>
                </a:solidFill>
                <a:effectLst/>
                <a:latin typeface="Calibri" panose="020F0502020204030204" pitchFamily="34" charset="0"/>
                <a:ea typeface="Calibri" panose="020F0502020204030204" pitchFamily="34" charset="0"/>
              </a:rPr>
              <a:t>2.Definiciones con las que trabajamos.</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3. métodos para encontrar descomposiciones.</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4. Algoritmo que genera todas las listas que dicen que la conjetura es falsa.</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5. Punto de partida para buscar fallos en las descomposiciones.</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6. Frases que indican que la conjetura no puede ser falsa.</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7. el error relativo del algoritmo para 2n de forma 6k.</a:t>
            </a:r>
            <a:br>
              <a:rPr lang="es-ES" sz="1800" kern="100" dirty="0">
                <a:solidFill>
                  <a:srgbClr val="000000"/>
                </a:solidFill>
                <a:effectLst/>
                <a:latin typeface="Calibri" panose="020F0502020204030204" pitchFamily="34" charset="0"/>
                <a:ea typeface="Calibri" panose="020F0502020204030204" pitchFamily="34" charset="0"/>
              </a:rPr>
            </a:br>
            <a:r>
              <a:rPr lang="es-ES" sz="1800" kern="100" dirty="0">
                <a:solidFill>
                  <a:srgbClr val="000000"/>
                </a:solidFill>
                <a:effectLst/>
                <a:latin typeface="Calibri" panose="020F0502020204030204" pitchFamily="34" charset="0"/>
                <a:ea typeface="Calibri" panose="020F0502020204030204" pitchFamily="34" charset="0"/>
              </a:rPr>
              <a:t>8. Coste temporal.</a:t>
            </a:r>
          </a:p>
          <a:p>
            <a:r>
              <a:rPr lang="es-ES" sz="1800" dirty="0">
                <a:solidFill>
                  <a:srgbClr val="000000"/>
                </a:solidFill>
                <a:effectLst/>
                <a:latin typeface="Calibri" panose="020F0502020204030204" pitchFamily="34" charset="0"/>
                <a:ea typeface="Calibri" panose="020F0502020204030204" pitchFamily="34" charset="0"/>
              </a:rPr>
              <a:t>9. Doble asignación. (dos diapos contiene gráficos)</a:t>
            </a:r>
            <a:br>
              <a:rPr lang="es-ES" sz="1800" dirty="0">
                <a:solidFill>
                  <a:srgbClr val="000000"/>
                </a:solidFill>
                <a:effectLst/>
                <a:latin typeface="Calibri" panose="020F0502020204030204" pitchFamily="34" charset="0"/>
                <a:ea typeface="Calibri" panose="020F0502020204030204" pitchFamily="34" charset="0"/>
              </a:rPr>
            </a:br>
            <a:r>
              <a:rPr lang="es-ES" sz="1800" dirty="0">
                <a:solidFill>
                  <a:srgbClr val="000000"/>
                </a:solidFill>
                <a:effectLst/>
                <a:latin typeface="Calibri" panose="020F0502020204030204" pitchFamily="34" charset="0"/>
                <a:ea typeface="Calibri" panose="020F0502020204030204" pitchFamily="34" charset="0"/>
              </a:rPr>
              <a:t>10. Conclusiones. (dos diapos)</a:t>
            </a:r>
            <a:br>
              <a:rPr lang="es-ES" sz="1800" dirty="0">
                <a:solidFill>
                  <a:srgbClr val="000000"/>
                </a:solidFill>
                <a:effectLst/>
                <a:latin typeface="Calibri" panose="020F0502020204030204" pitchFamily="34" charset="0"/>
                <a:ea typeface="Calibri" panose="020F0502020204030204" pitchFamily="34" charset="0"/>
              </a:rPr>
            </a:br>
            <a:endParaRPr lang="es-ES" dirty="0"/>
          </a:p>
        </p:txBody>
      </p:sp>
    </p:spTree>
    <p:extLst>
      <p:ext uri="{BB962C8B-B14F-4D97-AF65-F5344CB8AC3E}">
        <p14:creationId xmlns:p14="http://schemas.microsoft.com/office/powerpoint/2010/main" val="3437829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7FAC1D-5CFE-9E2B-808B-E638733500CA}"/>
              </a:ext>
            </a:extLst>
          </p:cNvPr>
          <p:cNvSpPr>
            <a:spLocks noGrp="1"/>
          </p:cNvSpPr>
          <p:nvPr>
            <p:ph type="title"/>
          </p:nvPr>
        </p:nvSpPr>
        <p:spPr/>
        <p:txBody>
          <a:bodyPr/>
          <a:lstStyle/>
          <a:p>
            <a:r>
              <a:rPr lang="es-ES"/>
              <a:t>Listas de primos</a:t>
            </a:r>
          </a:p>
        </p:txBody>
      </p:sp>
      <p:sp>
        <p:nvSpPr>
          <p:cNvPr id="3" name="Marcador de contenido 2">
            <a:extLst>
              <a:ext uri="{FF2B5EF4-FFF2-40B4-BE49-F238E27FC236}">
                <a16:creationId xmlns:a16="http://schemas.microsoft.com/office/drawing/2014/main" id="{2179D3CE-1EEA-FAC0-D3F4-7540AA60C9D6}"/>
              </a:ext>
            </a:extLst>
          </p:cNvPr>
          <p:cNvSpPr>
            <a:spLocks noGrp="1"/>
          </p:cNvSpPr>
          <p:nvPr>
            <p:ph idx="1"/>
          </p:nvPr>
        </p:nvSpPr>
        <p:spPr>
          <a:xfrm>
            <a:off x="838200" y="1778578"/>
            <a:ext cx="10515600" cy="4351338"/>
          </a:xfrm>
        </p:spPr>
        <p:txBody>
          <a:bodyPr/>
          <a:lstStyle/>
          <a:p>
            <a:pPr marL="0" indent="0">
              <a:buNone/>
            </a:pPr>
            <a:r>
              <a:rPr lang="es-ES" dirty="0"/>
              <a:t>Listas de binarios cuyo valor indica la propiedad de primalidad de la posición.</a:t>
            </a:r>
            <a:br>
              <a:rPr lang="es-ES" dirty="0"/>
            </a:br>
            <a:br>
              <a:rPr lang="es-ES" dirty="0"/>
            </a:br>
            <a:br>
              <a:rPr lang="es-ES" dirty="0"/>
            </a:br>
            <a:r>
              <a:rPr lang="es-ES" dirty="0"/>
              <a:t>001101010001010001010…</a:t>
            </a:r>
            <a:br>
              <a:rPr lang="es-ES" dirty="0"/>
            </a:br>
            <a:endParaRPr lang="es-ES" dirty="0"/>
          </a:p>
        </p:txBody>
      </p:sp>
    </p:spTree>
    <p:extLst>
      <p:ext uri="{BB962C8B-B14F-4D97-AF65-F5344CB8AC3E}">
        <p14:creationId xmlns:p14="http://schemas.microsoft.com/office/powerpoint/2010/main" val="575014176"/>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71842-AC7D-6D51-1218-4AF642C90C3C}"/>
              </a:ext>
            </a:extLst>
          </p:cNvPr>
          <p:cNvSpPr>
            <a:spLocks noGrp="1"/>
          </p:cNvSpPr>
          <p:nvPr>
            <p:ph type="title"/>
          </p:nvPr>
        </p:nvSpPr>
        <p:spPr/>
        <p:txBody>
          <a:bodyPr/>
          <a:lstStyle/>
          <a:p>
            <a:r>
              <a:rPr lang="es-ES" dirty="0"/>
              <a:t>Descomposiciones de Gold Bach</a:t>
            </a:r>
          </a:p>
        </p:txBody>
      </p:sp>
      <p:sp>
        <p:nvSpPr>
          <p:cNvPr id="7" name="CuadroTexto 6">
            <a:extLst>
              <a:ext uri="{FF2B5EF4-FFF2-40B4-BE49-F238E27FC236}">
                <a16:creationId xmlns:a16="http://schemas.microsoft.com/office/drawing/2014/main" id="{4F7C1EFD-793A-1693-E4FF-7CEE4B778E26}"/>
              </a:ext>
            </a:extLst>
          </p:cNvPr>
          <p:cNvSpPr txBox="1"/>
          <p:nvPr/>
        </p:nvSpPr>
        <p:spPr>
          <a:xfrm>
            <a:off x="5906319" y="5898991"/>
            <a:ext cx="7093401" cy="923330"/>
          </a:xfrm>
          <a:prstGeom prst="rect">
            <a:avLst/>
          </a:prstGeom>
          <a:noFill/>
        </p:spPr>
        <p:txBody>
          <a:bodyPr wrap="square">
            <a:spAutoFit/>
          </a:bodyPr>
          <a:lstStyle/>
          <a:p>
            <a:r>
              <a:rPr lang="es-ES" dirty="0">
                <a:hlinkClick r:id="rId3"/>
              </a:rPr>
              <a:t>https://upvedues-my.sharepoint.com/:u:/g/personal/vmanalb_upv_edu_es/Ef-lyH5ScEdGr2ieoy0Xb8QBhHOILDM6T8C3_Z5a5yoWvA?e=4kVve6</a:t>
            </a:r>
            <a:endParaRPr lang="es-ES" dirty="0"/>
          </a:p>
        </p:txBody>
      </p:sp>
      <p:sp>
        <p:nvSpPr>
          <p:cNvPr id="4" name="Marcador de contenido 3">
            <a:extLst>
              <a:ext uri="{FF2B5EF4-FFF2-40B4-BE49-F238E27FC236}">
                <a16:creationId xmlns:a16="http://schemas.microsoft.com/office/drawing/2014/main" id="{85134E33-BB20-DA9D-56F6-B959CD543B4C}"/>
              </a:ext>
            </a:extLst>
          </p:cNvPr>
          <p:cNvSpPr>
            <a:spLocks noGrp="1"/>
          </p:cNvSpPr>
          <p:nvPr>
            <p:ph idx="1"/>
          </p:nvPr>
        </p:nvSpPr>
        <p:spPr>
          <a:xfrm>
            <a:off x="838200" y="1418054"/>
            <a:ext cx="10515600" cy="4351338"/>
          </a:xfrm>
        </p:spPr>
        <p:txBody>
          <a:bodyPr>
            <a:noAutofit/>
          </a:bodyPr>
          <a:lstStyle/>
          <a:p>
            <a:r>
              <a:rPr lang="es-ES" sz="2400" dirty="0">
                <a:solidFill>
                  <a:srgbClr val="000000"/>
                </a:solidFill>
                <a:effectLst/>
                <a:latin typeface="Calibri" panose="020F0502020204030204" pitchFamily="34" charset="0"/>
                <a:ea typeface="Calibri" panose="020F0502020204030204" pitchFamily="34" charset="0"/>
              </a:rPr>
              <a:t>00110</a:t>
            </a:r>
            <a:br>
              <a:rPr lang="es-ES" sz="2400" dirty="0">
                <a:solidFill>
                  <a:srgbClr val="000000"/>
                </a:solidFill>
                <a:effectLst/>
                <a:latin typeface="Calibri" panose="020F0502020204030204" pitchFamily="34" charset="0"/>
                <a:ea typeface="Calibri" panose="020F0502020204030204" pitchFamily="34" charset="0"/>
              </a:rPr>
            </a:br>
            <a:r>
              <a:rPr lang="es-ES" sz="2400" dirty="0">
                <a:solidFill>
                  <a:srgbClr val="000000"/>
                </a:solidFill>
                <a:effectLst/>
                <a:latin typeface="Calibri" panose="020F0502020204030204" pitchFamily="34" charset="0"/>
                <a:ea typeface="Calibri" panose="020F0502020204030204" pitchFamily="34" charset="0"/>
              </a:rPr>
              <a:t>01100</a:t>
            </a:r>
            <a:br>
              <a:rPr lang="es-ES" sz="2400" dirty="0">
                <a:solidFill>
                  <a:srgbClr val="000000"/>
                </a:solidFill>
                <a:effectLst/>
                <a:latin typeface="Calibri" panose="020F0502020204030204" pitchFamily="34" charset="0"/>
                <a:ea typeface="Calibri" panose="020F0502020204030204" pitchFamily="34" charset="0"/>
              </a:rPr>
            </a:br>
            <a:r>
              <a:rPr lang="es-ES" sz="2400" dirty="0">
                <a:solidFill>
                  <a:srgbClr val="000000"/>
                </a:solidFill>
                <a:effectLst/>
                <a:latin typeface="Calibri" panose="020F0502020204030204" pitchFamily="34" charset="0"/>
                <a:ea typeface="Calibri" panose="020F0502020204030204" pitchFamily="34" charset="0"/>
              </a:rPr>
              <a:t>     *</a:t>
            </a:r>
            <a:br>
              <a:rPr lang="es-ES" sz="2400" dirty="0">
                <a:solidFill>
                  <a:srgbClr val="000000"/>
                </a:solidFill>
                <a:effectLst/>
                <a:latin typeface="Calibri" panose="020F0502020204030204" pitchFamily="34" charset="0"/>
                <a:ea typeface="Calibri" panose="020F0502020204030204" pitchFamily="34" charset="0"/>
              </a:rPr>
            </a:br>
            <a:r>
              <a:rPr lang="es-ES" sz="2400" dirty="0">
                <a:solidFill>
                  <a:srgbClr val="000000"/>
                </a:solidFill>
                <a:effectLst/>
                <a:latin typeface="Calibri" panose="020F0502020204030204" pitchFamily="34" charset="0"/>
                <a:ea typeface="Calibri" panose="020F0502020204030204" pitchFamily="34" charset="0"/>
              </a:rPr>
              <a:t>buscando el patrón 1 1 </a:t>
            </a:r>
          </a:p>
          <a:p>
            <a:r>
              <a:rPr lang="es-ES" sz="2400" dirty="0">
                <a:solidFill>
                  <a:srgbClr val="000000"/>
                </a:solidFill>
                <a:effectLst/>
                <a:latin typeface="Calibri" panose="020F0502020204030204" pitchFamily="34" charset="0"/>
                <a:ea typeface="Calibri" panose="020F0502020204030204" pitchFamily="34" charset="0"/>
              </a:rPr>
              <a:t>00110</a:t>
            </a:r>
            <a:br>
              <a:rPr lang="es-ES" sz="2400" dirty="0">
                <a:solidFill>
                  <a:srgbClr val="000000"/>
                </a:solidFill>
                <a:effectLst/>
                <a:latin typeface="Calibri" panose="020F0502020204030204" pitchFamily="34" charset="0"/>
                <a:ea typeface="Calibri" panose="020F0502020204030204" pitchFamily="34" charset="0"/>
              </a:rPr>
            </a:br>
            <a:r>
              <a:rPr lang="es-ES" sz="2400" dirty="0">
                <a:solidFill>
                  <a:srgbClr val="000000"/>
                </a:solidFill>
                <a:effectLst/>
                <a:latin typeface="Calibri" panose="020F0502020204030204" pitchFamily="34" charset="0"/>
                <a:ea typeface="Calibri" panose="020F0502020204030204" pitchFamily="34" charset="0"/>
              </a:rPr>
              <a:t>10011</a:t>
            </a:r>
            <a:br>
              <a:rPr lang="es-ES" sz="2400" dirty="0">
                <a:solidFill>
                  <a:srgbClr val="000000"/>
                </a:solidFill>
                <a:effectLst/>
                <a:latin typeface="Calibri" panose="020F0502020204030204" pitchFamily="34" charset="0"/>
                <a:ea typeface="Calibri" panose="020F0502020204030204" pitchFamily="34" charset="0"/>
              </a:rPr>
            </a:br>
            <a:r>
              <a:rPr lang="es-ES" sz="2400" dirty="0">
                <a:solidFill>
                  <a:srgbClr val="000000"/>
                </a:solidFill>
                <a:effectLst/>
                <a:latin typeface="Calibri" panose="020F0502020204030204" pitchFamily="34" charset="0"/>
                <a:ea typeface="Calibri" panose="020F0502020204030204" pitchFamily="34" charset="0"/>
              </a:rPr>
              <a:t>     *</a:t>
            </a:r>
            <a:br>
              <a:rPr lang="es-ES" sz="2400" dirty="0">
                <a:solidFill>
                  <a:srgbClr val="000000"/>
                </a:solidFill>
                <a:effectLst/>
                <a:latin typeface="Calibri" panose="020F0502020204030204" pitchFamily="34" charset="0"/>
                <a:ea typeface="Calibri" panose="020F0502020204030204" pitchFamily="34" charset="0"/>
              </a:rPr>
            </a:br>
            <a:r>
              <a:rPr lang="es-ES" sz="2400" dirty="0">
                <a:solidFill>
                  <a:srgbClr val="000000"/>
                </a:solidFill>
                <a:effectLst/>
                <a:latin typeface="Calibri" panose="020F0502020204030204" pitchFamily="34" charset="0"/>
                <a:ea typeface="Calibri" panose="020F0502020204030204" pitchFamily="34" charset="0"/>
              </a:rPr>
              <a:t>buscando el patrón 1 0</a:t>
            </a:r>
            <a:endParaRPr lang="es-ES" sz="2400" dirty="0">
              <a:solidFill>
                <a:srgbClr val="000000"/>
              </a:solidFill>
              <a:latin typeface="Calibri" panose="020F0502020204030204" pitchFamily="34" charset="0"/>
              <a:ea typeface="Calibri" panose="020F0502020204030204" pitchFamily="34" charset="0"/>
            </a:endParaRPr>
          </a:p>
          <a:p>
            <a:r>
              <a:rPr lang="es-ES" sz="2400" dirty="0">
                <a:solidFill>
                  <a:srgbClr val="000000"/>
                </a:solidFill>
                <a:effectLst/>
                <a:latin typeface="Calibri" panose="020F0502020204030204" pitchFamily="34" charset="0"/>
                <a:ea typeface="Calibri" panose="020F0502020204030204" pitchFamily="34" charset="0"/>
              </a:rPr>
              <a:t>para i en n{ </a:t>
            </a:r>
            <a:br>
              <a:rPr lang="es-ES" sz="2400" dirty="0">
                <a:solidFill>
                  <a:srgbClr val="000000"/>
                </a:solidFill>
                <a:effectLst/>
                <a:latin typeface="Calibri" panose="020F0502020204030204" pitchFamily="34" charset="0"/>
                <a:ea typeface="Calibri" panose="020F0502020204030204" pitchFamily="34" charset="0"/>
              </a:rPr>
            </a:br>
            <a:r>
              <a:rPr lang="es-ES" sz="2400" dirty="0">
                <a:solidFill>
                  <a:srgbClr val="000000"/>
                </a:solidFill>
                <a:effectLst/>
                <a:latin typeface="Calibri" panose="020F0502020204030204" pitchFamily="34" charset="0"/>
                <a:ea typeface="Calibri" panose="020F0502020204030204" pitchFamily="34" charset="0"/>
              </a:rPr>
              <a:t>   si (lista[i] AND lista[2n-i])</a:t>
            </a:r>
            <a:br>
              <a:rPr lang="es-ES" sz="2400" dirty="0">
                <a:solidFill>
                  <a:srgbClr val="000000"/>
                </a:solidFill>
                <a:effectLst/>
                <a:latin typeface="Calibri" panose="020F0502020204030204" pitchFamily="34" charset="0"/>
                <a:ea typeface="Calibri" panose="020F0502020204030204" pitchFamily="34" charset="0"/>
              </a:rPr>
            </a:br>
            <a:r>
              <a:rPr lang="es-ES" sz="2400" dirty="0">
                <a:solidFill>
                  <a:srgbClr val="000000"/>
                </a:solidFill>
                <a:effectLst/>
                <a:latin typeface="Calibri" panose="020F0502020204030204" pitchFamily="34" charset="0"/>
                <a:ea typeface="Calibri" panose="020F0502020204030204" pitchFamily="34" charset="0"/>
              </a:rPr>
              <a:t>       //descomposición encontrada para 2n</a:t>
            </a:r>
            <a:br>
              <a:rPr lang="es-ES" sz="2400" dirty="0">
                <a:solidFill>
                  <a:srgbClr val="000000"/>
                </a:solidFill>
                <a:effectLst/>
                <a:latin typeface="Calibri" panose="020F0502020204030204" pitchFamily="34" charset="0"/>
                <a:ea typeface="Calibri" panose="020F0502020204030204" pitchFamily="34" charset="0"/>
              </a:rPr>
            </a:br>
            <a:r>
              <a:rPr lang="es-ES" sz="2400" dirty="0">
                <a:solidFill>
                  <a:srgbClr val="000000"/>
                </a:solidFill>
                <a:effectLst/>
                <a:latin typeface="Calibri" panose="020F0502020204030204" pitchFamily="34" charset="0"/>
                <a:ea typeface="Calibri" panose="020F0502020204030204" pitchFamily="34" charset="0"/>
              </a:rPr>
              <a:t>   }</a:t>
            </a:r>
            <a:br>
              <a:rPr lang="es-ES" sz="2400" dirty="0">
                <a:solidFill>
                  <a:srgbClr val="000000"/>
                </a:solidFill>
                <a:effectLst/>
                <a:latin typeface="Calibri" panose="020F0502020204030204" pitchFamily="34" charset="0"/>
                <a:ea typeface="Calibri" panose="020F0502020204030204" pitchFamily="34" charset="0"/>
              </a:rPr>
            </a:br>
            <a:r>
              <a:rPr lang="es-ES" sz="2400" dirty="0">
                <a:solidFill>
                  <a:srgbClr val="000000"/>
                </a:solidFill>
                <a:effectLst/>
                <a:latin typeface="Calibri" panose="020F0502020204030204" pitchFamily="34" charset="0"/>
                <a:ea typeface="Calibri" panose="020F0502020204030204" pitchFamily="34" charset="0"/>
              </a:rPr>
              <a:t>}</a:t>
            </a:r>
            <a:endParaRPr lang="es-ES" sz="2400" dirty="0"/>
          </a:p>
        </p:txBody>
      </p:sp>
    </p:spTree>
    <p:extLst>
      <p:ext uri="{BB962C8B-B14F-4D97-AF65-F5344CB8AC3E}">
        <p14:creationId xmlns:p14="http://schemas.microsoft.com/office/powerpoint/2010/main" val="3296734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C72CDC-61F6-2BD2-603F-C2620611604E}"/>
              </a:ext>
            </a:extLst>
          </p:cNvPr>
          <p:cNvSpPr>
            <a:spLocks noGrp="1"/>
          </p:cNvSpPr>
          <p:nvPr>
            <p:ph type="title"/>
          </p:nvPr>
        </p:nvSpPr>
        <p:spPr/>
        <p:txBody>
          <a:bodyPr/>
          <a:lstStyle/>
          <a:p>
            <a:r>
              <a:rPr lang="es-ES"/>
              <a:t>2n-p=falso</a:t>
            </a:r>
          </a:p>
        </p:txBody>
      </p:sp>
      <p:sp>
        <p:nvSpPr>
          <p:cNvPr id="3" name="Marcador de contenido 2">
            <a:extLst>
              <a:ext uri="{FF2B5EF4-FFF2-40B4-BE49-F238E27FC236}">
                <a16:creationId xmlns:a16="http://schemas.microsoft.com/office/drawing/2014/main" id="{EB42B3D3-23B1-1A78-C2A2-7BD1FE6E59C2}"/>
              </a:ext>
            </a:extLst>
          </p:cNvPr>
          <p:cNvSpPr>
            <a:spLocks noGrp="1"/>
          </p:cNvSpPr>
          <p:nvPr>
            <p:ph idx="1"/>
          </p:nvPr>
        </p:nvSpPr>
        <p:spPr/>
        <p:txBody>
          <a:bodyPr/>
          <a:lstStyle/>
          <a:p>
            <a:pPr marL="0" indent="0">
              <a:buNone/>
            </a:pPr>
            <a:r>
              <a:rPr lang="es-ES"/>
              <a:t>Copia entrada en salida</a:t>
            </a:r>
            <a:br>
              <a:rPr lang="es-ES"/>
            </a:br>
            <a:r>
              <a:rPr lang="es-ES" err="1"/>
              <a:t>salida</a:t>
            </a:r>
            <a:r>
              <a:rPr lang="es-ES"/>
              <a:t> [n+1] = falso</a:t>
            </a:r>
            <a:br>
              <a:rPr lang="es-ES"/>
            </a:br>
            <a:r>
              <a:rPr lang="es-ES"/>
              <a:t>desde i=0 hasta n{</a:t>
            </a:r>
            <a:br>
              <a:rPr lang="es-ES"/>
            </a:br>
            <a:r>
              <a:rPr lang="es-ES"/>
              <a:t>  salida[n+2+i]=NOT entrada[n-i]</a:t>
            </a:r>
          </a:p>
          <a:p>
            <a:pPr marL="0" indent="0">
              <a:buNone/>
            </a:pPr>
            <a:r>
              <a:rPr lang="es-ES"/>
              <a:t>}</a:t>
            </a:r>
            <a:br>
              <a:rPr lang="es-ES"/>
            </a:br>
            <a:r>
              <a:rPr lang="es-ES"/>
              <a:t>con una entrada de lista exhaustiva de primos, conseguimos el objetivo.</a:t>
            </a:r>
            <a:br>
              <a:rPr lang="es-ES"/>
            </a:br>
            <a:br>
              <a:rPr lang="es-ES"/>
            </a:br>
            <a:endParaRPr lang="es-ES"/>
          </a:p>
        </p:txBody>
      </p:sp>
    </p:spTree>
    <p:extLst>
      <p:ext uri="{BB962C8B-B14F-4D97-AF65-F5344CB8AC3E}">
        <p14:creationId xmlns:p14="http://schemas.microsoft.com/office/powerpoint/2010/main" val="203768528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D7508F-5932-1CC1-83DF-1B24CC38744E}"/>
              </a:ext>
            </a:extLst>
          </p:cNvPr>
          <p:cNvSpPr>
            <a:spLocks noGrp="1"/>
          </p:cNvSpPr>
          <p:nvPr>
            <p:ph type="title"/>
          </p:nvPr>
        </p:nvSpPr>
        <p:spPr/>
        <p:txBody>
          <a:bodyPr/>
          <a:lstStyle/>
          <a:p>
            <a:r>
              <a:rPr lang="es-ES"/>
              <a:t>Donde empezamos a contar</a:t>
            </a:r>
          </a:p>
        </p:txBody>
      </p:sp>
      <p:sp>
        <p:nvSpPr>
          <p:cNvPr id="3" name="Marcador de contenido 2">
            <a:extLst>
              <a:ext uri="{FF2B5EF4-FFF2-40B4-BE49-F238E27FC236}">
                <a16:creationId xmlns:a16="http://schemas.microsoft.com/office/drawing/2014/main" id="{71CB0611-02D3-4F18-3CE9-B89DEEA17EDE}"/>
              </a:ext>
            </a:extLst>
          </p:cNvPr>
          <p:cNvSpPr>
            <a:spLocks noGrp="1"/>
          </p:cNvSpPr>
          <p:nvPr>
            <p:ph idx="1"/>
          </p:nvPr>
        </p:nvSpPr>
        <p:spPr/>
        <p:txBody>
          <a:bodyPr/>
          <a:lstStyle/>
          <a:p>
            <a:pPr marL="0" indent="0">
              <a:buNone/>
            </a:pPr>
            <a:r>
              <a:rPr lang="es-ES" dirty="0"/>
              <a:t>tenemos 2n/(6*2)=n/6 :  n/6 -n/</a:t>
            </a:r>
            <a:r>
              <a:rPr lang="es-ES" dirty="0" err="1"/>
              <a:t>ln</a:t>
            </a:r>
            <a:r>
              <a:rPr lang="es-ES" dirty="0"/>
              <a:t>( n) </a:t>
            </a:r>
            <a:br>
              <a:rPr lang="es-ES" dirty="0"/>
            </a:br>
            <a:r>
              <a:rPr lang="es-ES" dirty="0"/>
              <a:t> tenemos los 1 de la segunda mitad en posiciones 6k+-1 </a:t>
            </a:r>
            <a:br>
              <a:rPr lang="es-ES" dirty="0"/>
            </a:br>
            <a:r>
              <a:rPr lang="es-ES" dirty="0"/>
              <a:t>para 2n de forma 6k.</a:t>
            </a:r>
          </a:p>
          <a:p>
            <a:pPr marL="0" indent="0">
              <a:buNone/>
            </a:pPr>
            <a:br>
              <a:rPr lang="es-ES" dirty="0"/>
            </a:br>
            <a:r>
              <a:rPr lang="es-ES" dirty="0"/>
              <a:t>la cantidad de primos en la 2 parte de la lista </a:t>
            </a:r>
          </a:p>
          <a:p>
            <a:pPr marL="0" indent="0">
              <a:buNone/>
            </a:pPr>
            <a:r>
              <a:rPr lang="es-ES" dirty="0"/>
              <a:t>2n/</a:t>
            </a:r>
            <a:r>
              <a:rPr lang="es-ES" dirty="0" err="1"/>
              <a:t>ln</a:t>
            </a:r>
            <a:r>
              <a:rPr lang="es-ES" dirty="0"/>
              <a:t>(2n) -n/</a:t>
            </a:r>
            <a:r>
              <a:rPr lang="es-ES" dirty="0" err="1"/>
              <a:t>ln</a:t>
            </a:r>
            <a:r>
              <a:rPr lang="es-ES" dirty="0"/>
              <a:t>(n)   </a:t>
            </a:r>
            <a:br>
              <a:rPr lang="es-ES" dirty="0"/>
            </a:br>
            <a:br>
              <a:rPr lang="es-ES" dirty="0"/>
            </a:br>
            <a:r>
              <a:rPr lang="es-ES" dirty="0"/>
              <a:t>tachamos -n/</a:t>
            </a:r>
            <a:r>
              <a:rPr lang="es-ES" dirty="0" err="1"/>
              <a:t>ln</a:t>
            </a:r>
            <a:r>
              <a:rPr lang="es-ES" dirty="0"/>
              <a:t>( n) y resolvemos ecuación</a:t>
            </a:r>
          </a:p>
        </p:txBody>
      </p:sp>
      <p:pic>
        <p:nvPicPr>
          <p:cNvPr id="7" name="Imagen 6">
            <a:extLst>
              <a:ext uri="{FF2B5EF4-FFF2-40B4-BE49-F238E27FC236}">
                <a16:creationId xmlns:a16="http://schemas.microsoft.com/office/drawing/2014/main" id="{04E81F9C-C893-67A8-102E-1DA4762FF924}"/>
              </a:ext>
            </a:extLst>
          </p:cNvPr>
          <p:cNvPicPr>
            <a:picLocks noChangeAspect="1"/>
          </p:cNvPicPr>
          <p:nvPr/>
        </p:nvPicPr>
        <p:blipFill>
          <a:blip r:embed="rId4"/>
          <a:stretch>
            <a:fillRect/>
          </a:stretch>
        </p:blipFill>
        <p:spPr>
          <a:xfrm>
            <a:off x="7757699" y="2675731"/>
            <a:ext cx="4434301" cy="1325563"/>
          </a:xfrm>
          <a:prstGeom prst="rect">
            <a:avLst/>
          </a:prstGeom>
        </p:spPr>
      </p:pic>
      <p:pic>
        <p:nvPicPr>
          <p:cNvPr id="9" name="Imagen 8">
            <a:extLst>
              <a:ext uri="{FF2B5EF4-FFF2-40B4-BE49-F238E27FC236}">
                <a16:creationId xmlns:a16="http://schemas.microsoft.com/office/drawing/2014/main" id="{8207E060-793B-6274-B2EA-29C125A4D194}"/>
              </a:ext>
            </a:extLst>
          </p:cNvPr>
          <p:cNvPicPr>
            <a:picLocks noChangeAspect="1"/>
          </p:cNvPicPr>
          <p:nvPr/>
        </p:nvPicPr>
        <p:blipFill>
          <a:blip r:embed="rId5"/>
          <a:stretch>
            <a:fillRect/>
          </a:stretch>
        </p:blipFill>
        <p:spPr>
          <a:xfrm>
            <a:off x="7811349" y="3702995"/>
            <a:ext cx="2503381" cy="1130559"/>
          </a:xfrm>
          <a:prstGeom prst="rect">
            <a:avLst/>
          </a:prstGeom>
        </p:spPr>
      </p:pic>
      <p:pic>
        <p:nvPicPr>
          <p:cNvPr id="13" name="Imagen 12">
            <a:extLst>
              <a:ext uri="{FF2B5EF4-FFF2-40B4-BE49-F238E27FC236}">
                <a16:creationId xmlns:a16="http://schemas.microsoft.com/office/drawing/2014/main" id="{277CD1D6-3044-10E5-1343-B40957AE0846}"/>
              </a:ext>
            </a:extLst>
          </p:cNvPr>
          <p:cNvPicPr>
            <a:picLocks noChangeAspect="1"/>
          </p:cNvPicPr>
          <p:nvPr/>
        </p:nvPicPr>
        <p:blipFill>
          <a:blip r:embed="rId6"/>
          <a:stretch>
            <a:fillRect/>
          </a:stretch>
        </p:blipFill>
        <p:spPr>
          <a:xfrm>
            <a:off x="1" y="5152347"/>
            <a:ext cx="3672840" cy="1705653"/>
          </a:xfrm>
          <a:prstGeom prst="rect">
            <a:avLst/>
          </a:prstGeom>
        </p:spPr>
      </p:pic>
      <p:pic>
        <p:nvPicPr>
          <p:cNvPr id="15" name="Imagen 14">
            <a:extLst>
              <a:ext uri="{FF2B5EF4-FFF2-40B4-BE49-F238E27FC236}">
                <a16:creationId xmlns:a16="http://schemas.microsoft.com/office/drawing/2014/main" id="{8BCC1A9A-8E48-C56C-BE89-1BDCF9C1FB20}"/>
              </a:ext>
            </a:extLst>
          </p:cNvPr>
          <p:cNvPicPr>
            <a:picLocks noChangeAspect="1"/>
          </p:cNvPicPr>
          <p:nvPr/>
        </p:nvPicPr>
        <p:blipFill>
          <a:blip r:embed="rId7"/>
          <a:stretch>
            <a:fillRect/>
          </a:stretch>
        </p:blipFill>
        <p:spPr>
          <a:xfrm>
            <a:off x="9917846" y="5028558"/>
            <a:ext cx="2003964" cy="976615"/>
          </a:xfrm>
          <a:prstGeom prst="rect">
            <a:avLst/>
          </a:prstGeom>
        </p:spPr>
      </p:pic>
      <p:pic>
        <p:nvPicPr>
          <p:cNvPr id="17" name="Imagen 16">
            <a:extLst>
              <a:ext uri="{FF2B5EF4-FFF2-40B4-BE49-F238E27FC236}">
                <a16:creationId xmlns:a16="http://schemas.microsoft.com/office/drawing/2014/main" id="{B241060B-C8F2-EA54-7F64-FEC505CA0562}"/>
              </a:ext>
            </a:extLst>
          </p:cNvPr>
          <p:cNvPicPr>
            <a:picLocks noChangeAspect="1"/>
          </p:cNvPicPr>
          <p:nvPr/>
        </p:nvPicPr>
        <p:blipFill>
          <a:blip r:embed="rId8"/>
          <a:stretch>
            <a:fillRect/>
          </a:stretch>
        </p:blipFill>
        <p:spPr>
          <a:xfrm>
            <a:off x="7353136" y="4968491"/>
            <a:ext cx="2361807" cy="1005616"/>
          </a:xfrm>
          <a:prstGeom prst="rect">
            <a:avLst/>
          </a:prstGeom>
        </p:spPr>
      </p:pic>
    </p:spTree>
    <p:extLst>
      <p:ext uri="{BB962C8B-B14F-4D97-AF65-F5344CB8AC3E}">
        <p14:creationId xmlns:p14="http://schemas.microsoft.com/office/powerpoint/2010/main" val="1803976705"/>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BBDEF3-4317-EC4D-692E-72682BF34675}"/>
              </a:ext>
            </a:extLst>
          </p:cNvPr>
          <p:cNvSpPr>
            <a:spLocks noGrp="1"/>
          </p:cNvSpPr>
          <p:nvPr>
            <p:ph type="title"/>
          </p:nvPr>
        </p:nvSpPr>
        <p:spPr/>
        <p:txBody>
          <a:bodyPr/>
          <a:lstStyle/>
          <a:p>
            <a:r>
              <a:rPr lang="es-ES"/>
              <a:t>Teoría de autómatas</a:t>
            </a:r>
          </a:p>
        </p:txBody>
      </p:sp>
      <p:sp>
        <p:nvSpPr>
          <p:cNvPr id="3" name="Marcador de contenido 2">
            <a:extLst>
              <a:ext uri="{FF2B5EF4-FFF2-40B4-BE49-F238E27FC236}">
                <a16:creationId xmlns:a16="http://schemas.microsoft.com/office/drawing/2014/main" id="{5ACDC510-998E-FC42-DDA2-745059D88096}"/>
              </a:ext>
            </a:extLst>
          </p:cNvPr>
          <p:cNvSpPr>
            <a:spLocks noGrp="1"/>
          </p:cNvSpPr>
          <p:nvPr>
            <p:ph idx="1"/>
          </p:nvPr>
        </p:nvSpPr>
        <p:spPr>
          <a:xfrm>
            <a:off x="1058917" y="1941239"/>
            <a:ext cx="10515600" cy="4351338"/>
          </a:xfrm>
        </p:spPr>
        <p:txBody>
          <a:bodyPr/>
          <a:lstStyle/>
          <a:p>
            <a:pPr marL="0" indent="0">
              <a:buNone/>
            </a:pPr>
            <a:r>
              <a:rPr lang="es-ES" dirty="0"/>
              <a:t>En lenguaje formal no puedo expresar una lista exhaustiva de primos.</a:t>
            </a:r>
          </a:p>
          <a:p>
            <a:pPr marL="0" indent="0">
              <a:buNone/>
            </a:pPr>
            <a:endParaRPr lang="es-ES" dirty="0"/>
          </a:p>
          <a:p>
            <a:pPr marL="0" indent="0">
              <a:buNone/>
            </a:pPr>
            <a:r>
              <a:rPr lang="es-ES" dirty="0"/>
              <a:t>{X 0 </a:t>
            </a:r>
            <a:r>
              <a:rPr lang="es-ES" dirty="0" err="1"/>
              <a:t>Xr</a:t>
            </a:r>
            <a:r>
              <a:rPr lang="es-ES" dirty="0"/>
              <a:t>: X= 0011 y </a:t>
            </a:r>
            <a:r>
              <a:rPr lang="es-ES" dirty="0" err="1"/>
              <a:t>Xr</a:t>
            </a:r>
            <a:r>
              <a:rPr lang="es-ES" dirty="0"/>
              <a:t> reverso de X negada}</a:t>
            </a:r>
            <a:br>
              <a:rPr lang="es-ES" dirty="0"/>
            </a:br>
            <a:br>
              <a:rPr lang="es-ES" dirty="0"/>
            </a:br>
            <a:r>
              <a:rPr lang="es-ES" dirty="0"/>
              <a:t>o para justificar después </a:t>
            </a:r>
            <a:br>
              <a:rPr lang="es-ES" dirty="0"/>
            </a:br>
            <a:br>
              <a:rPr lang="es-ES" dirty="0"/>
            </a:br>
            <a:r>
              <a:rPr lang="es-ES" dirty="0"/>
              <a:t>{X 0 Y 0 Z: Z=</a:t>
            </a:r>
            <a:r>
              <a:rPr lang="es-ES" dirty="0" err="1"/>
              <a:t>Xr</a:t>
            </a:r>
            <a:r>
              <a:rPr lang="es-ES" dirty="0"/>
              <a:t> 0 </a:t>
            </a:r>
            <a:r>
              <a:rPr lang="es-ES" dirty="0" err="1"/>
              <a:t>Yr</a:t>
            </a:r>
            <a:r>
              <a:rPr lang="es-ES" dirty="0"/>
              <a:t>}</a:t>
            </a:r>
            <a:br>
              <a:rPr lang="es-ES" dirty="0"/>
            </a:br>
            <a:br>
              <a:rPr lang="es-ES" dirty="0"/>
            </a:br>
            <a:endParaRPr lang="es-ES" dirty="0"/>
          </a:p>
        </p:txBody>
      </p:sp>
    </p:spTree>
    <p:extLst>
      <p:ext uri="{BB962C8B-B14F-4D97-AF65-F5344CB8AC3E}">
        <p14:creationId xmlns:p14="http://schemas.microsoft.com/office/powerpoint/2010/main" val="3771787402"/>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AF9D305-7B7C-CC7C-84A0-1CE344B0DD99}"/>
              </a:ext>
            </a:extLst>
          </p:cNvPr>
          <p:cNvPicPr>
            <a:picLocks noChangeAspect="1"/>
          </p:cNvPicPr>
          <p:nvPr/>
        </p:nvPicPr>
        <p:blipFill>
          <a:blip r:embed="rId3"/>
          <a:stretch>
            <a:fillRect/>
          </a:stretch>
        </p:blipFill>
        <p:spPr>
          <a:xfrm>
            <a:off x="1730514" y="2942644"/>
            <a:ext cx="6986766" cy="3915356"/>
          </a:xfrm>
          <a:prstGeom prst="rect">
            <a:avLst/>
          </a:prstGeom>
        </p:spPr>
      </p:pic>
      <p:sp>
        <p:nvSpPr>
          <p:cNvPr id="2" name="Título 1">
            <a:extLst>
              <a:ext uri="{FF2B5EF4-FFF2-40B4-BE49-F238E27FC236}">
                <a16:creationId xmlns:a16="http://schemas.microsoft.com/office/drawing/2014/main" id="{FEC81FC4-BE32-B9B6-7E63-3BCCE885E15A}"/>
              </a:ext>
            </a:extLst>
          </p:cNvPr>
          <p:cNvSpPr>
            <a:spLocks noGrp="1"/>
          </p:cNvSpPr>
          <p:nvPr>
            <p:ph type="title"/>
          </p:nvPr>
        </p:nvSpPr>
        <p:spPr/>
        <p:txBody>
          <a:bodyPr>
            <a:normAutofit/>
          </a:bodyPr>
          <a:lstStyle/>
          <a:p>
            <a:r>
              <a:rPr lang="es-ES" sz="3600" dirty="0">
                <a:solidFill>
                  <a:srgbClr val="000000"/>
                </a:solidFill>
                <a:latin typeface="Calibri" panose="020F0502020204030204" pitchFamily="34" charset="0"/>
                <a:ea typeface="Calibri" panose="020F0502020204030204" pitchFamily="34" charset="0"/>
              </a:rPr>
              <a:t>E</a:t>
            </a:r>
            <a:r>
              <a:rPr lang="es-ES" sz="3600" dirty="0">
                <a:solidFill>
                  <a:srgbClr val="000000"/>
                </a:solidFill>
                <a:effectLst/>
                <a:latin typeface="Calibri" panose="020F0502020204030204" pitchFamily="34" charset="0"/>
                <a:ea typeface="Calibri" panose="020F0502020204030204" pitchFamily="34" charset="0"/>
              </a:rPr>
              <a:t>rror relativo del algoritmo para 2n de forma 6k. </a:t>
            </a:r>
            <a:endParaRPr lang="es-ES" sz="3600" dirty="0"/>
          </a:p>
        </p:txBody>
      </p:sp>
      <p:pic>
        <p:nvPicPr>
          <p:cNvPr id="5" name="Marcador de contenido 4">
            <a:extLst>
              <a:ext uri="{FF2B5EF4-FFF2-40B4-BE49-F238E27FC236}">
                <a16:creationId xmlns:a16="http://schemas.microsoft.com/office/drawing/2014/main" id="{B9EABE3E-BA26-DF1A-092F-DB8E5CE4EC1B}"/>
              </a:ext>
            </a:extLst>
          </p:cNvPr>
          <p:cNvPicPr>
            <a:picLocks noGrp="1" noChangeAspect="1"/>
          </p:cNvPicPr>
          <p:nvPr>
            <p:ph idx="1"/>
          </p:nvPr>
        </p:nvPicPr>
        <p:blipFill>
          <a:blip r:embed="rId4"/>
          <a:stretch>
            <a:fillRect/>
          </a:stretch>
        </p:blipFill>
        <p:spPr>
          <a:xfrm>
            <a:off x="2583954" y="1690688"/>
            <a:ext cx="5354601" cy="1463992"/>
          </a:xfrm>
        </p:spPr>
      </p:pic>
    </p:spTree>
    <p:extLst>
      <p:ext uri="{BB962C8B-B14F-4D97-AF65-F5344CB8AC3E}">
        <p14:creationId xmlns:p14="http://schemas.microsoft.com/office/powerpoint/2010/main" val="2851893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4B2F3A-497C-9653-3870-520F1C6874E4}"/>
              </a:ext>
            </a:extLst>
          </p:cNvPr>
          <p:cNvSpPr>
            <a:spLocks noGrp="1"/>
          </p:cNvSpPr>
          <p:nvPr>
            <p:ph type="title"/>
          </p:nvPr>
        </p:nvSpPr>
        <p:spPr/>
        <p:txBody>
          <a:bodyPr/>
          <a:lstStyle/>
          <a:p>
            <a:r>
              <a:rPr lang="es-ES" dirty="0"/>
              <a:t>Coste temporal del algoritmo</a:t>
            </a:r>
          </a:p>
        </p:txBody>
      </p:sp>
      <p:sp>
        <p:nvSpPr>
          <p:cNvPr id="3" name="Marcador de contenido 2">
            <a:extLst>
              <a:ext uri="{FF2B5EF4-FFF2-40B4-BE49-F238E27FC236}">
                <a16:creationId xmlns:a16="http://schemas.microsoft.com/office/drawing/2014/main" id="{5937405E-1237-2ECB-C580-073D469CB2DD}"/>
              </a:ext>
            </a:extLst>
          </p:cNvPr>
          <p:cNvSpPr>
            <a:spLocks noGrp="1"/>
          </p:cNvSpPr>
          <p:nvPr>
            <p:ph idx="1"/>
          </p:nvPr>
        </p:nvSpPr>
        <p:spPr>
          <a:xfrm>
            <a:off x="838200" y="1434164"/>
            <a:ext cx="10515600" cy="4742799"/>
          </a:xfrm>
        </p:spPr>
        <p:txBody>
          <a:bodyPr>
            <a:normAutofit/>
          </a:bodyPr>
          <a:lstStyle/>
          <a:p>
            <a:pPr marL="0" indent="0">
              <a:buNone/>
            </a:pPr>
            <a:r>
              <a:rPr lang="es-ES" dirty="0"/>
              <a:t>Planteamos que aun así podría ser falsa la conjetura. </a:t>
            </a:r>
            <a:br>
              <a:rPr lang="es-ES" dirty="0"/>
            </a:br>
            <a:br>
              <a:rPr lang="es-ES" dirty="0"/>
            </a:br>
            <a:r>
              <a:rPr lang="es-ES" dirty="0"/>
              <a:t>El algoritmo de antes, con coste N, da primos de N a 2N con error relativo de 0,00% con coste temporal de N y una instrucción por iteración.</a:t>
            </a:r>
            <a:br>
              <a:rPr lang="es-ES" dirty="0"/>
            </a:br>
            <a:br>
              <a:rPr lang="es-ES" dirty="0"/>
            </a:br>
            <a:r>
              <a:rPr lang="es-ES" dirty="0"/>
              <a:t>Obtener todos los primos de n a 2n para n&gt;e^12/k ¿Qué coste mínimo tiene?</a:t>
            </a:r>
          </a:p>
          <a:p>
            <a:pPr marL="0" indent="0">
              <a:buNone/>
            </a:pPr>
            <a:br>
              <a:rPr lang="es-ES" dirty="0"/>
            </a:br>
            <a:r>
              <a:rPr lang="es-ES" dirty="0"/>
              <a:t>¿Es este algoritmo solución a algo?    </a:t>
            </a:r>
            <a:br>
              <a:rPr lang="es-ES" dirty="0"/>
            </a:br>
            <a:endParaRPr lang="es-ES" dirty="0"/>
          </a:p>
        </p:txBody>
      </p:sp>
    </p:spTree>
    <p:extLst>
      <p:ext uri="{BB962C8B-B14F-4D97-AF65-F5344CB8AC3E}">
        <p14:creationId xmlns:p14="http://schemas.microsoft.com/office/powerpoint/2010/main" val="3479737015"/>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91E6BA-3DE5-5C09-8084-59D1DB94B539}"/>
              </a:ext>
            </a:extLst>
          </p:cNvPr>
          <p:cNvSpPr>
            <a:spLocks noGrp="1"/>
          </p:cNvSpPr>
          <p:nvPr>
            <p:ph type="title"/>
          </p:nvPr>
        </p:nvSpPr>
        <p:spPr>
          <a:xfrm>
            <a:off x="838200" y="151765"/>
            <a:ext cx="10515600" cy="1325563"/>
          </a:xfrm>
        </p:spPr>
        <p:txBody>
          <a:bodyPr/>
          <a:lstStyle/>
          <a:p>
            <a:r>
              <a:rPr lang="es-ES" dirty="0">
                <a:solidFill>
                  <a:srgbClr val="000000"/>
                </a:solidFill>
                <a:latin typeface="Calibri" panose="020F0502020204030204" pitchFamily="34" charset="0"/>
                <a:ea typeface="Calibri" panose="020F0502020204030204" pitchFamily="34" charset="0"/>
              </a:rPr>
              <a:t>Do</a:t>
            </a:r>
            <a:r>
              <a:rPr lang="es-ES" sz="4400" dirty="0">
                <a:solidFill>
                  <a:srgbClr val="000000"/>
                </a:solidFill>
                <a:effectLst/>
                <a:latin typeface="Calibri" panose="020F0502020204030204" pitchFamily="34" charset="0"/>
                <a:ea typeface="Calibri" panose="020F0502020204030204" pitchFamily="34" charset="0"/>
              </a:rPr>
              <a:t>ble asignación posible primo y no primo.</a:t>
            </a:r>
            <a:endParaRPr lang="es-ES" dirty="0"/>
          </a:p>
        </p:txBody>
      </p:sp>
      <p:sp>
        <p:nvSpPr>
          <p:cNvPr id="3" name="Marcador de contenido 2">
            <a:extLst>
              <a:ext uri="{FF2B5EF4-FFF2-40B4-BE49-F238E27FC236}">
                <a16:creationId xmlns:a16="http://schemas.microsoft.com/office/drawing/2014/main" id="{1D667704-70A8-9BE1-C8B0-D83F013F08F1}"/>
              </a:ext>
            </a:extLst>
          </p:cNvPr>
          <p:cNvSpPr>
            <a:spLocks noGrp="1"/>
          </p:cNvSpPr>
          <p:nvPr>
            <p:ph idx="1"/>
          </p:nvPr>
        </p:nvSpPr>
        <p:spPr>
          <a:xfrm>
            <a:off x="304800" y="1280159"/>
            <a:ext cx="11611702" cy="5577841"/>
          </a:xfrm>
        </p:spPr>
        <p:txBody>
          <a:bodyPr>
            <a:normAutofit fontScale="77500" lnSpcReduction="20000"/>
          </a:bodyPr>
          <a:lstStyle/>
          <a:p>
            <a:pPr marL="0" indent="0">
              <a:buNone/>
            </a:pPr>
            <a:r>
              <a:rPr lang="es-ES" dirty="0"/>
              <a:t>El algoritmo pone a primo 2n- </a:t>
            </a:r>
            <a:r>
              <a:rPr lang="es-ES" dirty="0" err="1"/>
              <a:t>noPrimo</a:t>
            </a:r>
            <a:r>
              <a:rPr lang="es-ES" dirty="0"/>
              <a:t>, y para 2n de forma 6k,</a:t>
            </a:r>
            <a:br>
              <a:rPr lang="es-ES" dirty="0"/>
            </a:br>
            <a:br>
              <a:rPr lang="es-ES" dirty="0"/>
            </a:br>
            <a:r>
              <a:rPr lang="es-ES" dirty="0"/>
              <a:t>los no primos múltiplos del 5</a:t>
            </a:r>
            <a:br>
              <a:rPr lang="es-ES" dirty="0"/>
            </a:br>
            <a:br>
              <a:rPr lang="es-ES" dirty="0"/>
            </a:br>
            <a:r>
              <a:rPr lang="es-ES" dirty="0"/>
              <a:t>25;35;55…</a:t>
            </a:r>
            <a:br>
              <a:rPr lang="es-ES" dirty="0"/>
            </a:br>
            <a:br>
              <a:rPr lang="es-ES" dirty="0"/>
            </a:br>
            <a:r>
              <a:rPr lang="es-ES" dirty="0"/>
              <a:t>si p es no primo 2n-p puede ser primo. </a:t>
            </a:r>
            <a:br>
              <a:rPr lang="es-ES" dirty="0"/>
            </a:br>
            <a:br>
              <a:rPr lang="es-ES" dirty="0"/>
            </a:br>
            <a:r>
              <a:rPr lang="es-ES" dirty="0"/>
              <a:t>12 K1 – (6 k2 +-1)=6k3 +-1</a:t>
            </a:r>
            <a:br>
              <a:rPr lang="es-ES" dirty="0"/>
            </a:br>
            <a:br>
              <a:rPr lang="es-ES" dirty="0"/>
            </a:br>
            <a:r>
              <a:rPr lang="es-ES" dirty="0"/>
              <a:t>(6 k2 +-1) no primo</a:t>
            </a:r>
            <a:br>
              <a:rPr lang="es-ES" dirty="0"/>
            </a:br>
            <a:r>
              <a:rPr lang="es-ES" dirty="0"/>
              <a:t>6k3 +-1  primo. </a:t>
            </a:r>
            <a:br>
              <a:rPr lang="es-ES" dirty="0"/>
            </a:br>
            <a:r>
              <a:rPr lang="es-ES" dirty="0"/>
              <a:t>Y nunca para algún 12 K1 dado,</a:t>
            </a:r>
            <a:br>
              <a:rPr lang="es-ES" dirty="0"/>
            </a:br>
            <a:r>
              <a:rPr lang="es-ES" dirty="0"/>
              <a:t>(6 k2 +-1) primo</a:t>
            </a:r>
            <a:br>
              <a:rPr lang="es-ES" dirty="0"/>
            </a:br>
            <a:r>
              <a:rPr lang="es-ES" dirty="0"/>
              <a:t>6k3 +-1  primo.</a:t>
            </a:r>
            <a:br>
              <a:rPr lang="es-ES" dirty="0"/>
            </a:br>
            <a:br>
              <a:rPr lang="es-ES" dirty="0"/>
            </a:br>
            <a:br>
              <a:rPr lang="es-ES" dirty="0"/>
            </a:br>
            <a:r>
              <a:rPr lang="es-ES" dirty="0"/>
              <a:t>12 K1=(6 k3 +-1)+(6 k2 +-1)</a:t>
            </a:r>
            <a:br>
              <a:rPr lang="es-ES" dirty="0"/>
            </a:br>
            <a:br>
              <a:rPr lang="es-ES" dirty="0"/>
            </a:br>
            <a:r>
              <a:rPr lang="es-ES" dirty="0"/>
              <a:t>12 K1=(6 k3 +1)+(6 k2 +1)</a:t>
            </a:r>
            <a:br>
              <a:rPr lang="es-ES" dirty="0"/>
            </a:br>
            <a:r>
              <a:rPr lang="es-ES" dirty="0"/>
              <a:t>12 K1=(6 k3 -1)+(6 k2 +1)</a:t>
            </a:r>
            <a:br>
              <a:rPr lang="es-ES" dirty="0"/>
            </a:br>
            <a:r>
              <a:rPr lang="es-ES" dirty="0"/>
              <a:t>12 K1=(6 k3 +1)+(6 k2 -1)</a:t>
            </a:r>
            <a:br>
              <a:rPr lang="es-ES" dirty="0"/>
            </a:br>
            <a:r>
              <a:rPr lang="es-ES" dirty="0"/>
              <a:t>12 K1=(6 k3 -1)+(6 k2 -1)</a:t>
            </a:r>
          </a:p>
        </p:txBody>
      </p:sp>
      <p:pic>
        <p:nvPicPr>
          <p:cNvPr id="6" name="Imagen 5">
            <a:extLst>
              <a:ext uri="{FF2B5EF4-FFF2-40B4-BE49-F238E27FC236}">
                <a16:creationId xmlns:a16="http://schemas.microsoft.com/office/drawing/2014/main" id="{A8FA1A00-DCDC-25B5-DAF0-D9C814E7BB64}"/>
              </a:ext>
            </a:extLst>
          </p:cNvPr>
          <p:cNvPicPr>
            <a:picLocks noChangeAspect="1"/>
          </p:cNvPicPr>
          <p:nvPr/>
        </p:nvPicPr>
        <p:blipFill>
          <a:blip r:embed="rId3"/>
          <a:stretch>
            <a:fillRect/>
          </a:stretch>
        </p:blipFill>
        <p:spPr>
          <a:xfrm>
            <a:off x="4419600" y="3330140"/>
            <a:ext cx="7496902" cy="2247700"/>
          </a:xfrm>
          <a:prstGeom prst="rect">
            <a:avLst/>
          </a:prstGeom>
        </p:spPr>
      </p:pic>
    </p:spTree>
    <p:extLst>
      <p:ext uri="{BB962C8B-B14F-4D97-AF65-F5344CB8AC3E}">
        <p14:creationId xmlns:p14="http://schemas.microsoft.com/office/powerpoint/2010/main" val="1667489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91E6BA-3DE5-5C09-8084-59D1DB94B539}"/>
              </a:ext>
            </a:extLst>
          </p:cNvPr>
          <p:cNvSpPr>
            <a:spLocks noGrp="1"/>
          </p:cNvSpPr>
          <p:nvPr>
            <p:ph type="title"/>
          </p:nvPr>
        </p:nvSpPr>
        <p:spPr>
          <a:xfrm>
            <a:off x="579120" y="18255"/>
            <a:ext cx="10515600" cy="1325563"/>
          </a:xfrm>
        </p:spPr>
        <p:txBody>
          <a:bodyPr/>
          <a:lstStyle/>
          <a:p>
            <a:r>
              <a:rPr lang="es-ES" dirty="0">
                <a:solidFill>
                  <a:srgbClr val="000000"/>
                </a:solidFill>
                <a:latin typeface="Calibri" panose="020F0502020204030204" pitchFamily="34" charset="0"/>
                <a:ea typeface="Calibri" panose="020F0502020204030204" pitchFamily="34" charset="0"/>
              </a:rPr>
              <a:t>Do</a:t>
            </a:r>
            <a:r>
              <a:rPr lang="es-ES" sz="4400" dirty="0">
                <a:solidFill>
                  <a:srgbClr val="000000"/>
                </a:solidFill>
                <a:effectLst/>
                <a:latin typeface="Calibri" panose="020F0502020204030204" pitchFamily="34" charset="0"/>
                <a:ea typeface="Calibri" panose="020F0502020204030204" pitchFamily="34" charset="0"/>
              </a:rPr>
              <a:t>ble asignación posible primo y no primo.</a:t>
            </a:r>
            <a:endParaRPr lang="es-ES" dirty="0"/>
          </a:p>
        </p:txBody>
      </p:sp>
      <p:sp>
        <p:nvSpPr>
          <p:cNvPr id="3" name="Marcador de contenido 2">
            <a:extLst>
              <a:ext uri="{FF2B5EF4-FFF2-40B4-BE49-F238E27FC236}">
                <a16:creationId xmlns:a16="http://schemas.microsoft.com/office/drawing/2014/main" id="{1D667704-70A8-9BE1-C8B0-D83F013F08F1}"/>
              </a:ext>
            </a:extLst>
          </p:cNvPr>
          <p:cNvSpPr>
            <a:spLocks noGrp="1"/>
          </p:cNvSpPr>
          <p:nvPr>
            <p:ph idx="1"/>
          </p:nvPr>
        </p:nvSpPr>
        <p:spPr>
          <a:xfrm>
            <a:off x="381000" y="1143000"/>
            <a:ext cx="10972800" cy="5033963"/>
          </a:xfrm>
        </p:spPr>
        <p:txBody>
          <a:bodyPr>
            <a:normAutofit fontScale="70000" lnSpcReduction="20000"/>
          </a:bodyPr>
          <a:lstStyle/>
          <a:p>
            <a:pPr marL="0" indent="0">
              <a:buNone/>
            </a:pPr>
            <a:r>
              <a:rPr lang="es-ES" dirty="0"/>
              <a:t>El algoritmo pone a primo 2n- </a:t>
            </a:r>
            <a:r>
              <a:rPr lang="es-ES" dirty="0" err="1"/>
              <a:t>noPrimo</a:t>
            </a:r>
            <a:r>
              <a:rPr lang="es-ES" dirty="0"/>
              <a:t>, y para 2n de forma 6k,</a:t>
            </a:r>
            <a:br>
              <a:rPr lang="es-ES" dirty="0"/>
            </a:br>
            <a:br>
              <a:rPr lang="es-ES" dirty="0"/>
            </a:br>
            <a:r>
              <a:rPr lang="es-ES" dirty="0"/>
              <a:t>los no primos múltiplos del 5</a:t>
            </a:r>
            <a:br>
              <a:rPr lang="es-ES" dirty="0"/>
            </a:br>
            <a:br>
              <a:rPr lang="es-ES" dirty="0"/>
            </a:br>
            <a:r>
              <a:rPr lang="es-ES" dirty="0"/>
              <a:t>25;35;55…</a:t>
            </a:r>
            <a:br>
              <a:rPr lang="es-ES" dirty="0"/>
            </a:br>
            <a:br>
              <a:rPr lang="es-ES" dirty="0"/>
            </a:br>
            <a:r>
              <a:rPr lang="es-ES" dirty="0"/>
              <a:t>si p es no primo 2n-p puede ser primo. </a:t>
            </a:r>
            <a:br>
              <a:rPr lang="es-ES" dirty="0"/>
            </a:br>
            <a:br>
              <a:rPr lang="es-ES" dirty="0"/>
            </a:br>
            <a:r>
              <a:rPr lang="es-ES" dirty="0"/>
              <a:t>12 K1 – (6 k2 +-1)=6k3 +-1</a:t>
            </a:r>
            <a:br>
              <a:rPr lang="es-ES" dirty="0"/>
            </a:br>
            <a:br>
              <a:rPr lang="es-ES" dirty="0"/>
            </a:br>
            <a:r>
              <a:rPr lang="es-ES" dirty="0"/>
              <a:t>(6 k2 +-1) no primo</a:t>
            </a:r>
            <a:br>
              <a:rPr lang="es-ES" dirty="0"/>
            </a:br>
            <a:r>
              <a:rPr lang="es-ES" dirty="0"/>
              <a:t>6k3 +-1  primo. </a:t>
            </a:r>
            <a:br>
              <a:rPr lang="es-ES" dirty="0"/>
            </a:br>
            <a:r>
              <a:rPr lang="es-ES" dirty="0"/>
              <a:t>Y nunca para algún 12 K1 dado,</a:t>
            </a:r>
            <a:br>
              <a:rPr lang="es-ES" dirty="0"/>
            </a:br>
            <a:r>
              <a:rPr lang="es-ES" dirty="0"/>
              <a:t>(6 k2 +-1) primo</a:t>
            </a:r>
            <a:br>
              <a:rPr lang="es-ES" dirty="0"/>
            </a:br>
            <a:r>
              <a:rPr lang="es-ES" dirty="0"/>
              <a:t>6k3 +-1  primo.</a:t>
            </a:r>
            <a:br>
              <a:rPr lang="es-ES" dirty="0"/>
            </a:br>
            <a:br>
              <a:rPr lang="es-ES" dirty="0"/>
            </a:br>
            <a:br>
              <a:rPr lang="es-ES" dirty="0"/>
            </a:br>
            <a:r>
              <a:rPr lang="es-ES" dirty="0"/>
              <a:t>12 K1=(6 k3 +-1)+(6 k2 +-1)</a:t>
            </a:r>
            <a:br>
              <a:rPr lang="es-ES" dirty="0"/>
            </a:br>
            <a:br>
              <a:rPr lang="es-ES" dirty="0"/>
            </a:br>
            <a:r>
              <a:rPr lang="es-ES" dirty="0"/>
              <a:t>12 K1=(6 k3 +1)+(6 k2 +1)</a:t>
            </a:r>
            <a:br>
              <a:rPr lang="es-ES" dirty="0"/>
            </a:br>
            <a:r>
              <a:rPr lang="es-ES" dirty="0"/>
              <a:t>12 K1=(6 k3 -1)+(6 k2 +1)</a:t>
            </a:r>
            <a:br>
              <a:rPr lang="es-ES" dirty="0"/>
            </a:br>
            <a:r>
              <a:rPr lang="es-ES" dirty="0"/>
              <a:t>12 K1=(6 k3 +1)+(6 k2 -1)</a:t>
            </a:r>
            <a:br>
              <a:rPr lang="es-ES" dirty="0"/>
            </a:br>
            <a:r>
              <a:rPr lang="es-ES" dirty="0"/>
              <a:t>12 K1=(6 k3 -1)+(6 k2 -1)</a:t>
            </a:r>
          </a:p>
        </p:txBody>
      </p:sp>
      <p:pic>
        <p:nvPicPr>
          <p:cNvPr id="5" name="Imagen 4">
            <a:extLst>
              <a:ext uri="{FF2B5EF4-FFF2-40B4-BE49-F238E27FC236}">
                <a16:creationId xmlns:a16="http://schemas.microsoft.com/office/drawing/2014/main" id="{AA00ABB2-2D17-375C-4C25-D74C49699025}"/>
              </a:ext>
            </a:extLst>
          </p:cNvPr>
          <p:cNvPicPr>
            <a:picLocks noChangeAspect="1"/>
          </p:cNvPicPr>
          <p:nvPr/>
        </p:nvPicPr>
        <p:blipFill>
          <a:blip r:embed="rId3"/>
          <a:stretch>
            <a:fillRect/>
          </a:stretch>
        </p:blipFill>
        <p:spPr>
          <a:xfrm>
            <a:off x="3383280" y="4754235"/>
            <a:ext cx="8808720" cy="1278943"/>
          </a:xfrm>
          <a:prstGeom prst="rect">
            <a:avLst/>
          </a:prstGeom>
        </p:spPr>
      </p:pic>
    </p:spTree>
    <p:extLst>
      <p:ext uri="{BB962C8B-B14F-4D97-AF65-F5344CB8AC3E}">
        <p14:creationId xmlns:p14="http://schemas.microsoft.com/office/powerpoint/2010/main" val="39442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92955C-618B-40BE-306F-6C676DA91C62}"/>
              </a:ext>
            </a:extLst>
          </p:cNvPr>
          <p:cNvSpPr>
            <a:spLocks noGrp="1"/>
          </p:cNvSpPr>
          <p:nvPr>
            <p:ph type="title"/>
          </p:nvPr>
        </p:nvSpPr>
        <p:spPr/>
        <p:txBody>
          <a:bodyPr/>
          <a:lstStyle/>
          <a:p>
            <a:r>
              <a:rPr lang="es-ES"/>
              <a:t>Los primos.</a:t>
            </a:r>
          </a:p>
        </p:txBody>
      </p:sp>
      <p:sp>
        <p:nvSpPr>
          <p:cNvPr id="3" name="Marcador de contenido 2">
            <a:extLst>
              <a:ext uri="{FF2B5EF4-FFF2-40B4-BE49-F238E27FC236}">
                <a16:creationId xmlns:a16="http://schemas.microsoft.com/office/drawing/2014/main" id="{19F28019-7697-939D-E167-6B111E5570BB}"/>
              </a:ext>
            </a:extLst>
          </p:cNvPr>
          <p:cNvSpPr>
            <a:spLocks noGrp="1"/>
          </p:cNvSpPr>
          <p:nvPr>
            <p:ph idx="1"/>
          </p:nvPr>
        </p:nvSpPr>
        <p:spPr/>
        <p:txBody>
          <a:bodyPr numCol="3">
            <a:normAutofit lnSpcReduction="10000"/>
          </a:bodyPr>
          <a:lstStyle/>
          <a:p>
            <a:pPr marL="0" indent="0">
              <a:buNone/>
            </a:pPr>
            <a:r>
              <a:rPr lang="es-ES" sz="1400"/>
              <a:t>for(p=5;p&gt;max;p+=2){</a:t>
            </a:r>
            <a:br>
              <a:rPr lang="es-ES" sz="1400"/>
            </a:br>
            <a:r>
              <a:rPr lang="es-ES" sz="1400"/>
              <a:t>   np=p*p      </a:t>
            </a:r>
            <a:br>
              <a:rPr lang="es-ES" sz="1400"/>
            </a:br>
            <a:r>
              <a:rPr lang="es-ES" sz="1400"/>
              <a:t>   send(np)      </a:t>
            </a:r>
            <a:br>
              <a:rPr lang="es-ES" sz="1400"/>
            </a:br>
            <a:r>
              <a:rPr lang="es-ES" sz="1400"/>
              <a:t>   salto=p+p      </a:t>
            </a:r>
            <a:br>
              <a:rPr lang="es-ES" sz="1400"/>
            </a:br>
            <a:r>
              <a:rPr lang="es-ES" sz="1400"/>
              <a:t>   salto2=p+p+p+p </a:t>
            </a:r>
            <a:br>
              <a:rPr lang="es-ES" sz="1400"/>
            </a:br>
            <a:r>
              <a:rPr lang="es-ES" sz="1400"/>
              <a:t>for(i=np;i&gt;max;</a:t>
            </a:r>
            <a:br>
              <a:rPr lang="es-ES" sz="1400"/>
            </a:br>
            <a:r>
              <a:rPr lang="es-ES" sz="1400"/>
              <a:t>i+=salto+salto2){           </a:t>
            </a:r>
            <a:br>
              <a:rPr lang="es-ES" sz="1400"/>
            </a:br>
            <a:r>
              <a:rPr lang="es-ES" sz="1400"/>
              <a:t>         np+=salto            </a:t>
            </a:r>
            <a:br>
              <a:rPr lang="es-ES" sz="1400"/>
            </a:br>
            <a:r>
              <a:rPr lang="es-ES" sz="1400"/>
              <a:t>         send(np)            </a:t>
            </a:r>
            <a:br>
              <a:rPr lang="es-ES" sz="1400"/>
            </a:br>
            <a:r>
              <a:rPr lang="es-ES" sz="1400"/>
              <a:t>         np+=salto2            </a:t>
            </a:r>
            <a:br>
              <a:rPr lang="es-ES" sz="1400"/>
            </a:br>
            <a:r>
              <a:rPr lang="es-ES" sz="1400"/>
              <a:t>         send(np)          </a:t>
            </a:r>
            <a:br>
              <a:rPr lang="es-ES" sz="1400"/>
            </a:br>
            <a:r>
              <a:rPr lang="es-ES" sz="1400"/>
              <a:t>}    </a:t>
            </a:r>
            <a:br>
              <a:rPr lang="es-ES" sz="1400"/>
            </a:br>
            <a:r>
              <a:rPr lang="es-ES" sz="1400"/>
              <a:t>   p+=4</a:t>
            </a:r>
            <a:br>
              <a:rPr lang="es-ES" sz="1400"/>
            </a:br>
            <a:r>
              <a:rPr lang="es-ES" sz="1400"/>
              <a:t>   salto=p+p   </a:t>
            </a:r>
            <a:br>
              <a:rPr lang="es-ES" sz="1400"/>
            </a:br>
            <a:r>
              <a:rPr lang="es-ES" sz="1400"/>
              <a:t>  salto2=p+p+p+p      </a:t>
            </a:r>
            <a:br>
              <a:rPr lang="es-ES" sz="1400"/>
            </a:br>
            <a:r>
              <a:rPr lang="es-ES" sz="1400"/>
              <a:t>   np=p*p  </a:t>
            </a:r>
            <a:br>
              <a:rPr lang="es-ES" sz="1400"/>
            </a:br>
            <a:r>
              <a:rPr lang="es-ES" sz="1400"/>
              <a:t>   send(np)      </a:t>
            </a:r>
            <a:br>
              <a:rPr lang="es-ES" sz="1400"/>
            </a:br>
            <a:r>
              <a:rPr lang="es-ES" sz="1400"/>
              <a:t>for(i=np;i&gt;max;</a:t>
            </a:r>
            <a:br>
              <a:rPr lang="es-ES" sz="1400"/>
            </a:br>
            <a:r>
              <a:rPr lang="es-ES" sz="1400"/>
              <a:t>i+=salto+salto2){    </a:t>
            </a:r>
            <a:br>
              <a:rPr lang="es-ES" sz="1400"/>
            </a:br>
            <a:r>
              <a:rPr lang="es-ES" sz="1400"/>
              <a:t>  np+=salto           </a:t>
            </a:r>
            <a:br>
              <a:rPr lang="es-ES" sz="1400"/>
            </a:br>
            <a:r>
              <a:rPr lang="es-ES" sz="1400"/>
              <a:t>   send(np)      </a:t>
            </a:r>
            <a:br>
              <a:rPr lang="es-ES" sz="1400"/>
            </a:br>
            <a:r>
              <a:rPr lang="es-ES" sz="1400"/>
              <a:t>   np+=salto2         </a:t>
            </a:r>
            <a:br>
              <a:rPr lang="es-ES" sz="1400"/>
            </a:br>
            <a:r>
              <a:rPr lang="es-ES" sz="1400"/>
              <a:t>   send(np)            </a:t>
            </a:r>
            <a:br>
              <a:rPr lang="es-ES" sz="1400"/>
            </a:br>
            <a:r>
              <a:rPr lang="es-ES" sz="1400"/>
              <a:t>}   }</a:t>
            </a:r>
          </a:p>
          <a:p>
            <a:pPr marL="0" indent="0">
              <a:buNone/>
            </a:pPr>
            <a:endParaRPr lang="es-ES" sz="1400"/>
          </a:p>
          <a:p>
            <a:pPr marL="0" indent="0">
              <a:buNone/>
            </a:pPr>
            <a:r>
              <a:rPr lang="es-ES" sz="2300"/>
              <a:t>Los primos siguen la secuencia </a:t>
            </a:r>
            <a:br>
              <a:rPr lang="es-ES" sz="2300"/>
            </a:br>
            <a:r>
              <a:rPr lang="es-ES" sz="2300"/>
              <a:t>(010001)* salvo el 2 y el 3.</a:t>
            </a:r>
            <a:br>
              <a:rPr lang="es-ES" sz="2300"/>
            </a:br>
            <a:r>
              <a:rPr lang="es-ES" sz="2300"/>
              <a:t>Pero algunos 1 son múltiplos de primos que acaban en 5 y 1 en un sistema en base 6. </a:t>
            </a:r>
            <a:br>
              <a:rPr lang="es-ES" sz="2300"/>
            </a:br>
            <a:r>
              <a:rPr lang="es-ES" sz="2300"/>
              <a:t>25 y 25 + 2*25^(1/2) y 25+6*25^(1/2), y así según un patrón de 2*primo y 4*primo que corresponde a los saltos de los múltiplos de un primo de las posiciones de forma 6k+-1.</a:t>
            </a:r>
          </a:p>
          <a:p>
            <a:pPr marL="0" indent="0">
              <a:buNone/>
            </a:pPr>
            <a:endParaRPr lang="es-ES" sz="2300"/>
          </a:p>
          <a:p>
            <a:pPr marL="0" indent="0">
              <a:buNone/>
            </a:pPr>
            <a:r>
              <a:rPr lang="es-ES" sz="2300"/>
              <a:t>0    1    </a:t>
            </a:r>
            <a:r>
              <a:rPr lang="es-ES" sz="2300">
                <a:solidFill>
                  <a:schemeClr val="accent6"/>
                </a:solidFill>
              </a:rPr>
              <a:t>2 </a:t>
            </a:r>
            <a:r>
              <a:rPr lang="es-ES" sz="2300"/>
              <a:t>   </a:t>
            </a:r>
            <a:r>
              <a:rPr lang="es-ES" sz="2300">
                <a:solidFill>
                  <a:schemeClr val="accent6"/>
                </a:solidFill>
              </a:rPr>
              <a:t>3</a:t>
            </a:r>
            <a:r>
              <a:rPr lang="es-ES" sz="2300"/>
              <a:t>    4    </a:t>
            </a:r>
            <a:r>
              <a:rPr lang="es-ES" sz="2300">
                <a:highlight>
                  <a:srgbClr val="FFFF00"/>
                </a:highlight>
              </a:rPr>
              <a:t>5</a:t>
            </a:r>
            <a:br>
              <a:rPr lang="es-ES" sz="2300"/>
            </a:br>
            <a:r>
              <a:rPr lang="es-ES" sz="2300"/>
              <a:t>10 </a:t>
            </a:r>
            <a:r>
              <a:rPr lang="es-ES" sz="2300">
                <a:highlight>
                  <a:srgbClr val="FFFF00"/>
                </a:highlight>
              </a:rPr>
              <a:t>11</a:t>
            </a:r>
            <a:r>
              <a:rPr lang="es-ES" sz="2300"/>
              <a:t>  12  13  14  </a:t>
            </a:r>
            <a:r>
              <a:rPr lang="es-ES" sz="2300">
                <a:highlight>
                  <a:srgbClr val="FFFF00"/>
                </a:highlight>
              </a:rPr>
              <a:t>15</a:t>
            </a:r>
            <a:br>
              <a:rPr lang="es-ES" sz="2300"/>
            </a:br>
            <a:r>
              <a:rPr lang="es-ES" sz="2300"/>
              <a:t>20  </a:t>
            </a:r>
            <a:r>
              <a:rPr lang="es-ES" sz="2300">
                <a:highlight>
                  <a:srgbClr val="FFFF00"/>
                </a:highlight>
              </a:rPr>
              <a:t>21</a:t>
            </a:r>
            <a:r>
              <a:rPr lang="es-ES" sz="2300"/>
              <a:t>  22  23  24  </a:t>
            </a:r>
            <a:r>
              <a:rPr lang="es-ES" sz="2300">
                <a:highlight>
                  <a:srgbClr val="FFFF00"/>
                </a:highlight>
              </a:rPr>
              <a:t>25</a:t>
            </a:r>
            <a:br>
              <a:rPr lang="es-ES" sz="2300"/>
            </a:br>
            <a:r>
              <a:rPr lang="es-ES" sz="2300"/>
              <a:t>30  </a:t>
            </a:r>
            <a:r>
              <a:rPr lang="es-ES" sz="2300">
                <a:highlight>
                  <a:srgbClr val="FFFF00"/>
                </a:highlight>
              </a:rPr>
              <a:t>31</a:t>
            </a:r>
            <a:r>
              <a:rPr lang="es-ES" sz="2300"/>
              <a:t>  32  33  34  </a:t>
            </a:r>
            <a:r>
              <a:rPr lang="es-ES" sz="2300">
                <a:highlight>
                  <a:srgbClr val="FFFF00"/>
                </a:highlight>
              </a:rPr>
              <a:t>35</a:t>
            </a:r>
            <a:br>
              <a:rPr lang="es-ES" sz="2300"/>
            </a:br>
            <a:r>
              <a:rPr lang="es-ES" sz="2300"/>
              <a:t>40  </a:t>
            </a:r>
            <a:r>
              <a:rPr lang="es-ES" sz="2300">
                <a:solidFill>
                  <a:srgbClr val="FF0000"/>
                </a:solidFill>
                <a:highlight>
                  <a:srgbClr val="FFFF00"/>
                </a:highlight>
              </a:rPr>
              <a:t>41</a:t>
            </a:r>
            <a:r>
              <a:rPr lang="es-ES" sz="2300"/>
              <a:t>  42  43  44  </a:t>
            </a:r>
            <a:r>
              <a:rPr lang="es-ES" sz="2300">
                <a:highlight>
                  <a:srgbClr val="FFFF00"/>
                </a:highlight>
              </a:rPr>
              <a:t>45</a:t>
            </a:r>
            <a:br>
              <a:rPr lang="es-ES" sz="2300"/>
            </a:br>
            <a:r>
              <a:rPr lang="es-ES" sz="2300"/>
              <a:t>50  </a:t>
            </a:r>
            <a:r>
              <a:rPr lang="es-ES" sz="2300">
                <a:highlight>
                  <a:srgbClr val="FFFF00"/>
                </a:highlight>
              </a:rPr>
              <a:t>51</a:t>
            </a:r>
            <a:r>
              <a:rPr lang="es-ES" sz="2300"/>
              <a:t>  52  53  54  </a:t>
            </a:r>
            <a:r>
              <a:rPr lang="es-ES" sz="2300">
                <a:solidFill>
                  <a:srgbClr val="FF0000"/>
                </a:solidFill>
                <a:highlight>
                  <a:srgbClr val="FFFF00"/>
                </a:highlight>
              </a:rPr>
              <a:t>55</a:t>
            </a:r>
            <a:br>
              <a:rPr lang="es-ES" sz="2300"/>
            </a:br>
            <a:r>
              <a:rPr lang="es-ES" sz="2300"/>
              <a:t>100 </a:t>
            </a:r>
            <a:r>
              <a:rPr lang="es-ES" sz="2300">
                <a:highlight>
                  <a:srgbClr val="FFFF00"/>
                </a:highlight>
              </a:rPr>
              <a:t>101</a:t>
            </a:r>
            <a:r>
              <a:rPr lang="es-ES" sz="2300"/>
              <a:t> 102 103 104 </a:t>
            </a:r>
            <a:r>
              <a:rPr lang="es-ES" sz="2300">
                <a:highlight>
                  <a:srgbClr val="FFFF00"/>
                </a:highlight>
              </a:rPr>
              <a:t>105</a:t>
            </a:r>
            <a:br>
              <a:rPr lang="es-ES" sz="2300"/>
            </a:br>
            <a:br>
              <a:rPr lang="es-ES" sz="2300"/>
            </a:br>
            <a:r>
              <a:rPr lang="es-ES" sz="2300"/>
              <a:t>5*5=41, como 9*9. regla de decena menos uno.</a:t>
            </a:r>
            <a:br>
              <a:rPr lang="es-ES" sz="2300"/>
            </a:br>
            <a:r>
              <a:rPr lang="es-ES" sz="2300"/>
              <a:t>5*11= 55 tabla del 11</a:t>
            </a:r>
            <a:br>
              <a:rPr lang="es-ES" sz="2300"/>
            </a:br>
            <a:br>
              <a:rPr lang="es-ES" sz="2300"/>
            </a:br>
            <a:r>
              <a:rPr lang="es-ES" sz="2300"/>
              <a:t>pero en base 6</a:t>
            </a:r>
          </a:p>
        </p:txBody>
      </p:sp>
    </p:spTree>
    <p:extLst>
      <p:ext uri="{BB962C8B-B14F-4D97-AF65-F5344CB8AC3E}">
        <p14:creationId xmlns:p14="http://schemas.microsoft.com/office/powerpoint/2010/main" val="3027800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A63E52-F9C4-6B05-6C73-1C694DA1F811}"/>
              </a:ext>
            </a:extLst>
          </p:cNvPr>
          <p:cNvSpPr>
            <a:spLocks noGrp="1"/>
          </p:cNvSpPr>
          <p:nvPr>
            <p:ph type="title"/>
          </p:nvPr>
        </p:nvSpPr>
        <p:spPr/>
        <p:txBody>
          <a:bodyPr/>
          <a:lstStyle/>
          <a:p>
            <a:r>
              <a:rPr lang="es-ES" dirty="0"/>
              <a:t>Conclusiones</a:t>
            </a:r>
          </a:p>
        </p:txBody>
      </p:sp>
      <p:sp>
        <p:nvSpPr>
          <p:cNvPr id="3" name="Marcador de contenido 2">
            <a:extLst>
              <a:ext uri="{FF2B5EF4-FFF2-40B4-BE49-F238E27FC236}">
                <a16:creationId xmlns:a16="http://schemas.microsoft.com/office/drawing/2014/main" id="{EECB4C08-E172-EEA4-8E3A-4AF892F2C41D}"/>
              </a:ext>
            </a:extLst>
          </p:cNvPr>
          <p:cNvSpPr>
            <a:spLocks noGrp="1"/>
          </p:cNvSpPr>
          <p:nvPr>
            <p:ph idx="1"/>
          </p:nvPr>
        </p:nvSpPr>
        <p:spPr/>
        <p:txBody>
          <a:bodyPr>
            <a:normAutofit/>
          </a:bodyPr>
          <a:lstStyle/>
          <a:p>
            <a:pPr marL="0" indent="0">
              <a:buNone/>
            </a:pPr>
            <a:r>
              <a:rPr lang="es-ES" sz="3200" dirty="0">
                <a:solidFill>
                  <a:srgbClr val="000000"/>
                </a:solidFill>
                <a:effectLst/>
                <a:latin typeface="Calibri" panose="020F0502020204030204" pitchFamily="34" charset="0"/>
                <a:ea typeface="Calibri" panose="020F0502020204030204" pitchFamily="34" charset="0"/>
              </a:rPr>
              <a:t>Si es falsa, los primos se podrían generar con coste temporal lineal</a:t>
            </a:r>
          </a:p>
          <a:p>
            <a:pPr marL="0" indent="0">
              <a:buNone/>
            </a:pPr>
            <a:br>
              <a:rPr lang="es-ES" sz="3200" dirty="0">
                <a:solidFill>
                  <a:srgbClr val="000000"/>
                </a:solidFill>
                <a:latin typeface="Calibri" panose="020F0502020204030204" pitchFamily="34" charset="0"/>
                <a:ea typeface="Calibri" panose="020F0502020204030204" pitchFamily="34" charset="0"/>
              </a:rPr>
            </a:br>
            <a:r>
              <a:rPr lang="es-ES" sz="3200" dirty="0">
                <a:solidFill>
                  <a:srgbClr val="000000"/>
                </a:solidFill>
                <a:latin typeface="Calibri" panose="020F0502020204030204" pitchFamily="34" charset="0"/>
                <a:ea typeface="Calibri" panose="020F0502020204030204" pitchFamily="34" charset="0"/>
              </a:rPr>
              <a:t>Si</a:t>
            </a:r>
            <a:r>
              <a:rPr lang="es-ES" sz="3200" dirty="0">
                <a:solidFill>
                  <a:srgbClr val="000000"/>
                </a:solidFill>
                <a:effectLst/>
                <a:latin typeface="Calibri" panose="020F0502020204030204" pitchFamily="34" charset="0"/>
                <a:ea typeface="Calibri" panose="020F0502020204030204" pitchFamily="34" charset="0"/>
              </a:rPr>
              <a:t> es falsa, los lenguajes formales pueden representar primos de forma exhaustiva. </a:t>
            </a:r>
            <a:br>
              <a:rPr lang="es-ES" sz="3200" dirty="0">
                <a:solidFill>
                  <a:srgbClr val="000000"/>
                </a:solidFill>
                <a:effectLst/>
                <a:latin typeface="Calibri" panose="020F0502020204030204" pitchFamily="34" charset="0"/>
                <a:ea typeface="Calibri" panose="020F0502020204030204" pitchFamily="34" charset="0"/>
              </a:rPr>
            </a:br>
            <a:br>
              <a:rPr lang="es-ES" sz="3200" dirty="0">
                <a:solidFill>
                  <a:srgbClr val="000000"/>
                </a:solidFill>
                <a:effectLst/>
                <a:latin typeface="Calibri" panose="020F0502020204030204" pitchFamily="34" charset="0"/>
                <a:ea typeface="Calibri" panose="020F0502020204030204" pitchFamily="34" charset="0"/>
              </a:rPr>
            </a:br>
            <a:r>
              <a:rPr lang="es-ES" sz="3200" dirty="0">
                <a:solidFill>
                  <a:srgbClr val="000000"/>
                </a:solidFill>
                <a:effectLst/>
                <a:latin typeface="Calibri" panose="020F0502020204030204" pitchFamily="34" charset="0"/>
                <a:ea typeface="Calibri" panose="020F0502020204030204" pitchFamily="34" charset="0"/>
              </a:rPr>
              <a:t>Si es falsa, será para un numero de forma 12 K1 siendo k1 primo.</a:t>
            </a:r>
            <a:endParaRPr lang="es-ES" sz="3200" dirty="0"/>
          </a:p>
        </p:txBody>
      </p:sp>
    </p:spTree>
    <p:extLst>
      <p:ext uri="{BB962C8B-B14F-4D97-AF65-F5344CB8AC3E}">
        <p14:creationId xmlns:p14="http://schemas.microsoft.com/office/powerpoint/2010/main" val="215371488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1505</TotalTime>
  <Words>9065</Words>
  <Application>Microsoft Office PowerPoint</Application>
  <PresentationFormat>Panorámica</PresentationFormat>
  <Paragraphs>327</Paragraphs>
  <Slides>13</Slides>
  <Notes>12</Notes>
  <HiddenSlides>0</HiddenSlides>
  <MMClips>0</MMClips>
  <ScaleCrop>false</ScaleCrop>
  <HeadingPairs>
    <vt:vector size="4" baseType="variant">
      <vt:variant>
        <vt:lpstr>Tema</vt:lpstr>
      </vt:variant>
      <vt:variant>
        <vt:i4>1</vt:i4>
      </vt:variant>
      <vt:variant>
        <vt:lpstr>Títulos de diapositiva</vt:lpstr>
      </vt:variant>
      <vt:variant>
        <vt:i4>13</vt:i4>
      </vt:variant>
    </vt:vector>
  </HeadingPairs>
  <TitlesOfParts>
    <vt:vector size="14" baseType="lpstr">
      <vt:lpstr>Tema de Office</vt:lpstr>
      <vt:lpstr>Todo par no primo es suma de dos primos  Christian Goldbach (18 del 3 de 1690 - 20 del 11 de 1764) hijo de un pastor. </vt:lpstr>
      <vt:lpstr>resumen</vt:lpstr>
      <vt:lpstr>Listas de primos</vt:lpstr>
      <vt:lpstr>Descomposiciones de Gold Bach</vt:lpstr>
      <vt:lpstr>2n-p=falso</vt:lpstr>
      <vt:lpstr>Donde empezamos a contar</vt:lpstr>
      <vt:lpstr>Teoría de autómatas</vt:lpstr>
      <vt:lpstr>Error relativo del algoritmo para 2n de forma 6k. </vt:lpstr>
      <vt:lpstr>Coste temporal del algoritmo</vt:lpstr>
      <vt:lpstr>Doble asignación posible primo y no primo.</vt:lpstr>
      <vt:lpstr>Doble asignación posible primo y no primo.</vt:lpstr>
      <vt:lpstr>Los primos.</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Todo par no primo es suma de dos primos</dc:title>
  <dc:creator>Víctor Manzanares Alberola</dc:creator>
  <cp:lastModifiedBy>Víctor Manzanares Alberola</cp:lastModifiedBy>
  <cp:revision>2</cp:revision>
  <cp:lastPrinted>2024-03-22T17:00:52Z</cp:lastPrinted>
  <dcterms:created xsi:type="dcterms:W3CDTF">2024-03-17T10:55:22Z</dcterms:created>
  <dcterms:modified xsi:type="dcterms:W3CDTF">2026-03-03T10:42:21Z</dcterms:modified>
</cp:coreProperties>
</file>