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96" r:id="rId4"/>
  </p:sldMasterIdLst>
  <p:notesMasterIdLst>
    <p:notesMasterId r:id="rId11"/>
  </p:notesMasterIdLst>
  <p:sldIdLst>
    <p:sldId id="256" r:id="rId5"/>
    <p:sldId id="257" r:id="rId6"/>
    <p:sldId id="258" r:id="rId7"/>
    <p:sldId id="259" r:id="rId8"/>
    <p:sldId id="260" r:id="rId9"/>
    <p:sldId id="261"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CCEAE17-BEB5-4ED8-98C9-3EE7E533447A}" v="5" dt="2026-01-24T12:03:56.62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84880" autoAdjust="0"/>
  </p:normalViewPr>
  <p:slideViewPr>
    <p:cSldViewPr snapToGrid="0">
      <p:cViewPr varScale="1">
        <p:scale>
          <a:sx n="96" d="100"/>
          <a:sy n="96" d="100"/>
        </p:scale>
        <p:origin x="1092"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presProps" Target="presProps.xml"/><Relationship Id="rId2" Type="http://schemas.openxmlformats.org/officeDocument/2006/relationships/customXml" Target="../customXml/item2.xml"/><Relationship Id="rId16"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tableStyles" Target="tableStyle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93E7200-8CD9-43A7-8B7C-5B8DB241306D}" type="datetimeFigureOut">
              <a:rPr lang="es-ES" smtClean="0"/>
              <a:t>24/01/2026</a:t>
            </a:fld>
            <a:endParaRPr lang="es-ES"/>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8D70127-EE0F-4E6E-BC66-ABB9CC793D37}" type="slidenum">
              <a:rPr lang="es-ES" smtClean="0"/>
              <a:t>‹Nº›</a:t>
            </a:fld>
            <a:endParaRPr lang="es-ES"/>
          </a:p>
        </p:txBody>
      </p:sp>
    </p:spTree>
    <p:extLst>
      <p:ext uri="{BB962C8B-B14F-4D97-AF65-F5344CB8AC3E}">
        <p14:creationId xmlns:p14="http://schemas.microsoft.com/office/powerpoint/2010/main" val="9937465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upvedues-my.sharepoint.com/personal/vmanalb_upv_edu_es/_layouts/15/Doc.aspx?sourcedoc=%7BBF4D9CDF-F943-4FA8-9985-157964822E73%7D&amp;file=sofi.pptx&amp;action=edit&amp;mobileredirect=true" TargetMode="External"/><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sz="1200" b="0" i="0" kern="1200" dirty="0">
                <a:solidFill>
                  <a:schemeClr val="tx1"/>
                </a:solidFill>
                <a:effectLst/>
                <a:latin typeface="+mn-lt"/>
                <a:ea typeface="+mn-ea"/>
                <a:cs typeface="+mn-cs"/>
              </a:rPr>
              <a:t>Aquí tienes un texto claro, bien estructurado y contextualizado sobre </a:t>
            </a:r>
            <a:r>
              <a:rPr lang="es-ES" sz="1200" b="1" i="0" kern="1200" dirty="0">
                <a:solidFill>
                  <a:schemeClr val="tx1"/>
                </a:solidFill>
                <a:effectLst/>
                <a:latin typeface="+mn-lt"/>
                <a:ea typeface="+mn-ea"/>
                <a:cs typeface="+mn-cs"/>
              </a:rPr>
              <a:t>Sophie Germain</a:t>
            </a:r>
            <a:r>
              <a:rPr lang="es-ES" sz="1200" b="0" i="0" kern="1200" dirty="0">
                <a:solidFill>
                  <a:schemeClr val="tx1"/>
                </a:solidFill>
                <a:effectLst/>
                <a:latin typeface="+mn-lt"/>
                <a:ea typeface="+mn-ea"/>
                <a:cs typeface="+mn-cs"/>
              </a:rPr>
              <a:t>, primero destacando sus hitos </a:t>
            </a:r>
            <a:r>
              <a:rPr lang="es-ES" sz="1200" b="1" i="0" kern="1200" dirty="0">
                <a:solidFill>
                  <a:schemeClr val="tx1"/>
                </a:solidFill>
                <a:effectLst/>
                <a:latin typeface="+mn-lt"/>
                <a:ea typeface="+mn-ea"/>
                <a:cs typeface="+mn-cs"/>
              </a:rPr>
              <a:t>como mujer</a:t>
            </a:r>
            <a:r>
              <a:rPr lang="es-ES" sz="1200" b="0" i="0" kern="1200" dirty="0">
                <a:solidFill>
                  <a:schemeClr val="tx1"/>
                </a:solidFill>
                <a:effectLst/>
                <a:latin typeface="+mn-lt"/>
                <a:ea typeface="+mn-ea"/>
                <a:cs typeface="+mn-cs"/>
              </a:rPr>
              <a:t> y luego </a:t>
            </a:r>
            <a:r>
              <a:rPr lang="es-ES" sz="1200" b="1" i="0" kern="1200" dirty="0">
                <a:solidFill>
                  <a:schemeClr val="tx1"/>
                </a:solidFill>
                <a:effectLst/>
                <a:latin typeface="+mn-lt"/>
                <a:ea typeface="+mn-ea"/>
                <a:cs typeface="+mn-cs"/>
              </a:rPr>
              <a:t>como matemática</a:t>
            </a:r>
            <a:r>
              <a:rPr lang="es-ES" sz="1200" b="0" i="0" kern="1200" dirty="0">
                <a:solidFill>
                  <a:schemeClr val="tx1"/>
                </a:solidFill>
                <a:effectLst/>
                <a:latin typeface="+mn-lt"/>
                <a:ea typeface="+mn-ea"/>
                <a:cs typeface="+mn-cs"/>
              </a:rPr>
              <a:t>, siempre dentro del marco social e histórico de su época.</a:t>
            </a:r>
          </a:p>
          <a:p>
            <a:br>
              <a:rPr lang="es-ES" sz="1200" b="0" i="0" kern="1200" dirty="0">
                <a:solidFill>
                  <a:schemeClr val="tx1"/>
                </a:solidFill>
                <a:effectLst/>
                <a:latin typeface="+mn-lt"/>
                <a:ea typeface="+mn-ea"/>
                <a:cs typeface="+mn-cs"/>
              </a:rPr>
            </a:br>
            <a:endParaRPr lang="es-ES" sz="1200" b="0" i="0" kern="1200" dirty="0">
              <a:solidFill>
                <a:schemeClr val="tx1"/>
              </a:solidFill>
              <a:effectLst/>
              <a:latin typeface="+mn-lt"/>
              <a:ea typeface="+mn-ea"/>
              <a:cs typeface="+mn-cs"/>
            </a:endParaRPr>
          </a:p>
          <a:p>
            <a:r>
              <a:rPr lang="es-ES" sz="1200" b="1" i="0" kern="1200" dirty="0">
                <a:solidFill>
                  <a:schemeClr val="tx1"/>
                </a:solidFill>
                <a:effectLst/>
                <a:latin typeface="+mn-lt"/>
                <a:ea typeface="+mn-ea"/>
                <a:cs typeface="+mn-cs"/>
              </a:rPr>
              <a:t>Sophie Germain: pionera contra su tiempo</a:t>
            </a:r>
          </a:p>
          <a:p>
            <a:r>
              <a:rPr lang="es-ES" sz="1200" b="0" i="0" kern="1200" dirty="0">
                <a:solidFill>
                  <a:schemeClr val="tx1"/>
                </a:solidFill>
                <a:effectLst/>
                <a:latin typeface="+mn-lt"/>
                <a:ea typeface="+mn-ea"/>
                <a:cs typeface="+mn-cs"/>
              </a:rPr>
              <a:t>Sophie Germain (1776–1831) fue una de las figuras más extraordinarias de la historia de la ciencia. No solo destacó por sus contribuciones a la teoría de números y a la elasticidad, sino que lo hizo enfrentándose a una época que consideraba que las mujeres no debían —ni podían— dedicarse a las matemáticas.</a:t>
            </a:r>
          </a:p>
          <a:p>
            <a:r>
              <a:rPr lang="es-ES" sz="1200" b="0" i="0" kern="1200" dirty="0">
                <a:solidFill>
                  <a:schemeClr val="tx1"/>
                </a:solidFill>
                <a:effectLst/>
                <a:latin typeface="+mn-lt"/>
                <a:ea typeface="+mn-ea"/>
                <a:cs typeface="+mn-cs"/>
              </a:rPr>
              <a:t>A continuación se presenta su trayectoria en dos planos: </a:t>
            </a:r>
            <a:r>
              <a:rPr lang="es-ES" sz="1200" b="1" i="0" kern="1200" dirty="0">
                <a:solidFill>
                  <a:schemeClr val="tx1"/>
                </a:solidFill>
                <a:effectLst/>
                <a:latin typeface="+mn-lt"/>
                <a:ea typeface="+mn-ea"/>
                <a:cs typeface="+mn-cs"/>
              </a:rPr>
              <a:t>su lucha como mujer</a:t>
            </a:r>
            <a:r>
              <a:rPr lang="es-ES" sz="1200" b="0" i="0" kern="1200" dirty="0">
                <a:solidFill>
                  <a:schemeClr val="tx1"/>
                </a:solidFill>
                <a:effectLst/>
                <a:latin typeface="+mn-lt"/>
                <a:ea typeface="+mn-ea"/>
                <a:cs typeface="+mn-cs"/>
              </a:rPr>
              <a:t> y </a:t>
            </a:r>
            <a:r>
              <a:rPr lang="es-ES" sz="1200" b="1" i="0" kern="1200" dirty="0">
                <a:solidFill>
                  <a:schemeClr val="tx1"/>
                </a:solidFill>
                <a:effectLst/>
                <a:latin typeface="+mn-lt"/>
                <a:ea typeface="+mn-ea"/>
                <a:cs typeface="+mn-cs"/>
              </a:rPr>
              <a:t>sus logros como matemática</a:t>
            </a:r>
            <a:r>
              <a:rPr lang="es-ES" sz="1200" b="0" i="0" kern="1200" dirty="0">
                <a:solidFill>
                  <a:schemeClr val="tx1"/>
                </a:solidFill>
                <a:effectLst/>
                <a:latin typeface="+mn-lt"/>
                <a:ea typeface="+mn-ea"/>
                <a:cs typeface="+mn-cs"/>
              </a:rPr>
              <a:t>, explicados dentro del contexto intelectual, cultural y social del París postrevolucionario.</a:t>
            </a:r>
          </a:p>
          <a:p>
            <a:br>
              <a:rPr lang="es-ES" sz="1200" b="0" i="0" kern="1200" dirty="0">
                <a:solidFill>
                  <a:schemeClr val="tx1"/>
                </a:solidFill>
                <a:effectLst/>
                <a:latin typeface="+mn-lt"/>
                <a:ea typeface="+mn-ea"/>
                <a:cs typeface="+mn-cs"/>
              </a:rPr>
            </a:br>
            <a:endParaRPr lang="es-ES" sz="1200" b="0" i="0" kern="1200" dirty="0">
              <a:solidFill>
                <a:schemeClr val="tx1"/>
              </a:solidFill>
              <a:effectLst/>
              <a:latin typeface="+mn-lt"/>
              <a:ea typeface="+mn-ea"/>
              <a:cs typeface="+mn-cs"/>
            </a:endParaRPr>
          </a:p>
          <a:p>
            <a:r>
              <a:rPr lang="es-ES" sz="1200" b="1" i="0" kern="1200" dirty="0">
                <a:solidFill>
                  <a:schemeClr val="tx1"/>
                </a:solidFill>
                <a:effectLst/>
                <a:latin typeface="+mn-lt"/>
                <a:ea typeface="+mn-ea"/>
                <a:cs typeface="+mn-cs"/>
              </a:rPr>
              <a:t>1. Sophie Germain como mujer: una vida contra la exclusión académica</a:t>
            </a:r>
          </a:p>
          <a:p>
            <a:r>
              <a:rPr lang="es-ES" sz="1200" b="1" i="0" kern="1200" dirty="0">
                <a:solidFill>
                  <a:schemeClr val="tx1"/>
                </a:solidFill>
                <a:effectLst/>
                <a:latin typeface="+mn-lt"/>
                <a:ea typeface="+mn-ea"/>
                <a:cs typeface="+mn-cs"/>
              </a:rPr>
              <a:t>Infancia en un mundo que no la quería científica</a:t>
            </a:r>
          </a:p>
          <a:p>
            <a:r>
              <a:rPr lang="es-ES" sz="1200" b="0" i="0" kern="1200" dirty="0">
                <a:solidFill>
                  <a:schemeClr val="tx1"/>
                </a:solidFill>
                <a:effectLst/>
                <a:latin typeface="+mn-lt"/>
                <a:ea typeface="+mn-ea"/>
                <a:cs typeface="+mn-cs"/>
              </a:rPr>
              <a:t>Germain nació en 1776, en pleno siglo XVIII, en una Europa donde el acceso femenino a la educación superior estaba formalmente prohibido. Las mujeres no podían asistir a universidades, acceder a bibliotecas científicas ni participar en sociedades académicas. En Francia, además, la ciencia estaba dominada por instituciones como la </a:t>
            </a:r>
            <a:r>
              <a:rPr lang="es-ES" sz="1200" b="0" i="0" kern="1200" dirty="0" err="1">
                <a:solidFill>
                  <a:schemeClr val="tx1"/>
                </a:solidFill>
                <a:effectLst/>
                <a:latin typeface="+mn-lt"/>
                <a:ea typeface="+mn-ea"/>
                <a:cs typeface="+mn-cs"/>
              </a:rPr>
              <a:t>Académie</a:t>
            </a:r>
            <a:r>
              <a:rPr lang="es-ES" sz="1200" b="0" i="0" kern="1200" dirty="0">
                <a:solidFill>
                  <a:schemeClr val="tx1"/>
                </a:solidFill>
                <a:effectLst/>
                <a:latin typeface="+mn-lt"/>
                <a:ea typeface="+mn-ea"/>
                <a:cs typeface="+mn-cs"/>
              </a:rPr>
              <a:t> des </a:t>
            </a:r>
            <a:r>
              <a:rPr lang="es-ES" sz="1200" b="0" i="0" kern="1200" dirty="0" err="1">
                <a:solidFill>
                  <a:schemeClr val="tx1"/>
                </a:solidFill>
                <a:effectLst/>
                <a:latin typeface="+mn-lt"/>
                <a:ea typeface="+mn-ea"/>
                <a:cs typeface="+mn-cs"/>
              </a:rPr>
              <a:t>Sciences</a:t>
            </a:r>
            <a:r>
              <a:rPr lang="es-ES" sz="1200" b="0" i="0" kern="1200" dirty="0">
                <a:solidFill>
                  <a:schemeClr val="tx1"/>
                </a:solidFill>
                <a:effectLst/>
                <a:latin typeface="+mn-lt"/>
                <a:ea typeface="+mn-ea"/>
                <a:cs typeface="+mn-cs"/>
              </a:rPr>
              <a:t>, cerrada explícitamente a mujeres.</a:t>
            </a:r>
          </a:p>
          <a:p>
            <a:r>
              <a:rPr lang="es-ES" sz="1200" b="0" i="0" kern="1200" dirty="0">
                <a:solidFill>
                  <a:schemeClr val="tx1"/>
                </a:solidFill>
                <a:effectLst/>
                <a:latin typeface="+mn-lt"/>
                <a:ea typeface="+mn-ea"/>
                <a:cs typeface="+mn-cs"/>
              </a:rPr>
              <a:t>A los 13 años descubrió la historia de </a:t>
            </a:r>
            <a:r>
              <a:rPr lang="es-ES" sz="1200" b="1" i="0" kern="1200" dirty="0" err="1">
                <a:solidFill>
                  <a:schemeClr val="tx1"/>
                </a:solidFill>
                <a:effectLst/>
                <a:latin typeface="+mn-lt"/>
                <a:ea typeface="+mn-ea"/>
                <a:cs typeface="+mn-cs"/>
              </a:rPr>
              <a:t>Arquímides</a:t>
            </a:r>
            <a:r>
              <a:rPr lang="es-ES" sz="1200" b="0" i="0" kern="1200" dirty="0">
                <a:solidFill>
                  <a:schemeClr val="tx1"/>
                </a:solidFill>
                <a:effectLst/>
                <a:latin typeface="+mn-lt"/>
                <a:ea typeface="+mn-ea"/>
                <a:cs typeface="+mn-cs"/>
              </a:rPr>
              <a:t>, asesinado mientras resolvía un problema. Aquello la fascinó… y despertó la primera oposición: sus padres le prohibieron estudiar matemáticas por considerarlas “inapropiadas para una joven”. Sophie llegó a </a:t>
            </a:r>
            <a:r>
              <a:rPr lang="es-ES" sz="1200" b="1" i="0" kern="1200" dirty="0">
                <a:solidFill>
                  <a:schemeClr val="tx1"/>
                </a:solidFill>
                <a:effectLst/>
                <a:latin typeface="+mn-lt"/>
                <a:ea typeface="+mn-ea"/>
                <a:cs typeface="+mn-cs"/>
              </a:rPr>
              <a:t>estudiar de noche, envuelta en mantas</a:t>
            </a:r>
            <a:r>
              <a:rPr lang="es-ES" sz="1200" b="0" i="0" kern="1200" dirty="0">
                <a:solidFill>
                  <a:schemeClr val="tx1"/>
                </a:solidFill>
                <a:effectLst/>
                <a:latin typeface="+mn-lt"/>
                <a:ea typeface="+mn-ea"/>
                <a:cs typeface="+mn-cs"/>
              </a:rPr>
              <a:t>, escondiendo velas para que no la obligaran a dormir.</a:t>
            </a:r>
          </a:p>
          <a:p>
            <a:r>
              <a:rPr lang="es-ES" sz="1200" b="1" i="0" kern="1200" dirty="0">
                <a:solidFill>
                  <a:schemeClr val="tx1"/>
                </a:solidFill>
                <a:effectLst/>
                <a:latin typeface="+mn-lt"/>
                <a:ea typeface="+mn-ea"/>
                <a:cs typeface="+mn-cs"/>
              </a:rPr>
              <a:t>Autodidacta por obligación</a:t>
            </a:r>
          </a:p>
          <a:p>
            <a:r>
              <a:rPr lang="es-ES" sz="1200" b="0" i="0" kern="1200" dirty="0">
                <a:solidFill>
                  <a:schemeClr val="tx1"/>
                </a:solidFill>
                <a:effectLst/>
                <a:latin typeface="+mn-lt"/>
                <a:ea typeface="+mn-ea"/>
                <a:cs typeface="+mn-cs"/>
              </a:rPr>
              <a:t>Con la Revolución francesa (1789) surgen instituciones nuevas como la </a:t>
            </a:r>
            <a:r>
              <a:rPr lang="es-ES" sz="1200" b="1" i="0" kern="1200" dirty="0" err="1">
                <a:solidFill>
                  <a:schemeClr val="tx1"/>
                </a:solidFill>
                <a:effectLst/>
                <a:latin typeface="+mn-lt"/>
                <a:ea typeface="+mn-ea"/>
                <a:cs typeface="+mn-cs"/>
              </a:rPr>
              <a:t>École</a:t>
            </a:r>
            <a:r>
              <a:rPr lang="es-ES" sz="1200" b="1" i="0" kern="1200" dirty="0">
                <a:solidFill>
                  <a:schemeClr val="tx1"/>
                </a:solidFill>
                <a:effectLst/>
                <a:latin typeface="+mn-lt"/>
                <a:ea typeface="+mn-ea"/>
                <a:cs typeface="+mn-cs"/>
              </a:rPr>
              <a:t> </a:t>
            </a:r>
            <a:r>
              <a:rPr lang="es-ES" sz="1200" b="1" i="0" kern="1200" dirty="0" err="1">
                <a:solidFill>
                  <a:schemeClr val="tx1"/>
                </a:solidFill>
                <a:effectLst/>
                <a:latin typeface="+mn-lt"/>
                <a:ea typeface="+mn-ea"/>
                <a:cs typeface="+mn-cs"/>
              </a:rPr>
              <a:t>Polytechnique</a:t>
            </a:r>
            <a:r>
              <a:rPr lang="es-ES" sz="1200" b="0" i="0" kern="1200" dirty="0">
                <a:solidFill>
                  <a:schemeClr val="tx1"/>
                </a:solidFill>
                <a:effectLst/>
                <a:latin typeface="+mn-lt"/>
                <a:ea typeface="+mn-ea"/>
                <a:cs typeface="+mn-cs"/>
              </a:rPr>
              <a:t>, pero aun así ninguna admitía mujeres. Sophie obtuvo las notas de clase de forma clandestina y enviaba ejercicios bajo un seudónimo masculino: </a:t>
            </a:r>
            <a:r>
              <a:rPr lang="es-ES" sz="1200" b="1" i="0" kern="1200" dirty="0">
                <a:solidFill>
                  <a:schemeClr val="tx1"/>
                </a:solidFill>
                <a:effectLst/>
                <a:latin typeface="+mn-lt"/>
                <a:ea typeface="+mn-ea"/>
                <a:cs typeface="+mn-cs"/>
              </a:rPr>
              <a:t>“M. </a:t>
            </a:r>
            <a:r>
              <a:rPr lang="es-ES" sz="1200" b="1" i="0" kern="1200" dirty="0" err="1">
                <a:solidFill>
                  <a:schemeClr val="tx1"/>
                </a:solidFill>
                <a:effectLst/>
                <a:latin typeface="+mn-lt"/>
                <a:ea typeface="+mn-ea"/>
                <a:cs typeface="+mn-cs"/>
              </a:rPr>
              <a:t>LeBlanc</a:t>
            </a:r>
            <a:r>
              <a:rPr lang="es-ES" sz="1200" b="1" i="0" kern="1200" dirty="0">
                <a:solidFill>
                  <a:schemeClr val="tx1"/>
                </a:solidFill>
                <a:effectLst/>
                <a:latin typeface="+mn-lt"/>
                <a:ea typeface="+mn-ea"/>
                <a:cs typeface="+mn-cs"/>
              </a:rPr>
              <a:t>”</a:t>
            </a:r>
            <a:r>
              <a:rPr lang="es-ES" sz="1200" b="0" i="0" kern="1200" dirty="0">
                <a:solidFill>
                  <a:schemeClr val="tx1"/>
                </a:solidFill>
                <a:effectLst/>
                <a:latin typeface="+mn-lt"/>
                <a:ea typeface="+mn-ea"/>
                <a:cs typeface="+mn-cs"/>
              </a:rPr>
              <a:t>, nombre que usaría durante años para poder ser tomada en serio.</a:t>
            </a:r>
          </a:p>
          <a:p>
            <a:r>
              <a:rPr lang="es-ES" sz="1200" b="1" i="0" kern="1200" dirty="0">
                <a:solidFill>
                  <a:schemeClr val="tx1"/>
                </a:solidFill>
                <a:effectLst/>
                <a:latin typeface="+mn-lt"/>
                <a:ea typeface="+mn-ea"/>
                <a:cs typeface="+mn-cs"/>
              </a:rPr>
              <a:t>Relación con Gauss: el reconocimiento que el mundo le negaba</a:t>
            </a:r>
          </a:p>
          <a:p>
            <a:r>
              <a:rPr lang="es-ES" sz="1200" b="0" i="0" kern="1200" dirty="0">
                <a:solidFill>
                  <a:schemeClr val="tx1"/>
                </a:solidFill>
                <a:effectLst/>
                <a:latin typeface="+mn-lt"/>
                <a:ea typeface="+mn-ea"/>
                <a:cs typeface="+mn-cs"/>
              </a:rPr>
              <a:t>Germain escribía cartas a los grandes matemáticos del momento. Con </a:t>
            </a:r>
            <a:r>
              <a:rPr lang="es-ES" sz="1200" b="1" i="0" kern="1200" dirty="0">
                <a:solidFill>
                  <a:schemeClr val="tx1"/>
                </a:solidFill>
                <a:effectLst/>
                <a:latin typeface="+mn-lt"/>
                <a:ea typeface="+mn-ea"/>
                <a:cs typeface="+mn-cs"/>
              </a:rPr>
              <a:t>Carl Friedrich Gauss</a:t>
            </a:r>
            <a:r>
              <a:rPr lang="es-ES" sz="1200" b="0" i="0" kern="1200" dirty="0">
                <a:solidFill>
                  <a:schemeClr val="tx1"/>
                </a:solidFill>
                <a:effectLst/>
                <a:latin typeface="+mn-lt"/>
                <a:ea typeface="+mn-ea"/>
                <a:cs typeface="+mn-cs"/>
              </a:rPr>
              <a:t>, uno de los más brillantes, mantuvo una correspondencia muy respetuosa que terminó revelando su identidad. Gauss quedó impresionado al descubrir que su interlocutor era una mujer, algo estadísticamente casi imposible en su época.</a:t>
            </a:r>
          </a:p>
          <a:p>
            <a:r>
              <a:rPr lang="es-ES" sz="1200" b="0" i="0" kern="1200" dirty="0">
                <a:solidFill>
                  <a:schemeClr val="tx1"/>
                </a:solidFill>
                <a:effectLst/>
                <a:latin typeface="+mn-lt"/>
                <a:ea typeface="+mn-ea"/>
                <a:cs typeface="+mn-cs"/>
              </a:rPr>
              <a:t>Gauss escribió una frase célebre que sintetiza su admiración:</a:t>
            </a:r>
          </a:p>
          <a:p>
            <a:r>
              <a:rPr lang="es-ES" sz="1200" b="0" i="0" kern="1200" dirty="0">
                <a:solidFill>
                  <a:schemeClr val="tx1"/>
                </a:solidFill>
                <a:effectLst/>
                <a:latin typeface="+mn-lt"/>
                <a:ea typeface="+mn-ea"/>
                <a:cs typeface="+mn-cs"/>
              </a:rPr>
              <a:t>“Una mujer que se ocupa de estas investigaciones tiene que poseer un talento extraordinario y una superior fuerza de espíritu.”</a:t>
            </a:r>
          </a:p>
          <a:p>
            <a:r>
              <a:rPr lang="es-ES" sz="1200" b="0" i="0" kern="1200" dirty="0">
                <a:solidFill>
                  <a:schemeClr val="tx1"/>
                </a:solidFill>
                <a:effectLst/>
                <a:latin typeface="+mn-lt"/>
                <a:ea typeface="+mn-ea"/>
                <a:cs typeface="+mn-cs"/>
              </a:rPr>
              <a:t>Fue uno de los primeros reconocimientos reales que Sophie recibió como científica.</a:t>
            </a:r>
          </a:p>
          <a:p>
            <a:r>
              <a:rPr lang="es-ES" sz="1200" b="1" i="0" kern="1200" dirty="0">
                <a:solidFill>
                  <a:schemeClr val="tx1"/>
                </a:solidFill>
                <a:effectLst/>
                <a:latin typeface="+mn-lt"/>
                <a:ea typeface="+mn-ea"/>
                <a:cs typeface="+mn-cs"/>
              </a:rPr>
              <a:t>Aislamiento institucional</a:t>
            </a:r>
          </a:p>
          <a:p>
            <a:r>
              <a:rPr lang="es-ES" sz="1200" b="0" i="0" kern="1200" dirty="0">
                <a:solidFill>
                  <a:schemeClr val="tx1"/>
                </a:solidFill>
                <a:effectLst/>
                <a:latin typeface="+mn-lt"/>
                <a:ea typeface="+mn-ea"/>
                <a:cs typeface="+mn-cs"/>
              </a:rPr>
              <a:t>Aunque trabajó toda su vida en matemáticas, </a:t>
            </a:r>
            <a:r>
              <a:rPr lang="es-ES" sz="1200" b="1" i="0" kern="1200" dirty="0">
                <a:solidFill>
                  <a:schemeClr val="tx1"/>
                </a:solidFill>
                <a:effectLst/>
                <a:latin typeface="+mn-lt"/>
                <a:ea typeface="+mn-ea"/>
                <a:cs typeface="+mn-cs"/>
              </a:rPr>
              <a:t>nunca fue aceptada formalmente</a:t>
            </a:r>
            <a:r>
              <a:rPr lang="es-ES" sz="1200" b="0" i="0" kern="1200" dirty="0">
                <a:solidFill>
                  <a:schemeClr val="tx1"/>
                </a:solidFill>
                <a:effectLst/>
                <a:latin typeface="+mn-lt"/>
                <a:ea typeface="+mn-ea"/>
                <a:cs typeface="+mn-cs"/>
              </a:rPr>
              <a:t> en ningún centro universitario. No pudo acceder ni siquiera como oyente a seminarios, y la </a:t>
            </a:r>
            <a:r>
              <a:rPr lang="es-ES" sz="1200" b="0" i="0" kern="1200" dirty="0" err="1">
                <a:solidFill>
                  <a:schemeClr val="tx1"/>
                </a:solidFill>
                <a:effectLst/>
                <a:latin typeface="+mn-lt"/>
                <a:ea typeface="+mn-ea"/>
                <a:cs typeface="+mn-cs"/>
              </a:rPr>
              <a:t>Académie</a:t>
            </a:r>
            <a:r>
              <a:rPr lang="es-ES" sz="1200" b="0" i="0" kern="1200" dirty="0">
                <a:solidFill>
                  <a:schemeClr val="tx1"/>
                </a:solidFill>
                <a:effectLst/>
                <a:latin typeface="+mn-lt"/>
                <a:ea typeface="+mn-ea"/>
                <a:cs typeface="+mn-cs"/>
              </a:rPr>
              <a:t> des </a:t>
            </a:r>
            <a:r>
              <a:rPr lang="es-ES" sz="1200" b="0" i="0" kern="1200" dirty="0" err="1">
                <a:solidFill>
                  <a:schemeClr val="tx1"/>
                </a:solidFill>
                <a:effectLst/>
                <a:latin typeface="+mn-lt"/>
                <a:ea typeface="+mn-ea"/>
                <a:cs typeface="+mn-cs"/>
              </a:rPr>
              <a:t>Sciences</a:t>
            </a:r>
            <a:r>
              <a:rPr lang="es-ES" sz="1200" b="0" i="0" kern="1200" dirty="0">
                <a:solidFill>
                  <a:schemeClr val="tx1"/>
                </a:solidFill>
                <a:effectLst/>
                <a:latin typeface="+mn-lt"/>
                <a:ea typeface="+mn-ea"/>
                <a:cs typeface="+mn-cs"/>
              </a:rPr>
              <a:t> no admitió mujeres hasta </a:t>
            </a:r>
            <a:r>
              <a:rPr lang="es-ES" sz="1200" b="1" i="0" kern="1200" dirty="0">
                <a:solidFill>
                  <a:schemeClr val="tx1"/>
                </a:solidFill>
                <a:effectLst/>
                <a:latin typeface="+mn-lt"/>
                <a:ea typeface="+mn-ea"/>
                <a:cs typeface="+mn-cs"/>
              </a:rPr>
              <a:t>104 años después de su muerte</a:t>
            </a:r>
            <a:r>
              <a:rPr lang="es-ES" sz="1200" b="0" i="0" kern="1200" dirty="0">
                <a:solidFill>
                  <a:schemeClr val="tx1"/>
                </a:solidFill>
                <a:effectLst/>
                <a:latin typeface="+mn-lt"/>
                <a:ea typeface="+mn-ea"/>
                <a:cs typeface="+mn-cs"/>
              </a:rPr>
              <a:t>.</a:t>
            </a:r>
          </a:p>
          <a:p>
            <a:br>
              <a:rPr lang="es-ES" sz="1200" b="0" i="0" kern="1200" dirty="0">
                <a:solidFill>
                  <a:schemeClr val="tx1"/>
                </a:solidFill>
                <a:effectLst/>
                <a:latin typeface="+mn-lt"/>
                <a:ea typeface="+mn-ea"/>
                <a:cs typeface="+mn-cs"/>
              </a:rPr>
            </a:br>
            <a:endParaRPr lang="es-ES" sz="1200" b="0" i="0" kern="1200" dirty="0">
              <a:solidFill>
                <a:schemeClr val="tx1"/>
              </a:solidFill>
              <a:effectLst/>
              <a:latin typeface="+mn-lt"/>
              <a:ea typeface="+mn-ea"/>
              <a:cs typeface="+mn-cs"/>
            </a:endParaRPr>
          </a:p>
          <a:p>
            <a:r>
              <a:rPr lang="es-ES" sz="1200" b="1" i="0" kern="1200" dirty="0">
                <a:solidFill>
                  <a:schemeClr val="tx1"/>
                </a:solidFill>
                <a:effectLst/>
                <a:latin typeface="+mn-lt"/>
                <a:ea typeface="+mn-ea"/>
                <a:cs typeface="+mn-cs"/>
              </a:rPr>
              <a:t>2. Sophie Germain como matemática: hitos y legado</a:t>
            </a:r>
          </a:p>
          <a:p>
            <a:r>
              <a:rPr lang="es-ES" sz="1200" b="0" i="0" kern="1200" dirty="0">
                <a:solidFill>
                  <a:schemeClr val="tx1"/>
                </a:solidFill>
                <a:effectLst/>
                <a:latin typeface="+mn-lt"/>
                <a:ea typeface="+mn-ea"/>
                <a:cs typeface="+mn-cs"/>
              </a:rPr>
              <a:t>A pesar de los obstáculos, Sophie Germain realizó contribuciones profundas que hoy forman parte del canon matemático.</a:t>
            </a:r>
          </a:p>
          <a:p>
            <a:br>
              <a:rPr lang="es-ES" sz="1200" b="0" i="0" kern="1200" dirty="0">
                <a:solidFill>
                  <a:schemeClr val="tx1"/>
                </a:solidFill>
                <a:effectLst/>
                <a:latin typeface="+mn-lt"/>
                <a:ea typeface="+mn-ea"/>
                <a:cs typeface="+mn-cs"/>
              </a:rPr>
            </a:br>
            <a:endParaRPr lang="es-ES" sz="1200" b="0" i="0" kern="1200" dirty="0">
              <a:solidFill>
                <a:schemeClr val="tx1"/>
              </a:solidFill>
              <a:effectLst/>
              <a:latin typeface="+mn-lt"/>
              <a:ea typeface="+mn-ea"/>
              <a:cs typeface="+mn-cs"/>
            </a:endParaRPr>
          </a:p>
          <a:p>
            <a:r>
              <a:rPr lang="es-ES" sz="1200" b="1" i="0" kern="1200" dirty="0">
                <a:solidFill>
                  <a:schemeClr val="tx1"/>
                </a:solidFill>
                <a:effectLst/>
                <a:latin typeface="+mn-lt"/>
                <a:ea typeface="+mn-ea"/>
                <a:cs typeface="+mn-cs"/>
              </a:rPr>
              <a:t>2.1. Teoría de números y los “primos de Sophie Germain”</a:t>
            </a:r>
          </a:p>
          <a:p>
            <a:r>
              <a:rPr lang="es-ES" sz="1200" b="0" i="0" kern="1200" dirty="0">
                <a:solidFill>
                  <a:schemeClr val="tx1"/>
                </a:solidFill>
                <a:effectLst/>
                <a:latin typeface="+mn-lt"/>
                <a:ea typeface="+mn-ea"/>
                <a:cs typeface="+mn-cs"/>
              </a:rPr>
              <a:t>Trabajó extensamente en el </a:t>
            </a:r>
            <a:r>
              <a:rPr lang="es-ES" sz="1200" b="1" i="0" kern="1200" dirty="0">
                <a:solidFill>
                  <a:schemeClr val="tx1"/>
                </a:solidFill>
                <a:effectLst/>
                <a:latin typeface="+mn-lt"/>
                <a:ea typeface="+mn-ea"/>
                <a:cs typeface="+mn-cs"/>
              </a:rPr>
              <a:t>Último Teorema de Fermat</a:t>
            </a:r>
            <a:r>
              <a:rPr lang="es-ES" sz="1200" b="0" i="0" kern="1200" dirty="0">
                <a:solidFill>
                  <a:schemeClr val="tx1"/>
                </a:solidFill>
                <a:effectLst/>
                <a:latin typeface="+mn-lt"/>
                <a:ea typeface="+mn-ea"/>
                <a:cs typeface="+mn-cs"/>
              </a:rPr>
              <a:t>, intentando demostrar el caso general para exponentes primos. Su método consistía en dividir el problema en clases especiales de números. De ese estudio surgió el concepto que hoy lleva su nombre:</a:t>
            </a:r>
          </a:p>
          <a:p>
            <a:r>
              <a:rPr lang="es-ES" sz="1200" b="1" i="0" kern="1200" dirty="0">
                <a:solidFill>
                  <a:schemeClr val="tx1"/>
                </a:solidFill>
                <a:effectLst/>
                <a:latin typeface="+mn-lt"/>
                <a:ea typeface="+mn-ea"/>
                <a:cs typeface="+mn-cs"/>
              </a:rPr>
              <a:t>Primo de Sophie Germain</a:t>
            </a:r>
          </a:p>
          <a:p>
            <a:r>
              <a:rPr lang="es-ES" sz="1200" b="0" i="0" kern="1200" dirty="0">
                <a:solidFill>
                  <a:schemeClr val="tx1"/>
                </a:solidFill>
                <a:effectLst/>
                <a:latin typeface="+mn-lt"/>
                <a:ea typeface="+mn-ea"/>
                <a:cs typeface="+mn-cs"/>
              </a:rPr>
              <a:t>Un número primo $p$ tal que $2p + 1$ también es primo.</a:t>
            </a:r>
          </a:p>
          <a:p>
            <a:r>
              <a:rPr lang="es-ES" sz="1200" b="0" i="0" kern="1200" dirty="0">
                <a:solidFill>
                  <a:schemeClr val="tx1"/>
                </a:solidFill>
                <a:effectLst/>
                <a:latin typeface="+mn-lt"/>
                <a:ea typeface="+mn-ea"/>
                <a:cs typeface="+mn-cs"/>
              </a:rPr>
              <a:t>Ejemplos:</a:t>
            </a:r>
            <a:br>
              <a:rPr lang="es-ES" sz="1200" b="0" i="0" kern="1200" dirty="0">
                <a:solidFill>
                  <a:schemeClr val="tx1"/>
                </a:solidFill>
                <a:effectLst/>
                <a:latin typeface="+mn-lt"/>
                <a:ea typeface="+mn-ea"/>
                <a:cs typeface="+mn-cs"/>
              </a:rPr>
            </a:br>
            <a:r>
              <a:rPr lang="es-ES" sz="1200" b="0" i="0" kern="1200" dirty="0">
                <a:solidFill>
                  <a:schemeClr val="tx1"/>
                </a:solidFill>
                <a:effectLst/>
                <a:latin typeface="+mn-lt"/>
                <a:ea typeface="+mn-ea"/>
                <a:cs typeface="+mn-cs"/>
              </a:rPr>
              <a:t>3 → 7</a:t>
            </a:r>
            <a:br>
              <a:rPr lang="es-ES" sz="1200" b="0" i="0" kern="1200" dirty="0">
                <a:solidFill>
                  <a:schemeClr val="tx1"/>
                </a:solidFill>
                <a:effectLst/>
                <a:latin typeface="+mn-lt"/>
                <a:ea typeface="+mn-ea"/>
                <a:cs typeface="+mn-cs"/>
              </a:rPr>
            </a:br>
            <a:r>
              <a:rPr lang="es-ES" sz="1200" b="0" i="0" kern="1200" dirty="0">
                <a:solidFill>
                  <a:schemeClr val="tx1"/>
                </a:solidFill>
                <a:effectLst/>
                <a:latin typeface="+mn-lt"/>
                <a:ea typeface="+mn-ea"/>
                <a:cs typeface="+mn-cs"/>
              </a:rPr>
              <a:t>5 → 11</a:t>
            </a:r>
            <a:br>
              <a:rPr lang="es-ES" sz="1200" b="0" i="0" kern="1200" dirty="0">
                <a:solidFill>
                  <a:schemeClr val="tx1"/>
                </a:solidFill>
                <a:effectLst/>
                <a:latin typeface="+mn-lt"/>
                <a:ea typeface="+mn-ea"/>
                <a:cs typeface="+mn-cs"/>
              </a:rPr>
            </a:br>
            <a:r>
              <a:rPr lang="es-ES" sz="1200" b="0" i="0" kern="1200" dirty="0">
                <a:solidFill>
                  <a:schemeClr val="tx1"/>
                </a:solidFill>
                <a:effectLst/>
                <a:latin typeface="+mn-lt"/>
                <a:ea typeface="+mn-ea"/>
                <a:cs typeface="+mn-cs"/>
              </a:rPr>
              <a:t>11 → 23</a:t>
            </a:r>
            <a:br>
              <a:rPr lang="es-ES" sz="1200" b="0" i="0" kern="1200" dirty="0">
                <a:solidFill>
                  <a:schemeClr val="tx1"/>
                </a:solidFill>
                <a:effectLst/>
                <a:latin typeface="+mn-lt"/>
                <a:ea typeface="+mn-ea"/>
                <a:cs typeface="+mn-cs"/>
              </a:rPr>
            </a:br>
            <a:r>
              <a:rPr lang="es-ES" sz="1200" b="0" i="0" kern="1200" dirty="0">
                <a:solidFill>
                  <a:schemeClr val="tx1"/>
                </a:solidFill>
                <a:effectLst/>
                <a:latin typeface="+mn-lt"/>
                <a:ea typeface="+mn-ea"/>
                <a:cs typeface="+mn-cs"/>
              </a:rPr>
              <a:t>23 → 47</a:t>
            </a:r>
          </a:p>
          <a:p>
            <a:r>
              <a:rPr lang="es-ES" sz="1200" b="0" i="0" kern="1200" dirty="0">
                <a:solidFill>
                  <a:schemeClr val="tx1"/>
                </a:solidFill>
                <a:effectLst/>
                <a:latin typeface="+mn-lt"/>
                <a:ea typeface="+mn-ea"/>
                <a:cs typeface="+mn-cs"/>
              </a:rPr>
              <a:t>Esta estructura tiene aplicaciones modernas en:</a:t>
            </a:r>
          </a:p>
          <a:p>
            <a:r>
              <a:rPr lang="es-ES" sz="1200" b="0" i="0" kern="1200" dirty="0">
                <a:solidFill>
                  <a:schemeClr val="tx1"/>
                </a:solidFill>
                <a:effectLst/>
                <a:latin typeface="+mn-lt"/>
                <a:ea typeface="+mn-ea"/>
                <a:cs typeface="+mn-cs"/>
              </a:rPr>
              <a:t>criptografía,</a:t>
            </a:r>
          </a:p>
          <a:p>
            <a:r>
              <a:rPr lang="es-ES" sz="1200" b="0" i="0" kern="1200" dirty="0">
                <a:solidFill>
                  <a:schemeClr val="tx1"/>
                </a:solidFill>
                <a:effectLst/>
                <a:latin typeface="+mn-lt"/>
                <a:ea typeface="+mn-ea"/>
                <a:cs typeface="+mn-cs"/>
              </a:rPr>
              <a:t>seguridad informática mediante claves seguras,</a:t>
            </a:r>
          </a:p>
          <a:p>
            <a:r>
              <a:rPr lang="es-ES" sz="1200" b="0" i="0" kern="1200" dirty="0">
                <a:solidFill>
                  <a:schemeClr val="tx1"/>
                </a:solidFill>
                <a:effectLst/>
                <a:latin typeface="+mn-lt"/>
                <a:ea typeface="+mn-ea"/>
                <a:cs typeface="+mn-cs"/>
              </a:rPr>
              <a:t>teoría de grupos,</a:t>
            </a:r>
          </a:p>
          <a:p>
            <a:r>
              <a:rPr lang="es-ES" sz="1200" b="0" i="0" kern="1200" dirty="0">
                <a:solidFill>
                  <a:schemeClr val="tx1"/>
                </a:solidFill>
                <a:effectLst/>
                <a:latin typeface="+mn-lt"/>
                <a:ea typeface="+mn-ea"/>
                <a:cs typeface="+mn-cs"/>
              </a:rPr>
              <a:t>curvas elípticas.</a:t>
            </a:r>
          </a:p>
          <a:p>
            <a:r>
              <a:rPr lang="es-ES" sz="1200" b="0" i="0" kern="1200" dirty="0">
                <a:solidFill>
                  <a:schemeClr val="tx1"/>
                </a:solidFill>
                <a:effectLst/>
                <a:latin typeface="+mn-lt"/>
                <a:ea typeface="+mn-ea"/>
                <a:cs typeface="+mn-cs"/>
              </a:rPr>
              <a:t>Su trabajo en este campo introdujo herramientas y aproximaciones nuevas para la época y abrió una línea de investigación que todavía se desarrolla.</a:t>
            </a:r>
          </a:p>
          <a:p>
            <a:br>
              <a:rPr lang="es-ES" sz="1200" b="0" i="0" kern="1200" dirty="0">
                <a:solidFill>
                  <a:schemeClr val="tx1"/>
                </a:solidFill>
                <a:effectLst/>
                <a:latin typeface="+mn-lt"/>
                <a:ea typeface="+mn-ea"/>
                <a:cs typeface="+mn-cs"/>
              </a:rPr>
            </a:br>
            <a:endParaRPr lang="es-ES" sz="1200" b="0" i="0" kern="1200" dirty="0">
              <a:solidFill>
                <a:schemeClr val="tx1"/>
              </a:solidFill>
              <a:effectLst/>
              <a:latin typeface="+mn-lt"/>
              <a:ea typeface="+mn-ea"/>
              <a:cs typeface="+mn-cs"/>
            </a:endParaRPr>
          </a:p>
          <a:p>
            <a:r>
              <a:rPr lang="es-ES" sz="1200" b="1" i="0" kern="1200" dirty="0">
                <a:solidFill>
                  <a:schemeClr val="tx1"/>
                </a:solidFill>
                <a:effectLst/>
                <a:latin typeface="+mn-lt"/>
                <a:ea typeface="+mn-ea"/>
                <a:cs typeface="+mn-cs"/>
              </a:rPr>
              <a:t>2.2. Elasticidad y física matemática: el premio que cambió la ingeniería</a:t>
            </a:r>
          </a:p>
          <a:p>
            <a:r>
              <a:rPr lang="es-ES" sz="1200" b="0" i="0" kern="1200" dirty="0">
                <a:solidFill>
                  <a:schemeClr val="tx1"/>
                </a:solidFill>
                <a:effectLst/>
                <a:latin typeface="+mn-lt"/>
                <a:ea typeface="+mn-ea"/>
                <a:cs typeface="+mn-cs"/>
              </a:rPr>
              <a:t>Su contribución más técnica y trascendental fue en la </a:t>
            </a:r>
            <a:r>
              <a:rPr lang="es-ES" sz="1200" b="1" i="0" kern="1200" dirty="0">
                <a:solidFill>
                  <a:schemeClr val="tx1"/>
                </a:solidFill>
                <a:effectLst/>
                <a:latin typeface="+mn-lt"/>
                <a:ea typeface="+mn-ea"/>
                <a:cs typeface="+mn-cs"/>
              </a:rPr>
              <a:t>teoría de la elasticidad</a:t>
            </a:r>
            <a:r>
              <a:rPr lang="es-ES" sz="1200" b="0" i="0" kern="1200" dirty="0">
                <a:solidFill>
                  <a:schemeClr val="tx1"/>
                </a:solidFill>
                <a:effectLst/>
                <a:latin typeface="+mn-lt"/>
                <a:ea typeface="+mn-ea"/>
                <a:cs typeface="+mn-cs"/>
              </a:rPr>
              <a:t>.</a:t>
            </a:r>
          </a:p>
          <a:p>
            <a:r>
              <a:rPr lang="es-ES" sz="1200" b="0" i="0" kern="1200" dirty="0">
                <a:solidFill>
                  <a:schemeClr val="tx1"/>
                </a:solidFill>
                <a:effectLst/>
                <a:latin typeface="+mn-lt"/>
                <a:ea typeface="+mn-ea"/>
                <a:cs typeface="+mn-cs"/>
              </a:rPr>
              <a:t>En 1808 la </a:t>
            </a:r>
            <a:r>
              <a:rPr lang="es-ES" sz="1200" b="0" i="0" kern="1200" dirty="0" err="1">
                <a:solidFill>
                  <a:schemeClr val="tx1"/>
                </a:solidFill>
                <a:effectLst/>
                <a:latin typeface="+mn-lt"/>
                <a:ea typeface="+mn-ea"/>
                <a:cs typeface="+mn-cs"/>
              </a:rPr>
              <a:t>Académie</a:t>
            </a:r>
            <a:r>
              <a:rPr lang="es-ES" sz="1200" b="0" i="0" kern="1200" dirty="0">
                <a:solidFill>
                  <a:schemeClr val="tx1"/>
                </a:solidFill>
                <a:effectLst/>
                <a:latin typeface="+mn-lt"/>
                <a:ea typeface="+mn-ea"/>
                <a:cs typeface="+mn-cs"/>
              </a:rPr>
              <a:t> des </a:t>
            </a:r>
            <a:r>
              <a:rPr lang="es-ES" sz="1200" b="0" i="0" kern="1200" dirty="0" err="1">
                <a:solidFill>
                  <a:schemeClr val="tx1"/>
                </a:solidFill>
                <a:effectLst/>
                <a:latin typeface="+mn-lt"/>
                <a:ea typeface="+mn-ea"/>
                <a:cs typeface="+mn-cs"/>
              </a:rPr>
              <a:t>Sciences</a:t>
            </a:r>
            <a:r>
              <a:rPr lang="es-ES" sz="1200" b="0" i="0" kern="1200" dirty="0">
                <a:solidFill>
                  <a:schemeClr val="tx1"/>
                </a:solidFill>
                <a:effectLst/>
                <a:latin typeface="+mn-lt"/>
                <a:ea typeface="+mn-ea"/>
                <a:cs typeface="+mn-cs"/>
              </a:rPr>
              <a:t> propuso un concurso para resolver el problema de las vibraciones de las placas metálicas. Nadie pudo resolverlo. Nadie excepto una mujer que ni siquiera podía presentarse con su nombre real.</a:t>
            </a:r>
          </a:p>
          <a:p>
            <a:r>
              <a:rPr lang="es-ES" sz="1200" b="0" i="0" kern="1200" dirty="0">
                <a:solidFill>
                  <a:schemeClr val="tx1"/>
                </a:solidFill>
                <a:effectLst/>
                <a:latin typeface="+mn-lt"/>
                <a:ea typeface="+mn-ea"/>
                <a:cs typeface="+mn-cs"/>
              </a:rPr>
              <a:t>Tras dos intentos fallidos, Germain presentó una tercera memoria con profundas ideas originales sobre tensiones y deformaciones en superficies elásticas.</a:t>
            </a:r>
          </a:p>
          <a:p>
            <a:r>
              <a:rPr lang="es-ES" sz="1200" b="0" i="0" kern="1200" dirty="0">
                <a:solidFill>
                  <a:schemeClr val="tx1"/>
                </a:solidFill>
                <a:effectLst/>
                <a:latin typeface="+mn-lt"/>
                <a:ea typeface="+mn-ea"/>
                <a:cs typeface="+mn-cs"/>
              </a:rPr>
              <a:t>Ganó el premio en 1816.</a:t>
            </a:r>
            <a:br>
              <a:rPr lang="es-ES" sz="1200" b="0" i="0" kern="1200" dirty="0">
                <a:solidFill>
                  <a:schemeClr val="tx1"/>
                </a:solidFill>
                <a:effectLst/>
                <a:latin typeface="+mn-lt"/>
                <a:ea typeface="+mn-ea"/>
                <a:cs typeface="+mn-cs"/>
              </a:rPr>
            </a:br>
            <a:r>
              <a:rPr lang="es-ES" sz="1200" b="0" i="0" kern="1200" dirty="0">
                <a:solidFill>
                  <a:schemeClr val="tx1"/>
                </a:solidFill>
                <a:effectLst/>
                <a:latin typeface="+mn-lt"/>
                <a:ea typeface="+mn-ea"/>
                <a:cs typeface="+mn-cs"/>
              </a:rPr>
              <a:t>Fue la </a:t>
            </a:r>
            <a:r>
              <a:rPr lang="es-ES" sz="1200" b="1" i="0" kern="1200" dirty="0">
                <a:solidFill>
                  <a:schemeClr val="tx1"/>
                </a:solidFill>
                <a:effectLst/>
                <a:latin typeface="+mn-lt"/>
                <a:ea typeface="+mn-ea"/>
                <a:cs typeface="+mn-cs"/>
              </a:rPr>
              <a:t>primera mujer</a:t>
            </a:r>
            <a:r>
              <a:rPr lang="es-ES" sz="1200" b="0" i="0" kern="1200" dirty="0">
                <a:solidFill>
                  <a:schemeClr val="tx1"/>
                </a:solidFill>
                <a:effectLst/>
                <a:latin typeface="+mn-lt"/>
                <a:ea typeface="+mn-ea"/>
                <a:cs typeface="+mn-cs"/>
              </a:rPr>
              <a:t> en recibir un reconocimiento de la Academia.</a:t>
            </a:r>
          </a:p>
          <a:p>
            <a:r>
              <a:rPr lang="es-ES" sz="1200" b="0" i="0" kern="1200" dirty="0">
                <a:solidFill>
                  <a:schemeClr val="tx1"/>
                </a:solidFill>
                <a:effectLst/>
                <a:latin typeface="+mn-lt"/>
                <a:ea typeface="+mn-ea"/>
                <a:cs typeface="+mn-cs"/>
              </a:rPr>
              <a:t>Su fórmula fundamental, hoy conocida como </a:t>
            </a:r>
            <a:r>
              <a:rPr lang="es-ES" sz="1200" b="1" i="0" kern="1200" dirty="0">
                <a:solidFill>
                  <a:schemeClr val="tx1"/>
                </a:solidFill>
                <a:effectLst/>
                <a:latin typeface="+mn-lt"/>
                <a:ea typeface="+mn-ea"/>
                <a:cs typeface="+mn-cs"/>
              </a:rPr>
              <a:t>“Ecuación de Germain”</a:t>
            </a:r>
            <a:r>
              <a:rPr lang="es-ES" sz="1200" b="0" i="0" kern="1200" dirty="0">
                <a:solidFill>
                  <a:schemeClr val="tx1"/>
                </a:solidFill>
                <a:effectLst/>
                <a:latin typeface="+mn-lt"/>
                <a:ea typeface="+mn-ea"/>
                <a:cs typeface="+mn-cs"/>
              </a:rPr>
              <a:t>, es pilar en:</a:t>
            </a:r>
          </a:p>
          <a:p>
            <a:r>
              <a:rPr lang="es-ES" sz="1200" b="0" i="0" kern="1200" dirty="0">
                <a:solidFill>
                  <a:schemeClr val="tx1"/>
                </a:solidFill>
                <a:effectLst/>
                <a:latin typeface="+mn-lt"/>
                <a:ea typeface="+mn-ea"/>
                <a:cs typeface="+mn-cs"/>
              </a:rPr>
              <a:t>ingeniería de estructuras,</a:t>
            </a:r>
          </a:p>
          <a:p>
            <a:r>
              <a:rPr lang="es-ES" sz="1200" b="0" i="0" kern="1200" dirty="0">
                <a:solidFill>
                  <a:schemeClr val="tx1"/>
                </a:solidFill>
                <a:effectLst/>
                <a:latin typeface="+mn-lt"/>
                <a:ea typeface="+mn-ea"/>
                <a:cs typeface="+mn-cs"/>
              </a:rPr>
              <a:t>acústica,</a:t>
            </a:r>
          </a:p>
          <a:p>
            <a:r>
              <a:rPr lang="es-ES" sz="1200" b="0" i="0" kern="1200" dirty="0">
                <a:solidFill>
                  <a:schemeClr val="tx1"/>
                </a:solidFill>
                <a:effectLst/>
                <a:latin typeface="+mn-lt"/>
                <a:ea typeface="+mn-ea"/>
                <a:cs typeface="+mn-cs"/>
              </a:rPr>
              <a:t>diseño de puentes,</a:t>
            </a:r>
          </a:p>
          <a:p>
            <a:r>
              <a:rPr lang="es-ES" sz="1200" b="0" i="0" kern="1200" dirty="0">
                <a:solidFill>
                  <a:schemeClr val="tx1"/>
                </a:solidFill>
                <a:effectLst/>
                <a:latin typeface="+mn-lt"/>
                <a:ea typeface="+mn-ea"/>
                <a:cs typeface="+mn-cs"/>
              </a:rPr>
              <a:t>modelado de vibraciones,</a:t>
            </a:r>
          </a:p>
          <a:p>
            <a:r>
              <a:rPr lang="es-ES" sz="1200" b="0" i="0" kern="1200" dirty="0">
                <a:solidFill>
                  <a:schemeClr val="tx1"/>
                </a:solidFill>
                <a:effectLst/>
                <a:latin typeface="+mn-lt"/>
                <a:ea typeface="+mn-ea"/>
                <a:cs typeface="+mn-cs"/>
              </a:rPr>
              <a:t>física de materiales.</a:t>
            </a:r>
          </a:p>
          <a:p>
            <a:br>
              <a:rPr lang="es-ES" sz="1200" b="0" i="0" kern="1200" dirty="0">
                <a:solidFill>
                  <a:schemeClr val="tx1"/>
                </a:solidFill>
                <a:effectLst/>
                <a:latin typeface="+mn-lt"/>
                <a:ea typeface="+mn-ea"/>
                <a:cs typeface="+mn-cs"/>
              </a:rPr>
            </a:br>
            <a:endParaRPr lang="es-ES" sz="1200" b="0" i="0" kern="1200" dirty="0">
              <a:solidFill>
                <a:schemeClr val="tx1"/>
              </a:solidFill>
              <a:effectLst/>
              <a:latin typeface="+mn-lt"/>
              <a:ea typeface="+mn-ea"/>
              <a:cs typeface="+mn-cs"/>
            </a:endParaRPr>
          </a:p>
          <a:p>
            <a:r>
              <a:rPr lang="es-ES" sz="1200" b="1" i="0" kern="1200" dirty="0">
                <a:solidFill>
                  <a:schemeClr val="tx1"/>
                </a:solidFill>
                <a:effectLst/>
                <a:latin typeface="+mn-lt"/>
                <a:ea typeface="+mn-ea"/>
                <a:cs typeface="+mn-cs"/>
              </a:rPr>
              <a:t>2.3. Legado científico</a:t>
            </a:r>
          </a:p>
          <a:p>
            <a:r>
              <a:rPr lang="es-ES" sz="1200" b="0" i="0" kern="1200" dirty="0">
                <a:solidFill>
                  <a:schemeClr val="tx1"/>
                </a:solidFill>
                <a:effectLst/>
                <a:latin typeface="+mn-lt"/>
                <a:ea typeface="+mn-ea"/>
                <a:cs typeface="+mn-cs"/>
              </a:rPr>
              <a:t>Aunque muchos de sus artículos no tuvieron la difusión que merecían por el sesgo institucional, hoy se reconoce su impacto en tres campos clave:</a:t>
            </a:r>
          </a:p>
          <a:p>
            <a:r>
              <a:rPr lang="es-ES" sz="1200" b="1" i="0" kern="1200" dirty="0">
                <a:solidFill>
                  <a:schemeClr val="tx1"/>
                </a:solidFill>
                <a:effectLst/>
                <a:latin typeface="+mn-lt"/>
                <a:ea typeface="+mn-ea"/>
                <a:cs typeface="+mn-cs"/>
              </a:rPr>
              <a:t>Teoría de números</a:t>
            </a:r>
            <a:r>
              <a:rPr lang="es-ES" sz="1200" b="0" i="0" kern="1200" dirty="0">
                <a:solidFill>
                  <a:schemeClr val="tx1"/>
                </a:solidFill>
                <a:effectLst/>
                <a:latin typeface="+mn-lt"/>
                <a:ea typeface="+mn-ea"/>
                <a:cs typeface="+mn-cs"/>
              </a:rPr>
              <a:t>: base conceptual de los primos que llevan su nombre.</a:t>
            </a:r>
          </a:p>
          <a:p>
            <a:r>
              <a:rPr lang="es-ES" sz="1200" b="1" i="0" kern="1200" dirty="0">
                <a:solidFill>
                  <a:schemeClr val="tx1"/>
                </a:solidFill>
                <a:effectLst/>
                <a:latin typeface="+mn-lt"/>
                <a:ea typeface="+mn-ea"/>
                <a:cs typeface="+mn-cs"/>
              </a:rPr>
              <a:t>Elasticidad y mecánica</a:t>
            </a:r>
            <a:r>
              <a:rPr lang="es-ES" sz="1200" b="0" i="0" kern="1200" dirty="0">
                <a:solidFill>
                  <a:schemeClr val="tx1"/>
                </a:solidFill>
                <a:effectLst/>
                <a:latin typeface="+mn-lt"/>
                <a:ea typeface="+mn-ea"/>
                <a:cs typeface="+mn-cs"/>
              </a:rPr>
              <a:t>: pionera absoluta, cofundadora del campo moderno.</a:t>
            </a:r>
          </a:p>
          <a:p>
            <a:r>
              <a:rPr lang="es-ES" sz="1200" b="1" i="0" kern="1200" dirty="0">
                <a:solidFill>
                  <a:schemeClr val="tx1"/>
                </a:solidFill>
                <a:effectLst/>
                <a:latin typeface="+mn-lt"/>
                <a:ea typeface="+mn-ea"/>
                <a:cs typeface="+mn-cs"/>
              </a:rPr>
              <a:t>Método científico autodidacta</a:t>
            </a:r>
            <a:r>
              <a:rPr lang="es-ES" sz="1200" b="0" i="0" kern="1200" dirty="0">
                <a:solidFill>
                  <a:schemeClr val="tx1"/>
                </a:solidFill>
                <a:effectLst/>
                <a:latin typeface="+mn-lt"/>
                <a:ea typeface="+mn-ea"/>
                <a:cs typeface="+mn-cs"/>
              </a:rPr>
              <a:t>: ejemplo histórico de creatividad fuera de la academia.</a:t>
            </a:r>
          </a:p>
          <a:p>
            <a:br>
              <a:rPr lang="es-ES" sz="1200" b="0" i="0" kern="1200" dirty="0">
                <a:solidFill>
                  <a:schemeClr val="tx1"/>
                </a:solidFill>
                <a:effectLst/>
                <a:latin typeface="+mn-lt"/>
                <a:ea typeface="+mn-ea"/>
                <a:cs typeface="+mn-cs"/>
              </a:rPr>
            </a:br>
            <a:endParaRPr lang="es-ES" sz="1200" b="0" i="0" kern="1200" dirty="0">
              <a:solidFill>
                <a:schemeClr val="tx1"/>
              </a:solidFill>
              <a:effectLst/>
              <a:latin typeface="+mn-lt"/>
              <a:ea typeface="+mn-ea"/>
              <a:cs typeface="+mn-cs"/>
            </a:endParaRPr>
          </a:p>
          <a:p>
            <a:r>
              <a:rPr lang="es-ES" sz="1200" b="1" i="0" kern="1200" dirty="0">
                <a:solidFill>
                  <a:schemeClr val="tx1"/>
                </a:solidFill>
                <a:effectLst/>
                <a:latin typeface="+mn-lt"/>
                <a:ea typeface="+mn-ea"/>
                <a:cs typeface="+mn-cs"/>
              </a:rPr>
              <a:t>3. Contexto histórico: París entre revolución y academias</a:t>
            </a:r>
          </a:p>
          <a:p>
            <a:r>
              <a:rPr lang="es-ES" sz="1200" b="0" i="0" kern="1200" dirty="0">
                <a:solidFill>
                  <a:schemeClr val="tx1"/>
                </a:solidFill>
                <a:effectLst/>
                <a:latin typeface="+mn-lt"/>
                <a:ea typeface="+mn-ea"/>
                <a:cs typeface="+mn-cs"/>
              </a:rPr>
              <a:t>Sophie Germain vivió en un tiempo turbulento pero fértil para las ideas:</a:t>
            </a:r>
          </a:p>
          <a:p>
            <a:r>
              <a:rPr lang="es-ES" sz="1200" b="0" i="0" kern="1200" dirty="0">
                <a:solidFill>
                  <a:schemeClr val="tx1"/>
                </a:solidFill>
                <a:effectLst/>
                <a:latin typeface="+mn-lt"/>
                <a:ea typeface="+mn-ea"/>
                <a:cs typeface="+mn-cs"/>
              </a:rPr>
              <a:t>La </a:t>
            </a:r>
            <a:r>
              <a:rPr lang="es-ES" sz="1200" b="1" i="0" kern="1200" dirty="0">
                <a:solidFill>
                  <a:schemeClr val="tx1"/>
                </a:solidFill>
                <a:effectLst/>
                <a:latin typeface="+mn-lt"/>
                <a:ea typeface="+mn-ea"/>
                <a:cs typeface="+mn-cs"/>
              </a:rPr>
              <a:t>Revolución Francesa</a:t>
            </a:r>
            <a:r>
              <a:rPr lang="es-ES" sz="1200" b="0" i="0" kern="1200" dirty="0">
                <a:solidFill>
                  <a:schemeClr val="tx1"/>
                </a:solidFill>
                <a:effectLst/>
                <a:latin typeface="+mn-lt"/>
                <a:ea typeface="+mn-ea"/>
                <a:cs typeface="+mn-cs"/>
              </a:rPr>
              <a:t> trajo una explosión de conocimiento, pero no para todos:</a:t>
            </a:r>
            <a:br>
              <a:rPr lang="es-ES" sz="1200" b="0" i="0" kern="1200" dirty="0">
                <a:solidFill>
                  <a:schemeClr val="tx1"/>
                </a:solidFill>
                <a:effectLst/>
                <a:latin typeface="+mn-lt"/>
                <a:ea typeface="+mn-ea"/>
                <a:cs typeface="+mn-cs"/>
              </a:rPr>
            </a:br>
            <a:r>
              <a:rPr lang="es-ES" sz="1200" b="0" i="0" kern="1200" dirty="0">
                <a:solidFill>
                  <a:schemeClr val="tx1"/>
                </a:solidFill>
                <a:effectLst/>
                <a:latin typeface="+mn-lt"/>
                <a:ea typeface="+mn-ea"/>
                <a:cs typeface="+mn-cs"/>
              </a:rPr>
              <a:t>las mujeres ganaron derechos civiles, pero no científicos.</a:t>
            </a:r>
          </a:p>
          <a:p>
            <a:r>
              <a:rPr lang="es-ES" sz="1200" b="0" i="0" kern="1200" dirty="0">
                <a:solidFill>
                  <a:schemeClr val="tx1"/>
                </a:solidFill>
                <a:effectLst/>
                <a:latin typeface="+mn-lt"/>
                <a:ea typeface="+mn-ea"/>
                <a:cs typeface="+mn-cs"/>
              </a:rPr>
              <a:t>Las nuevas instituciones científicas (</a:t>
            </a:r>
            <a:r>
              <a:rPr lang="es-ES" sz="1200" b="0" i="0" kern="1200" dirty="0" err="1">
                <a:solidFill>
                  <a:schemeClr val="tx1"/>
                </a:solidFill>
                <a:effectLst/>
                <a:latin typeface="+mn-lt"/>
                <a:ea typeface="+mn-ea"/>
                <a:cs typeface="+mn-cs"/>
              </a:rPr>
              <a:t>Polytechnique</a:t>
            </a:r>
            <a:r>
              <a:rPr lang="es-ES" sz="1200" b="0" i="0" kern="1200" dirty="0">
                <a:solidFill>
                  <a:schemeClr val="tx1"/>
                </a:solidFill>
                <a:effectLst/>
                <a:latin typeface="+mn-lt"/>
                <a:ea typeface="+mn-ea"/>
                <a:cs typeface="+mn-cs"/>
              </a:rPr>
              <a:t>, ENS) eran </a:t>
            </a:r>
            <a:r>
              <a:rPr lang="es-ES" sz="1200" b="1" i="0" kern="1200" dirty="0">
                <a:solidFill>
                  <a:schemeClr val="tx1"/>
                </a:solidFill>
                <a:effectLst/>
                <a:latin typeface="+mn-lt"/>
                <a:ea typeface="+mn-ea"/>
                <a:cs typeface="+mn-cs"/>
              </a:rPr>
              <a:t>solo para hombres</a:t>
            </a:r>
            <a:r>
              <a:rPr lang="es-ES" sz="1200" b="0" i="0" kern="1200" dirty="0">
                <a:solidFill>
                  <a:schemeClr val="tx1"/>
                </a:solidFill>
                <a:effectLst/>
                <a:latin typeface="+mn-lt"/>
                <a:ea typeface="+mn-ea"/>
                <a:cs typeface="+mn-cs"/>
              </a:rPr>
              <a:t>.</a:t>
            </a:r>
          </a:p>
          <a:p>
            <a:r>
              <a:rPr lang="es-ES" sz="1200" b="0" i="0" kern="1200" dirty="0">
                <a:solidFill>
                  <a:schemeClr val="tx1"/>
                </a:solidFill>
                <a:effectLst/>
                <a:latin typeface="+mn-lt"/>
                <a:ea typeface="+mn-ea"/>
                <a:cs typeface="+mn-cs"/>
              </a:rPr>
              <a:t>La matemática se desarrollaba a un ritmo vertiginoso con Lagrange, Fourier, Laplace y Gauss, pero Sophie trabajó </a:t>
            </a:r>
            <a:r>
              <a:rPr lang="es-ES" sz="1200" b="1" i="0" kern="1200" dirty="0">
                <a:solidFill>
                  <a:schemeClr val="tx1"/>
                </a:solidFill>
                <a:effectLst/>
                <a:latin typeface="+mn-lt"/>
                <a:ea typeface="+mn-ea"/>
                <a:cs typeface="+mn-cs"/>
              </a:rPr>
              <a:t>sin acceso institucional</a:t>
            </a:r>
            <a:r>
              <a:rPr lang="es-ES" sz="1200" b="0" i="0" kern="1200" dirty="0">
                <a:solidFill>
                  <a:schemeClr val="tx1"/>
                </a:solidFill>
                <a:effectLst/>
                <a:latin typeface="+mn-lt"/>
                <a:ea typeface="+mn-ea"/>
                <a:cs typeface="+mn-cs"/>
              </a:rPr>
              <a:t>, sin profesor, sin sueldo, sin biblioteca.</a:t>
            </a:r>
          </a:p>
          <a:p>
            <a:r>
              <a:rPr lang="es-ES" sz="1200" b="0" i="0" kern="1200" dirty="0">
                <a:solidFill>
                  <a:schemeClr val="tx1"/>
                </a:solidFill>
                <a:effectLst/>
                <a:latin typeface="+mn-lt"/>
                <a:ea typeface="+mn-ea"/>
                <a:cs typeface="+mn-cs"/>
              </a:rPr>
              <a:t>Por eso su vida es doblemente admirable:</a:t>
            </a:r>
            <a:br>
              <a:rPr lang="es-ES" sz="1200" b="0" i="0" kern="1200" dirty="0">
                <a:solidFill>
                  <a:schemeClr val="tx1"/>
                </a:solidFill>
                <a:effectLst/>
                <a:latin typeface="+mn-lt"/>
                <a:ea typeface="+mn-ea"/>
                <a:cs typeface="+mn-cs"/>
              </a:rPr>
            </a:br>
            <a:r>
              <a:rPr lang="es-ES" sz="1200" b="1" i="0" kern="1200" dirty="0">
                <a:solidFill>
                  <a:schemeClr val="tx1"/>
                </a:solidFill>
                <a:effectLst/>
                <a:latin typeface="+mn-lt"/>
                <a:ea typeface="+mn-ea"/>
                <a:cs typeface="+mn-cs"/>
              </a:rPr>
              <a:t>no solo produjo matemáticas; lo hizo desde fuera del sistema.</a:t>
            </a:r>
            <a:endParaRPr lang="es-ES" sz="1200" b="0" i="0" kern="1200" dirty="0">
              <a:solidFill>
                <a:schemeClr val="tx1"/>
              </a:solidFill>
              <a:effectLst/>
              <a:latin typeface="+mn-lt"/>
              <a:ea typeface="+mn-ea"/>
              <a:cs typeface="+mn-cs"/>
            </a:endParaRPr>
          </a:p>
          <a:p>
            <a:br>
              <a:rPr lang="es-ES" sz="1200" b="0" i="0" kern="1200" dirty="0">
                <a:solidFill>
                  <a:schemeClr val="tx1"/>
                </a:solidFill>
                <a:effectLst/>
                <a:latin typeface="+mn-lt"/>
                <a:ea typeface="+mn-ea"/>
                <a:cs typeface="+mn-cs"/>
              </a:rPr>
            </a:br>
            <a:endParaRPr lang="es-ES" sz="1200" b="0" i="0" kern="1200" dirty="0">
              <a:solidFill>
                <a:schemeClr val="tx1"/>
              </a:solidFill>
              <a:effectLst/>
              <a:latin typeface="+mn-lt"/>
              <a:ea typeface="+mn-ea"/>
              <a:cs typeface="+mn-cs"/>
            </a:endParaRPr>
          </a:p>
          <a:p>
            <a:r>
              <a:rPr lang="es-ES" sz="1200" b="1" i="0" kern="1200" dirty="0">
                <a:solidFill>
                  <a:schemeClr val="tx1"/>
                </a:solidFill>
                <a:effectLst/>
                <a:latin typeface="+mn-lt"/>
                <a:ea typeface="+mn-ea"/>
                <a:cs typeface="+mn-cs"/>
              </a:rPr>
              <a:t>Resumen final</a:t>
            </a:r>
          </a:p>
          <a:p>
            <a:r>
              <a:rPr lang="es-ES" sz="1200" b="0" i="0" kern="1200" dirty="0">
                <a:solidFill>
                  <a:schemeClr val="tx1"/>
                </a:solidFill>
                <a:effectLst/>
                <a:latin typeface="+mn-lt"/>
                <a:ea typeface="+mn-ea"/>
                <a:cs typeface="+mn-cs"/>
              </a:rPr>
              <a:t>Sophie Germain fue:</a:t>
            </a:r>
          </a:p>
          <a:p>
            <a:r>
              <a:rPr lang="es-ES" sz="1200" b="1" i="0" kern="1200" dirty="0">
                <a:solidFill>
                  <a:schemeClr val="tx1"/>
                </a:solidFill>
                <a:effectLst/>
                <a:latin typeface="+mn-lt"/>
                <a:ea typeface="+mn-ea"/>
                <a:cs typeface="+mn-cs"/>
              </a:rPr>
              <a:t>Una mujer valiente</a:t>
            </a:r>
            <a:r>
              <a:rPr lang="es-ES" sz="1200" b="0" i="0" kern="1200" dirty="0">
                <a:solidFill>
                  <a:schemeClr val="tx1"/>
                </a:solidFill>
                <a:effectLst/>
                <a:latin typeface="+mn-lt"/>
                <a:ea typeface="+mn-ea"/>
                <a:cs typeface="+mn-cs"/>
              </a:rPr>
              <a:t> que se educó en secreto, desafió prohibiciones y ganó respeto en una sociedad que la excluía.</a:t>
            </a:r>
          </a:p>
          <a:p>
            <a:r>
              <a:rPr lang="es-ES" sz="1200" b="1" i="0" kern="1200" dirty="0">
                <a:solidFill>
                  <a:schemeClr val="tx1"/>
                </a:solidFill>
                <a:effectLst/>
                <a:latin typeface="+mn-lt"/>
                <a:ea typeface="+mn-ea"/>
                <a:cs typeface="+mn-cs"/>
              </a:rPr>
              <a:t>Una matemática brillante</a:t>
            </a:r>
            <a:r>
              <a:rPr lang="es-ES" sz="1200" b="0" i="0" kern="1200" dirty="0">
                <a:solidFill>
                  <a:schemeClr val="tx1"/>
                </a:solidFill>
                <a:effectLst/>
                <a:latin typeface="+mn-lt"/>
                <a:ea typeface="+mn-ea"/>
                <a:cs typeface="+mn-cs"/>
              </a:rPr>
              <a:t> que dejó huella durable en teoría de números y elasticidad.</a:t>
            </a:r>
          </a:p>
          <a:p>
            <a:r>
              <a:rPr lang="es-ES" sz="1200" b="1" i="0" kern="1200" dirty="0">
                <a:solidFill>
                  <a:schemeClr val="tx1"/>
                </a:solidFill>
                <a:effectLst/>
                <a:latin typeface="+mn-lt"/>
                <a:ea typeface="+mn-ea"/>
                <a:cs typeface="+mn-cs"/>
              </a:rPr>
              <a:t>Un símbolo histórico</a:t>
            </a:r>
            <a:r>
              <a:rPr lang="es-ES" sz="1200" b="0" i="0" kern="1200" dirty="0">
                <a:solidFill>
                  <a:schemeClr val="tx1"/>
                </a:solidFill>
                <a:effectLst/>
                <a:latin typeface="+mn-lt"/>
                <a:ea typeface="+mn-ea"/>
                <a:cs typeface="+mn-cs"/>
              </a:rPr>
              <a:t> de la lucha por el acceso femenino al conocimiento.</a:t>
            </a:r>
          </a:p>
          <a:p>
            <a:r>
              <a:rPr lang="es-ES" sz="1200" b="0" i="0" kern="1200" dirty="0">
                <a:solidFill>
                  <a:schemeClr val="tx1"/>
                </a:solidFill>
                <a:effectLst/>
                <a:latin typeface="+mn-lt"/>
                <a:ea typeface="+mn-ea"/>
                <a:cs typeface="+mn-cs"/>
              </a:rPr>
              <a:t>Su obra, nacida contra viento y marea, sigue viva en cada estructura metálica, en cada modelo vibratorio y en cada estudio moderno sobre los primos.</a:t>
            </a:r>
          </a:p>
          <a:p>
            <a:br>
              <a:rPr lang="es-ES" sz="1200" b="0" i="0" kern="1200" dirty="0">
                <a:solidFill>
                  <a:schemeClr val="tx1"/>
                </a:solidFill>
                <a:effectLst/>
                <a:latin typeface="+mn-lt"/>
                <a:ea typeface="+mn-ea"/>
                <a:cs typeface="+mn-cs"/>
              </a:rPr>
            </a:br>
            <a:endParaRPr lang="es-ES" sz="1200" b="0" i="0" kern="1200" dirty="0">
              <a:solidFill>
                <a:schemeClr val="tx1"/>
              </a:solidFill>
              <a:effectLst/>
              <a:latin typeface="+mn-lt"/>
              <a:ea typeface="+mn-ea"/>
              <a:cs typeface="+mn-cs"/>
            </a:endParaRPr>
          </a:p>
          <a:p>
            <a:r>
              <a:rPr lang="es-ES" sz="1200" b="0" i="0" kern="1200" dirty="0">
                <a:solidFill>
                  <a:schemeClr val="tx1"/>
                </a:solidFill>
                <a:effectLst/>
                <a:latin typeface="+mn-lt"/>
                <a:ea typeface="+mn-ea"/>
                <a:cs typeface="+mn-cs"/>
              </a:rPr>
              <a:t>Si quieres, puedo prepararte </a:t>
            </a:r>
            <a:r>
              <a:rPr lang="es-ES" sz="1200" b="1" i="0" kern="1200" dirty="0">
                <a:solidFill>
                  <a:schemeClr val="tx1"/>
                </a:solidFill>
                <a:effectLst/>
                <a:latin typeface="+mn-lt"/>
                <a:ea typeface="+mn-ea"/>
                <a:cs typeface="+mn-cs"/>
              </a:rPr>
              <a:t>una versión más narrativa</a:t>
            </a:r>
            <a:r>
              <a:rPr lang="es-ES" sz="1200" b="0" i="0" kern="1200" dirty="0">
                <a:solidFill>
                  <a:schemeClr val="tx1"/>
                </a:solidFill>
                <a:effectLst/>
                <a:latin typeface="+mn-lt"/>
                <a:ea typeface="+mn-ea"/>
                <a:cs typeface="+mn-cs"/>
              </a:rPr>
              <a:t>, </a:t>
            </a:r>
            <a:r>
              <a:rPr lang="es-ES" sz="1200" b="1" i="0" kern="1200" dirty="0">
                <a:solidFill>
                  <a:schemeClr val="tx1"/>
                </a:solidFill>
                <a:effectLst/>
                <a:latin typeface="+mn-lt"/>
                <a:ea typeface="+mn-ea"/>
                <a:cs typeface="+mn-cs"/>
              </a:rPr>
              <a:t>una versión para jóvenes</a:t>
            </a:r>
            <a:r>
              <a:rPr lang="es-ES" sz="1200" b="0" i="0" kern="1200" dirty="0">
                <a:solidFill>
                  <a:schemeClr val="tx1"/>
                </a:solidFill>
                <a:effectLst/>
                <a:latin typeface="+mn-lt"/>
                <a:ea typeface="+mn-ea"/>
                <a:cs typeface="+mn-cs"/>
              </a:rPr>
              <a:t>, </a:t>
            </a:r>
            <a:r>
              <a:rPr lang="es-ES" sz="1200" b="1" i="0" kern="1200" dirty="0">
                <a:solidFill>
                  <a:schemeClr val="tx1"/>
                </a:solidFill>
                <a:effectLst/>
                <a:latin typeface="+mn-lt"/>
                <a:ea typeface="+mn-ea"/>
                <a:cs typeface="+mn-cs"/>
              </a:rPr>
              <a:t>un resumen académico</a:t>
            </a:r>
            <a:r>
              <a:rPr lang="es-ES" sz="1200" b="0" i="0" kern="1200" dirty="0">
                <a:solidFill>
                  <a:schemeClr val="tx1"/>
                </a:solidFill>
                <a:effectLst/>
                <a:latin typeface="+mn-lt"/>
                <a:ea typeface="+mn-ea"/>
                <a:cs typeface="+mn-cs"/>
              </a:rPr>
              <a:t>, o un </a:t>
            </a:r>
            <a:r>
              <a:rPr lang="es-ES" sz="1200" b="1" i="0" kern="1200" dirty="0">
                <a:solidFill>
                  <a:schemeClr val="tx1"/>
                </a:solidFill>
                <a:effectLst/>
                <a:latin typeface="+mn-lt"/>
                <a:ea typeface="+mn-ea"/>
                <a:cs typeface="+mn-cs"/>
              </a:rPr>
              <a:t>texto para incluir en tus libros L4/LSG o en tus capítulos de teoría de números</a:t>
            </a:r>
            <a:r>
              <a:rPr lang="es-ES" sz="1200" b="0" i="0" kern="1200" dirty="0">
                <a:solidFill>
                  <a:schemeClr val="tx1"/>
                </a:solidFill>
                <a:effectLst/>
                <a:latin typeface="+mn-lt"/>
                <a:ea typeface="+mn-ea"/>
                <a:cs typeface="+mn-cs"/>
              </a:rPr>
              <a:t>.</a:t>
            </a:r>
          </a:p>
          <a:p>
            <a:endParaRPr lang="es-ES" dirty="0"/>
          </a:p>
        </p:txBody>
      </p:sp>
      <p:sp>
        <p:nvSpPr>
          <p:cNvPr id="4" name="Marcador de número de diapositiva 3"/>
          <p:cNvSpPr>
            <a:spLocks noGrp="1"/>
          </p:cNvSpPr>
          <p:nvPr>
            <p:ph type="sldNum" sz="quarter" idx="5"/>
          </p:nvPr>
        </p:nvSpPr>
        <p:spPr/>
        <p:txBody>
          <a:bodyPr/>
          <a:lstStyle/>
          <a:p>
            <a:fld id="{98D70127-EE0F-4E6E-BC66-ABB9CC793D37}" type="slidenum">
              <a:rPr lang="es-ES" smtClean="0"/>
              <a:t>1</a:t>
            </a:fld>
            <a:endParaRPr lang="es-ES"/>
          </a:p>
        </p:txBody>
      </p:sp>
    </p:spTree>
    <p:extLst>
      <p:ext uri="{BB962C8B-B14F-4D97-AF65-F5344CB8AC3E}">
        <p14:creationId xmlns:p14="http://schemas.microsoft.com/office/powerpoint/2010/main" val="7513834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sz="1200" b="0" i="0" kern="1200" dirty="0">
                <a:solidFill>
                  <a:schemeClr val="tx1"/>
                </a:solidFill>
                <a:effectLst/>
                <a:latin typeface="+mn-lt"/>
                <a:ea typeface="+mn-ea"/>
                <a:cs typeface="+mn-cs"/>
              </a:rPr>
              <a:t>Aquí tienes una </a:t>
            </a:r>
            <a:r>
              <a:rPr lang="es-ES" sz="1200" b="1" i="0" kern="1200" dirty="0">
                <a:solidFill>
                  <a:schemeClr val="tx1"/>
                </a:solidFill>
                <a:effectLst/>
                <a:latin typeface="+mn-lt"/>
                <a:ea typeface="+mn-ea"/>
                <a:cs typeface="+mn-cs"/>
              </a:rPr>
              <a:t>introducción breve, clara y suficiente</a:t>
            </a:r>
            <a:r>
              <a:rPr lang="es-ES" sz="1200" b="0" i="0" kern="1200" dirty="0">
                <a:solidFill>
                  <a:schemeClr val="tx1"/>
                </a:solidFill>
                <a:effectLst/>
                <a:latin typeface="+mn-lt"/>
                <a:ea typeface="+mn-ea"/>
                <a:cs typeface="+mn-cs"/>
              </a:rPr>
              <a:t> de teoría de conjuntos exactamente con lo necesario para entender </a:t>
            </a:r>
            <a:r>
              <a:rPr lang="es-ES" sz="1200" b="1" i="0" kern="1200" dirty="0">
                <a:solidFill>
                  <a:schemeClr val="tx1"/>
                </a:solidFill>
                <a:effectLst/>
                <a:latin typeface="+mn-lt"/>
                <a:ea typeface="+mn-ea"/>
                <a:cs typeface="+mn-cs"/>
              </a:rPr>
              <a:t>el principio de inclusión–exclusión (PIE)</a:t>
            </a:r>
            <a:r>
              <a:rPr lang="es-ES" sz="1200" b="0" i="0" kern="1200" dirty="0">
                <a:solidFill>
                  <a:schemeClr val="tx1"/>
                </a:solidFill>
                <a:effectLst/>
                <a:latin typeface="+mn-lt"/>
                <a:ea typeface="+mn-ea"/>
                <a:cs typeface="+mn-cs"/>
              </a:rPr>
              <a:t>.</a:t>
            </a:r>
            <a:br>
              <a:rPr lang="es-ES" sz="1200" b="0" i="0" kern="1200" dirty="0">
                <a:solidFill>
                  <a:schemeClr val="tx1"/>
                </a:solidFill>
                <a:effectLst/>
                <a:latin typeface="+mn-lt"/>
                <a:ea typeface="+mn-ea"/>
                <a:cs typeface="+mn-cs"/>
              </a:rPr>
            </a:br>
            <a:r>
              <a:rPr lang="es-ES" sz="1200" b="0" i="0" kern="1200" dirty="0">
                <a:solidFill>
                  <a:schemeClr val="tx1"/>
                </a:solidFill>
                <a:effectLst/>
                <a:latin typeface="+mn-lt"/>
                <a:ea typeface="+mn-ea"/>
                <a:cs typeface="+mn-cs"/>
              </a:rPr>
              <a:t>Está escrita para que cualquier lector con base elemental pueda seguirla y, además, te sirve para conectar con tus trabajos de cribas y densidades.</a:t>
            </a:r>
          </a:p>
          <a:p>
            <a:br>
              <a:rPr lang="es-ES" sz="1200" b="0" i="0" kern="1200" dirty="0">
                <a:solidFill>
                  <a:schemeClr val="tx1"/>
                </a:solidFill>
                <a:effectLst/>
                <a:latin typeface="+mn-lt"/>
                <a:ea typeface="+mn-ea"/>
                <a:cs typeface="+mn-cs"/>
              </a:rPr>
            </a:br>
            <a:endParaRPr lang="es-ES" sz="1200" b="0" i="0" kern="1200" dirty="0">
              <a:solidFill>
                <a:schemeClr val="tx1"/>
              </a:solidFill>
              <a:effectLst/>
              <a:latin typeface="+mn-lt"/>
              <a:ea typeface="+mn-ea"/>
              <a:cs typeface="+mn-cs"/>
            </a:endParaRPr>
          </a:p>
          <a:p>
            <a:r>
              <a:rPr lang="es-ES" sz="1200" b="1" i="0" kern="1200" dirty="0">
                <a:solidFill>
                  <a:schemeClr val="tx1"/>
                </a:solidFill>
                <a:effectLst/>
                <a:latin typeface="+mn-lt"/>
                <a:ea typeface="+mn-ea"/>
                <a:cs typeface="+mn-cs"/>
              </a:rPr>
              <a:t>Introducción a la teoría de conjuntos para entender el Principio de Inclusión–Exclusión</a:t>
            </a:r>
          </a:p>
          <a:p>
            <a:r>
              <a:rPr lang="es-ES" sz="1200" b="0" i="0" kern="1200" dirty="0">
                <a:solidFill>
                  <a:schemeClr val="tx1"/>
                </a:solidFill>
                <a:effectLst/>
                <a:latin typeface="+mn-lt"/>
                <a:ea typeface="+mn-ea"/>
                <a:cs typeface="+mn-cs"/>
              </a:rPr>
              <a:t>El </a:t>
            </a:r>
            <a:r>
              <a:rPr lang="es-ES" sz="1200" b="1" i="0" kern="1200" dirty="0">
                <a:solidFill>
                  <a:schemeClr val="tx1"/>
                </a:solidFill>
                <a:effectLst/>
                <a:latin typeface="+mn-lt"/>
                <a:ea typeface="+mn-ea"/>
                <a:cs typeface="+mn-cs"/>
              </a:rPr>
              <a:t>Principio de Inclusión–Exclusión (PIE)</a:t>
            </a:r>
            <a:r>
              <a:rPr lang="es-ES" sz="1200" b="0" i="0" kern="1200" dirty="0">
                <a:solidFill>
                  <a:schemeClr val="tx1"/>
                </a:solidFill>
                <a:effectLst/>
                <a:latin typeface="+mn-lt"/>
                <a:ea typeface="+mn-ea"/>
                <a:cs typeface="+mn-cs"/>
              </a:rPr>
              <a:t> es una fórmula que permite contar elementos evitando </a:t>
            </a:r>
            <a:r>
              <a:rPr lang="es-ES" sz="1200" b="1" i="0" kern="1200" dirty="0">
                <a:solidFill>
                  <a:schemeClr val="tx1"/>
                </a:solidFill>
                <a:effectLst/>
                <a:latin typeface="+mn-lt"/>
                <a:ea typeface="+mn-ea"/>
                <a:cs typeface="+mn-cs"/>
              </a:rPr>
              <a:t>dobles conteos</a:t>
            </a:r>
            <a:r>
              <a:rPr lang="es-ES" sz="1200" b="0" i="0" kern="1200" dirty="0">
                <a:solidFill>
                  <a:schemeClr val="tx1"/>
                </a:solidFill>
                <a:effectLst/>
                <a:latin typeface="+mn-lt"/>
                <a:ea typeface="+mn-ea"/>
                <a:cs typeface="+mn-cs"/>
              </a:rPr>
              <a:t> cuando varios conjuntos se solapan.</a:t>
            </a:r>
            <a:br>
              <a:rPr lang="es-ES" sz="1200" b="0" i="0" kern="1200" dirty="0">
                <a:solidFill>
                  <a:schemeClr val="tx1"/>
                </a:solidFill>
                <a:effectLst/>
                <a:latin typeface="+mn-lt"/>
                <a:ea typeface="+mn-ea"/>
                <a:cs typeface="+mn-cs"/>
              </a:rPr>
            </a:br>
            <a:r>
              <a:rPr lang="es-ES" sz="1200" b="0" i="0" kern="1200" dirty="0">
                <a:solidFill>
                  <a:schemeClr val="tx1"/>
                </a:solidFill>
                <a:effectLst/>
                <a:latin typeface="+mn-lt"/>
                <a:ea typeface="+mn-ea"/>
                <a:cs typeface="+mn-cs"/>
              </a:rPr>
              <a:t>Para dominarlo, basta con entender unas nociones básicas de </a:t>
            </a:r>
            <a:r>
              <a:rPr lang="es-ES" sz="1200" b="1" i="0" kern="1200" dirty="0">
                <a:solidFill>
                  <a:schemeClr val="tx1"/>
                </a:solidFill>
                <a:effectLst/>
                <a:latin typeface="+mn-lt"/>
                <a:ea typeface="+mn-ea"/>
                <a:cs typeface="+mn-cs"/>
              </a:rPr>
              <a:t>teoría de conjuntos</a:t>
            </a:r>
            <a:r>
              <a:rPr lang="es-ES" sz="1200" b="0" i="0" kern="1200" dirty="0">
                <a:solidFill>
                  <a:schemeClr val="tx1"/>
                </a:solidFill>
                <a:effectLst/>
                <a:latin typeface="+mn-lt"/>
                <a:ea typeface="+mn-ea"/>
                <a:cs typeface="+mn-cs"/>
              </a:rPr>
              <a:t>: conjuntos, cardinalidades, uniones, intersecciones y complementos.</a:t>
            </a:r>
          </a:p>
          <a:p>
            <a:r>
              <a:rPr lang="es-ES" sz="1200" b="0" i="0" kern="1200" dirty="0">
                <a:solidFill>
                  <a:schemeClr val="tx1"/>
                </a:solidFill>
                <a:effectLst/>
                <a:latin typeface="+mn-lt"/>
                <a:ea typeface="+mn-ea"/>
                <a:cs typeface="+mn-cs"/>
              </a:rPr>
              <a:t>Vamos paso a paso.</a:t>
            </a:r>
          </a:p>
          <a:p>
            <a:br>
              <a:rPr lang="es-ES" sz="1200" b="0" i="0" kern="1200" dirty="0">
                <a:solidFill>
                  <a:schemeClr val="tx1"/>
                </a:solidFill>
                <a:effectLst/>
                <a:latin typeface="+mn-lt"/>
                <a:ea typeface="+mn-ea"/>
                <a:cs typeface="+mn-cs"/>
              </a:rPr>
            </a:br>
            <a:endParaRPr lang="es-ES" sz="1200" b="0" i="0" kern="1200" dirty="0">
              <a:solidFill>
                <a:schemeClr val="tx1"/>
              </a:solidFill>
              <a:effectLst/>
              <a:latin typeface="+mn-lt"/>
              <a:ea typeface="+mn-ea"/>
              <a:cs typeface="+mn-cs"/>
            </a:endParaRPr>
          </a:p>
          <a:p>
            <a:r>
              <a:rPr lang="es-ES" sz="1200" b="1" i="0" kern="1200" dirty="0">
                <a:solidFill>
                  <a:schemeClr val="tx1"/>
                </a:solidFill>
                <a:effectLst/>
                <a:latin typeface="+mn-lt"/>
                <a:ea typeface="+mn-ea"/>
                <a:cs typeface="+mn-cs"/>
              </a:rPr>
              <a:t>1. ¿Qué es un conjunto?</a:t>
            </a:r>
          </a:p>
          <a:p>
            <a:r>
              <a:rPr lang="es-ES" sz="1200" b="0" i="0" kern="1200" dirty="0">
                <a:solidFill>
                  <a:schemeClr val="tx1"/>
                </a:solidFill>
                <a:effectLst/>
                <a:latin typeface="+mn-lt"/>
                <a:ea typeface="+mn-ea"/>
                <a:cs typeface="+mn-cs"/>
              </a:rPr>
              <a:t>Un </a:t>
            </a:r>
            <a:r>
              <a:rPr lang="es-ES" sz="1200" b="1" i="0" kern="1200" dirty="0">
                <a:solidFill>
                  <a:schemeClr val="tx1"/>
                </a:solidFill>
                <a:effectLst/>
                <a:latin typeface="+mn-lt"/>
                <a:ea typeface="+mn-ea"/>
                <a:cs typeface="+mn-cs"/>
              </a:rPr>
              <a:t>conjunto</a:t>
            </a:r>
            <a:r>
              <a:rPr lang="es-ES" sz="1200" b="0" i="0" kern="1200" dirty="0">
                <a:solidFill>
                  <a:schemeClr val="tx1"/>
                </a:solidFill>
                <a:effectLst/>
                <a:latin typeface="+mn-lt"/>
                <a:ea typeface="+mn-ea"/>
                <a:cs typeface="+mn-cs"/>
              </a:rPr>
              <a:t> es simplemente una colección de objetos.</a:t>
            </a:r>
            <a:br>
              <a:rPr lang="es-ES" sz="1200" b="0" i="0" kern="1200" dirty="0">
                <a:solidFill>
                  <a:schemeClr val="tx1"/>
                </a:solidFill>
                <a:effectLst/>
                <a:latin typeface="+mn-lt"/>
                <a:ea typeface="+mn-ea"/>
                <a:cs typeface="+mn-cs"/>
              </a:rPr>
            </a:br>
            <a:r>
              <a:rPr lang="es-ES" sz="1200" b="0" i="0" kern="1200" dirty="0">
                <a:solidFill>
                  <a:schemeClr val="tx1"/>
                </a:solidFill>
                <a:effectLst/>
                <a:latin typeface="+mn-lt"/>
                <a:ea typeface="+mn-ea"/>
                <a:cs typeface="+mn-cs"/>
              </a:rPr>
              <a:t>Ejemplos:</a:t>
            </a:r>
          </a:p>
          <a:p>
            <a:r>
              <a:rPr lang="es-ES" sz="1200" b="0" i="0" kern="1200" dirty="0">
                <a:solidFill>
                  <a:schemeClr val="tx1"/>
                </a:solidFill>
                <a:effectLst/>
                <a:latin typeface="+mn-lt"/>
                <a:ea typeface="+mn-ea"/>
                <a:cs typeface="+mn-cs"/>
              </a:rPr>
              <a:t>$A = {1,2,3}$</a:t>
            </a:r>
          </a:p>
          <a:p>
            <a:r>
              <a:rPr lang="es-ES" sz="1200" b="0" i="0" kern="1200" dirty="0">
                <a:solidFill>
                  <a:schemeClr val="tx1"/>
                </a:solidFill>
                <a:effectLst/>
                <a:latin typeface="+mn-lt"/>
                <a:ea typeface="+mn-ea"/>
                <a:cs typeface="+mn-cs"/>
              </a:rPr>
              <a:t>$B = {\</a:t>
            </a:r>
            <a:r>
              <a:rPr lang="es-ES" sz="1200" b="0" i="0" kern="1200" dirty="0" err="1">
                <a:solidFill>
                  <a:schemeClr val="tx1"/>
                </a:solidFill>
                <a:effectLst/>
                <a:latin typeface="+mn-lt"/>
                <a:ea typeface="+mn-ea"/>
                <a:cs typeface="+mn-cs"/>
              </a:rPr>
              <a:t>text</a:t>
            </a:r>
            <a:r>
              <a:rPr lang="es-ES" sz="1200" b="0" i="0" kern="1200" dirty="0">
                <a:solidFill>
                  <a:schemeClr val="tx1"/>
                </a:solidFill>
                <a:effectLst/>
                <a:latin typeface="+mn-lt"/>
                <a:ea typeface="+mn-ea"/>
                <a:cs typeface="+mn-cs"/>
              </a:rPr>
              <a:t>{pares menores que 10}}$</a:t>
            </a:r>
          </a:p>
          <a:p>
            <a:r>
              <a:rPr lang="es-ES" sz="1200" b="0" i="0" kern="1200" dirty="0">
                <a:solidFill>
                  <a:schemeClr val="tx1"/>
                </a:solidFill>
                <a:effectLst/>
                <a:latin typeface="+mn-lt"/>
                <a:ea typeface="+mn-ea"/>
                <a:cs typeface="+mn-cs"/>
              </a:rPr>
              <a:t>Los objetos se llaman </a:t>
            </a:r>
            <a:r>
              <a:rPr lang="es-ES" sz="1200" b="1" i="0" kern="1200" dirty="0">
                <a:solidFill>
                  <a:schemeClr val="tx1"/>
                </a:solidFill>
                <a:effectLst/>
                <a:latin typeface="+mn-lt"/>
                <a:ea typeface="+mn-ea"/>
                <a:cs typeface="+mn-cs"/>
              </a:rPr>
              <a:t>elementos</a:t>
            </a:r>
            <a:r>
              <a:rPr lang="es-ES" sz="1200" b="0" i="0" kern="1200" dirty="0">
                <a:solidFill>
                  <a:schemeClr val="tx1"/>
                </a:solidFill>
                <a:effectLst/>
                <a:latin typeface="+mn-lt"/>
                <a:ea typeface="+mn-ea"/>
                <a:cs typeface="+mn-cs"/>
              </a:rPr>
              <a:t>, y escribimos:</a:t>
            </a:r>
          </a:p>
          <a:p>
            <a:r>
              <a:rPr lang="es-ES" sz="1200" b="0" i="0" kern="1200" dirty="0">
                <a:solidFill>
                  <a:schemeClr val="tx1"/>
                </a:solidFill>
                <a:effectLst/>
                <a:latin typeface="+mn-lt"/>
                <a:ea typeface="+mn-ea"/>
                <a:cs typeface="+mn-cs"/>
              </a:rPr>
              <a:t>$x \in A$ si $x$ </a:t>
            </a:r>
            <a:r>
              <a:rPr lang="es-ES" sz="1200" b="0" i="1" kern="1200" dirty="0">
                <a:solidFill>
                  <a:schemeClr val="tx1"/>
                </a:solidFill>
                <a:effectLst/>
                <a:latin typeface="+mn-lt"/>
                <a:ea typeface="+mn-ea"/>
                <a:cs typeface="+mn-cs"/>
              </a:rPr>
              <a:t>pertenece</a:t>
            </a:r>
            <a:r>
              <a:rPr lang="es-ES" sz="1200" b="0" i="0" kern="1200" dirty="0">
                <a:solidFill>
                  <a:schemeClr val="tx1"/>
                </a:solidFill>
                <a:effectLst/>
                <a:latin typeface="+mn-lt"/>
                <a:ea typeface="+mn-ea"/>
                <a:cs typeface="+mn-cs"/>
              </a:rPr>
              <a:t> a $A$</a:t>
            </a:r>
          </a:p>
          <a:p>
            <a:r>
              <a:rPr lang="es-ES" sz="1200" b="0" i="0" kern="1200" dirty="0">
                <a:solidFill>
                  <a:schemeClr val="tx1"/>
                </a:solidFill>
                <a:effectLst/>
                <a:latin typeface="+mn-lt"/>
                <a:ea typeface="+mn-ea"/>
                <a:cs typeface="+mn-cs"/>
              </a:rPr>
              <a:t>$x \</a:t>
            </a:r>
            <a:r>
              <a:rPr lang="es-ES" sz="1200" b="0" i="0" kern="1200" dirty="0" err="1">
                <a:solidFill>
                  <a:schemeClr val="tx1"/>
                </a:solidFill>
                <a:effectLst/>
                <a:latin typeface="+mn-lt"/>
                <a:ea typeface="+mn-ea"/>
                <a:cs typeface="+mn-cs"/>
              </a:rPr>
              <a:t>notin</a:t>
            </a:r>
            <a:r>
              <a:rPr lang="es-ES" sz="1200" b="0" i="0" kern="1200" dirty="0">
                <a:solidFill>
                  <a:schemeClr val="tx1"/>
                </a:solidFill>
                <a:effectLst/>
                <a:latin typeface="+mn-lt"/>
                <a:ea typeface="+mn-ea"/>
                <a:cs typeface="+mn-cs"/>
              </a:rPr>
              <a:t> A$ si </a:t>
            </a:r>
            <a:r>
              <a:rPr lang="es-ES" sz="1200" b="0" i="1" kern="1200" dirty="0">
                <a:solidFill>
                  <a:schemeClr val="tx1"/>
                </a:solidFill>
                <a:effectLst/>
                <a:latin typeface="+mn-lt"/>
                <a:ea typeface="+mn-ea"/>
                <a:cs typeface="+mn-cs"/>
              </a:rPr>
              <a:t>no pertenece</a:t>
            </a:r>
            <a:endParaRPr lang="es-ES" sz="1200" b="0" i="0" kern="1200" dirty="0">
              <a:solidFill>
                <a:schemeClr val="tx1"/>
              </a:solidFill>
              <a:effectLst/>
              <a:latin typeface="+mn-lt"/>
              <a:ea typeface="+mn-ea"/>
              <a:cs typeface="+mn-cs"/>
            </a:endParaRPr>
          </a:p>
          <a:p>
            <a:br>
              <a:rPr lang="es-ES" sz="1200" b="0" i="0" kern="1200" dirty="0">
                <a:solidFill>
                  <a:schemeClr val="tx1"/>
                </a:solidFill>
                <a:effectLst/>
                <a:latin typeface="+mn-lt"/>
                <a:ea typeface="+mn-ea"/>
                <a:cs typeface="+mn-cs"/>
              </a:rPr>
            </a:br>
            <a:endParaRPr lang="es-ES" sz="1200" b="0" i="0" kern="1200" dirty="0">
              <a:solidFill>
                <a:schemeClr val="tx1"/>
              </a:solidFill>
              <a:effectLst/>
              <a:latin typeface="+mn-lt"/>
              <a:ea typeface="+mn-ea"/>
              <a:cs typeface="+mn-cs"/>
            </a:endParaRPr>
          </a:p>
          <a:p>
            <a:r>
              <a:rPr lang="es-ES" sz="1200" b="1" i="0" kern="1200" dirty="0">
                <a:solidFill>
                  <a:schemeClr val="tx1"/>
                </a:solidFill>
                <a:effectLst/>
                <a:latin typeface="+mn-lt"/>
                <a:ea typeface="+mn-ea"/>
                <a:cs typeface="+mn-cs"/>
              </a:rPr>
              <a:t>2. Subconjuntos</a:t>
            </a:r>
          </a:p>
          <a:p>
            <a:r>
              <a:rPr lang="es-ES" sz="1200" b="0" i="0" kern="1200" dirty="0">
                <a:solidFill>
                  <a:schemeClr val="tx1"/>
                </a:solidFill>
                <a:effectLst/>
                <a:latin typeface="+mn-lt"/>
                <a:ea typeface="+mn-ea"/>
                <a:cs typeface="+mn-cs"/>
              </a:rPr>
              <a:t>Un conjunto $A$ es </a:t>
            </a:r>
            <a:r>
              <a:rPr lang="es-ES" sz="1200" b="1" i="0" kern="1200" dirty="0">
                <a:solidFill>
                  <a:schemeClr val="tx1"/>
                </a:solidFill>
                <a:effectLst/>
                <a:latin typeface="+mn-lt"/>
                <a:ea typeface="+mn-ea"/>
                <a:cs typeface="+mn-cs"/>
              </a:rPr>
              <a:t>subconjunto</a:t>
            </a:r>
            <a:r>
              <a:rPr lang="es-ES" sz="1200" b="0" i="0" kern="1200" dirty="0">
                <a:solidFill>
                  <a:schemeClr val="tx1"/>
                </a:solidFill>
                <a:effectLst/>
                <a:latin typeface="+mn-lt"/>
                <a:ea typeface="+mn-ea"/>
                <a:cs typeface="+mn-cs"/>
              </a:rPr>
              <a:t> de otro $B$ si todos los elementos de $A$ están en $B$.</a:t>
            </a:r>
          </a:p>
          <a:p>
            <a:r>
              <a:rPr lang="es-ES" sz="1200" b="0" i="0" kern="1200" dirty="0">
                <a:solidFill>
                  <a:schemeClr val="tx1"/>
                </a:solidFill>
                <a:effectLst/>
                <a:latin typeface="+mn-lt"/>
                <a:ea typeface="+mn-ea"/>
                <a:cs typeface="+mn-cs"/>
              </a:rPr>
              <a:t>Se escribe:</a:t>
            </a:r>
          </a:p>
          <a:p>
            <a:r>
              <a:rPr lang="es-ES" sz="1200" b="0" i="0" kern="1200" dirty="0">
                <a:solidFill>
                  <a:schemeClr val="tx1"/>
                </a:solidFill>
                <a:effectLst/>
                <a:latin typeface="+mn-lt"/>
                <a:ea typeface="+mn-ea"/>
                <a:cs typeface="+mn-cs"/>
              </a:rPr>
              <a:t>$ A \</a:t>
            </a:r>
            <a:r>
              <a:rPr lang="es-ES" sz="1200" b="0" i="0" kern="1200" dirty="0" err="1">
                <a:solidFill>
                  <a:schemeClr val="tx1"/>
                </a:solidFill>
                <a:effectLst/>
                <a:latin typeface="+mn-lt"/>
                <a:ea typeface="+mn-ea"/>
                <a:cs typeface="+mn-cs"/>
              </a:rPr>
              <a:t>subseteq</a:t>
            </a:r>
            <a:r>
              <a:rPr lang="es-ES" sz="1200" b="0" i="0" kern="1200" dirty="0">
                <a:solidFill>
                  <a:schemeClr val="tx1"/>
                </a:solidFill>
                <a:effectLst/>
                <a:latin typeface="+mn-lt"/>
                <a:ea typeface="+mn-ea"/>
                <a:cs typeface="+mn-cs"/>
              </a:rPr>
              <a:t> B $</a:t>
            </a:r>
          </a:p>
          <a:p>
            <a:r>
              <a:rPr lang="es-ES" sz="1200" b="0" i="0" kern="1200" dirty="0">
                <a:solidFill>
                  <a:schemeClr val="tx1"/>
                </a:solidFill>
                <a:effectLst/>
                <a:latin typeface="+mn-lt"/>
                <a:ea typeface="+mn-ea"/>
                <a:cs typeface="+mn-cs"/>
              </a:rPr>
              <a:t>Ejemplo:</a:t>
            </a:r>
            <a:br>
              <a:rPr lang="es-ES" sz="1200" b="0" i="0" kern="1200" dirty="0">
                <a:solidFill>
                  <a:schemeClr val="tx1"/>
                </a:solidFill>
                <a:effectLst/>
                <a:latin typeface="+mn-lt"/>
                <a:ea typeface="+mn-ea"/>
                <a:cs typeface="+mn-cs"/>
              </a:rPr>
            </a:br>
            <a:r>
              <a:rPr lang="es-ES" sz="1200" b="0" i="0" kern="1200" dirty="0">
                <a:solidFill>
                  <a:schemeClr val="tx1"/>
                </a:solidFill>
                <a:effectLst/>
                <a:latin typeface="+mn-lt"/>
                <a:ea typeface="+mn-ea"/>
                <a:cs typeface="+mn-cs"/>
              </a:rPr>
              <a:t>${2,4} \</a:t>
            </a:r>
            <a:r>
              <a:rPr lang="es-ES" sz="1200" b="0" i="0" kern="1200" dirty="0" err="1">
                <a:solidFill>
                  <a:schemeClr val="tx1"/>
                </a:solidFill>
                <a:effectLst/>
                <a:latin typeface="+mn-lt"/>
                <a:ea typeface="+mn-ea"/>
                <a:cs typeface="+mn-cs"/>
              </a:rPr>
              <a:t>subseteq</a:t>
            </a:r>
            <a:r>
              <a:rPr lang="es-ES" sz="1200" b="0" i="0" kern="1200" dirty="0">
                <a:solidFill>
                  <a:schemeClr val="tx1"/>
                </a:solidFill>
                <a:effectLst/>
                <a:latin typeface="+mn-lt"/>
                <a:ea typeface="+mn-ea"/>
                <a:cs typeface="+mn-cs"/>
              </a:rPr>
              <a:t> {1,2,3,4,5}$</a:t>
            </a:r>
          </a:p>
          <a:p>
            <a:br>
              <a:rPr lang="es-ES" sz="1200" b="0" i="0" kern="1200" dirty="0">
                <a:solidFill>
                  <a:schemeClr val="tx1"/>
                </a:solidFill>
                <a:effectLst/>
                <a:latin typeface="+mn-lt"/>
                <a:ea typeface="+mn-ea"/>
                <a:cs typeface="+mn-cs"/>
              </a:rPr>
            </a:br>
            <a:endParaRPr lang="es-ES" sz="1200" b="0" i="0" kern="1200" dirty="0">
              <a:solidFill>
                <a:schemeClr val="tx1"/>
              </a:solidFill>
              <a:effectLst/>
              <a:latin typeface="+mn-lt"/>
              <a:ea typeface="+mn-ea"/>
              <a:cs typeface="+mn-cs"/>
            </a:endParaRPr>
          </a:p>
          <a:p>
            <a:r>
              <a:rPr lang="es-ES" sz="1200" b="1" i="0" kern="1200" dirty="0">
                <a:solidFill>
                  <a:schemeClr val="tx1"/>
                </a:solidFill>
                <a:effectLst/>
                <a:latin typeface="+mn-lt"/>
                <a:ea typeface="+mn-ea"/>
                <a:cs typeface="+mn-cs"/>
              </a:rPr>
              <a:t>3. Operaciones fundamentales</a:t>
            </a:r>
          </a:p>
          <a:p>
            <a:r>
              <a:rPr lang="es-ES" sz="1200" b="0" i="0" kern="1200" dirty="0">
                <a:solidFill>
                  <a:schemeClr val="tx1"/>
                </a:solidFill>
                <a:effectLst/>
                <a:latin typeface="+mn-lt"/>
                <a:ea typeface="+mn-ea"/>
                <a:cs typeface="+mn-cs"/>
              </a:rPr>
              <a:t>Para el PIE solo necesitas </a:t>
            </a:r>
            <a:r>
              <a:rPr lang="es-ES" sz="1200" b="1" i="0" kern="1200" dirty="0">
                <a:solidFill>
                  <a:schemeClr val="tx1"/>
                </a:solidFill>
                <a:effectLst/>
                <a:latin typeface="+mn-lt"/>
                <a:ea typeface="+mn-ea"/>
                <a:cs typeface="+mn-cs"/>
              </a:rPr>
              <a:t>tres operaciones</a:t>
            </a:r>
            <a:r>
              <a:rPr lang="es-ES" sz="1200" b="0" i="0" kern="1200" dirty="0">
                <a:solidFill>
                  <a:schemeClr val="tx1"/>
                </a:solidFill>
                <a:effectLst/>
                <a:latin typeface="+mn-lt"/>
                <a:ea typeface="+mn-ea"/>
                <a:cs typeface="+mn-cs"/>
              </a:rPr>
              <a:t>: unión, intersección y complemento.</a:t>
            </a:r>
          </a:p>
          <a:p>
            <a:br>
              <a:rPr lang="es-ES" sz="1200" b="0" i="0" kern="1200" dirty="0">
                <a:solidFill>
                  <a:schemeClr val="tx1"/>
                </a:solidFill>
                <a:effectLst/>
                <a:latin typeface="+mn-lt"/>
                <a:ea typeface="+mn-ea"/>
                <a:cs typeface="+mn-cs"/>
              </a:rPr>
            </a:br>
            <a:endParaRPr lang="es-ES" sz="1200" b="0" i="0" kern="1200" dirty="0">
              <a:solidFill>
                <a:schemeClr val="tx1"/>
              </a:solidFill>
              <a:effectLst/>
              <a:latin typeface="+mn-lt"/>
              <a:ea typeface="+mn-ea"/>
              <a:cs typeface="+mn-cs"/>
            </a:endParaRPr>
          </a:p>
          <a:p>
            <a:r>
              <a:rPr lang="es-ES" sz="1200" b="1" i="0" kern="1200" dirty="0">
                <a:solidFill>
                  <a:schemeClr val="tx1"/>
                </a:solidFill>
                <a:effectLst/>
                <a:latin typeface="+mn-lt"/>
                <a:ea typeface="+mn-ea"/>
                <a:cs typeface="+mn-cs"/>
              </a:rPr>
              <a:t>3.1. Unión</a:t>
            </a:r>
          </a:p>
          <a:p>
            <a:r>
              <a:rPr lang="es-ES" sz="1200" b="0" i="0" kern="1200" dirty="0">
                <a:solidFill>
                  <a:schemeClr val="tx1"/>
                </a:solidFill>
                <a:effectLst/>
                <a:latin typeface="+mn-lt"/>
                <a:ea typeface="+mn-ea"/>
                <a:cs typeface="+mn-cs"/>
              </a:rPr>
              <a:t>La </a:t>
            </a:r>
            <a:r>
              <a:rPr lang="es-ES" sz="1200" b="1" i="0" kern="1200" dirty="0">
                <a:solidFill>
                  <a:schemeClr val="tx1"/>
                </a:solidFill>
                <a:effectLst/>
                <a:latin typeface="+mn-lt"/>
                <a:ea typeface="+mn-ea"/>
                <a:cs typeface="+mn-cs"/>
              </a:rPr>
              <a:t>unión</a:t>
            </a:r>
            <a:r>
              <a:rPr lang="es-ES" sz="1200" b="0" i="0" kern="1200" dirty="0">
                <a:solidFill>
                  <a:schemeClr val="tx1"/>
                </a:solidFill>
                <a:effectLst/>
                <a:latin typeface="+mn-lt"/>
                <a:ea typeface="+mn-ea"/>
                <a:cs typeface="+mn-cs"/>
              </a:rPr>
              <a:t> de dos conjuntos $A$ y $B$ contiene todos los elementos que están en $A$ o en $B$ (o en ambos).</a:t>
            </a:r>
          </a:p>
          <a:p>
            <a:r>
              <a:rPr lang="es-ES" sz="1200" b="0" i="0" kern="1200" dirty="0">
                <a:solidFill>
                  <a:schemeClr val="tx1"/>
                </a:solidFill>
                <a:effectLst/>
                <a:latin typeface="+mn-lt"/>
                <a:ea typeface="+mn-ea"/>
                <a:cs typeface="+mn-cs"/>
              </a:rPr>
              <a:t>Se nota:</a:t>
            </a:r>
          </a:p>
          <a:p>
            <a:r>
              <a:rPr lang="es-ES" sz="1200" b="0" i="0" kern="1200" dirty="0">
                <a:solidFill>
                  <a:schemeClr val="tx1"/>
                </a:solidFill>
                <a:effectLst/>
                <a:latin typeface="+mn-lt"/>
                <a:ea typeface="+mn-ea"/>
                <a:cs typeface="+mn-cs"/>
              </a:rPr>
              <a:t>$ A \cup B $</a:t>
            </a:r>
          </a:p>
          <a:p>
            <a:r>
              <a:rPr lang="es-ES" sz="1200" b="0" i="0" kern="1200" dirty="0">
                <a:solidFill>
                  <a:schemeClr val="tx1"/>
                </a:solidFill>
                <a:effectLst/>
                <a:latin typeface="+mn-lt"/>
                <a:ea typeface="+mn-ea"/>
                <a:cs typeface="+mn-cs"/>
              </a:rPr>
              <a:t>Ejemplo:</a:t>
            </a:r>
            <a:br>
              <a:rPr lang="es-ES" sz="1200" b="0" i="0" kern="1200" dirty="0">
                <a:solidFill>
                  <a:schemeClr val="tx1"/>
                </a:solidFill>
                <a:effectLst/>
                <a:latin typeface="+mn-lt"/>
                <a:ea typeface="+mn-ea"/>
                <a:cs typeface="+mn-cs"/>
              </a:rPr>
            </a:br>
            <a:r>
              <a:rPr lang="es-ES" sz="1200" b="0" i="0" kern="1200" dirty="0">
                <a:solidFill>
                  <a:schemeClr val="tx1"/>
                </a:solidFill>
                <a:effectLst/>
                <a:latin typeface="+mn-lt"/>
                <a:ea typeface="+mn-ea"/>
                <a:cs typeface="+mn-cs"/>
              </a:rPr>
              <a:t>$A={1,2,3}$, $B={3,4}$</a:t>
            </a:r>
          </a:p>
          <a:p>
            <a:r>
              <a:rPr lang="es-ES" sz="1200" b="0" i="0" kern="1200" dirty="0">
                <a:solidFill>
                  <a:schemeClr val="tx1"/>
                </a:solidFill>
                <a:effectLst/>
                <a:latin typeface="+mn-lt"/>
                <a:ea typeface="+mn-ea"/>
                <a:cs typeface="+mn-cs"/>
              </a:rPr>
              <a:t>$ A\cup B = {1,2,3,4} $</a:t>
            </a:r>
          </a:p>
          <a:p>
            <a:br>
              <a:rPr lang="es-ES" sz="1200" b="0" i="0" kern="1200" dirty="0">
                <a:solidFill>
                  <a:schemeClr val="tx1"/>
                </a:solidFill>
                <a:effectLst/>
                <a:latin typeface="+mn-lt"/>
                <a:ea typeface="+mn-ea"/>
                <a:cs typeface="+mn-cs"/>
              </a:rPr>
            </a:br>
            <a:endParaRPr lang="es-ES" sz="1200" b="0" i="0" kern="1200" dirty="0">
              <a:solidFill>
                <a:schemeClr val="tx1"/>
              </a:solidFill>
              <a:effectLst/>
              <a:latin typeface="+mn-lt"/>
              <a:ea typeface="+mn-ea"/>
              <a:cs typeface="+mn-cs"/>
            </a:endParaRPr>
          </a:p>
          <a:p>
            <a:r>
              <a:rPr lang="es-ES" sz="1200" b="1" i="0" kern="1200" dirty="0">
                <a:solidFill>
                  <a:schemeClr val="tx1"/>
                </a:solidFill>
                <a:effectLst/>
                <a:latin typeface="+mn-lt"/>
                <a:ea typeface="+mn-ea"/>
                <a:cs typeface="+mn-cs"/>
              </a:rPr>
              <a:t>3.2. Intersección</a:t>
            </a:r>
          </a:p>
          <a:p>
            <a:r>
              <a:rPr lang="es-ES" sz="1200" b="0" i="0" kern="1200" dirty="0">
                <a:solidFill>
                  <a:schemeClr val="tx1"/>
                </a:solidFill>
                <a:effectLst/>
                <a:latin typeface="+mn-lt"/>
                <a:ea typeface="+mn-ea"/>
                <a:cs typeface="+mn-cs"/>
              </a:rPr>
              <a:t>La </a:t>
            </a:r>
            <a:r>
              <a:rPr lang="es-ES" sz="1200" b="1" i="0" kern="1200" dirty="0">
                <a:solidFill>
                  <a:schemeClr val="tx1"/>
                </a:solidFill>
                <a:effectLst/>
                <a:latin typeface="+mn-lt"/>
                <a:ea typeface="+mn-ea"/>
                <a:cs typeface="+mn-cs"/>
              </a:rPr>
              <a:t>intersección</a:t>
            </a:r>
            <a:r>
              <a:rPr lang="es-ES" sz="1200" b="0" i="0" kern="1200" dirty="0">
                <a:solidFill>
                  <a:schemeClr val="tx1"/>
                </a:solidFill>
                <a:effectLst/>
                <a:latin typeface="+mn-lt"/>
                <a:ea typeface="+mn-ea"/>
                <a:cs typeface="+mn-cs"/>
              </a:rPr>
              <a:t> contiene solo los elementos que están en </a:t>
            </a:r>
            <a:r>
              <a:rPr lang="es-ES" sz="1200" b="0" i="1" kern="1200" dirty="0">
                <a:solidFill>
                  <a:schemeClr val="tx1"/>
                </a:solidFill>
                <a:effectLst/>
                <a:latin typeface="+mn-lt"/>
                <a:ea typeface="+mn-ea"/>
                <a:cs typeface="+mn-cs"/>
              </a:rPr>
              <a:t>los dos</a:t>
            </a:r>
            <a:r>
              <a:rPr lang="es-ES" sz="1200" b="0" i="0" kern="1200" dirty="0">
                <a:solidFill>
                  <a:schemeClr val="tx1"/>
                </a:solidFill>
                <a:effectLst/>
                <a:latin typeface="+mn-lt"/>
                <a:ea typeface="+mn-ea"/>
                <a:cs typeface="+mn-cs"/>
              </a:rPr>
              <a:t> conjuntos.</a:t>
            </a:r>
          </a:p>
          <a:p>
            <a:r>
              <a:rPr lang="es-ES" sz="1200" b="0" i="0" kern="1200" dirty="0">
                <a:solidFill>
                  <a:schemeClr val="tx1"/>
                </a:solidFill>
                <a:effectLst/>
                <a:latin typeface="+mn-lt"/>
                <a:ea typeface="+mn-ea"/>
                <a:cs typeface="+mn-cs"/>
              </a:rPr>
              <a:t>$ A \</a:t>
            </a:r>
            <a:r>
              <a:rPr lang="es-ES" sz="1200" b="0" i="0" kern="1200" dirty="0" err="1">
                <a:solidFill>
                  <a:schemeClr val="tx1"/>
                </a:solidFill>
                <a:effectLst/>
                <a:latin typeface="+mn-lt"/>
                <a:ea typeface="+mn-ea"/>
                <a:cs typeface="+mn-cs"/>
              </a:rPr>
              <a:t>cap</a:t>
            </a:r>
            <a:r>
              <a:rPr lang="es-ES" sz="1200" b="0" i="0" kern="1200" dirty="0">
                <a:solidFill>
                  <a:schemeClr val="tx1"/>
                </a:solidFill>
                <a:effectLst/>
                <a:latin typeface="+mn-lt"/>
                <a:ea typeface="+mn-ea"/>
                <a:cs typeface="+mn-cs"/>
              </a:rPr>
              <a:t> B $</a:t>
            </a:r>
          </a:p>
          <a:p>
            <a:r>
              <a:rPr lang="es-ES" sz="1200" b="0" i="0" kern="1200" dirty="0">
                <a:solidFill>
                  <a:schemeClr val="tx1"/>
                </a:solidFill>
                <a:effectLst/>
                <a:latin typeface="+mn-lt"/>
                <a:ea typeface="+mn-ea"/>
                <a:cs typeface="+mn-cs"/>
              </a:rPr>
              <a:t>Ejemplo:</a:t>
            </a:r>
          </a:p>
          <a:p>
            <a:r>
              <a:rPr lang="es-ES" sz="1200" b="0" i="0" kern="1200" dirty="0">
                <a:solidFill>
                  <a:schemeClr val="tx1"/>
                </a:solidFill>
                <a:effectLst/>
                <a:latin typeface="+mn-lt"/>
                <a:ea typeface="+mn-ea"/>
                <a:cs typeface="+mn-cs"/>
              </a:rPr>
              <a:t>$ A\</a:t>
            </a:r>
            <a:r>
              <a:rPr lang="es-ES" sz="1200" b="0" i="0" kern="1200" dirty="0" err="1">
                <a:solidFill>
                  <a:schemeClr val="tx1"/>
                </a:solidFill>
                <a:effectLst/>
                <a:latin typeface="+mn-lt"/>
                <a:ea typeface="+mn-ea"/>
                <a:cs typeface="+mn-cs"/>
              </a:rPr>
              <a:t>cap</a:t>
            </a:r>
            <a:r>
              <a:rPr lang="es-ES" sz="1200" b="0" i="0" kern="1200" dirty="0">
                <a:solidFill>
                  <a:schemeClr val="tx1"/>
                </a:solidFill>
                <a:effectLst/>
                <a:latin typeface="+mn-lt"/>
                <a:ea typeface="+mn-ea"/>
                <a:cs typeface="+mn-cs"/>
              </a:rPr>
              <a:t> B = {3} $</a:t>
            </a:r>
          </a:p>
          <a:p>
            <a:br>
              <a:rPr lang="es-ES" sz="1200" b="0" i="0" kern="1200" dirty="0">
                <a:solidFill>
                  <a:schemeClr val="tx1"/>
                </a:solidFill>
                <a:effectLst/>
                <a:latin typeface="+mn-lt"/>
                <a:ea typeface="+mn-ea"/>
                <a:cs typeface="+mn-cs"/>
              </a:rPr>
            </a:br>
            <a:endParaRPr lang="es-ES" sz="1200" b="0" i="0" kern="1200" dirty="0">
              <a:solidFill>
                <a:schemeClr val="tx1"/>
              </a:solidFill>
              <a:effectLst/>
              <a:latin typeface="+mn-lt"/>
              <a:ea typeface="+mn-ea"/>
              <a:cs typeface="+mn-cs"/>
            </a:endParaRPr>
          </a:p>
          <a:p>
            <a:r>
              <a:rPr lang="es-ES" sz="1200" b="1" i="0" kern="1200" dirty="0">
                <a:solidFill>
                  <a:schemeClr val="tx1"/>
                </a:solidFill>
                <a:effectLst/>
                <a:latin typeface="+mn-lt"/>
                <a:ea typeface="+mn-ea"/>
                <a:cs typeface="+mn-cs"/>
              </a:rPr>
              <a:t>3.3. Complemento</a:t>
            </a:r>
          </a:p>
          <a:p>
            <a:r>
              <a:rPr lang="es-ES" sz="1200" b="0" i="0" kern="1200" dirty="0">
                <a:solidFill>
                  <a:schemeClr val="tx1"/>
                </a:solidFill>
                <a:effectLst/>
                <a:latin typeface="+mn-lt"/>
                <a:ea typeface="+mn-ea"/>
                <a:cs typeface="+mn-cs"/>
              </a:rPr>
              <a:t>El </a:t>
            </a:r>
            <a:r>
              <a:rPr lang="es-ES" sz="1200" b="1" i="0" kern="1200" dirty="0">
                <a:solidFill>
                  <a:schemeClr val="tx1"/>
                </a:solidFill>
                <a:effectLst/>
                <a:latin typeface="+mn-lt"/>
                <a:ea typeface="+mn-ea"/>
                <a:cs typeface="+mn-cs"/>
              </a:rPr>
              <a:t>complemento</a:t>
            </a:r>
            <a:r>
              <a:rPr lang="es-ES" sz="1200" b="0" i="0" kern="1200" dirty="0">
                <a:solidFill>
                  <a:schemeClr val="tx1"/>
                </a:solidFill>
                <a:effectLst/>
                <a:latin typeface="+mn-lt"/>
                <a:ea typeface="+mn-ea"/>
                <a:cs typeface="+mn-cs"/>
              </a:rPr>
              <a:t> de un conjunto $A$ (dentro de un universo $U$) es todo lo que </a:t>
            </a:r>
            <a:r>
              <a:rPr lang="es-ES" sz="1200" b="1" i="0" kern="1200" dirty="0">
                <a:solidFill>
                  <a:schemeClr val="tx1"/>
                </a:solidFill>
                <a:effectLst/>
                <a:latin typeface="+mn-lt"/>
                <a:ea typeface="+mn-ea"/>
                <a:cs typeface="+mn-cs"/>
              </a:rPr>
              <a:t>no está en $A$</a:t>
            </a:r>
            <a:r>
              <a:rPr lang="es-ES" sz="1200" b="0" i="0" kern="1200" dirty="0">
                <a:solidFill>
                  <a:schemeClr val="tx1"/>
                </a:solidFill>
                <a:effectLst/>
                <a:latin typeface="+mn-lt"/>
                <a:ea typeface="+mn-ea"/>
                <a:cs typeface="+mn-cs"/>
              </a:rPr>
              <a:t>.</a:t>
            </a:r>
          </a:p>
          <a:p>
            <a:r>
              <a:rPr lang="es-ES" sz="1200" b="0" i="0" kern="1200" dirty="0">
                <a:solidFill>
                  <a:schemeClr val="tx1"/>
                </a:solidFill>
                <a:effectLst/>
                <a:latin typeface="+mn-lt"/>
                <a:ea typeface="+mn-ea"/>
                <a:cs typeface="+mn-cs"/>
              </a:rPr>
              <a:t>$ </a:t>
            </a:r>
            <a:r>
              <a:rPr lang="es-ES" sz="1200" b="0" i="0" kern="1200" dirty="0" err="1">
                <a:solidFill>
                  <a:schemeClr val="tx1"/>
                </a:solidFill>
                <a:effectLst/>
                <a:latin typeface="+mn-lt"/>
                <a:ea typeface="+mn-ea"/>
                <a:cs typeface="+mn-cs"/>
              </a:rPr>
              <a:t>A^c</a:t>
            </a:r>
            <a:r>
              <a:rPr lang="es-ES" sz="1200" b="0" i="0" kern="1200" dirty="0">
                <a:solidFill>
                  <a:schemeClr val="tx1"/>
                </a:solidFill>
                <a:effectLst/>
                <a:latin typeface="+mn-lt"/>
                <a:ea typeface="+mn-ea"/>
                <a:cs typeface="+mn-cs"/>
              </a:rPr>
              <a:t> = U \</a:t>
            </a:r>
            <a:r>
              <a:rPr lang="es-ES" sz="1200" b="0" i="0" kern="1200" dirty="0" err="1">
                <a:solidFill>
                  <a:schemeClr val="tx1"/>
                </a:solidFill>
                <a:effectLst/>
                <a:latin typeface="+mn-lt"/>
                <a:ea typeface="+mn-ea"/>
                <a:cs typeface="+mn-cs"/>
              </a:rPr>
              <a:t>setminus</a:t>
            </a:r>
            <a:r>
              <a:rPr lang="es-ES" sz="1200" b="0" i="0" kern="1200" dirty="0">
                <a:solidFill>
                  <a:schemeClr val="tx1"/>
                </a:solidFill>
                <a:effectLst/>
                <a:latin typeface="+mn-lt"/>
                <a:ea typeface="+mn-ea"/>
                <a:cs typeface="+mn-cs"/>
              </a:rPr>
              <a:t> A $</a:t>
            </a:r>
          </a:p>
          <a:p>
            <a:r>
              <a:rPr lang="es-ES" sz="1200" b="0" i="0" kern="1200" dirty="0">
                <a:solidFill>
                  <a:schemeClr val="tx1"/>
                </a:solidFill>
                <a:effectLst/>
                <a:latin typeface="+mn-lt"/>
                <a:ea typeface="+mn-ea"/>
                <a:cs typeface="+mn-cs"/>
              </a:rPr>
              <a:t>Ejemplo con universo $U={1,2,3,4,5}$:</a:t>
            </a:r>
          </a:p>
          <a:p>
            <a:r>
              <a:rPr lang="es-ES" sz="1200" b="0" i="0" kern="1200" dirty="0">
                <a:solidFill>
                  <a:schemeClr val="tx1"/>
                </a:solidFill>
                <a:effectLst/>
                <a:latin typeface="+mn-lt"/>
                <a:ea typeface="+mn-ea"/>
                <a:cs typeface="+mn-cs"/>
              </a:rPr>
              <a:t>$ A={1,4}, \</a:t>
            </a:r>
            <a:r>
              <a:rPr lang="es-ES" sz="1200" b="0" i="0" kern="1200" dirty="0" err="1">
                <a:solidFill>
                  <a:schemeClr val="tx1"/>
                </a:solidFill>
                <a:effectLst/>
                <a:latin typeface="+mn-lt"/>
                <a:ea typeface="+mn-ea"/>
                <a:cs typeface="+mn-cs"/>
              </a:rPr>
              <a:t>quad</a:t>
            </a:r>
            <a:r>
              <a:rPr lang="es-ES" sz="1200" b="0" i="0" kern="1200" dirty="0">
                <a:solidFill>
                  <a:schemeClr val="tx1"/>
                </a:solidFill>
                <a:effectLst/>
                <a:latin typeface="+mn-lt"/>
                <a:ea typeface="+mn-ea"/>
                <a:cs typeface="+mn-cs"/>
              </a:rPr>
              <a:t> </a:t>
            </a:r>
            <a:r>
              <a:rPr lang="es-ES" sz="1200" b="0" i="0" kern="1200" dirty="0" err="1">
                <a:solidFill>
                  <a:schemeClr val="tx1"/>
                </a:solidFill>
                <a:effectLst/>
                <a:latin typeface="+mn-lt"/>
                <a:ea typeface="+mn-ea"/>
                <a:cs typeface="+mn-cs"/>
              </a:rPr>
              <a:t>A^c</a:t>
            </a:r>
            <a:r>
              <a:rPr lang="es-ES" sz="1200" b="0" i="0" kern="1200" dirty="0">
                <a:solidFill>
                  <a:schemeClr val="tx1"/>
                </a:solidFill>
                <a:effectLst/>
                <a:latin typeface="+mn-lt"/>
                <a:ea typeface="+mn-ea"/>
                <a:cs typeface="+mn-cs"/>
              </a:rPr>
              <a:t> = {2,3,5} $</a:t>
            </a:r>
          </a:p>
          <a:p>
            <a:br>
              <a:rPr lang="es-ES" sz="1200" b="0" i="0" kern="1200" dirty="0">
                <a:solidFill>
                  <a:schemeClr val="tx1"/>
                </a:solidFill>
                <a:effectLst/>
                <a:latin typeface="+mn-lt"/>
                <a:ea typeface="+mn-ea"/>
                <a:cs typeface="+mn-cs"/>
              </a:rPr>
            </a:br>
            <a:endParaRPr lang="es-ES" sz="1200" b="0" i="0" kern="1200" dirty="0">
              <a:solidFill>
                <a:schemeClr val="tx1"/>
              </a:solidFill>
              <a:effectLst/>
              <a:latin typeface="+mn-lt"/>
              <a:ea typeface="+mn-ea"/>
              <a:cs typeface="+mn-cs"/>
            </a:endParaRPr>
          </a:p>
          <a:p>
            <a:r>
              <a:rPr lang="es-ES" sz="1200" b="1" i="0" kern="1200" dirty="0">
                <a:solidFill>
                  <a:schemeClr val="tx1"/>
                </a:solidFill>
                <a:effectLst/>
                <a:latin typeface="+mn-lt"/>
                <a:ea typeface="+mn-ea"/>
                <a:cs typeface="+mn-cs"/>
              </a:rPr>
              <a:t>4. Cardinalidad: “cuántos elementos hay”</a:t>
            </a:r>
          </a:p>
          <a:p>
            <a:r>
              <a:rPr lang="es-ES" sz="1200" b="0" i="0" kern="1200" dirty="0">
                <a:solidFill>
                  <a:schemeClr val="tx1"/>
                </a:solidFill>
                <a:effectLst/>
                <a:latin typeface="+mn-lt"/>
                <a:ea typeface="+mn-ea"/>
                <a:cs typeface="+mn-cs"/>
              </a:rPr>
              <a:t>El símbolo $|A|$ indica la </a:t>
            </a:r>
            <a:r>
              <a:rPr lang="es-ES" sz="1200" b="1" i="0" kern="1200" dirty="0">
                <a:solidFill>
                  <a:schemeClr val="tx1"/>
                </a:solidFill>
                <a:effectLst/>
                <a:latin typeface="+mn-lt"/>
                <a:ea typeface="+mn-ea"/>
                <a:cs typeface="+mn-cs"/>
              </a:rPr>
              <a:t>cardinalidad</a:t>
            </a:r>
            <a:r>
              <a:rPr lang="es-ES" sz="1200" b="0" i="0" kern="1200" dirty="0">
                <a:solidFill>
                  <a:schemeClr val="tx1"/>
                </a:solidFill>
                <a:effectLst/>
                <a:latin typeface="+mn-lt"/>
                <a:ea typeface="+mn-ea"/>
                <a:cs typeface="+mn-cs"/>
              </a:rPr>
              <a:t> (tamaño) del conjunto $A$.</a:t>
            </a:r>
          </a:p>
          <a:p>
            <a:r>
              <a:rPr lang="es-ES" sz="1200" b="0" i="0" kern="1200" dirty="0">
                <a:solidFill>
                  <a:schemeClr val="tx1"/>
                </a:solidFill>
                <a:effectLst/>
                <a:latin typeface="+mn-lt"/>
                <a:ea typeface="+mn-ea"/>
                <a:cs typeface="+mn-cs"/>
              </a:rPr>
              <a:t>Ejemplos:</a:t>
            </a:r>
          </a:p>
          <a:p>
            <a:r>
              <a:rPr lang="es-ES" sz="1200" b="0" i="0" kern="1200" dirty="0">
                <a:solidFill>
                  <a:schemeClr val="tx1"/>
                </a:solidFill>
                <a:effectLst/>
                <a:latin typeface="+mn-lt"/>
                <a:ea typeface="+mn-ea"/>
                <a:cs typeface="+mn-cs"/>
              </a:rPr>
              <a:t>$|A| = 3$ si $A={1,2,3} $</a:t>
            </a:r>
          </a:p>
          <a:p>
            <a:r>
              <a:rPr lang="es-ES" sz="1200" b="0" i="0" kern="1200" dirty="0">
                <a:solidFill>
                  <a:schemeClr val="tx1"/>
                </a:solidFill>
                <a:effectLst/>
                <a:latin typeface="+mn-lt"/>
                <a:ea typeface="+mn-ea"/>
                <a:cs typeface="+mn-cs"/>
              </a:rPr>
              <a:t>$|\</a:t>
            </a:r>
            <a:r>
              <a:rPr lang="es-ES" sz="1200" b="0" i="0" kern="1200" dirty="0" err="1">
                <a:solidFill>
                  <a:schemeClr val="tx1"/>
                </a:solidFill>
                <a:effectLst/>
                <a:latin typeface="+mn-lt"/>
                <a:ea typeface="+mn-ea"/>
                <a:cs typeface="+mn-cs"/>
              </a:rPr>
              <a:t>varnothing</a:t>
            </a:r>
            <a:r>
              <a:rPr lang="es-ES" sz="1200" b="0" i="0" kern="1200" dirty="0">
                <a:solidFill>
                  <a:schemeClr val="tx1"/>
                </a:solidFill>
                <a:effectLst/>
                <a:latin typeface="+mn-lt"/>
                <a:ea typeface="+mn-ea"/>
                <a:cs typeface="+mn-cs"/>
              </a:rPr>
              <a:t>| = 0$ para el conjunto vacío.</a:t>
            </a:r>
          </a:p>
          <a:p>
            <a:r>
              <a:rPr lang="es-ES" sz="1200" b="0" i="0" kern="1200" dirty="0">
                <a:solidFill>
                  <a:schemeClr val="tx1"/>
                </a:solidFill>
                <a:effectLst/>
                <a:latin typeface="+mn-lt"/>
                <a:ea typeface="+mn-ea"/>
                <a:cs typeface="+mn-cs"/>
              </a:rPr>
              <a:t>PIE trabaja </a:t>
            </a:r>
            <a:r>
              <a:rPr lang="es-ES" sz="1200" b="1" i="0" kern="1200" dirty="0">
                <a:solidFill>
                  <a:schemeClr val="tx1"/>
                </a:solidFill>
                <a:effectLst/>
                <a:latin typeface="+mn-lt"/>
                <a:ea typeface="+mn-ea"/>
                <a:cs typeface="+mn-cs"/>
              </a:rPr>
              <a:t>siempre</a:t>
            </a:r>
            <a:r>
              <a:rPr lang="es-ES" sz="1200" b="0" i="0" kern="1200" dirty="0">
                <a:solidFill>
                  <a:schemeClr val="tx1"/>
                </a:solidFill>
                <a:effectLst/>
                <a:latin typeface="+mn-lt"/>
                <a:ea typeface="+mn-ea"/>
                <a:cs typeface="+mn-cs"/>
              </a:rPr>
              <a:t> con cardinalidades:</a:t>
            </a:r>
          </a:p>
          <a:p>
            <a:r>
              <a:rPr lang="es-ES" sz="1200" b="0" i="0" kern="1200" dirty="0">
                <a:solidFill>
                  <a:schemeClr val="tx1"/>
                </a:solidFill>
                <a:effectLst/>
                <a:latin typeface="+mn-lt"/>
                <a:ea typeface="+mn-ea"/>
                <a:cs typeface="+mn-cs"/>
              </a:rPr>
              <a:t>$|A|$,</a:t>
            </a:r>
          </a:p>
          <a:p>
            <a:r>
              <a:rPr lang="es-ES" sz="1200" b="0" i="0" kern="1200" dirty="0">
                <a:solidFill>
                  <a:schemeClr val="tx1"/>
                </a:solidFill>
                <a:effectLst/>
                <a:latin typeface="+mn-lt"/>
                <a:ea typeface="+mn-ea"/>
                <a:cs typeface="+mn-cs"/>
              </a:rPr>
              <a:t>$|A\cup B|$,</a:t>
            </a:r>
          </a:p>
          <a:p>
            <a:r>
              <a:rPr lang="es-ES" sz="1200" b="0" i="0" kern="1200" dirty="0">
                <a:solidFill>
                  <a:schemeClr val="tx1"/>
                </a:solidFill>
                <a:effectLst/>
                <a:latin typeface="+mn-lt"/>
                <a:ea typeface="+mn-ea"/>
                <a:cs typeface="+mn-cs"/>
              </a:rPr>
              <a:t>$|A\</a:t>
            </a:r>
            <a:r>
              <a:rPr lang="es-ES" sz="1200" b="0" i="0" kern="1200" dirty="0" err="1">
                <a:solidFill>
                  <a:schemeClr val="tx1"/>
                </a:solidFill>
                <a:effectLst/>
                <a:latin typeface="+mn-lt"/>
                <a:ea typeface="+mn-ea"/>
                <a:cs typeface="+mn-cs"/>
              </a:rPr>
              <a:t>cap</a:t>
            </a:r>
            <a:r>
              <a:rPr lang="es-ES" sz="1200" b="0" i="0" kern="1200" dirty="0">
                <a:solidFill>
                  <a:schemeClr val="tx1"/>
                </a:solidFill>
                <a:effectLst/>
                <a:latin typeface="+mn-lt"/>
                <a:ea typeface="+mn-ea"/>
                <a:cs typeface="+mn-cs"/>
              </a:rPr>
              <a:t> B|$,</a:t>
            </a:r>
          </a:p>
          <a:p>
            <a:r>
              <a:rPr lang="es-ES" sz="1200" b="0" i="0" kern="1200" dirty="0">
                <a:solidFill>
                  <a:schemeClr val="tx1"/>
                </a:solidFill>
                <a:effectLst/>
                <a:latin typeface="+mn-lt"/>
                <a:ea typeface="+mn-ea"/>
                <a:cs typeface="+mn-cs"/>
              </a:rPr>
              <a:t>etc.</a:t>
            </a:r>
          </a:p>
          <a:p>
            <a:br>
              <a:rPr lang="es-ES" sz="1200" b="0" i="0" kern="1200" dirty="0">
                <a:solidFill>
                  <a:schemeClr val="tx1"/>
                </a:solidFill>
                <a:effectLst/>
                <a:latin typeface="+mn-lt"/>
                <a:ea typeface="+mn-ea"/>
                <a:cs typeface="+mn-cs"/>
              </a:rPr>
            </a:br>
            <a:endParaRPr lang="es-ES" sz="1200" b="0" i="0" kern="1200" dirty="0">
              <a:solidFill>
                <a:schemeClr val="tx1"/>
              </a:solidFill>
              <a:effectLst/>
              <a:latin typeface="+mn-lt"/>
              <a:ea typeface="+mn-ea"/>
              <a:cs typeface="+mn-cs"/>
            </a:endParaRPr>
          </a:p>
          <a:p>
            <a:r>
              <a:rPr lang="es-ES" sz="1200" b="1" i="0" kern="1200" dirty="0">
                <a:solidFill>
                  <a:schemeClr val="tx1"/>
                </a:solidFill>
                <a:effectLst/>
                <a:latin typeface="+mn-lt"/>
                <a:ea typeface="+mn-ea"/>
                <a:cs typeface="+mn-cs"/>
              </a:rPr>
              <a:t>5. El problema central: evitar contar dos veces</a:t>
            </a:r>
          </a:p>
          <a:p>
            <a:r>
              <a:rPr lang="es-ES" sz="1200" b="0" i="0" kern="1200" dirty="0">
                <a:solidFill>
                  <a:schemeClr val="tx1"/>
                </a:solidFill>
                <a:effectLst/>
                <a:latin typeface="+mn-lt"/>
                <a:ea typeface="+mn-ea"/>
                <a:cs typeface="+mn-cs"/>
              </a:rPr>
              <a:t>La razón por la que existe el principio de inclusión–exclusión es esta:</a:t>
            </a:r>
          </a:p>
          <a:p>
            <a:r>
              <a:rPr lang="es-ES" sz="1200" b="1" i="0" kern="1200" dirty="0">
                <a:solidFill>
                  <a:schemeClr val="tx1"/>
                </a:solidFill>
                <a:effectLst/>
                <a:latin typeface="+mn-lt"/>
                <a:ea typeface="+mn-ea"/>
                <a:cs typeface="+mn-cs"/>
              </a:rPr>
              <a:t>Cuando contamos elementos de varios conjuntos que se solapan, cometemos dobles conteos.</a:t>
            </a:r>
          </a:p>
          <a:p>
            <a:r>
              <a:rPr lang="es-ES" sz="1200" b="0" i="0" kern="1200" dirty="0">
                <a:solidFill>
                  <a:schemeClr val="tx1"/>
                </a:solidFill>
                <a:effectLst/>
                <a:latin typeface="+mn-lt"/>
                <a:ea typeface="+mn-ea"/>
                <a:cs typeface="+mn-cs"/>
              </a:rPr>
              <a:t>Ejemplo rápido:</a:t>
            </a:r>
            <a:br>
              <a:rPr lang="es-ES" sz="1200" b="0" i="0" kern="1200" dirty="0">
                <a:solidFill>
                  <a:schemeClr val="tx1"/>
                </a:solidFill>
                <a:effectLst/>
                <a:latin typeface="+mn-lt"/>
                <a:ea typeface="+mn-ea"/>
                <a:cs typeface="+mn-cs"/>
              </a:rPr>
            </a:br>
            <a:r>
              <a:rPr lang="es-ES" sz="1200" b="0" i="0" kern="1200" dirty="0">
                <a:solidFill>
                  <a:schemeClr val="tx1"/>
                </a:solidFill>
                <a:effectLst/>
                <a:latin typeface="+mn-lt"/>
                <a:ea typeface="+mn-ea"/>
                <a:cs typeface="+mn-cs"/>
              </a:rPr>
              <a:t>Si quieres contar cuántos números del 1 al 30 son </a:t>
            </a:r>
            <a:r>
              <a:rPr lang="es-ES" sz="1200" b="1" i="0" kern="1200" dirty="0">
                <a:solidFill>
                  <a:schemeClr val="tx1"/>
                </a:solidFill>
                <a:effectLst/>
                <a:latin typeface="+mn-lt"/>
                <a:ea typeface="+mn-ea"/>
                <a:cs typeface="+mn-cs"/>
              </a:rPr>
              <a:t>múltiplos de 3 o de 5</a:t>
            </a:r>
            <a:r>
              <a:rPr lang="es-ES" sz="1200" b="0" i="0" kern="1200" dirty="0">
                <a:solidFill>
                  <a:schemeClr val="tx1"/>
                </a:solidFill>
                <a:effectLst/>
                <a:latin typeface="+mn-lt"/>
                <a:ea typeface="+mn-ea"/>
                <a:cs typeface="+mn-cs"/>
              </a:rPr>
              <a:t>:</a:t>
            </a:r>
          </a:p>
          <a:p>
            <a:r>
              <a:rPr lang="es-ES" sz="1200" b="0" i="0" kern="1200" dirty="0">
                <a:solidFill>
                  <a:schemeClr val="tx1"/>
                </a:solidFill>
                <a:effectLst/>
                <a:latin typeface="+mn-lt"/>
                <a:ea typeface="+mn-ea"/>
                <a:cs typeface="+mn-cs"/>
              </a:rPr>
              <a:t>múltiplos de 3 son 10</a:t>
            </a:r>
          </a:p>
          <a:p>
            <a:r>
              <a:rPr lang="es-ES" sz="1200" b="0" i="0" kern="1200" dirty="0">
                <a:solidFill>
                  <a:schemeClr val="tx1"/>
                </a:solidFill>
                <a:effectLst/>
                <a:latin typeface="+mn-lt"/>
                <a:ea typeface="+mn-ea"/>
                <a:cs typeface="+mn-cs"/>
              </a:rPr>
              <a:t>múltiplos de 5 son 6</a:t>
            </a:r>
          </a:p>
          <a:p>
            <a:r>
              <a:rPr lang="es-ES" sz="1200" b="0" i="0" kern="1200" dirty="0">
                <a:solidFill>
                  <a:schemeClr val="tx1"/>
                </a:solidFill>
                <a:effectLst/>
                <a:latin typeface="+mn-lt"/>
                <a:ea typeface="+mn-ea"/>
                <a:cs typeface="+mn-cs"/>
              </a:rPr>
              <a:t>pero los múltiplos de los dos (15, 30) se cuentan dos veces</a:t>
            </a:r>
          </a:p>
          <a:p>
            <a:r>
              <a:rPr lang="es-ES" sz="1200" b="0" i="0" kern="1200" dirty="0">
                <a:solidFill>
                  <a:schemeClr val="tx1"/>
                </a:solidFill>
                <a:effectLst/>
                <a:latin typeface="+mn-lt"/>
                <a:ea typeface="+mn-ea"/>
                <a:cs typeface="+mn-cs"/>
              </a:rPr>
              <a:t>Por eso:</a:t>
            </a:r>
          </a:p>
          <a:p>
            <a:r>
              <a:rPr lang="es-ES" sz="1200" b="0" i="0" kern="1200" dirty="0">
                <a:solidFill>
                  <a:schemeClr val="tx1"/>
                </a:solidFill>
                <a:effectLst/>
                <a:latin typeface="+mn-lt"/>
                <a:ea typeface="+mn-ea"/>
                <a:cs typeface="+mn-cs"/>
              </a:rPr>
              <a:t>$ |A\cup B| = |A| + |B| - |A\</a:t>
            </a:r>
            <a:r>
              <a:rPr lang="es-ES" sz="1200" b="0" i="0" kern="1200" dirty="0" err="1">
                <a:solidFill>
                  <a:schemeClr val="tx1"/>
                </a:solidFill>
                <a:effectLst/>
                <a:latin typeface="+mn-lt"/>
                <a:ea typeface="+mn-ea"/>
                <a:cs typeface="+mn-cs"/>
              </a:rPr>
              <a:t>cap</a:t>
            </a:r>
            <a:r>
              <a:rPr lang="es-ES" sz="1200" b="0" i="0" kern="1200" dirty="0">
                <a:solidFill>
                  <a:schemeClr val="tx1"/>
                </a:solidFill>
                <a:effectLst/>
                <a:latin typeface="+mn-lt"/>
                <a:ea typeface="+mn-ea"/>
                <a:cs typeface="+mn-cs"/>
              </a:rPr>
              <a:t> B| $</a:t>
            </a:r>
          </a:p>
          <a:p>
            <a:r>
              <a:rPr lang="es-ES" sz="1200" b="0" i="0" kern="1200" dirty="0">
                <a:solidFill>
                  <a:schemeClr val="tx1"/>
                </a:solidFill>
                <a:effectLst/>
                <a:latin typeface="+mn-lt"/>
                <a:ea typeface="+mn-ea"/>
                <a:cs typeface="+mn-cs"/>
              </a:rPr>
              <a:t>Este es el </a:t>
            </a:r>
            <a:r>
              <a:rPr lang="es-ES" sz="1200" b="1" i="0" kern="1200" dirty="0">
                <a:solidFill>
                  <a:schemeClr val="tx1"/>
                </a:solidFill>
                <a:effectLst/>
                <a:latin typeface="+mn-lt"/>
                <a:ea typeface="+mn-ea"/>
                <a:cs typeface="+mn-cs"/>
              </a:rPr>
              <a:t>corazón</a:t>
            </a:r>
            <a:r>
              <a:rPr lang="es-ES" sz="1200" b="0" i="0" kern="1200" dirty="0">
                <a:solidFill>
                  <a:schemeClr val="tx1"/>
                </a:solidFill>
                <a:effectLst/>
                <a:latin typeface="+mn-lt"/>
                <a:ea typeface="+mn-ea"/>
                <a:cs typeface="+mn-cs"/>
              </a:rPr>
              <a:t> del principio.</a:t>
            </a:r>
          </a:p>
          <a:p>
            <a:br>
              <a:rPr lang="es-ES" sz="1200" b="0" i="0" kern="1200" dirty="0">
                <a:solidFill>
                  <a:schemeClr val="tx1"/>
                </a:solidFill>
                <a:effectLst/>
                <a:latin typeface="+mn-lt"/>
                <a:ea typeface="+mn-ea"/>
                <a:cs typeface="+mn-cs"/>
              </a:rPr>
            </a:br>
            <a:endParaRPr lang="es-ES" sz="1200" b="0" i="0" kern="1200" dirty="0">
              <a:solidFill>
                <a:schemeClr val="tx1"/>
              </a:solidFill>
              <a:effectLst/>
              <a:latin typeface="+mn-lt"/>
              <a:ea typeface="+mn-ea"/>
              <a:cs typeface="+mn-cs"/>
            </a:endParaRPr>
          </a:p>
          <a:p>
            <a:r>
              <a:rPr lang="es-ES" sz="1200" b="1" i="0" kern="1200" dirty="0">
                <a:solidFill>
                  <a:schemeClr val="tx1"/>
                </a:solidFill>
                <a:effectLst/>
                <a:latin typeface="+mn-lt"/>
                <a:ea typeface="+mn-ea"/>
                <a:cs typeface="+mn-cs"/>
              </a:rPr>
              <a:t>6. El principio de inclusión–exclusión (versión de 2 conjuntos)</a:t>
            </a:r>
          </a:p>
          <a:p>
            <a:r>
              <a:rPr lang="es-ES" sz="1200" b="0" i="0" kern="1200" dirty="0">
                <a:solidFill>
                  <a:schemeClr val="tx1"/>
                </a:solidFill>
                <a:effectLst/>
                <a:latin typeface="+mn-lt"/>
                <a:ea typeface="+mn-ea"/>
                <a:cs typeface="+mn-cs"/>
              </a:rPr>
              <a:t>Para dos conjuntos:</a:t>
            </a:r>
          </a:p>
          <a:p>
            <a:r>
              <a:rPr lang="es-ES" sz="1200" b="0" i="0" kern="1200" dirty="0">
                <a:solidFill>
                  <a:schemeClr val="tx1"/>
                </a:solidFill>
                <a:effectLst/>
                <a:latin typeface="+mn-lt"/>
                <a:ea typeface="+mn-ea"/>
                <a:cs typeface="+mn-cs"/>
              </a:rPr>
              <a:t>$ |A\cup B| = |A| + |B| - |A\</a:t>
            </a:r>
            <a:r>
              <a:rPr lang="es-ES" sz="1200" b="0" i="0" kern="1200" dirty="0" err="1">
                <a:solidFill>
                  <a:schemeClr val="tx1"/>
                </a:solidFill>
                <a:effectLst/>
                <a:latin typeface="+mn-lt"/>
                <a:ea typeface="+mn-ea"/>
                <a:cs typeface="+mn-cs"/>
              </a:rPr>
              <a:t>cap</a:t>
            </a:r>
            <a:r>
              <a:rPr lang="es-ES" sz="1200" b="0" i="0" kern="1200" dirty="0">
                <a:solidFill>
                  <a:schemeClr val="tx1"/>
                </a:solidFill>
                <a:effectLst/>
                <a:latin typeface="+mn-lt"/>
                <a:ea typeface="+mn-ea"/>
                <a:cs typeface="+mn-cs"/>
              </a:rPr>
              <a:t> B| $</a:t>
            </a:r>
          </a:p>
          <a:p>
            <a:r>
              <a:rPr lang="es-ES" sz="1200" b="0" i="0" kern="1200" dirty="0">
                <a:solidFill>
                  <a:schemeClr val="tx1"/>
                </a:solidFill>
                <a:effectLst/>
                <a:latin typeface="+mn-lt"/>
                <a:ea typeface="+mn-ea"/>
                <a:cs typeface="+mn-cs"/>
              </a:rPr>
              <a:t>Suma → resta el solapamiento → ya no hay </a:t>
            </a:r>
            <a:r>
              <a:rPr lang="es-ES" sz="1200" b="0" i="0" kern="1200" dirty="0" err="1">
                <a:solidFill>
                  <a:schemeClr val="tx1"/>
                </a:solidFill>
                <a:effectLst/>
                <a:latin typeface="+mn-lt"/>
                <a:ea typeface="+mn-ea"/>
                <a:cs typeface="+mn-cs"/>
              </a:rPr>
              <a:t>sobreconteo</a:t>
            </a:r>
            <a:r>
              <a:rPr lang="es-ES" sz="1200" b="0" i="0" kern="1200" dirty="0">
                <a:solidFill>
                  <a:schemeClr val="tx1"/>
                </a:solidFill>
                <a:effectLst/>
                <a:latin typeface="+mn-lt"/>
                <a:ea typeface="+mn-ea"/>
                <a:cs typeface="+mn-cs"/>
              </a:rPr>
              <a:t>.</a:t>
            </a:r>
          </a:p>
          <a:p>
            <a:br>
              <a:rPr lang="es-ES" sz="1200" b="0" i="0" kern="1200" dirty="0">
                <a:solidFill>
                  <a:schemeClr val="tx1"/>
                </a:solidFill>
                <a:effectLst/>
                <a:latin typeface="+mn-lt"/>
                <a:ea typeface="+mn-ea"/>
                <a:cs typeface="+mn-cs"/>
              </a:rPr>
            </a:br>
            <a:endParaRPr lang="es-ES" sz="1200" b="0" i="0" kern="1200" dirty="0">
              <a:solidFill>
                <a:schemeClr val="tx1"/>
              </a:solidFill>
              <a:effectLst/>
              <a:latin typeface="+mn-lt"/>
              <a:ea typeface="+mn-ea"/>
              <a:cs typeface="+mn-cs"/>
            </a:endParaRPr>
          </a:p>
          <a:p>
            <a:r>
              <a:rPr lang="es-ES" sz="1200" b="1" i="0" kern="1200" dirty="0">
                <a:solidFill>
                  <a:schemeClr val="tx1"/>
                </a:solidFill>
                <a:effectLst/>
                <a:latin typeface="+mn-lt"/>
                <a:ea typeface="+mn-ea"/>
                <a:cs typeface="+mn-cs"/>
              </a:rPr>
              <a:t>7. Para 3 conjuntos</a:t>
            </a:r>
          </a:p>
          <a:p>
            <a:r>
              <a:rPr lang="es-ES" sz="1200" b="0" i="0" kern="1200" dirty="0">
                <a:solidFill>
                  <a:schemeClr val="tx1"/>
                </a:solidFill>
                <a:effectLst/>
                <a:latin typeface="+mn-lt"/>
                <a:ea typeface="+mn-ea"/>
                <a:cs typeface="+mn-cs"/>
              </a:rPr>
              <a:t>$ |A\cup B\cup C| = |A| + |B| + |C|</a:t>
            </a:r>
          </a:p>
          <a:p>
            <a:r>
              <a:rPr lang="es-ES" sz="1200" b="0" i="0" kern="1200" dirty="0">
                <a:solidFill>
                  <a:schemeClr val="tx1"/>
                </a:solidFill>
                <a:effectLst/>
                <a:latin typeface="+mn-lt"/>
                <a:ea typeface="+mn-ea"/>
                <a:cs typeface="+mn-cs"/>
              </a:rPr>
              <a:t>|A\</a:t>
            </a:r>
            <a:r>
              <a:rPr lang="es-ES" sz="1200" b="0" i="0" kern="1200" dirty="0" err="1">
                <a:solidFill>
                  <a:schemeClr val="tx1"/>
                </a:solidFill>
                <a:effectLst/>
                <a:latin typeface="+mn-lt"/>
                <a:ea typeface="+mn-ea"/>
                <a:cs typeface="+mn-cs"/>
              </a:rPr>
              <a:t>cap</a:t>
            </a:r>
            <a:r>
              <a:rPr lang="es-ES" sz="1200" b="0" i="0" kern="1200" dirty="0">
                <a:solidFill>
                  <a:schemeClr val="tx1"/>
                </a:solidFill>
                <a:effectLst/>
                <a:latin typeface="+mn-lt"/>
                <a:ea typeface="+mn-ea"/>
                <a:cs typeface="+mn-cs"/>
              </a:rPr>
              <a:t> B| - |A\</a:t>
            </a:r>
            <a:r>
              <a:rPr lang="es-ES" sz="1200" b="0" i="0" kern="1200" dirty="0" err="1">
                <a:solidFill>
                  <a:schemeClr val="tx1"/>
                </a:solidFill>
                <a:effectLst/>
                <a:latin typeface="+mn-lt"/>
                <a:ea typeface="+mn-ea"/>
                <a:cs typeface="+mn-cs"/>
              </a:rPr>
              <a:t>cap</a:t>
            </a:r>
            <a:r>
              <a:rPr lang="es-ES" sz="1200" b="0" i="0" kern="1200" dirty="0">
                <a:solidFill>
                  <a:schemeClr val="tx1"/>
                </a:solidFill>
                <a:effectLst/>
                <a:latin typeface="+mn-lt"/>
                <a:ea typeface="+mn-ea"/>
                <a:cs typeface="+mn-cs"/>
              </a:rPr>
              <a:t> C| - |B\</a:t>
            </a:r>
            <a:r>
              <a:rPr lang="es-ES" sz="1200" b="0" i="0" kern="1200" dirty="0" err="1">
                <a:solidFill>
                  <a:schemeClr val="tx1"/>
                </a:solidFill>
                <a:effectLst/>
                <a:latin typeface="+mn-lt"/>
                <a:ea typeface="+mn-ea"/>
                <a:cs typeface="+mn-cs"/>
              </a:rPr>
              <a:t>cap</a:t>
            </a:r>
            <a:r>
              <a:rPr lang="es-ES" sz="1200" b="0" i="0" kern="1200" dirty="0">
                <a:solidFill>
                  <a:schemeClr val="tx1"/>
                </a:solidFill>
                <a:effectLst/>
                <a:latin typeface="+mn-lt"/>
                <a:ea typeface="+mn-ea"/>
                <a:cs typeface="+mn-cs"/>
              </a:rPr>
              <a:t> C|</a:t>
            </a:r>
          </a:p>
          <a:p>
            <a:r>
              <a:rPr lang="es-ES" sz="1200" b="0" i="0" kern="1200" dirty="0">
                <a:solidFill>
                  <a:schemeClr val="tx1"/>
                </a:solidFill>
                <a:effectLst/>
                <a:latin typeface="+mn-lt"/>
                <a:ea typeface="+mn-ea"/>
                <a:cs typeface="+mn-cs"/>
              </a:rPr>
              <a:t>|A\</a:t>
            </a:r>
            <a:r>
              <a:rPr lang="es-ES" sz="1200" b="0" i="0" kern="1200" dirty="0" err="1">
                <a:solidFill>
                  <a:schemeClr val="tx1"/>
                </a:solidFill>
                <a:effectLst/>
                <a:latin typeface="+mn-lt"/>
                <a:ea typeface="+mn-ea"/>
                <a:cs typeface="+mn-cs"/>
              </a:rPr>
              <a:t>cap</a:t>
            </a:r>
            <a:r>
              <a:rPr lang="es-ES" sz="1200" b="0" i="0" kern="1200" dirty="0">
                <a:solidFill>
                  <a:schemeClr val="tx1"/>
                </a:solidFill>
                <a:effectLst/>
                <a:latin typeface="+mn-lt"/>
                <a:ea typeface="+mn-ea"/>
                <a:cs typeface="+mn-cs"/>
              </a:rPr>
              <a:t> B\</a:t>
            </a:r>
            <a:r>
              <a:rPr lang="es-ES" sz="1200" b="0" i="0" kern="1200" dirty="0" err="1">
                <a:solidFill>
                  <a:schemeClr val="tx1"/>
                </a:solidFill>
                <a:effectLst/>
                <a:latin typeface="+mn-lt"/>
                <a:ea typeface="+mn-ea"/>
                <a:cs typeface="+mn-cs"/>
              </a:rPr>
              <a:t>cap</a:t>
            </a:r>
            <a:r>
              <a:rPr lang="es-ES" sz="1200" b="0" i="0" kern="1200" dirty="0">
                <a:solidFill>
                  <a:schemeClr val="tx1"/>
                </a:solidFill>
                <a:effectLst/>
                <a:latin typeface="+mn-lt"/>
                <a:ea typeface="+mn-ea"/>
                <a:cs typeface="+mn-cs"/>
              </a:rPr>
              <a:t> C| $</a:t>
            </a:r>
          </a:p>
          <a:p>
            <a:r>
              <a:rPr lang="es-ES" sz="1200" b="0" i="0" kern="1200" dirty="0">
                <a:solidFill>
                  <a:schemeClr val="tx1"/>
                </a:solidFill>
                <a:effectLst/>
                <a:latin typeface="+mn-lt"/>
                <a:ea typeface="+mn-ea"/>
                <a:cs typeface="+mn-cs"/>
              </a:rPr>
              <a:t>Fíjate en el patrón:</a:t>
            </a:r>
          </a:p>
          <a:p>
            <a:r>
              <a:rPr lang="es-ES" sz="1200" b="1" i="0" kern="1200" dirty="0">
                <a:solidFill>
                  <a:schemeClr val="tx1"/>
                </a:solidFill>
                <a:effectLst/>
                <a:latin typeface="+mn-lt"/>
                <a:ea typeface="+mn-ea"/>
                <a:cs typeface="+mn-cs"/>
              </a:rPr>
              <a:t>sumas</a:t>
            </a:r>
            <a:r>
              <a:rPr lang="es-ES" sz="1200" b="0" i="0" kern="1200" dirty="0">
                <a:solidFill>
                  <a:schemeClr val="tx1"/>
                </a:solidFill>
                <a:effectLst/>
                <a:latin typeface="+mn-lt"/>
                <a:ea typeface="+mn-ea"/>
                <a:cs typeface="+mn-cs"/>
              </a:rPr>
              <a:t> tamaños individuales,</a:t>
            </a:r>
          </a:p>
          <a:p>
            <a:r>
              <a:rPr lang="es-ES" sz="1200" b="1" i="0" kern="1200" dirty="0">
                <a:solidFill>
                  <a:schemeClr val="tx1"/>
                </a:solidFill>
                <a:effectLst/>
                <a:latin typeface="+mn-lt"/>
                <a:ea typeface="+mn-ea"/>
                <a:cs typeface="+mn-cs"/>
              </a:rPr>
              <a:t>restas</a:t>
            </a:r>
            <a:r>
              <a:rPr lang="es-ES" sz="1200" b="0" i="0" kern="1200" dirty="0">
                <a:solidFill>
                  <a:schemeClr val="tx1"/>
                </a:solidFill>
                <a:effectLst/>
                <a:latin typeface="+mn-lt"/>
                <a:ea typeface="+mn-ea"/>
                <a:cs typeface="+mn-cs"/>
              </a:rPr>
              <a:t> las intersecciones de 2,</a:t>
            </a:r>
          </a:p>
          <a:p>
            <a:r>
              <a:rPr lang="es-ES" sz="1200" b="1" i="0" kern="1200" dirty="0">
                <a:solidFill>
                  <a:schemeClr val="tx1"/>
                </a:solidFill>
                <a:effectLst/>
                <a:latin typeface="+mn-lt"/>
                <a:ea typeface="+mn-ea"/>
                <a:cs typeface="+mn-cs"/>
              </a:rPr>
              <a:t>sumas</a:t>
            </a:r>
            <a:r>
              <a:rPr lang="es-ES" sz="1200" b="0" i="0" kern="1200" dirty="0">
                <a:solidFill>
                  <a:schemeClr val="tx1"/>
                </a:solidFill>
                <a:effectLst/>
                <a:latin typeface="+mn-lt"/>
                <a:ea typeface="+mn-ea"/>
                <a:cs typeface="+mn-cs"/>
              </a:rPr>
              <a:t> las intersecciones de 3.</a:t>
            </a:r>
          </a:p>
          <a:p>
            <a:br>
              <a:rPr lang="es-ES" sz="1200" b="0" i="0" kern="1200" dirty="0">
                <a:solidFill>
                  <a:schemeClr val="tx1"/>
                </a:solidFill>
                <a:effectLst/>
                <a:latin typeface="+mn-lt"/>
                <a:ea typeface="+mn-ea"/>
                <a:cs typeface="+mn-cs"/>
              </a:rPr>
            </a:br>
            <a:endParaRPr lang="es-ES" sz="1200" b="0" i="0" kern="1200" dirty="0">
              <a:solidFill>
                <a:schemeClr val="tx1"/>
              </a:solidFill>
              <a:effectLst/>
              <a:latin typeface="+mn-lt"/>
              <a:ea typeface="+mn-ea"/>
              <a:cs typeface="+mn-cs"/>
            </a:endParaRPr>
          </a:p>
          <a:p>
            <a:r>
              <a:rPr lang="es-ES" sz="1200" b="1" i="0" kern="1200" dirty="0">
                <a:solidFill>
                  <a:schemeClr val="tx1"/>
                </a:solidFill>
                <a:effectLst/>
                <a:latin typeface="+mn-lt"/>
                <a:ea typeface="+mn-ea"/>
                <a:cs typeface="+mn-cs"/>
              </a:rPr>
              <a:t>8. La idea general</a:t>
            </a:r>
          </a:p>
          <a:p>
            <a:r>
              <a:rPr lang="es-ES" sz="1200" b="0" i="0" kern="1200" dirty="0">
                <a:solidFill>
                  <a:schemeClr val="tx1"/>
                </a:solidFill>
                <a:effectLst/>
                <a:latin typeface="+mn-lt"/>
                <a:ea typeface="+mn-ea"/>
                <a:cs typeface="+mn-cs"/>
              </a:rPr>
              <a:t>Para $n$ conjuntos se alternan </a:t>
            </a:r>
            <a:r>
              <a:rPr lang="es-ES" sz="1200" b="1" i="0" kern="1200" dirty="0">
                <a:solidFill>
                  <a:schemeClr val="tx1"/>
                </a:solidFill>
                <a:effectLst/>
                <a:latin typeface="+mn-lt"/>
                <a:ea typeface="+mn-ea"/>
                <a:cs typeface="+mn-cs"/>
              </a:rPr>
              <a:t>signos + y –</a:t>
            </a:r>
            <a:r>
              <a:rPr lang="es-ES" sz="1200" b="0" i="0" kern="1200" dirty="0">
                <a:solidFill>
                  <a:schemeClr val="tx1"/>
                </a:solidFill>
                <a:effectLst/>
                <a:latin typeface="+mn-lt"/>
                <a:ea typeface="+mn-ea"/>
                <a:cs typeface="+mn-cs"/>
              </a:rPr>
              <a:t>, sumando todas las intersecciones de 1, restando todas las de 2, sumando todas las de 3…</a:t>
            </a:r>
          </a:p>
          <a:p>
            <a:r>
              <a:rPr lang="es-ES" sz="1200" b="0" i="0" kern="1200" dirty="0">
                <a:solidFill>
                  <a:schemeClr val="tx1"/>
                </a:solidFill>
                <a:effectLst/>
                <a:latin typeface="+mn-lt"/>
                <a:ea typeface="+mn-ea"/>
                <a:cs typeface="+mn-cs"/>
              </a:rPr>
              <a:t>Es decir:</a:t>
            </a:r>
          </a:p>
          <a:p>
            <a:r>
              <a:rPr lang="es-ES" sz="1200" b="1" i="0" kern="1200" dirty="0">
                <a:solidFill>
                  <a:schemeClr val="tx1"/>
                </a:solidFill>
                <a:effectLst/>
                <a:latin typeface="+mn-lt"/>
                <a:ea typeface="+mn-ea"/>
                <a:cs typeface="+mn-cs"/>
              </a:rPr>
              <a:t>Incluyes</a:t>
            </a:r>
            <a:r>
              <a:rPr lang="es-ES" sz="1200" b="0" i="0" kern="1200" dirty="0">
                <a:solidFill>
                  <a:schemeClr val="tx1"/>
                </a:solidFill>
                <a:effectLst/>
                <a:latin typeface="+mn-lt"/>
                <a:ea typeface="+mn-ea"/>
                <a:cs typeface="+mn-cs"/>
              </a:rPr>
              <a:t> grupos con cardinalidad impar</a:t>
            </a:r>
          </a:p>
          <a:p>
            <a:r>
              <a:rPr lang="es-ES" sz="1200" b="1" i="0" kern="1200" dirty="0">
                <a:solidFill>
                  <a:schemeClr val="tx1"/>
                </a:solidFill>
                <a:effectLst/>
                <a:latin typeface="+mn-lt"/>
                <a:ea typeface="+mn-ea"/>
                <a:cs typeface="+mn-cs"/>
              </a:rPr>
              <a:t>Excluyes</a:t>
            </a:r>
            <a:r>
              <a:rPr lang="es-ES" sz="1200" b="0" i="0" kern="1200" dirty="0">
                <a:solidFill>
                  <a:schemeClr val="tx1"/>
                </a:solidFill>
                <a:effectLst/>
                <a:latin typeface="+mn-lt"/>
                <a:ea typeface="+mn-ea"/>
                <a:cs typeface="+mn-cs"/>
              </a:rPr>
              <a:t> grupos con cardinalidad par</a:t>
            </a:r>
          </a:p>
          <a:p>
            <a:r>
              <a:rPr lang="es-ES" sz="1200" b="0" i="0" kern="1200" dirty="0">
                <a:solidFill>
                  <a:schemeClr val="tx1"/>
                </a:solidFill>
                <a:effectLst/>
                <a:latin typeface="+mn-lt"/>
                <a:ea typeface="+mn-ea"/>
                <a:cs typeface="+mn-cs"/>
              </a:rPr>
              <a:t>De ahí el nombre </a:t>
            </a:r>
            <a:r>
              <a:rPr lang="es-ES" sz="1200" b="1" i="0" kern="1200" dirty="0">
                <a:solidFill>
                  <a:schemeClr val="tx1"/>
                </a:solidFill>
                <a:effectLst/>
                <a:latin typeface="+mn-lt"/>
                <a:ea typeface="+mn-ea"/>
                <a:cs typeface="+mn-cs"/>
              </a:rPr>
              <a:t>inclusión–exclusión</a:t>
            </a:r>
            <a:r>
              <a:rPr lang="es-ES" sz="1200" b="0" i="0" kern="1200" dirty="0">
                <a:solidFill>
                  <a:schemeClr val="tx1"/>
                </a:solidFill>
                <a:effectLst/>
                <a:latin typeface="+mn-lt"/>
                <a:ea typeface="+mn-ea"/>
                <a:cs typeface="+mn-cs"/>
              </a:rPr>
              <a:t>.</a:t>
            </a:r>
          </a:p>
          <a:p>
            <a:br>
              <a:rPr lang="es-ES" sz="1200" b="0" i="0" kern="1200" dirty="0">
                <a:solidFill>
                  <a:schemeClr val="tx1"/>
                </a:solidFill>
                <a:effectLst/>
                <a:latin typeface="+mn-lt"/>
                <a:ea typeface="+mn-ea"/>
                <a:cs typeface="+mn-cs"/>
              </a:rPr>
            </a:br>
            <a:endParaRPr lang="es-ES" sz="1200" b="0" i="0" kern="1200" dirty="0">
              <a:solidFill>
                <a:schemeClr val="tx1"/>
              </a:solidFill>
              <a:effectLst/>
              <a:latin typeface="+mn-lt"/>
              <a:ea typeface="+mn-ea"/>
              <a:cs typeface="+mn-cs"/>
            </a:endParaRPr>
          </a:p>
          <a:p>
            <a:r>
              <a:rPr lang="es-ES" sz="1200" b="1" i="0" kern="1200" dirty="0">
                <a:solidFill>
                  <a:schemeClr val="tx1"/>
                </a:solidFill>
                <a:effectLst/>
                <a:latin typeface="+mn-lt"/>
                <a:ea typeface="+mn-ea"/>
                <a:cs typeface="+mn-cs"/>
              </a:rPr>
              <a:t>9. Relación con teoría de cribas (por si lo quieres conectar)</a:t>
            </a:r>
          </a:p>
          <a:p>
            <a:r>
              <a:rPr lang="es-ES" sz="1200" b="0" i="0" kern="1200" dirty="0">
                <a:solidFill>
                  <a:schemeClr val="tx1"/>
                </a:solidFill>
                <a:effectLst/>
                <a:latin typeface="+mn-lt"/>
                <a:ea typeface="+mn-ea"/>
                <a:cs typeface="+mn-cs"/>
              </a:rPr>
              <a:t>El PIE es la base matemática de:</a:t>
            </a:r>
          </a:p>
          <a:p>
            <a:r>
              <a:rPr lang="es-ES" sz="1200" b="0" i="0" kern="1200" dirty="0">
                <a:solidFill>
                  <a:schemeClr val="tx1"/>
                </a:solidFill>
                <a:effectLst/>
                <a:latin typeface="+mn-lt"/>
                <a:ea typeface="+mn-ea"/>
                <a:cs typeface="+mn-cs"/>
              </a:rPr>
              <a:t>la </a:t>
            </a:r>
            <a:r>
              <a:rPr lang="es-ES" sz="1200" b="1" i="0" kern="1200" dirty="0">
                <a:solidFill>
                  <a:schemeClr val="tx1"/>
                </a:solidFill>
                <a:effectLst/>
                <a:latin typeface="+mn-lt"/>
                <a:ea typeface="+mn-ea"/>
                <a:cs typeface="+mn-cs"/>
              </a:rPr>
              <a:t>criba de Eratóstenes</a:t>
            </a:r>
            <a:r>
              <a:rPr lang="es-ES" sz="1200" b="0" i="0" kern="1200" dirty="0">
                <a:solidFill>
                  <a:schemeClr val="tx1"/>
                </a:solidFill>
                <a:effectLst/>
                <a:latin typeface="+mn-lt"/>
                <a:ea typeface="+mn-ea"/>
                <a:cs typeface="+mn-cs"/>
              </a:rPr>
              <a:t>,</a:t>
            </a:r>
          </a:p>
          <a:p>
            <a:r>
              <a:rPr lang="es-ES" sz="1200" b="0" i="0" kern="1200" dirty="0">
                <a:solidFill>
                  <a:schemeClr val="tx1"/>
                </a:solidFill>
                <a:effectLst/>
                <a:latin typeface="+mn-lt"/>
                <a:ea typeface="+mn-ea"/>
                <a:cs typeface="+mn-cs"/>
              </a:rPr>
              <a:t>los </a:t>
            </a:r>
            <a:r>
              <a:rPr lang="es-ES" sz="1200" b="1" i="0" kern="1200" dirty="0">
                <a:solidFill>
                  <a:schemeClr val="tx1"/>
                </a:solidFill>
                <a:effectLst/>
                <a:latin typeface="+mn-lt"/>
                <a:ea typeface="+mn-ea"/>
                <a:cs typeface="+mn-cs"/>
              </a:rPr>
              <a:t>métodos de Brun</a:t>
            </a:r>
            <a:r>
              <a:rPr lang="es-ES" sz="1200" b="0" i="0" kern="1200" dirty="0">
                <a:solidFill>
                  <a:schemeClr val="tx1"/>
                </a:solidFill>
                <a:effectLst/>
                <a:latin typeface="+mn-lt"/>
                <a:ea typeface="+mn-ea"/>
                <a:cs typeface="+mn-cs"/>
              </a:rPr>
              <a:t>,</a:t>
            </a:r>
          </a:p>
          <a:p>
            <a:r>
              <a:rPr lang="es-ES" sz="1200" b="0" i="0" kern="1200" dirty="0">
                <a:solidFill>
                  <a:schemeClr val="tx1"/>
                </a:solidFill>
                <a:effectLst/>
                <a:latin typeface="+mn-lt"/>
                <a:ea typeface="+mn-ea"/>
                <a:cs typeface="+mn-cs"/>
              </a:rPr>
              <a:t>la </a:t>
            </a:r>
            <a:r>
              <a:rPr lang="es-ES" sz="1200" b="1" i="0" kern="1200" dirty="0">
                <a:solidFill>
                  <a:schemeClr val="tx1"/>
                </a:solidFill>
                <a:effectLst/>
                <a:latin typeface="+mn-lt"/>
                <a:ea typeface="+mn-ea"/>
                <a:cs typeface="+mn-cs"/>
              </a:rPr>
              <a:t>criba lineal</a:t>
            </a:r>
            <a:r>
              <a:rPr lang="es-ES" sz="1200" b="0" i="0" kern="1200" dirty="0">
                <a:solidFill>
                  <a:schemeClr val="tx1"/>
                </a:solidFill>
                <a:effectLst/>
                <a:latin typeface="+mn-lt"/>
                <a:ea typeface="+mn-ea"/>
                <a:cs typeface="+mn-cs"/>
              </a:rPr>
              <a:t>,</a:t>
            </a:r>
          </a:p>
          <a:p>
            <a:r>
              <a:rPr lang="es-ES" sz="1200" b="0" i="0" kern="1200" dirty="0">
                <a:solidFill>
                  <a:schemeClr val="tx1"/>
                </a:solidFill>
                <a:effectLst/>
                <a:latin typeface="+mn-lt"/>
                <a:ea typeface="+mn-ea"/>
                <a:cs typeface="+mn-cs"/>
              </a:rPr>
              <a:t>y </a:t>
            </a:r>
            <a:r>
              <a:rPr lang="es-ES" sz="1200" b="0" i="1" kern="1200" dirty="0">
                <a:solidFill>
                  <a:schemeClr val="tx1"/>
                </a:solidFill>
                <a:effectLst/>
                <a:latin typeface="+mn-lt"/>
                <a:ea typeface="+mn-ea"/>
                <a:cs typeface="+mn-cs"/>
              </a:rPr>
              <a:t>todas</a:t>
            </a:r>
            <a:r>
              <a:rPr lang="es-ES" sz="1200" b="0" i="0" kern="1200" dirty="0">
                <a:solidFill>
                  <a:schemeClr val="tx1"/>
                </a:solidFill>
                <a:effectLst/>
                <a:latin typeface="+mn-lt"/>
                <a:ea typeface="+mn-ea"/>
                <a:cs typeface="+mn-cs"/>
              </a:rPr>
              <a:t> las cribas modernas (incluida la que tú has llamado </a:t>
            </a:r>
            <a:r>
              <a:rPr lang="es-ES" sz="1200" b="1" i="0" kern="1200" dirty="0">
                <a:solidFill>
                  <a:schemeClr val="tx1"/>
                </a:solidFill>
                <a:effectLst/>
                <a:latin typeface="+mn-lt"/>
                <a:ea typeface="+mn-ea"/>
                <a:cs typeface="+mn-cs"/>
              </a:rPr>
              <a:t>“</a:t>
            </a:r>
            <a:r>
              <a:rPr lang="es-ES" sz="1200" b="1" i="0" kern="1200" dirty="0" err="1">
                <a:solidFill>
                  <a:schemeClr val="tx1"/>
                </a:solidFill>
                <a:effectLst/>
                <a:latin typeface="+mn-lt"/>
                <a:ea typeface="+mn-ea"/>
                <a:cs typeface="+mn-cs"/>
              </a:rPr>
              <a:t>Criva</a:t>
            </a:r>
            <a:r>
              <a:rPr lang="es-ES" sz="1200" b="1" i="0" kern="1200" dirty="0">
                <a:solidFill>
                  <a:schemeClr val="tx1"/>
                </a:solidFill>
                <a:effectLst/>
                <a:latin typeface="+mn-lt"/>
                <a:ea typeface="+mn-ea"/>
                <a:cs typeface="+mn-cs"/>
              </a:rPr>
              <a:t>”</a:t>
            </a:r>
            <a:r>
              <a:rPr lang="es-ES" sz="1200" b="0" i="0" kern="1200" dirty="0">
                <a:solidFill>
                  <a:schemeClr val="tx1"/>
                </a:solidFill>
                <a:effectLst/>
                <a:latin typeface="+mn-lt"/>
                <a:ea typeface="+mn-ea"/>
                <a:cs typeface="+mn-cs"/>
              </a:rPr>
              <a:t>, tu medidor de densidades).</a:t>
            </a:r>
          </a:p>
          <a:p>
            <a:r>
              <a:rPr lang="es-ES" sz="1200" b="0" i="0" kern="1200" dirty="0">
                <a:solidFill>
                  <a:schemeClr val="tx1"/>
                </a:solidFill>
                <a:effectLst/>
                <a:latin typeface="+mn-lt"/>
                <a:ea typeface="+mn-ea"/>
                <a:cs typeface="+mn-cs"/>
              </a:rPr>
              <a:t>La lógica es siempre:</a:t>
            </a:r>
          </a:p>
          <a:p>
            <a:r>
              <a:rPr lang="es-ES" sz="1200" b="0" i="0" kern="1200" dirty="0">
                <a:solidFill>
                  <a:schemeClr val="tx1"/>
                </a:solidFill>
                <a:effectLst/>
                <a:latin typeface="+mn-lt"/>
                <a:ea typeface="+mn-ea"/>
                <a:cs typeface="+mn-cs"/>
              </a:rPr>
              <a:t>marcar números que cumplen propiedades,</a:t>
            </a:r>
          </a:p>
          <a:p>
            <a:r>
              <a:rPr lang="es-ES" sz="1200" b="0" i="0" kern="1200" dirty="0">
                <a:solidFill>
                  <a:schemeClr val="tx1"/>
                </a:solidFill>
                <a:effectLst/>
                <a:latin typeface="+mn-lt"/>
                <a:ea typeface="+mn-ea"/>
                <a:cs typeface="+mn-cs"/>
              </a:rPr>
              <a:t>evitar </a:t>
            </a:r>
            <a:r>
              <a:rPr lang="es-ES" sz="1200" b="0" i="0" kern="1200" dirty="0" err="1">
                <a:solidFill>
                  <a:schemeClr val="tx1"/>
                </a:solidFill>
                <a:effectLst/>
                <a:latin typeface="+mn-lt"/>
                <a:ea typeface="+mn-ea"/>
                <a:cs typeface="+mn-cs"/>
              </a:rPr>
              <a:t>sobrecontar</a:t>
            </a:r>
            <a:r>
              <a:rPr lang="es-ES" sz="1200" b="0" i="0" kern="1200" dirty="0">
                <a:solidFill>
                  <a:schemeClr val="tx1"/>
                </a:solidFill>
                <a:effectLst/>
                <a:latin typeface="+mn-lt"/>
                <a:ea typeface="+mn-ea"/>
                <a:cs typeface="+mn-cs"/>
              </a:rPr>
              <a:t> los que cumplen </a:t>
            </a:r>
            <a:r>
              <a:rPr lang="es-ES" sz="1200" b="0" i="1" kern="1200" dirty="0">
                <a:solidFill>
                  <a:schemeClr val="tx1"/>
                </a:solidFill>
                <a:effectLst/>
                <a:latin typeface="+mn-lt"/>
                <a:ea typeface="+mn-ea"/>
                <a:cs typeface="+mn-cs"/>
              </a:rPr>
              <a:t>varias</a:t>
            </a:r>
            <a:r>
              <a:rPr lang="es-ES" sz="1200" b="0" i="0" kern="1200" dirty="0">
                <a:solidFill>
                  <a:schemeClr val="tx1"/>
                </a:solidFill>
                <a:effectLst/>
                <a:latin typeface="+mn-lt"/>
                <a:ea typeface="+mn-ea"/>
                <a:cs typeface="+mn-cs"/>
              </a:rPr>
              <a:t>,</a:t>
            </a:r>
          </a:p>
          <a:p>
            <a:r>
              <a:rPr lang="es-ES" sz="1200" b="0" i="0" kern="1200" dirty="0">
                <a:solidFill>
                  <a:schemeClr val="tx1"/>
                </a:solidFill>
                <a:effectLst/>
                <a:latin typeface="+mn-lt"/>
                <a:ea typeface="+mn-ea"/>
                <a:cs typeface="+mn-cs"/>
              </a:rPr>
              <a:t>ajustar la densidad real usando alternancia +/–.</a:t>
            </a:r>
          </a:p>
          <a:p>
            <a:r>
              <a:rPr lang="es-ES" sz="1200" b="0" i="0" kern="1200" dirty="0">
                <a:solidFill>
                  <a:schemeClr val="tx1"/>
                </a:solidFill>
                <a:effectLst/>
                <a:latin typeface="+mn-lt"/>
                <a:ea typeface="+mn-ea"/>
                <a:cs typeface="+mn-cs"/>
              </a:rPr>
              <a:t>Es literalmente el “ADN” de toda criba.</a:t>
            </a:r>
          </a:p>
          <a:p>
            <a:br>
              <a:rPr lang="es-ES" sz="1200" b="0" i="0" kern="1200" dirty="0">
                <a:solidFill>
                  <a:schemeClr val="tx1"/>
                </a:solidFill>
                <a:effectLst/>
                <a:latin typeface="+mn-lt"/>
                <a:ea typeface="+mn-ea"/>
                <a:cs typeface="+mn-cs"/>
              </a:rPr>
            </a:br>
            <a:endParaRPr lang="es-ES" sz="1200" b="0" i="0" kern="1200" dirty="0">
              <a:solidFill>
                <a:schemeClr val="tx1"/>
              </a:solidFill>
              <a:effectLst/>
              <a:latin typeface="+mn-lt"/>
              <a:ea typeface="+mn-ea"/>
              <a:cs typeface="+mn-cs"/>
            </a:endParaRPr>
          </a:p>
          <a:p>
            <a:r>
              <a:rPr lang="es-ES" sz="1200" b="1" i="0" kern="1200" dirty="0">
                <a:solidFill>
                  <a:schemeClr val="tx1"/>
                </a:solidFill>
                <a:effectLst/>
                <a:latin typeface="+mn-lt"/>
                <a:ea typeface="+mn-ea"/>
                <a:cs typeface="+mn-cs"/>
              </a:rPr>
              <a:t>¿Quieres ahora que te escriba el principio de inclusión–exclusión completo con ejemplos, diagramas o aplicado a primos (Sophie Germain, 6k±1, densidades L4\L2, etc.)?</a:t>
            </a:r>
          </a:p>
          <a:p>
            <a:endParaRPr lang="es-ES" dirty="0"/>
          </a:p>
        </p:txBody>
      </p:sp>
      <p:sp>
        <p:nvSpPr>
          <p:cNvPr id="4" name="Marcador de número de diapositiva 3"/>
          <p:cNvSpPr>
            <a:spLocks noGrp="1"/>
          </p:cNvSpPr>
          <p:nvPr>
            <p:ph type="sldNum" sz="quarter" idx="5"/>
          </p:nvPr>
        </p:nvSpPr>
        <p:spPr/>
        <p:txBody>
          <a:bodyPr/>
          <a:lstStyle/>
          <a:p>
            <a:fld id="{98D70127-EE0F-4E6E-BC66-ABB9CC793D37}" type="slidenum">
              <a:rPr lang="es-ES" smtClean="0"/>
              <a:t>2</a:t>
            </a:fld>
            <a:endParaRPr lang="es-ES"/>
          </a:p>
        </p:txBody>
      </p:sp>
    </p:spTree>
    <p:extLst>
      <p:ext uri="{BB962C8B-B14F-4D97-AF65-F5344CB8AC3E}">
        <p14:creationId xmlns:p14="http://schemas.microsoft.com/office/powerpoint/2010/main" val="24283254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sz="1200" b="0" i="0" kern="1200" dirty="0">
                <a:solidFill>
                  <a:schemeClr val="tx1"/>
                </a:solidFill>
                <a:effectLst/>
                <a:latin typeface="+mn-lt"/>
                <a:ea typeface="+mn-ea"/>
                <a:cs typeface="+mn-cs"/>
              </a:rPr>
              <a:t>Perfecte, Víctor. </a:t>
            </a:r>
            <a:r>
              <a:rPr lang="es-ES" sz="1200" b="0" i="0" kern="1200" dirty="0" err="1">
                <a:solidFill>
                  <a:schemeClr val="tx1"/>
                </a:solidFill>
                <a:effectLst/>
                <a:latin typeface="+mn-lt"/>
                <a:ea typeface="+mn-ea"/>
                <a:cs typeface="+mn-cs"/>
              </a:rPr>
              <a:t>Ací</a:t>
            </a:r>
            <a:r>
              <a:rPr lang="es-ES" sz="1200" b="0" i="0" kern="1200" dirty="0">
                <a:solidFill>
                  <a:schemeClr val="tx1"/>
                </a:solidFill>
                <a:effectLst/>
                <a:latin typeface="+mn-lt"/>
                <a:ea typeface="+mn-ea"/>
                <a:cs typeface="+mn-cs"/>
              </a:rPr>
              <a:t> </a:t>
            </a:r>
            <a:r>
              <a:rPr lang="es-ES" sz="1200" b="0" i="0" kern="1200" dirty="0" err="1">
                <a:solidFill>
                  <a:schemeClr val="tx1"/>
                </a:solidFill>
                <a:effectLst/>
                <a:latin typeface="+mn-lt"/>
                <a:ea typeface="+mn-ea"/>
                <a:cs typeface="+mn-cs"/>
              </a:rPr>
              <a:t>tens</a:t>
            </a:r>
            <a:r>
              <a:rPr lang="es-ES" sz="1200" b="0" i="0" kern="1200" dirty="0">
                <a:solidFill>
                  <a:schemeClr val="tx1"/>
                </a:solidFill>
                <a:effectLst/>
                <a:latin typeface="+mn-lt"/>
                <a:ea typeface="+mn-ea"/>
                <a:cs typeface="+mn-cs"/>
              </a:rPr>
              <a:t> una </a:t>
            </a:r>
            <a:r>
              <a:rPr lang="es-ES" sz="1200" b="0" i="0" kern="1200" dirty="0" err="1">
                <a:solidFill>
                  <a:schemeClr val="tx1"/>
                </a:solidFill>
                <a:effectLst/>
                <a:latin typeface="+mn-lt"/>
                <a:ea typeface="+mn-ea"/>
                <a:cs typeface="+mn-cs"/>
              </a:rPr>
              <a:t>explicació</a:t>
            </a:r>
            <a:r>
              <a:rPr lang="es-ES" sz="1200" b="0" i="0" kern="1200" dirty="0">
                <a:solidFill>
                  <a:schemeClr val="tx1"/>
                </a:solidFill>
                <a:effectLst/>
                <a:latin typeface="+mn-lt"/>
                <a:ea typeface="+mn-ea"/>
                <a:cs typeface="+mn-cs"/>
              </a:rPr>
              <a:t> </a:t>
            </a:r>
            <a:r>
              <a:rPr lang="es-ES" sz="1200" b="1" i="0" kern="1200" dirty="0">
                <a:solidFill>
                  <a:schemeClr val="tx1"/>
                </a:solidFill>
                <a:effectLst/>
                <a:latin typeface="+mn-lt"/>
                <a:ea typeface="+mn-ea"/>
                <a:cs typeface="+mn-cs"/>
              </a:rPr>
              <a:t>completa, directa i útil</a:t>
            </a:r>
            <a:r>
              <a:rPr lang="es-ES" sz="1200" b="0" i="0" kern="1200" dirty="0">
                <a:solidFill>
                  <a:schemeClr val="tx1"/>
                </a:solidFill>
                <a:effectLst/>
                <a:latin typeface="+mn-lt"/>
                <a:ea typeface="+mn-ea"/>
                <a:cs typeface="+mn-cs"/>
              </a:rPr>
              <a:t> del </a:t>
            </a:r>
            <a:r>
              <a:rPr lang="es-ES" sz="1200" b="1" i="0" kern="1200" dirty="0" err="1">
                <a:solidFill>
                  <a:schemeClr val="tx1"/>
                </a:solidFill>
                <a:effectLst/>
                <a:latin typeface="+mn-lt"/>
                <a:ea typeface="+mn-ea"/>
                <a:cs typeface="+mn-cs"/>
              </a:rPr>
              <a:t>Principi</a:t>
            </a:r>
            <a:r>
              <a:rPr lang="es-ES" sz="1200" b="1" i="0" kern="1200" dirty="0">
                <a:solidFill>
                  <a:schemeClr val="tx1"/>
                </a:solidFill>
                <a:effectLst/>
                <a:latin typeface="+mn-lt"/>
                <a:ea typeface="+mn-ea"/>
                <a:cs typeface="+mn-cs"/>
              </a:rPr>
              <a:t> </a:t>
            </a:r>
            <a:r>
              <a:rPr lang="es-ES" sz="1200" b="1" i="0" kern="1200" dirty="0" err="1">
                <a:solidFill>
                  <a:schemeClr val="tx1"/>
                </a:solidFill>
                <a:effectLst/>
                <a:latin typeface="+mn-lt"/>
                <a:ea typeface="+mn-ea"/>
                <a:cs typeface="+mn-cs"/>
              </a:rPr>
              <a:t>d’Inclusió</a:t>
            </a:r>
            <a:r>
              <a:rPr lang="es-ES" sz="1200" b="1" i="0" kern="1200" dirty="0">
                <a:solidFill>
                  <a:schemeClr val="tx1"/>
                </a:solidFill>
                <a:effectLst/>
                <a:latin typeface="+mn-lt"/>
                <a:ea typeface="+mn-ea"/>
                <a:cs typeface="+mn-cs"/>
              </a:rPr>
              <a:t>–</a:t>
            </a:r>
            <a:r>
              <a:rPr lang="es-ES" sz="1200" b="1" i="0" kern="1200" dirty="0" err="1">
                <a:solidFill>
                  <a:schemeClr val="tx1"/>
                </a:solidFill>
                <a:effectLst/>
                <a:latin typeface="+mn-lt"/>
                <a:ea typeface="+mn-ea"/>
                <a:cs typeface="+mn-cs"/>
              </a:rPr>
              <a:t>Exclusió</a:t>
            </a:r>
            <a:r>
              <a:rPr lang="es-ES" sz="1200" b="1" i="0" kern="1200" dirty="0">
                <a:solidFill>
                  <a:schemeClr val="tx1"/>
                </a:solidFill>
                <a:effectLst/>
                <a:latin typeface="+mn-lt"/>
                <a:ea typeface="+mn-ea"/>
                <a:cs typeface="+mn-cs"/>
              </a:rPr>
              <a:t> (PIE)</a:t>
            </a:r>
            <a:r>
              <a:rPr lang="es-ES" sz="1200" b="0" i="0" kern="1200" dirty="0">
                <a:solidFill>
                  <a:schemeClr val="tx1"/>
                </a:solidFill>
                <a:effectLst/>
                <a:latin typeface="+mn-lt"/>
                <a:ea typeface="+mn-ea"/>
                <a:cs typeface="+mn-cs"/>
              </a:rPr>
              <a:t>, </a:t>
            </a:r>
            <a:r>
              <a:rPr lang="es-ES" sz="1200" b="0" i="0" kern="1200" dirty="0" err="1">
                <a:solidFill>
                  <a:schemeClr val="tx1"/>
                </a:solidFill>
                <a:effectLst/>
                <a:latin typeface="+mn-lt"/>
                <a:ea typeface="+mn-ea"/>
                <a:cs typeface="+mn-cs"/>
              </a:rPr>
              <a:t>amb</a:t>
            </a:r>
            <a:r>
              <a:rPr lang="es-ES" sz="1200" b="0" i="0" kern="1200" dirty="0">
                <a:solidFill>
                  <a:schemeClr val="tx1"/>
                </a:solidFill>
                <a:effectLst/>
                <a:latin typeface="+mn-lt"/>
                <a:ea typeface="+mn-ea"/>
                <a:cs typeface="+mn-cs"/>
              </a:rPr>
              <a:t> la </a:t>
            </a:r>
            <a:r>
              <a:rPr lang="es-ES" sz="1200" b="0" i="0" kern="1200" dirty="0" err="1">
                <a:solidFill>
                  <a:schemeClr val="tx1"/>
                </a:solidFill>
                <a:effectLst/>
                <a:latin typeface="+mn-lt"/>
                <a:ea typeface="+mn-ea"/>
                <a:cs typeface="+mn-cs"/>
              </a:rPr>
              <a:t>versió</a:t>
            </a:r>
            <a:r>
              <a:rPr lang="es-ES" sz="1200" b="0" i="0" kern="1200" dirty="0">
                <a:solidFill>
                  <a:schemeClr val="tx1"/>
                </a:solidFill>
                <a:effectLst/>
                <a:latin typeface="+mn-lt"/>
                <a:ea typeface="+mn-ea"/>
                <a:cs typeface="+mn-cs"/>
              </a:rPr>
              <a:t> general i </a:t>
            </a:r>
            <a:r>
              <a:rPr lang="es-ES" sz="1200" b="0" i="0" kern="1200" dirty="0" err="1">
                <a:solidFill>
                  <a:schemeClr val="tx1"/>
                </a:solidFill>
                <a:effectLst/>
                <a:latin typeface="+mn-lt"/>
                <a:ea typeface="+mn-ea"/>
                <a:cs typeface="+mn-cs"/>
              </a:rPr>
              <a:t>exemples</a:t>
            </a:r>
            <a:r>
              <a:rPr lang="es-ES" sz="1200" b="0" i="0" kern="1200" dirty="0">
                <a:solidFill>
                  <a:schemeClr val="tx1"/>
                </a:solidFill>
                <a:effectLst/>
                <a:latin typeface="+mn-lt"/>
                <a:ea typeface="+mn-ea"/>
                <a:cs typeface="+mn-cs"/>
              </a:rPr>
              <a:t> </a:t>
            </a:r>
            <a:r>
              <a:rPr lang="es-ES" sz="1200" b="0" i="0" kern="1200" dirty="0" err="1">
                <a:solidFill>
                  <a:schemeClr val="tx1"/>
                </a:solidFill>
                <a:effectLst/>
                <a:latin typeface="+mn-lt"/>
                <a:ea typeface="+mn-ea"/>
                <a:cs typeface="+mn-cs"/>
              </a:rPr>
              <a:t>clars</a:t>
            </a:r>
            <a:r>
              <a:rPr lang="es-ES" sz="1200" b="0" i="0" kern="1200" dirty="0">
                <a:solidFill>
                  <a:schemeClr val="tx1"/>
                </a:solidFill>
                <a:effectLst/>
                <a:latin typeface="+mn-lt"/>
                <a:ea typeface="+mn-ea"/>
                <a:cs typeface="+mn-cs"/>
              </a:rPr>
              <a:t>.</a:t>
            </a:r>
            <a:br>
              <a:rPr lang="es-ES" sz="1200" b="0" i="0" kern="1200" dirty="0">
                <a:solidFill>
                  <a:schemeClr val="tx1"/>
                </a:solidFill>
                <a:effectLst/>
                <a:latin typeface="+mn-lt"/>
                <a:ea typeface="+mn-ea"/>
                <a:cs typeface="+mn-cs"/>
              </a:rPr>
            </a:br>
            <a:r>
              <a:rPr lang="es-ES" sz="1200" b="0" i="0" kern="1200" dirty="0" err="1">
                <a:solidFill>
                  <a:schemeClr val="tx1"/>
                </a:solidFill>
                <a:effectLst/>
                <a:latin typeface="+mn-lt"/>
                <a:ea typeface="+mn-ea"/>
                <a:cs typeface="+mn-cs"/>
              </a:rPr>
              <a:t>Està</a:t>
            </a:r>
            <a:r>
              <a:rPr lang="es-ES" sz="1200" b="0" i="0" kern="1200" dirty="0">
                <a:solidFill>
                  <a:schemeClr val="tx1"/>
                </a:solidFill>
                <a:effectLst/>
                <a:latin typeface="+mn-lt"/>
                <a:ea typeface="+mn-ea"/>
                <a:cs typeface="+mn-cs"/>
              </a:rPr>
              <a:t> </a:t>
            </a:r>
            <a:r>
              <a:rPr lang="es-ES" sz="1200" b="0" i="0" kern="1200" dirty="0" err="1">
                <a:solidFill>
                  <a:schemeClr val="tx1"/>
                </a:solidFill>
                <a:effectLst/>
                <a:latin typeface="+mn-lt"/>
                <a:ea typeface="+mn-ea"/>
                <a:cs typeface="+mn-cs"/>
              </a:rPr>
              <a:t>escrit</a:t>
            </a:r>
            <a:r>
              <a:rPr lang="es-ES" sz="1200" b="0" i="0" kern="1200" dirty="0">
                <a:solidFill>
                  <a:schemeClr val="tx1"/>
                </a:solidFill>
                <a:effectLst/>
                <a:latin typeface="+mn-lt"/>
                <a:ea typeface="+mn-ea"/>
                <a:cs typeface="+mn-cs"/>
              </a:rPr>
              <a:t> </a:t>
            </a:r>
            <a:r>
              <a:rPr lang="es-ES" sz="1200" b="0" i="0" kern="1200" dirty="0" err="1">
                <a:solidFill>
                  <a:schemeClr val="tx1"/>
                </a:solidFill>
                <a:effectLst/>
                <a:latin typeface="+mn-lt"/>
                <a:ea typeface="+mn-ea"/>
                <a:cs typeface="+mn-cs"/>
              </a:rPr>
              <a:t>pensant</a:t>
            </a:r>
            <a:r>
              <a:rPr lang="es-ES" sz="1200" b="0" i="0" kern="1200" dirty="0">
                <a:solidFill>
                  <a:schemeClr val="tx1"/>
                </a:solidFill>
                <a:effectLst/>
                <a:latin typeface="+mn-lt"/>
                <a:ea typeface="+mn-ea"/>
                <a:cs typeface="+mn-cs"/>
              </a:rPr>
              <a:t> en </a:t>
            </a:r>
            <a:r>
              <a:rPr lang="es-ES" sz="1200" b="0" i="0" kern="1200" dirty="0" err="1">
                <a:solidFill>
                  <a:schemeClr val="tx1"/>
                </a:solidFill>
                <a:effectLst/>
                <a:latin typeface="+mn-lt"/>
                <a:ea typeface="+mn-ea"/>
                <a:cs typeface="+mn-cs"/>
              </a:rPr>
              <a:t>matemàtica</a:t>
            </a:r>
            <a:r>
              <a:rPr lang="es-ES" sz="1200" b="0" i="0" kern="1200" dirty="0">
                <a:solidFill>
                  <a:schemeClr val="tx1"/>
                </a:solidFill>
                <a:effectLst/>
                <a:latin typeface="+mn-lt"/>
                <a:ea typeface="+mn-ea"/>
                <a:cs typeface="+mn-cs"/>
              </a:rPr>
              <a:t> real, no en </a:t>
            </a:r>
            <a:r>
              <a:rPr lang="es-ES" sz="1200" b="0" i="0" kern="1200" dirty="0" err="1">
                <a:solidFill>
                  <a:schemeClr val="tx1"/>
                </a:solidFill>
                <a:effectLst/>
                <a:latin typeface="+mn-lt"/>
                <a:ea typeface="+mn-ea"/>
                <a:cs typeface="+mn-cs"/>
              </a:rPr>
              <a:t>definicions</a:t>
            </a:r>
            <a:r>
              <a:rPr lang="es-ES" sz="1200" b="0" i="0" kern="1200" dirty="0">
                <a:solidFill>
                  <a:schemeClr val="tx1"/>
                </a:solidFill>
                <a:effectLst/>
                <a:latin typeface="+mn-lt"/>
                <a:ea typeface="+mn-ea"/>
                <a:cs typeface="+mn-cs"/>
              </a:rPr>
              <a:t> de </a:t>
            </a:r>
            <a:r>
              <a:rPr lang="es-ES" sz="1200" b="0" i="0" kern="1200" dirty="0" err="1">
                <a:solidFill>
                  <a:schemeClr val="tx1"/>
                </a:solidFill>
                <a:effectLst/>
                <a:latin typeface="+mn-lt"/>
                <a:ea typeface="+mn-ea"/>
                <a:cs typeface="+mn-cs"/>
              </a:rPr>
              <a:t>llibre</a:t>
            </a:r>
            <a:r>
              <a:rPr lang="es-ES" sz="1200" b="0" i="0" kern="1200" dirty="0">
                <a:solidFill>
                  <a:schemeClr val="tx1"/>
                </a:solidFill>
                <a:effectLst/>
                <a:latin typeface="+mn-lt"/>
                <a:ea typeface="+mn-ea"/>
                <a:cs typeface="+mn-cs"/>
              </a:rPr>
              <a:t>.</a:t>
            </a:r>
          </a:p>
          <a:p>
            <a:br>
              <a:rPr lang="es-ES" sz="1200" b="0" i="0" kern="1200" dirty="0">
                <a:solidFill>
                  <a:schemeClr val="tx1"/>
                </a:solidFill>
                <a:effectLst/>
                <a:latin typeface="+mn-lt"/>
                <a:ea typeface="+mn-ea"/>
                <a:cs typeface="+mn-cs"/>
              </a:rPr>
            </a:br>
            <a:endParaRPr lang="es-ES" sz="1200" b="0" i="0" kern="1200" dirty="0">
              <a:solidFill>
                <a:schemeClr val="tx1"/>
              </a:solidFill>
              <a:effectLst/>
              <a:latin typeface="+mn-lt"/>
              <a:ea typeface="+mn-ea"/>
              <a:cs typeface="+mn-cs"/>
            </a:endParaRPr>
          </a:p>
          <a:p>
            <a:r>
              <a:rPr lang="es-ES" sz="1200" b="1" i="0" kern="1200" dirty="0">
                <a:solidFill>
                  <a:schemeClr val="tx1"/>
                </a:solidFill>
                <a:effectLst/>
                <a:latin typeface="+mn-lt"/>
                <a:ea typeface="+mn-ea"/>
                <a:cs typeface="+mn-cs"/>
              </a:rPr>
              <a:t>🌟 </a:t>
            </a:r>
            <a:r>
              <a:rPr lang="es-ES" sz="1200" b="1" i="0" kern="1200" dirty="0" err="1">
                <a:solidFill>
                  <a:schemeClr val="tx1"/>
                </a:solidFill>
                <a:effectLst/>
                <a:latin typeface="+mn-lt"/>
                <a:ea typeface="+mn-ea"/>
                <a:cs typeface="+mn-cs"/>
              </a:rPr>
              <a:t>Principi</a:t>
            </a:r>
            <a:r>
              <a:rPr lang="es-ES" sz="1200" b="1" i="0" kern="1200" dirty="0">
                <a:solidFill>
                  <a:schemeClr val="tx1"/>
                </a:solidFill>
                <a:effectLst/>
                <a:latin typeface="+mn-lt"/>
                <a:ea typeface="+mn-ea"/>
                <a:cs typeface="+mn-cs"/>
              </a:rPr>
              <a:t> </a:t>
            </a:r>
            <a:r>
              <a:rPr lang="es-ES" sz="1200" b="1" i="0" kern="1200" dirty="0" err="1">
                <a:solidFill>
                  <a:schemeClr val="tx1"/>
                </a:solidFill>
                <a:effectLst/>
                <a:latin typeface="+mn-lt"/>
                <a:ea typeface="+mn-ea"/>
                <a:cs typeface="+mn-cs"/>
              </a:rPr>
              <a:t>d’Inclusió</a:t>
            </a:r>
            <a:r>
              <a:rPr lang="es-ES" sz="1200" b="1" i="0" kern="1200" dirty="0">
                <a:solidFill>
                  <a:schemeClr val="tx1"/>
                </a:solidFill>
                <a:effectLst/>
                <a:latin typeface="+mn-lt"/>
                <a:ea typeface="+mn-ea"/>
                <a:cs typeface="+mn-cs"/>
              </a:rPr>
              <a:t>–</a:t>
            </a:r>
            <a:r>
              <a:rPr lang="es-ES" sz="1200" b="1" i="0" kern="1200" dirty="0" err="1">
                <a:solidFill>
                  <a:schemeClr val="tx1"/>
                </a:solidFill>
                <a:effectLst/>
                <a:latin typeface="+mn-lt"/>
                <a:ea typeface="+mn-ea"/>
                <a:cs typeface="+mn-cs"/>
              </a:rPr>
              <a:t>Exclusió</a:t>
            </a:r>
            <a:r>
              <a:rPr lang="es-ES" sz="1200" b="1" i="0" kern="1200" dirty="0">
                <a:solidFill>
                  <a:schemeClr val="tx1"/>
                </a:solidFill>
                <a:effectLst/>
                <a:latin typeface="+mn-lt"/>
                <a:ea typeface="+mn-ea"/>
                <a:cs typeface="+mn-cs"/>
              </a:rPr>
              <a:t> (PIE)</a:t>
            </a:r>
          </a:p>
          <a:p>
            <a:r>
              <a:rPr lang="es-ES" sz="1200" b="0" i="0" kern="1200" dirty="0">
                <a:solidFill>
                  <a:schemeClr val="tx1"/>
                </a:solidFill>
                <a:effectLst/>
                <a:latin typeface="+mn-lt"/>
                <a:ea typeface="+mn-ea"/>
                <a:cs typeface="+mn-cs"/>
              </a:rPr>
              <a:t>El </a:t>
            </a:r>
            <a:r>
              <a:rPr lang="es-ES" sz="1200" b="1" i="0" kern="1200" dirty="0">
                <a:solidFill>
                  <a:schemeClr val="tx1"/>
                </a:solidFill>
                <a:effectLst/>
                <a:latin typeface="+mn-lt"/>
                <a:ea typeface="+mn-ea"/>
                <a:cs typeface="+mn-cs"/>
              </a:rPr>
              <a:t>PIE</a:t>
            </a:r>
            <a:r>
              <a:rPr lang="es-ES" sz="1200" b="0" i="0" kern="1200" dirty="0">
                <a:solidFill>
                  <a:schemeClr val="tx1"/>
                </a:solidFill>
                <a:effectLst/>
                <a:latin typeface="+mn-lt"/>
                <a:ea typeface="+mn-ea"/>
                <a:cs typeface="+mn-cs"/>
              </a:rPr>
              <a:t> </a:t>
            </a:r>
            <a:r>
              <a:rPr lang="es-ES" sz="1200" b="0" i="0" kern="1200" dirty="0" err="1">
                <a:solidFill>
                  <a:schemeClr val="tx1"/>
                </a:solidFill>
                <a:effectLst/>
                <a:latin typeface="+mn-lt"/>
                <a:ea typeface="+mn-ea"/>
                <a:cs typeface="+mn-cs"/>
              </a:rPr>
              <a:t>és</a:t>
            </a:r>
            <a:r>
              <a:rPr lang="es-ES" sz="1200" b="0" i="0" kern="1200" dirty="0">
                <a:solidFill>
                  <a:schemeClr val="tx1"/>
                </a:solidFill>
                <a:effectLst/>
                <a:latin typeface="+mn-lt"/>
                <a:ea typeface="+mn-ea"/>
                <a:cs typeface="+mn-cs"/>
              </a:rPr>
              <a:t> una fórmula per </a:t>
            </a:r>
            <a:r>
              <a:rPr lang="es-ES" sz="1200" b="1" i="0" kern="1200" dirty="0" err="1">
                <a:solidFill>
                  <a:schemeClr val="tx1"/>
                </a:solidFill>
                <a:effectLst/>
                <a:latin typeface="+mn-lt"/>
                <a:ea typeface="+mn-ea"/>
                <a:cs typeface="+mn-cs"/>
              </a:rPr>
              <a:t>comptar</a:t>
            </a:r>
            <a:r>
              <a:rPr lang="es-ES" sz="1200" b="1" i="0" kern="1200" dirty="0">
                <a:solidFill>
                  <a:schemeClr val="tx1"/>
                </a:solidFill>
                <a:effectLst/>
                <a:latin typeface="+mn-lt"/>
                <a:ea typeface="+mn-ea"/>
                <a:cs typeface="+mn-cs"/>
              </a:rPr>
              <a:t> </a:t>
            </a:r>
            <a:r>
              <a:rPr lang="es-ES" sz="1200" b="1" i="0" kern="1200" dirty="0" err="1">
                <a:solidFill>
                  <a:schemeClr val="tx1"/>
                </a:solidFill>
                <a:effectLst/>
                <a:latin typeface="+mn-lt"/>
                <a:ea typeface="+mn-ea"/>
                <a:cs typeface="+mn-cs"/>
              </a:rPr>
              <a:t>correctament</a:t>
            </a:r>
            <a:r>
              <a:rPr lang="es-ES" sz="1200" b="0" i="0" kern="1200" dirty="0">
                <a:solidFill>
                  <a:schemeClr val="tx1"/>
                </a:solidFill>
                <a:effectLst/>
                <a:latin typeface="+mn-lt"/>
                <a:ea typeface="+mn-ea"/>
                <a:cs typeface="+mn-cs"/>
              </a:rPr>
              <a:t> </a:t>
            </a:r>
            <a:r>
              <a:rPr lang="es-ES" sz="1200" b="0" i="0" kern="1200" dirty="0" err="1">
                <a:solidFill>
                  <a:schemeClr val="tx1"/>
                </a:solidFill>
                <a:effectLst/>
                <a:latin typeface="+mn-lt"/>
                <a:ea typeface="+mn-ea"/>
                <a:cs typeface="+mn-cs"/>
              </a:rPr>
              <a:t>quan</a:t>
            </a:r>
            <a:r>
              <a:rPr lang="es-ES" sz="1200" b="0" i="0" kern="1200" dirty="0">
                <a:solidFill>
                  <a:schemeClr val="tx1"/>
                </a:solidFill>
                <a:effectLst/>
                <a:latin typeface="+mn-lt"/>
                <a:ea typeface="+mn-ea"/>
                <a:cs typeface="+mn-cs"/>
              </a:rPr>
              <a:t> diversos </a:t>
            </a:r>
            <a:r>
              <a:rPr lang="es-ES" sz="1200" b="0" i="0" kern="1200" dirty="0" err="1">
                <a:solidFill>
                  <a:schemeClr val="tx1"/>
                </a:solidFill>
                <a:effectLst/>
                <a:latin typeface="+mn-lt"/>
                <a:ea typeface="+mn-ea"/>
                <a:cs typeface="+mn-cs"/>
              </a:rPr>
              <a:t>conjunts</a:t>
            </a:r>
            <a:r>
              <a:rPr lang="es-ES" sz="1200" b="0" i="0" kern="1200" dirty="0">
                <a:solidFill>
                  <a:schemeClr val="tx1"/>
                </a:solidFill>
                <a:effectLst/>
                <a:latin typeface="+mn-lt"/>
                <a:ea typeface="+mn-ea"/>
                <a:cs typeface="+mn-cs"/>
              </a:rPr>
              <a:t> es </a:t>
            </a:r>
            <a:r>
              <a:rPr lang="es-ES" sz="1200" b="0" i="1" kern="1200" dirty="0">
                <a:solidFill>
                  <a:schemeClr val="tx1"/>
                </a:solidFill>
                <a:effectLst/>
                <a:latin typeface="+mn-lt"/>
                <a:ea typeface="+mn-ea"/>
                <a:cs typeface="+mn-cs"/>
              </a:rPr>
              <a:t>solapen</a:t>
            </a:r>
            <a:r>
              <a:rPr lang="es-ES" sz="1200" b="0" i="0" kern="1200" dirty="0">
                <a:solidFill>
                  <a:schemeClr val="tx1"/>
                </a:solidFill>
                <a:effectLst/>
                <a:latin typeface="+mn-lt"/>
                <a:ea typeface="+mn-ea"/>
                <a:cs typeface="+mn-cs"/>
              </a:rPr>
              <a:t>.</a:t>
            </a:r>
            <a:br>
              <a:rPr lang="es-ES" sz="1200" b="0" i="0" kern="1200" dirty="0">
                <a:solidFill>
                  <a:schemeClr val="tx1"/>
                </a:solidFill>
                <a:effectLst/>
                <a:latin typeface="+mn-lt"/>
                <a:ea typeface="+mn-ea"/>
                <a:cs typeface="+mn-cs"/>
              </a:rPr>
            </a:br>
            <a:r>
              <a:rPr lang="es-ES" sz="1200" b="0" i="0" kern="1200" dirty="0" err="1">
                <a:solidFill>
                  <a:schemeClr val="tx1"/>
                </a:solidFill>
                <a:effectLst/>
                <a:latin typeface="+mn-lt"/>
                <a:ea typeface="+mn-ea"/>
                <a:cs typeface="+mn-cs"/>
              </a:rPr>
              <a:t>Serveix</a:t>
            </a:r>
            <a:r>
              <a:rPr lang="es-ES" sz="1200" b="0" i="0" kern="1200" dirty="0">
                <a:solidFill>
                  <a:schemeClr val="tx1"/>
                </a:solidFill>
                <a:effectLst/>
                <a:latin typeface="+mn-lt"/>
                <a:ea typeface="+mn-ea"/>
                <a:cs typeface="+mn-cs"/>
              </a:rPr>
              <a:t> per evitar doble </a:t>
            </a:r>
            <a:r>
              <a:rPr lang="es-ES" sz="1200" b="0" i="0" kern="1200" dirty="0" err="1">
                <a:solidFill>
                  <a:schemeClr val="tx1"/>
                </a:solidFill>
                <a:effectLst/>
                <a:latin typeface="+mn-lt"/>
                <a:ea typeface="+mn-ea"/>
                <a:cs typeface="+mn-cs"/>
              </a:rPr>
              <a:t>comptatge</a:t>
            </a:r>
            <a:r>
              <a:rPr lang="es-ES" sz="1200" b="0" i="0" kern="1200" dirty="0">
                <a:solidFill>
                  <a:schemeClr val="tx1"/>
                </a:solidFill>
                <a:effectLst/>
                <a:latin typeface="+mn-lt"/>
                <a:ea typeface="+mn-ea"/>
                <a:cs typeface="+mn-cs"/>
              </a:rPr>
              <a:t> i </a:t>
            </a:r>
            <a:r>
              <a:rPr lang="es-ES" sz="1200" b="0" i="0" kern="1200" dirty="0" err="1">
                <a:solidFill>
                  <a:schemeClr val="tx1"/>
                </a:solidFill>
                <a:effectLst/>
                <a:latin typeface="+mn-lt"/>
                <a:ea typeface="+mn-ea"/>
                <a:cs typeface="+mn-cs"/>
              </a:rPr>
              <a:t>apareix</a:t>
            </a:r>
            <a:r>
              <a:rPr lang="es-ES" sz="1200" b="0" i="0" kern="1200" dirty="0">
                <a:solidFill>
                  <a:schemeClr val="tx1"/>
                </a:solidFill>
                <a:effectLst/>
                <a:latin typeface="+mn-lt"/>
                <a:ea typeface="+mn-ea"/>
                <a:cs typeface="+mn-cs"/>
              </a:rPr>
              <a:t> en totes les </a:t>
            </a:r>
            <a:r>
              <a:rPr lang="es-ES" sz="1200" b="1" i="0" kern="1200" dirty="0">
                <a:solidFill>
                  <a:schemeClr val="tx1"/>
                </a:solidFill>
                <a:effectLst/>
                <a:latin typeface="+mn-lt"/>
                <a:ea typeface="+mn-ea"/>
                <a:cs typeface="+mn-cs"/>
              </a:rPr>
              <a:t>cribes</a:t>
            </a:r>
            <a:r>
              <a:rPr lang="es-ES" sz="1200" b="0" i="0" kern="1200" dirty="0">
                <a:solidFill>
                  <a:schemeClr val="tx1"/>
                </a:solidFill>
                <a:effectLst/>
                <a:latin typeface="+mn-lt"/>
                <a:ea typeface="+mn-ea"/>
                <a:cs typeface="+mn-cs"/>
              </a:rPr>
              <a:t> (</a:t>
            </a:r>
            <a:r>
              <a:rPr lang="es-ES" sz="1200" b="0" i="0" kern="1200" dirty="0" err="1">
                <a:solidFill>
                  <a:schemeClr val="tx1"/>
                </a:solidFill>
                <a:effectLst/>
                <a:latin typeface="+mn-lt"/>
                <a:ea typeface="+mn-ea"/>
                <a:cs typeface="+mn-cs"/>
              </a:rPr>
              <a:t>Eratòstenes</a:t>
            </a:r>
            <a:r>
              <a:rPr lang="es-ES" sz="1200" b="0" i="0" kern="1200" dirty="0">
                <a:solidFill>
                  <a:schemeClr val="tx1"/>
                </a:solidFill>
                <a:effectLst/>
                <a:latin typeface="+mn-lt"/>
                <a:ea typeface="+mn-ea"/>
                <a:cs typeface="+mn-cs"/>
              </a:rPr>
              <a:t>, Brun, </a:t>
            </a:r>
            <a:r>
              <a:rPr lang="es-ES" sz="1200" b="0" i="0" kern="1200" dirty="0" err="1">
                <a:solidFill>
                  <a:schemeClr val="tx1"/>
                </a:solidFill>
                <a:effectLst/>
                <a:latin typeface="+mn-lt"/>
                <a:ea typeface="+mn-ea"/>
                <a:cs typeface="+mn-cs"/>
              </a:rPr>
              <a:t>Selberg</a:t>
            </a:r>
            <a:r>
              <a:rPr lang="es-ES" sz="1200" b="0" i="0" kern="1200" dirty="0">
                <a:solidFill>
                  <a:schemeClr val="tx1"/>
                </a:solidFill>
                <a:effectLst/>
                <a:latin typeface="+mn-lt"/>
                <a:ea typeface="+mn-ea"/>
                <a:cs typeface="+mn-cs"/>
              </a:rPr>
              <a:t>… i també en la </a:t>
            </a:r>
            <a:r>
              <a:rPr lang="es-ES" sz="1200" b="0" i="0" kern="1200" dirty="0" err="1">
                <a:solidFill>
                  <a:schemeClr val="tx1"/>
                </a:solidFill>
                <a:effectLst/>
                <a:latin typeface="+mn-lt"/>
                <a:ea typeface="+mn-ea"/>
                <a:cs typeface="+mn-cs"/>
              </a:rPr>
              <a:t>teua</a:t>
            </a:r>
            <a:r>
              <a:rPr lang="es-ES" sz="1200" b="0" i="0" kern="1200" dirty="0">
                <a:solidFill>
                  <a:schemeClr val="tx1"/>
                </a:solidFill>
                <a:effectLst/>
                <a:latin typeface="+mn-lt"/>
                <a:ea typeface="+mn-ea"/>
                <a:cs typeface="+mn-cs"/>
              </a:rPr>
              <a:t> </a:t>
            </a:r>
            <a:r>
              <a:rPr lang="es-ES" sz="1200" b="0" i="1" kern="1200" dirty="0" err="1">
                <a:solidFill>
                  <a:schemeClr val="tx1"/>
                </a:solidFill>
                <a:effectLst/>
                <a:latin typeface="+mn-lt"/>
                <a:ea typeface="+mn-ea"/>
                <a:cs typeface="+mn-cs"/>
              </a:rPr>
              <a:t>Criva</a:t>
            </a:r>
            <a:r>
              <a:rPr lang="es-ES" sz="1200" b="0" i="0" kern="1200" dirty="0">
                <a:solidFill>
                  <a:schemeClr val="tx1"/>
                </a:solidFill>
                <a:effectLst/>
                <a:latin typeface="+mn-lt"/>
                <a:ea typeface="+mn-ea"/>
                <a:cs typeface="+mn-cs"/>
              </a:rPr>
              <a:t> de </a:t>
            </a:r>
            <a:r>
              <a:rPr lang="es-ES" sz="1200" b="0" i="0" kern="1200" dirty="0" err="1">
                <a:solidFill>
                  <a:schemeClr val="tx1"/>
                </a:solidFill>
                <a:effectLst/>
                <a:latin typeface="+mn-lt"/>
                <a:ea typeface="+mn-ea"/>
                <a:cs typeface="+mn-cs"/>
              </a:rPr>
              <a:t>densitats</a:t>
            </a:r>
            <a:r>
              <a:rPr lang="es-ES" sz="1200" b="0" i="0" kern="1200" dirty="0">
                <a:solidFill>
                  <a:schemeClr val="tx1"/>
                </a:solidFill>
                <a:effectLst/>
                <a:latin typeface="+mn-lt"/>
                <a:ea typeface="+mn-ea"/>
                <a:cs typeface="+mn-cs"/>
              </a:rPr>
              <a:t>).</a:t>
            </a:r>
          </a:p>
          <a:p>
            <a:br>
              <a:rPr lang="es-ES" sz="1200" b="0" i="0" kern="1200" dirty="0">
                <a:solidFill>
                  <a:schemeClr val="tx1"/>
                </a:solidFill>
                <a:effectLst/>
                <a:latin typeface="+mn-lt"/>
                <a:ea typeface="+mn-ea"/>
                <a:cs typeface="+mn-cs"/>
              </a:rPr>
            </a:br>
            <a:endParaRPr lang="es-ES" sz="1200" b="0" i="0" kern="1200" dirty="0">
              <a:solidFill>
                <a:schemeClr val="tx1"/>
              </a:solidFill>
              <a:effectLst/>
              <a:latin typeface="+mn-lt"/>
              <a:ea typeface="+mn-ea"/>
              <a:cs typeface="+mn-cs"/>
            </a:endParaRPr>
          </a:p>
          <a:p>
            <a:r>
              <a:rPr lang="es-ES" sz="1200" b="1" i="0" kern="1200" dirty="0">
                <a:solidFill>
                  <a:schemeClr val="tx1"/>
                </a:solidFill>
                <a:effectLst/>
                <a:latin typeface="+mn-lt"/>
                <a:ea typeface="+mn-ea"/>
                <a:cs typeface="+mn-cs"/>
              </a:rPr>
              <a:t>1. </a:t>
            </a:r>
            <a:r>
              <a:rPr lang="es-ES" sz="1200" b="1" i="0" kern="1200" dirty="0" err="1">
                <a:solidFill>
                  <a:schemeClr val="tx1"/>
                </a:solidFill>
                <a:effectLst/>
                <a:latin typeface="+mn-lt"/>
                <a:ea typeface="+mn-ea"/>
                <a:cs typeface="+mn-cs"/>
              </a:rPr>
              <a:t>Versió</a:t>
            </a:r>
            <a:r>
              <a:rPr lang="es-ES" sz="1200" b="1" i="0" kern="1200" dirty="0">
                <a:solidFill>
                  <a:schemeClr val="tx1"/>
                </a:solidFill>
                <a:effectLst/>
                <a:latin typeface="+mn-lt"/>
                <a:ea typeface="+mn-ea"/>
                <a:cs typeface="+mn-cs"/>
              </a:rPr>
              <a:t> per a dos </a:t>
            </a:r>
            <a:r>
              <a:rPr lang="es-ES" sz="1200" b="1" i="0" kern="1200" dirty="0" err="1">
                <a:solidFill>
                  <a:schemeClr val="tx1"/>
                </a:solidFill>
                <a:effectLst/>
                <a:latin typeface="+mn-lt"/>
                <a:ea typeface="+mn-ea"/>
                <a:cs typeface="+mn-cs"/>
              </a:rPr>
              <a:t>conjunts</a:t>
            </a:r>
            <a:endParaRPr lang="es-ES" sz="1200" b="1" i="0" kern="1200" dirty="0">
              <a:solidFill>
                <a:schemeClr val="tx1"/>
              </a:solidFill>
              <a:effectLst/>
              <a:latin typeface="+mn-lt"/>
              <a:ea typeface="+mn-ea"/>
              <a:cs typeface="+mn-cs"/>
            </a:endParaRPr>
          </a:p>
          <a:p>
            <a:r>
              <a:rPr lang="es-ES" sz="1200" b="0" i="0" kern="1200" dirty="0">
                <a:solidFill>
                  <a:schemeClr val="tx1"/>
                </a:solidFill>
                <a:effectLst/>
                <a:latin typeface="+mn-lt"/>
                <a:ea typeface="+mn-ea"/>
                <a:cs typeface="+mn-cs"/>
              </a:rPr>
              <a:t>Si $A$ i $B$ es poden solapar, la </a:t>
            </a:r>
            <a:r>
              <a:rPr lang="es-ES" sz="1200" b="0" i="0" kern="1200" dirty="0" err="1">
                <a:solidFill>
                  <a:schemeClr val="tx1"/>
                </a:solidFill>
                <a:effectLst/>
                <a:latin typeface="+mn-lt"/>
                <a:ea typeface="+mn-ea"/>
                <a:cs typeface="+mn-cs"/>
              </a:rPr>
              <a:t>seua</a:t>
            </a:r>
            <a:r>
              <a:rPr lang="es-ES" sz="1200" b="0" i="0" kern="1200" dirty="0">
                <a:solidFill>
                  <a:schemeClr val="tx1"/>
                </a:solidFill>
                <a:effectLst/>
                <a:latin typeface="+mn-lt"/>
                <a:ea typeface="+mn-ea"/>
                <a:cs typeface="+mn-cs"/>
              </a:rPr>
              <a:t> unió </a:t>
            </a:r>
            <a:r>
              <a:rPr lang="es-ES" sz="1200" b="0" i="0" kern="1200" dirty="0" err="1">
                <a:solidFill>
                  <a:schemeClr val="tx1"/>
                </a:solidFill>
                <a:effectLst/>
                <a:latin typeface="+mn-lt"/>
                <a:ea typeface="+mn-ea"/>
                <a:cs typeface="+mn-cs"/>
              </a:rPr>
              <a:t>és</a:t>
            </a:r>
            <a:r>
              <a:rPr lang="es-ES" sz="1200" b="0" i="0" kern="1200" dirty="0">
                <a:solidFill>
                  <a:schemeClr val="tx1"/>
                </a:solidFill>
                <a:effectLst/>
                <a:latin typeface="+mn-lt"/>
                <a:ea typeface="+mn-ea"/>
                <a:cs typeface="+mn-cs"/>
              </a:rPr>
              <a:t>:</a:t>
            </a:r>
          </a:p>
          <a:p>
            <a:r>
              <a:rPr lang="es-ES" sz="1200" b="0" i="0" kern="1200" dirty="0">
                <a:solidFill>
                  <a:schemeClr val="tx1"/>
                </a:solidFill>
                <a:effectLst/>
                <a:latin typeface="+mn-lt"/>
                <a:ea typeface="+mn-ea"/>
                <a:cs typeface="+mn-cs"/>
              </a:rPr>
              <a:t>$ |A\cup B| = |A| + |B| - |A\</a:t>
            </a:r>
            <a:r>
              <a:rPr lang="es-ES" sz="1200" b="0" i="0" kern="1200" dirty="0" err="1">
                <a:solidFill>
                  <a:schemeClr val="tx1"/>
                </a:solidFill>
                <a:effectLst/>
                <a:latin typeface="+mn-lt"/>
                <a:ea typeface="+mn-ea"/>
                <a:cs typeface="+mn-cs"/>
              </a:rPr>
              <a:t>cap</a:t>
            </a:r>
            <a:r>
              <a:rPr lang="es-ES" sz="1200" b="0" i="0" kern="1200" dirty="0">
                <a:solidFill>
                  <a:schemeClr val="tx1"/>
                </a:solidFill>
                <a:effectLst/>
                <a:latin typeface="+mn-lt"/>
                <a:ea typeface="+mn-ea"/>
                <a:cs typeface="+mn-cs"/>
              </a:rPr>
              <a:t> B|. $</a:t>
            </a:r>
          </a:p>
          <a:p>
            <a:r>
              <a:rPr lang="es-ES" sz="1200" b="1" i="0" kern="1200" dirty="0">
                <a:solidFill>
                  <a:schemeClr val="tx1"/>
                </a:solidFill>
                <a:effectLst/>
                <a:latin typeface="+mn-lt"/>
                <a:ea typeface="+mn-ea"/>
                <a:cs typeface="+mn-cs"/>
              </a:rPr>
              <a:t>Per </a:t>
            </a:r>
            <a:r>
              <a:rPr lang="es-ES" sz="1200" b="1" i="0" kern="1200" dirty="0" err="1">
                <a:solidFill>
                  <a:schemeClr val="tx1"/>
                </a:solidFill>
                <a:effectLst/>
                <a:latin typeface="+mn-lt"/>
                <a:ea typeface="+mn-ea"/>
                <a:cs typeface="+mn-cs"/>
              </a:rPr>
              <a:t>què</a:t>
            </a:r>
            <a:r>
              <a:rPr lang="es-ES" sz="1200" b="1" i="0" kern="1200" dirty="0">
                <a:solidFill>
                  <a:schemeClr val="tx1"/>
                </a:solidFill>
                <a:effectLst/>
                <a:latin typeface="+mn-lt"/>
                <a:ea typeface="+mn-ea"/>
                <a:cs typeface="+mn-cs"/>
              </a:rPr>
              <a:t>?</a:t>
            </a:r>
            <a:br>
              <a:rPr lang="es-ES" sz="1200" b="0" i="0" kern="1200" dirty="0">
                <a:solidFill>
                  <a:schemeClr val="tx1"/>
                </a:solidFill>
                <a:effectLst/>
                <a:latin typeface="+mn-lt"/>
                <a:ea typeface="+mn-ea"/>
                <a:cs typeface="+mn-cs"/>
              </a:rPr>
            </a:br>
            <a:r>
              <a:rPr lang="es-ES" sz="1200" b="0" i="0" kern="1200" dirty="0" err="1">
                <a:solidFill>
                  <a:schemeClr val="tx1"/>
                </a:solidFill>
                <a:effectLst/>
                <a:latin typeface="+mn-lt"/>
                <a:ea typeface="+mn-ea"/>
                <a:cs typeface="+mn-cs"/>
              </a:rPr>
              <a:t>Quan</a:t>
            </a:r>
            <a:r>
              <a:rPr lang="es-ES" sz="1200" b="0" i="0" kern="1200" dirty="0">
                <a:solidFill>
                  <a:schemeClr val="tx1"/>
                </a:solidFill>
                <a:effectLst/>
                <a:latin typeface="+mn-lt"/>
                <a:ea typeface="+mn-ea"/>
                <a:cs typeface="+mn-cs"/>
              </a:rPr>
              <a:t> sumes $|A|$ i $|B|$, </a:t>
            </a:r>
            <a:r>
              <a:rPr lang="es-ES" sz="1200" b="0" i="0" kern="1200" dirty="0" err="1">
                <a:solidFill>
                  <a:schemeClr val="tx1"/>
                </a:solidFill>
                <a:effectLst/>
                <a:latin typeface="+mn-lt"/>
                <a:ea typeface="+mn-ea"/>
                <a:cs typeface="+mn-cs"/>
              </a:rPr>
              <a:t>els</a:t>
            </a:r>
            <a:r>
              <a:rPr lang="es-ES" sz="1200" b="0" i="0" kern="1200" dirty="0">
                <a:solidFill>
                  <a:schemeClr val="tx1"/>
                </a:solidFill>
                <a:effectLst/>
                <a:latin typeface="+mn-lt"/>
                <a:ea typeface="+mn-ea"/>
                <a:cs typeface="+mn-cs"/>
              </a:rPr>
              <a:t> </a:t>
            </a:r>
            <a:r>
              <a:rPr lang="es-ES" sz="1200" b="0" i="0" kern="1200" dirty="0" err="1">
                <a:solidFill>
                  <a:schemeClr val="tx1"/>
                </a:solidFill>
                <a:effectLst/>
                <a:latin typeface="+mn-lt"/>
                <a:ea typeface="+mn-ea"/>
                <a:cs typeface="+mn-cs"/>
              </a:rPr>
              <a:t>elements</a:t>
            </a:r>
            <a:r>
              <a:rPr lang="es-ES" sz="1200" b="0" i="0" kern="1200" dirty="0">
                <a:solidFill>
                  <a:schemeClr val="tx1"/>
                </a:solidFill>
                <a:effectLst/>
                <a:latin typeface="+mn-lt"/>
                <a:ea typeface="+mn-ea"/>
                <a:cs typeface="+mn-cs"/>
              </a:rPr>
              <a:t> que </a:t>
            </a:r>
            <a:r>
              <a:rPr lang="es-ES" sz="1200" b="0" i="0" kern="1200" dirty="0" err="1">
                <a:solidFill>
                  <a:schemeClr val="tx1"/>
                </a:solidFill>
                <a:effectLst/>
                <a:latin typeface="+mn-lt"/>
                <a:ea typeface="+mn-ea"/>
                <a:cs typeface="+mn-cs"/>
              </a:rPr>
              <a:t>estan</a:t>
            </a:r>
            <a:r>
              <a:rPr lang="es-ES" sz="1200" b="0" i="0" kern="1200" dirty="0">
                <a:solidFill>
                  <a:schemeClr val="tx1"/>
                </a:solidFill>
                <a:effectLst/>
                <a:latin typeface="+mn-lt"/>
                <a:ea typeface="+mn-ea"/>
                <a:cs typeface="+mn-cs"/>
              </a:rPr>
              <a:t> en </a:t>
            </a:r>
            <a:r>
              <a:rPr lang="es-ES" sz="1200" b="0" i="0" kern="1200" dirty="0" err="1">
                <a:solidFill>
                  <a:schemeClr val="tx1"/>
                </a:solidFill>
                <a:effectLst/>
                <a:latin typeface="+mn-lt"/>
                <a:ea typeface="+mn-ea"/>
                <a:cs typeface="+mn-cs"/>
              </a:rPr>
              <a:t>els</a:t>
            </a:r>
            <a:r>
              <a:rPr lang="es-ES" sz="1200" b="0" i="0" kern="1200" dirty="0">
                <a:solidFill>
                  <a:schemeClr val="tx1"/>
                </a:solidFill>
                <a:effectLst/>
                <a:latin typeface="+mn-lt"/>
                <a:ea typeface="+mn-ea"/>
                <a:cs typeface="+mn-cs"/>
              </a:rPr>
              <a:t> dos </a:t>
            </a:r>
            <a:r>
              <a:rPr lang="es-ES" sz="1200" b="0" i="0" kern="1200" dirty="0" err="1">
                <a:solidFill>
                  <a:schemeClr val="tx1"/>
                </a:solidFill>
                <a:effectLst/>
                <a:latin typeface="+mn-lt"/>
                <a:ea typeface="+mn-ea"/>
                <a:cs typeface="+mn-cs"/>
              </a:rPr>
              <a:t>conjunts</a:t>
            </a:r>
            <a:r>
              <a:rPr lang="es-ES" sz="1200" b="0" i="0" kern="1200" dirty="0">
                <a:solidFill>
                  <a:schemeClr val="tx1"/>
                </a:solidFill>
                <a:effectLst/>
                <a:latin typeface="+mn-lt"/>
                <a:ea typeface="+mn-ea"/>
                <a:cs typeface="+mn-cs"/>
              </a:rPr>
              <a:t> es </a:t>
            </a:r>
            <a:r>
              <a:rPr lang="es-ES" sz="1200" b="0" i="0" kern="1200" dirty="0" err="1">
                <a:solidFill>
                  <a:schemeClr val="tx1"/>
                </a:solidFill>
                <a:effectLst/>
                <a:latin typeface="+mn-lt"/>
                <a:ea typeface="+mn-ea"/>
                <a:cs typeface="+mn-cs"/>
              </a:rPr>
              <a:t>conten</a:t>
            </a:r>
            <a:r>
              <a:rPr lang="es-ES" sz="1200" b="0" i="0" kern="1200" dirty="0">
                <a:solidFill>
                  <a:schemeClr val="tx1"/>
                </a:solidFill>
                <a:effectLst/>
                <a:latin typeface="+mn-lt"/>
                <a:ea typeface="+mn-ea"/>
                <a:cs typeface="+mn-cs"/>
              </a:rPr>
              <a:t> </a:t>
            </a:r>
            <a:r>
              <a:rPr lang="es-ES" sz="1200" b="1" i="0" kern="1200" dirty="0" err="1">
                <a:solidFill>
                  <a:schemeClr val="tx1"/>
                </a:solidFill>
                <a:effectLst/>
                <a:latin typeface="+mn-lt"/>
                <a:ea typeface="+mn-ea"/>
                <a:cs typeface="+mn-cs"/>
              </a:rPr>
              <a:t>dues</a:t>
            </a:r>
            <a:r>
              <a:rPr lang="es-ES" sz="1200" b="1" i="0" kern="1200" dirty="0">
                <a:solidFill>
                  <a:schemeClr val="tx1"/>
                </a:solidFill>
                <a:effectLst/>
                <a:latin typeface="+mn-lt"/>
                <a:ea typeface="+mn-ea"/>
                <a:cs typeface="+mn-cs"/>
              </a:rPr>
              <a:t> </a:t>
            </a:r>
            <a:r>
              <a:rPr lang="es-ES" sz="1200" b="1" i="0" kern="1200" dirty="0" err="1">
                <a:solidFill>
                  <a:schemeClr val="tx1"/>
                </a:solidFill>
                <a:effectLst/>
                <a:latin typeface="+mn-lt"/>
                <a:ea typeface="+mn-ea"/>
                <a:cs typeface="+mn-cs"/>
              </a:rPr>
              <a:t>vegades</a:t>
            </a:r>
            <a:r>
              <a:rPr lang="es-ES" sz="1200" b="0" i="0" kern="1200" dirty="0">
                <a:solidFill>
                  <a:schemeClr val="tx1"/>
                </a:solidFill>
                <a:effectLst/>
                <a:latin typeface="+mn-lt"/>
                <a:ea typeface="+mn-ea"/>
                <a:cs typeface="+mn-cs"/>
              </a:rPr>
              <a:t>.</a:t>
            </a:r>
            <a:br>
              <a:rPr lang="es-ES" sz="1200" b="0" i="0" kern="1200" dirty="0">
                <a:solidFill>
                  <a:schemeClr val="tx1"/>
                </a:solidFill>
                <a:effectLst/>
                <a:latin typeface="+mn-lt"/>
                <a:ea typeface="+mn-ea"/>
                <a:cs typeface="+mn-cs"/>
              </a:rPr>
            </a:br>
            <a:r>
              <a:rPr lang="es-ES" sz="1200" b="0" i="0" kern="1200" dirty="0">
                <a:solidFill>
                  <a:schemeClr val="tx1"/>
                </a:solidFill>
                <a:effectLst/>
                <a:latin typeface="+mn-lt"/>
                <a:ea typeface="+mn-ea"/>
                <a:cs typeface="+mn-cs"/>
              </a:rPr>
              <a:t>Per </a:t>
            </a:r>
            <a:r>
              <a:rPr lang="es-ES" sz="1200" b="0" i="0" kern="1200" dirty="0" err="1">
                <a:solidFill>
                  <a:schemeClr val="tx1"/>
                </a:solidFill>
                <a:effectLst/>
                <a:latin typeface="+mn-lt"/>
                <a:ea typeface="+mn-ea"/>
                <a:cs typeface="+mn-cs"/>
              </a:rPr>
              <a:t>això</a:t>
            </a:r>
            <a:r>
              <a:rPr lang="es-ES" sz="1200" b="0" i="0" kern="1200" dirty="0">
                <a:solidFill>
                  <a:schemeClr val="tx1"/>
                </a:solidFill>
                <a:effectLst/>
                <a:latin typeface="+mn-lt"/>
                <a:ea typeface="+mn-ea"/>
                <a:cs typeface="+mn-cs"/>
              </a:rPr>
              <a:t> cal restar la </a:t>
            </a:r>
            <a:r>
              <a:rPr lang="es-ES" sz="1200" b="0" i="0" kern="1200" dirty="0" err="1">
                <a:solidFill>
                  <a:schemeClr val="tx1"/>
                </a:solidFill>
                <a:effectLst/>
                <a:latin typeface="+mn-lt"/>
                <a:ea typeface="+mn-ea"/>
                <a:cs typeface="+mn-cs"/>
              </a:rPr>
              <a:t>intersecció</a:t>
            </a:r>
            <a:r>
              <a:rPr lang="es-ES" sz="1200" b="0" i="0" kern="1200" dirty="0">
                <a:solidFill>
                  <a:schemeClr val="tx1"/>
                </a:solidFill>
                <a:effectLst/>
                <a:latin typeface="+mn-lt"/>
                <a:ea typeface="+mn-ea"/>
                <a:cs typeface="+mn-cs"/>
              </a:rPr>
              <a:t>.</a:t>
            </a:r>
          </a:p>
          <a:p>
            <a:br>
              <a:rPr lang="es-ES" sz="1200" b="0" i="0" kern="1200" dirty="0">
                <a:solidFill>
                  <a:schemeClr val="tx1"/>
                </a:solidFill>
                <a:effectLst/>
                <a:latin typeface="+mn-lt"/>
                <a:ea typeface="+mn-ea"/>
                <a:cs typeface="+mn-cs"/>
              </a:rPr>
            </a:br>
            <a:endParaRPr lang="es-ES" sz="1200" b="0" i="0" kern="1200" dirty="0">
              <a:solidFill>
                <a:schemeClr val="tx1"/>
              </a:solidFill>
              <a:effectLst/>
              <a:latin typeface="+mn-lt"/>
              <a:ea typeface="+mn-ea"/>
              <a:cs typeface="+mn-cs"/>
            </a:endParaRPr>
          </a:p>
          <a:p>
            <a:r>
              <a:rPr lang="es-ES" sz="1200" b="1" i="0" kern="1200" dirty="0">
                <a:solidFill>
                  <a:schemeClr val="tx1"/>
                </a:solidFill>
                <a:effectLst/>
                <a:latin typeface="+mn-lt"/>
                <a:ea typeface="+mn-ea"/>
                <a:cs typeface="+mn-cs"/>
              </a:rPr>
              <a:t>2. </a:t>
            </a:r>
            <a:r>
              <a:rPr lang="es-ES" sz="1200" b="1" i="0" kern="1200" dirty="0" err="1">
                <a:solidFill>
                  <a:schemeClr val="tx1"/>
                </a:solidFill>
                <a:effectLst/>
                <a:latin typeface="+mn-lt"/>
                <a:ea typeface="+mn-ea"/>
                <a:cs typeface="+mn-cs"/>
              </a:rPr>
              <a:t>Versió</a:t>
            </a:r>
            <a:r>
              <a:rPr lang="es-ES" sz="1200" b="1" i="0" kern="1200" dirty="0">
                <a:solidFill>
                  <a:schemeClr val="tx1"/>
                </a:solidFill>
                <a:effectLst/>
                <a:latin typeface="+mn-lt"/>
                <a:ea typeface="+mn-ea"/>
                <a:cs typeface="+mn-cs"/>
              </a:rPr>
              <a:t> per a tres </a:t>
            </a:r>
            <a:r>
              <a:rPr lang="es-ES" sz="1200" b="1" i="0" kern="1200" dirty="0" err="1">
                <a:solidFill>
                  <a:schemeClr val="tx1"/>
                </a:solidFill>
                <a:effectLst/>
                <a:latin typeface="+mn-lt"/>
                <a:ea typeface="+mn-ea"/>
                <a:cs typeface="+mn-cs"/>
              </a:rPr>
              <a:t>conjunts</a:t>
            </a:r>
            <a:endParaRPr lang="es-ES" sz="1200" b="1" i="0" kern="1200" dirty="0">
              <a:solidFill>
                <a:schemeClr val="tx1"/>
              </a:solidFill>
              <a:effectLst/>
              <a:latin typeface="+mn-lt"/>
              <a:ea typeface="+mn-ea"/>
              <a:cs typeface="+mn-cs"/>
            </a:endParaRPr>
          </a:p>
          <a:p>
            <a:r>
              <a:rPr lang="es-ES" sz="1200" b="0" i="0" kern="1200" dirty="0">
                <a:solidFill>
                  <a:schemeClr val="tx1"/>
                </a:solidFill>
                <a:effectLst/>
                <a:latin typeface="+mn-lt"/>
                <a:ea typeface="+mn-ea"/>
                <a:cs typeface="+mn-cs"/>
              </a:rPr>
              <a:t>$ \</a:t>
            </a:r>
            <a:r>
              <a:rPr lang="es-ES" sz="1200" b="0" i="0" kern="1200" dirty="0" err="1">
                <a:solidFill>
                  <a:schemeClr val="tx1"/>
                </a:solidFill>
                <a:effectLst/>
                <a:latin typeface="+mn-lt"/>
                <a:ea typeface="+mn-ea"/>
                <a:cs typeface="+mn-cs"/>
              </a:rPr>
              <a:t>begin</a:t>
            </a:r>
            <a:r>
              <a:rPr lang="es-ES" sz="1200" b="0" i="0" kern="1200" dirty="0">
                <a:solidFill>
                  <a:schemeClr val="tx1"/>
                </a:solidFill>
                <a:effectLst/>
                <a:latin typeface="+mn-lt"/>
                <a:ea typeface="+mn-ea"/>
                <a:cs typeface="+mn-cs"/>
              </a:rPr>
              <a:t>{</a:t>
            </a:r>
            <a:r>
              <a:rPr lang="es-ES" sz="1200" b="0" i="0" kern="1200" dirty="0" err="1">
                <a:solidFill>
                  <a:schemeClr val="tx1"/>
                </a:solidFill>
                <a:effectLst/>
                <a:latin typeface="+mn-lt"/>
                <a:ea typeface="+mn-ea"/>
                <a:cs typeface="+mn-cs"/>
              </a:rPr>
              <a:t>aligned</a:t>
            </a:r>
            <a:r>
              <a:rPr lang="es-ES" sz="1200" b="0" i="0" kern="1200" dirty="0">
                <a:solidFill>
                  <a:schemeClr val="tx1"/>
                </a:solidFill>
                <a:effectLst/>
                <a:latin typeface="+mn-lt"/>
                <a:ea typeface="+mn-ea"/>
                <a:cs typeface="+mn-cs"/>
              </a:rPr>
              <a:t>} |A\cup B\cup C| = &amp;\; |A| + |B| + |C| \ &amp;- |A\</a:t>
            </a:r>
            <a:r>
              <a:rPr lang="es-ES" sz="1200" b="0" i="0" kern="1200" dirty="0" err="1">
                <a:solidFill>
                  <a:schemeClr val="tx1"/>
                </a:solidFill>
                <a:effectLst/>
                <a:latin typeface="+mn-lt"/>
                <a:ea typeface="+mn-ea"/>
                <a:cs typeface="+mn-cs"/>
              </a:rPr>
              <a:t>cap</a:t>
            </a:r>
            <a:r>
              <a:rPr lang="es-ES" sz="1200" b="0" i="0" kern="1200" dirty="0">
                <a:solidFill>
                  <a:schemeClr val="tx1"/>
                </a:solidFill>
                <a:effectLst/>
                <a:latin typeface="+mn-lt"/>
                <a:ea typeface="+mn-ea"/>
                <a:cs typeface="+mn-cs"/>
              </a:rPr>
              <a:t> B| - |A\</a:t>
            </a:r>
            <a:r>
              <a:rPr lang="es-ES" sz="1200" b="0" i="0" kern="1200" dirty="0" err="1">
                <a:solidFill>
                  <a:schemeClr val="tx1"/>
                </a:solidFill>
                <a:effectLst/>
                <a:latin typeface="+mn-lt"/>
                <a:ea typeface="+mn-ea"/>
                <a:cs typeface="+mn-cs"/>
              </a:rPr>
              <a:t>cap</a:t>
            </a:r>
            <a:r>
              <a:rPr lang="es-ES" sz="1200" b="0" i="0" kern="1200" dirty="0">
                <a:solidFill>
                  <a:schemeClr val="tx1"/>
                </a:solidFill>
                <a:effectLst/>
                <a:latin typeface="+mn-lt"/>
                <a:ea typeface="+mn-ea"/>
                <a:cs typeface="+mn-cs"/>
              </a:rPr>
              <a:t> C| - |B\</a:t>
            </a:r>
            <a:r>
              <a:rPr lang="es-ES" sz="1200" b="0" i="0" kern="1200" dirty="0" err="1">
                <a:solidFill>
                  <a:schemeClr val="tx1"/>
                </a:solidFill>
                <a:effectLst/>
                <a:latin typeface="+mn-lt"/>
                <a:ea typeface="+mn-ea"/>
                <a:cs typeface="+mn-cs"/>
              </a:rPr>
              <a:t>cap</a:t>
            </a:r>
            <a:r>
              <a:rPr lang="es-ES" sz="1200" b="0" i="0" kern="1200" dirty="0">
                <a:solidFill>
                  <a:schemeClr val="tx1"/>
                </a:solidFill>
                <a:effectLst/>
                <a:latin typeface="+mn-lt"/>
                <a:ea typeface="+mn-ea"/>
                <a:cs typeface="+mn-cs"/>
              </a:rPr>
              <a:t> C| \ &amp;+ |A\</a:t>
            </a:r>
            <a:r>
              <a:rPr lang="es-ES" sz="1200" b="0" i="0" kern="1200" dirty="0" err="1">
                <a:solidFill>
                  <a:schemeClr val="tx1"/>
                </a:solidFill>
                <a:effectLst/>
                <a:latin typeface="+mn-lt"/>
                <a:ea typeface="+mn-ea"/>
                <a:cs typeface="+mn-cs"/>
              </a:rPr>
              <a:t>cap</a:t>
            </a:r>
            <a:r>
              <a:rPr lang="es-ES" sz="1200" b="0" i="0" kern="1200" dirty="0">
                <a:solidFill>
                  <a:schemeClr val="tx1"/>
                </a:solidFill>
                <a:effectLst/>
                <a:latin typeface="+mn-lt"/>
                <a:ea typeface="+mn-ea"/>
                <a:cs typeface="+mn-cs"/>
              </a:rPr>
              <a:t> B\</a:t>
            </a:r>
            <a:r>
              <a:rPr lang="es-ES" sz="1200" b="0" i="0" kern="1200" dirty="0" err="1">
                <a:solidFill>
                  <a:schemeClr val="tx1"/>
                </a:solidFill>
                <a:effectLst/>
                <a:latin typeface="+mn-lt"/>
                <a:ea typeface="+mn-ea"/>
                <a:cs typeface="+mn-cs"/>
              </a:rPr>
              <a:t>cap</a:t>
            </a:r>
            <a:r>
              <a:rPr lang="es-ES" sz="1200" b="0" i="0" kern="1200" dirty="0">
                <a:solidFill>
                  <a:schemeClr val="tx1"/>
                </a:solidFill>
                <a:effectLst/>
                <a:latin typeface="+mn-lt"/>
                <a:ea typeface="+mn-ea"/>
                <a:cs typeface="+mn-cs"/>
              </a:rPr>
              <a:t> C|. \</a:t>
            </a:r>
            <a:r>
              <a:rPr lang="es-ES" sz="1200" b="0" i="0" kern="1200" dirty="0" err="1">
                <a:solidFill>
                  <a:schemeClr val="tx1"/>
                </a:solidFill>
                <a:effectLst/>
                <a:latin typeface="+mn-lt"/>
                <a:ea typeface="+mn-ea"/>
                <a:cs typeface="+mn-cs"/>
              </a:rPr>
              <a:t>end</a:t>
            </a:r>
            <a:r>
              <a:rPr lang="es-ES" sz="1200" b="0" i="0" kern="1200" dirty="0">
                <a:solidFill>
                  <a:schemeClr val="tx1"/>
                </a:solidFill>
                <a:effectLst/>
                <a:latin typeface="+mn-lt"/>
                <a:ea typeface="+mn-ea"/>
                <a:cs typeface="+mn-cs"/>
              </a:rPr>
              <a:t>{</a:t>
            </a:r>
            <a:r>
              <a:rPr lang="es-ES" sz="1200" b="0" i="0" kern="1200" dirty="0" err="1">
                <a:solidFill>
                  <a:schemeClr val="tx1"/>
                </a:solidFill>
                <a:effectLst/>
                <a:latin typeface="+mn-lt"/>
                <a:ea typeface="+mn-ea"/>
                <a:cs typeface="+mn-cs"/>
              </a:rPr>
              <a:t>aligned</a:t>
            </a:r>
            <a:r>
              <a:rPr lang="es-ES" sz="1200" b="0" i="0" kern="1200" dirty="0">
                <a:solidFill>
                  <a:schemeClr val="tx1"/>
                </a:solidFill>
                <a:effectLst/>
                <a:latin typeface="+mn-lt"/>
                <a:ea typeface="+mn-ea"/>
                <a:cs typeface="+mn-cs"/>
              </a:rPr>
              <a:t>} $</a:t>
            </a:r>
          </a:p>
          <a:p>
            <a:r>
              <a:rPr lang="es-ES" sz="1200" b="1" i="0" kern="1200" dirty="0" err="1">
                <a:solidFill>
                  <a:schemeClr val="tx1"/>
                </a:solidFill>
                <a:effectLst/>
                <a:latin typeface="+mn-lt"/>
                <a:ea typeface="+mn-ea"/>
                <a:cs typeface="+mn-cs"/>
              </a:rPr>
              <a:t>Patró</a:t>
            </a:r>
            <a:r>
              <a:rPr lang="es-ES" sz="1200" b="1" i="0" kern="1200" dirty="0">
                <a:solidFill>
                  <a:schemeClr val="tx1"/>
                </a:solidFill>
                <a:effectLst/>
                <a:latin typeface="+mn-lt"/>
                <a:ea typeface="+mn-ea"/>
                <a:cs typeface="+mn-cs"/>
              </a:rPr>
              <a:t>:</a:t>
            </a:r>
          </a:p>
          <a:p>
            <a:r>
              <a:rPr lang="es-ES" sz="1200" b="1" i="0" kern="1200" dirty="0">
                <a:solidFill>
                  <a:schemeClr val="tx1"/>
                </a:solidFill>
                <a:effectLst/>
                <a:latin typeface="+mn-lt"/>
                <a:ea typeface="+mn-ea"/>
                <a:cs typeface="+mn-cs"/>
              </a:rPr>
              <a:t>Sumes</a:t>
            </a:r>
            <a:r>
              <a:rPr lang="es-ES" sz="1200" b="0" i="0" kern="1200" dirty="0">
                <a:solidFill>
                  <a:schemeClr val="tx1"/>
                </a:solidFill>
                <a:effectLst/>
                <a:latin typeface="+mn-lt"/>
                <a:ea typeface="+mn-ea"/>
                <a:cs typeface="+mn-cs"/>
              </a:rPr>
              <a:t> totes les </a:t>
            </a:r>
            <a:r>
              <a:rPr lang="es-ES" sz="1200" b="0" i="0" kern="1200" dirty="0" err="1">
                <a:solidFill>
                  <a:schemeClr val="tx1"/>
                </a:solidFill>
                <a:effectLst/>
                <a:latin typeface="+mn-lt"/>
                <a:ea typeface="+mn-ea"/>
                <a:cs typeface="+mn-cs"/>
              </a:rPr>
              <a:t>cardinalitats</a:t>
            </a:r>
            <a:r>
              <a:rPr lang="es-ES" sz="1200" b="0" i="0" kern="1200" dirty="0">
                <a:solidFill>
                  <a:schemeClr val="tx1"/>
                </a:solidFill>
                <a:effectLst/>
                <a:latin typeface="+mn-lt"/>
                <a:ea typeface="+mn-ea"/>
                <a:cs typeface="+mn-cs"/>
              </a:rPr>
              <a:t> </a:t>
            </a:r>
            <a:r>
              <a:rPr lang="es-ES" sz="1200" b="0" i="0" kern="1200" dirty="0" err="1">
                <a:solidFill>
                  <a:schemeClr val="tx1"/>
                </a:solidFill>
                <a:effectLst/>
                <a:latin typeface="+mn-lt"/>
                <a:ea typeface="+mn-ea"/>
                <a:cs typeface="+mn-cs"/>
              </a:rPr>
              <a:t>individuals</a:t>
            </a:r>
            <a:endParaRPr lang="es-ES" sz="1200" b="0" i="0" kern="1200" dirty="0">
              <a:solidFill>
                <a:schemeClr val="tx1"/>
              </a:solidFill>
              <a:effectLst/>
              <a:latin typeface="+mn-lt"/>
              <a:ea typeface="+mn-ea"/>
              <a:cs typeface="+mn-cs"/>
            </a:endParaRPr>
          </a:p>
          <a:p>
            <a:r>
              <a:rPr lang="es-ES" sz="1200" b="1" i="0" kern="1200" dirty="0">
                <a:solidFill>
                  <a:schemeClr val="tx1"/>
                </a:solidFill>
                <a:effectLst/>
                <a:latin typeface="+mn-lt"/>
                <a:ea typeface="+mn-ea"/>
                <a:cs typeface="+mn-cs"/>
              </a:rPr>
              <a:t>Restes</a:t>
            </a:r>
            <a:r>
              <a:rPr lang="es-ES" sz="1200" b="0" i="0" kern="1200" dirty="0">
                <a:solidFill>
                  <a:schemeClr val="tx1"/>
                </a:solidFill>
                <a:effectLst/>
                <a:latin typeface="+mn-lt"/>
                <a:ea typeface="+mn-ea"/>
                <a:cs typeface="+mn-cs"/>
              </a:rPr>
              <a:t> totes les </a:t>
            </a:r>
            <a:r>
              <a:rPr lang="es-ES" sz="1200" b="0" i="0" kern="1200" dirty="0" err="1">
                <a:solidFill>
                  <a:schemeClr val="tx1"/>
                </a:solidFill>
                <a:effectLst/>
                <a:latin typeface="+mn-lt"/>
                <a:ea typeface="+mn-ea"/>
                <a:cs typeface="+mn-cs"/>
              </a:rPr>
              <a:t>interseccions</a:t>
            </a:r>
            <a:r>
              <a:rPr lang="es-ES" sz="1200" b="0" i="0" kern="1200" dirty="0">
                <a:solidFill>
                  <a:schemeClr val="tx1"/>
                </a:solidFill>
                <a:effectLst/>
                <a:latin typeface="+mn-lt"/>
                <a:ea typeface="+mn-ea"/>
                <a:cs typeface="+mn-cs"/>
              </a:rPr>
              <a:t> de dos</a:t>
            </a:r>
          </a:p>
          <a:p>
            <a:r>
              <a:rPr lang="es-ES" sz="1200" b="1" i="0" kern="1200" dirty="0">
                <a:solidFill>
                  <a:schemeClr val="tx1"/>
                </a:solidFill>
                <a:effectLst/>
                <a:latin typeface="+mn-lt"/>
                <a:ea typeface="+mn-ea"/>
                <a:cs typeface="+mn-cs"/>
              </a:rPr>
              <a:t>Sumes</a:t>
            </a:r>
            <a:r>
              <a:rPr lang="es-ES" sz="1200" b="0" i="0" kern="1200" dirty="0">
                <a:solidFill>
                  <a:schemeClr val="tx1"/>
                </a:solidFill>
                <a:effectLst/>
                <a:latin typeface="+mn-lt"/>
                <a:ea typeface="+mn-ea"/>
                <a:cs typeface="+mn-cs"/>
              </a:rPr>
              <a:t> totes les </a:t>
            </a:r>
            <a:r>
              <a:rPr lang="es-ES" sz="1200" b="0" i="0" kern="1200" dirty="0" err="1">
                <a:solidFill>
                  <a:schemeClr val="tx1"/>
                </a:solidFill>
                <a:effectLst/>
                <a:latin typeface="+mn-lt"/>
                <a:ea typeface="+mn-ea"/>
                <a:cs typeface="+mn-cs"/>
              </a:rPr>
              <a:t>interseccions</a:t>
            </a:r>
            <a:r>
              <a:rPr lang="es-ES" sz="1200" b="0" i="0" kern="1200" dirty="0">
                <a:solidFill>
                  <a:schemeClr val="tx1"/>
                </a:solidFill>
                <a:effectLst/>
                <a:latin typeface="+mn-lt"/>
                <a:ea typeface="+mn-ea"/>
                <a:cs typeface="+mn-cs"/>
              </a:rPr>
              <a:t> de tres</a:t>
            </a:r>
          </a:p>
          <a:p>
            <a:r>
              <a:rPr lang="es-ES" sz="1200" b="0" i="0" kern="1200" dirty="0" err="1">
                <a:solidFill>
                  <a:schemeClr val="tx1"/>
                </a:solidFill>
                <a:effectLst/>
                <a:latin typeface="+mn-lt"/>
                <a:ea typeface="+mn-ea"/>
                <a:cs typeface="+mn-cs"/>
              </a:rPr>
              <a:t>Açò</a:t>
            </a:r>
            <a:r>
              <a:rPr lang="es-ES" sz="1200" b="0" i="0" kern="1200" dirty="0">
                <a:solidFill>
                  <a:schemeClr val="tx1"/>
                </a:solidFill>
                <a:effectLst/>
                <a:latin typeface="+mn-lt"/>
                <a:ea typeface="+mn-ea"/>
                <a:cs typeface="+mn-cs"/>
              </a:rPr>
              <a:t> es </a:t>
            </a:r>
            <a:r>
              <a:rPr lang="es-ES" sz="1200" b="0" i="0" kern="1200" dirty="0" err="1">
                <a:solidFill>
                  <a:schemeClr val="tx1"/>
                </a:solidFill>
                <a:effectLst/>
                <a:latin typeface="+mn-lt"/>
                <a:ea typeface="+mn-ea"/>
                <a:cs typeface="+mn-cs"/>
              </a:rPr>
              <a:t>repeteix</a:t>
            </a:r>
            <a:r>
              <a:rPr lang="es-ES" sz="1200" b="0" i="0" kern="1200" dirty="0">
                <a:solidFill>
                  <a:schemeClr val="tx1"/>
                </a:solidFill>
                <a:effectLst/>
                <a:latin typeface="+mn-lt"/>
                <a:ea typeface="+mn-ea"/>
                <a:cs typeface="+mn-cs"/>
              </a:rPr>
              <a:t> </a:t>
            </a:r>
            <a:r>
              <a:rPr lang="es-ES" sz="1200" b="0" i="0" kern="1200" dirty="0" err="1">
                <a:solidFill>
                  <a:schemeClr val="tx1"/>
                </a:solidFill>
                <a:effectLst/>
                <a:latin typeface="+mn-lt"/>
                <a:ea typeface="+mn-ea"/>
                <a:cs typeface="+mn-cs"/>
              </a:rPr>
              <a:t>cap</a:t>
            </a:r>
            <a:r>
              <a:rPr lang="es-ES" sz="1200" b="0" i="0" kern="1200" dirty="0">
                <a:solidFill>
                  <a:schemeClr val="tx1"/>
                </a:solidFill>
                <a:effectLst/>
                <a:latin typeface="+mn-lt"/>
                <a:ea typeface="+mn-ea"/>
                <a:cs typeface="+mn-cs"/>
              </a:rPr>
              <a:t> </a:t>
            </a:r>
            <a:r>
              <a:rPr lang="es-ES" sz="1200" b="0" i="0" kern="1200" dirty="0" err="1">
                <a:solidFill>
                  <a:schemeClr val="tx1"/>
                </a:solidFill>
                <a:effectLst/>
                <a:latin typeface="+mn-lt"/>
                <a:ea typeface="+mn-ea"/>
                <a:cs typeface="+mn-cs"/>
              </a:rPr>
              <a:t>amunt</a:t>
            </a:r>
            <a:r>
              <a:rPr lang="es-ES" sz="1200" b="0" i="0" kern="1200" dirty="0">
                <a:solidFill>
                  <a:schemeClr val="tx1"/>
                </a:solidFill>
                <a:effectLst/>
                <a:latin typeface="+mn-lt"/>
                <a:ea typeface="+mn-ea"/>
                <a:cs typeface="+mn-cs"/>
              </a:rPr>
              <a:t>.</a:t>
            </a:r>
          </a:p>
          <a:p>
            <a:br>
              <a:rPr lang="es-ES" sz="1200" b="0" i="0" kern="1200" dirty="0">
                <a:solidFill>
                  <a:schemeClr val="tx1"/>
                </a:solidFill>
                <a:effectLst/>
                <a:latin typeface="+mn-lt"/>
                <a:ea typeface="+mn-ea"/>
                <a:cs typeface="+mn-cs"/>
              </a:rPr>
            </a:br>
            <a:endParaRPr lang="es-ES" sz="1200" b="0" i="0" kern="1200" dirty="0">
              <a:solidFill>
                <a:schemeClr val="tx1"/>
              </a:solidFill>
              <a:effectLst/>
              <a:latin typeface="+mn-lt"/>
              <a:ea typeface="+mn-ea"/>
              <a:cs typeface="+mn-cs"/>
            </a:endParaRPr>
          </a:p>
          <a:p>
            <a:r>
              <a:rPr lang="es-ES" sz="1200" b="1" i="0" kern="1200" dirty="0">
                <a:solidFill>
                  <a:schemeClr val="tx1"/>
                </a:solidFill>
                <a:effectLst/>
                <a:latin typeface="+mn-lt"/>
                <a:ea typeface="+mn-ea"/>
                <a:cs typeface="+mn-cs"/>
              </a:rPr>
              <a:t>3. </a:t>
            </a:r>
            <a:r>
              <a:rPr lang="es-ES" sz="1200" b="1" i="0" kern="1200" dirty="0" err="1">
                <a:solidFill>
                  <a:schemeClr val="tx1"/>
                </a:solidFill>
                <a:effectLst/>
                <a:latin typeface="+mn-lt"/>
                <a:ea typeface="+mn-ea"/>
                <a:cs typeface="+mn-cs"/>
              </a:rPr>
              <a:t>Versió</a:t>
            </a:r>
            <a:r>
              <a:rPr lang="es-ES" sz="1200" b="1" i="0" kern="1200" dirty="0">
                <a:solidFill>
                  <a:schemeClr val="tx1"/>
                </a:solidFill>
                <a:effectLst/>
                <a:latin typeface="+mn-lt"/>
                <a:ea typeface="+mn-ea"/>
                <a:cs typeface="+mn-cs"/>
              </a:rPr>
              <a:t> general per a $n$ </a:t>
            </a:r>
            <a:r>
              <a:rPr lang="es-ES" sz="1200" b="1" i="0" kern="1200" dirty="0" err="1">
                <a:solidFill>
                  <a:schemeClr val="tx1"/>
                </a:solidFill>
                <a:effectLst/>
                <a:latin typeface="+mn-lt"/>
                <a:ea typeface="+mn-ea"/>
                <a:cs typeface="+mn-cs"/>
              </a:rPr>
              <a:t>conjunts</a:t>
            </a:r>
            <a:endParaRPr lang="es-ES" sz="1200" b="1" i="0" kern="1200" dirty="0">
              <a:solidFill>
                <a:schemeClr val="tx1"/>
              </a:solidFill>
              <a:effectLst/>
              <a:latin typeface="+mn-lt"/>
              <a:ea typeface="+mn-ea"/>
              <a:cs typeface="+mn-cs"/>
            </a:endParaRPr>
          </a:p>
          <a:p>
            <a:r>
              <a:rPr lang="es-ES" sz="1200" b="0" i="0" kern="1200" dirty="0" err="1">
                <a:solidFill>
                  <a:schemeClr val="tx1"/>
                </a:solidFill>
                <a:effectLst/>
                <a:latin typeface="+mn-lt"/>
                <a:ea typeface="+mn-ea"/>
                <a:cs typeface="+mn-cs"/>
              </a:rPr>
              <a:t>Siguem</a:t>
            </a:r>
            <a:r>
              <a:rPr lang="es-ES" sz="1200" b="0" i="0" kern="1200" dirty="0">
                <a:solidFill>
                  <a:schemeClr val="tx1"/>
                </a:solidFill>
                <a:effectLst/>
                <a:latin typeface="+mn-lt"/>
                <a:ea typeface="+mn-ea"/>
                <a:cs typeface="+mn-cs"/>
              </a:rPr>
              <a:t> $A</a:t>
            </a:r>
            <a:r>
              <a:rPr lang="es-ES" sz="1200" b="0" i="1" kern="1200" dirty="0">
                <a:solidFill>
                  <a:schemeClr val="tx1"/>
                </a:solidFill>
                <a:effectLst/>
                <a:latin typeface="+mn-lt"/>
                <a:ea typeface="+mn-ea"/>
                <a:cs typeface="+mn-cs"/>
              </a:rPr>
              <a:t>1, A</a:t>
            </a:r>
            <a:r>
              <a:rPr lang="es-ES" sz="1200" b="0" i="0" kern="1200" dirty="0">
                <a:solidFill>
                  <a:schemeClr val="tx1"/>
                </a:solidFill>
                <a:effectLst/>
                <a:latin typeface="+mn-lt"/>
                <a:ea typeface="+mn-ea"/>
                <a:cs typeface="+mn-cs"/>
              </a:rPr>
              <a:t>2, \</a:t>
            </a:r>
            <a:r>
              <a:rPr lang="es-ES" sz="1200" b="0" i="0" kern="1200" dirty="0" err="1">
                <a:solidFill>
                  <a:schemeClr val="tx1"/>
                </a:solidFill>
                <a:effectLst/>
                <a:latin typeface="+mn-lt"/>
                <a:ea typeface="+mn-ea"/>
                <a:cs typeface="+mn-cs"/>
              </a:rPr>
              <a:t>ldots</a:t>
            </a:r>
            <a:r>
              <a:rPr lang="es-ES" sz="1200" b="0" i="0" kern="1200" dirty="0">
                <a:solidFill>
                  <a:schemeClr val="tx1"/>
                </a:solidFill>
                <a:effectLst/>
                <a:latin typeface="+mn-lt"/>
                <a:ea typeface="+mn-ea"/>
                <a:cs typeface="+mn-cs"/>
              </a:rPr>
              <a:t>, </a:t>
            </a:r>
            <a:r>
              <a:rPr lang="es-ES" sz="1200" b="0" i="0" kern="1200" dirty="0" err="1">
                <a:solidFill>
                  <a:schemeClr val="tx1"/>
                </a:solidFill>
                <a:effectLst/>
                <a:latin typeface="+mn-lt"/>
                <a:ea typeface="+mn-ea"/>
                <a:cs typeface="+mn-cs"/>
              </a:rPr>
              <a:t>A_n</a:t>
            </a:r>
            <a:r>
              <a:rPr lang="es-ES" sz="1200" b="0" i="0" kern="1200" dirty="0">
                <a:solidFill>
                  <a:schemeClr val="tx1"/>
                </a:solidFill>
                <a:effectLst/>
                <a:latin typeface="+mn-lt"/>
                <a:ea typeface="+mn-ea"/>
                <a:cs typeface="+mn-cs"/>
              </a:rPr>
              <a:t>$.</a:t>
            </a:r>
          </a:p>
          <a:p>
            <a:r>
              <a:rPr lang="es-ES" sz="1200" b="0" i="0" kern="1200" dirty="0">
                <a:solidFill>
                  <a:schemeClr val="tx1"/>
                </a:solidFill>
                <a:effectLst/>
                <a:latin typeface="+mn-lt"/>
                <a:ea typeface="+mn-ea"/>
                <a:cs typeface="+mn-cs"/>
              </a:rPr>
              <a:t>El </a:t>
            </a:r>
            <a:r>
              <a:rPr lang="es-ES" sz="1200" b="0" i="0" kern="1200" dirty="0" err="1">
                <a:solidFill>
                  <a:schemeClr val="tx1"/>
                </a:solidFill>
                <a:effectLst/>
                <a:latin typeface="+mn-lt"/>
                <a:ea typeface="+mn-ea"/>
                <a:cs typeface="+mn-cs"/>
              </a:rPr>
              <a:t>principi</a:t>
            </a:r>
            <a:r>
              <a:rPr lang="es-ES" sz="1200" b="0" i="0" kern="1200" dirty="0">
                <a:solidFill>
                  <a:schemeClr val="tx1"/>
                </a:solidFill>
                <a:effectLst/>
                <a:latin typeface="+mn-lt"/>
                <a:ea typeface="+mn-ea"/>
                <a:cs typeface="+mn-cs"/>
              </a:rPr>
              <a:t> general </a:t>
            </a:r>
            <a:r>
              <a:rPr lang="es-ES" sz="1200" b="0" i="0" kern="1200" dirty="0" err="1">
                <a:solidFill>
                  <a:schemeClr val="tx1"/>
                </a:solidFill>
                <a:effectLst/>
                <a:latin typeface="+mn-lt"/>
                <a:ea typeface="+mn-ea"/>
                <a:cs typeface="+mn-cs"/>
              </a:rPr>
              <a:t>és</a:t>
            </a:r>
            <a:r>
              <a:rPr lang="es-ES" sz="1200" b="0" i="0" kern="1200" dirty="0">
                <a:solidFill>
                  <a:schemeClr val="tx1"/>
                </a:solidFill>
                <a:effectLst/>
                <a:latin typeface="+mn-lt"/>
                <a:ea typeface="+mn-ea"/>
                <a:cs typeface="+mn-cs"/>
              </a:rPr>
              <a:t>:</a:t>
            </a:r>
          </a:p>
          <a:p>
            <a:r>
              <a:rPr lang="es-ES" sz="1200" b="0" i="0" kern="1200" dirty="0">
                <a:solidFill>
                  <a:schemeClr val="tx1"/>
                </a:solidFill>
                <a:effectLst/>
                <a:latin typeface="+mn-lt"/>
                <a:ea typeface="+mn-ea"/>
                <a:cs typeface="+mn-cs"/>
              </a:rPr>
              <a:t>$ \</a:t>
            </a:r>
            <a:r>
              <a:rPr lang="es-ES" sz="1200" b="0" i="0" kern="1200" dirty="0" err="1">
                <a:solidFill>
                  <a:schemeClr val="tx1"/>
                </a:solidFill>
                <a:effectLst/>
                <a:latin typeface="+mn-lt"/>
                <a:ea typeface="+mn-ea"/>
                <a:cs typeface="+mn-cs"/>
              </a:rPr>
              <a:t>boxed</a:t>
            </a:r>
            <a:r>
              <a:rPr lang="es-ES" sz="1200" b="0" i="0" kern="1200" dirty="0">
                <a:solidFill>
                  <a:schemeClr val="tx1"/>
                </a:solidFill>
                <a:effectLst/>
                <a:latin typeface="+mn-lt"/>
                <a:ea typeface="+mn-ea"/>
                <a:cs typeface="+mn-cs"/>
              </a:rPr>
              <a:t>{ \</a:t>
            </a:r>
            <a:r>
              <a:rPr lang="es-ES" sz="1200" b="0" i="0" kern="1200" dirty="0" err="1">
                <a:solidFill>
                  <a:schemeClr val="tx1"/>
                </a:solidFill>
                <a:effectLst/>
                <a:latin typeface="+mn-lt"/>
                <a:ea typeface="+mn-ea"/>
                <a:cs typeface="+mn-cs"/>
              </a:rPr>
              <a:t>left</a:t>
            </a:r>
            <a:r>
              <a:rPr lang="es-ES" sz="1200" b="0" i="0" kern="1200" dirty="0">
                <a:solidFill>
                  <a:schemeClr val="tx1"/>
                </a:solidFill>
                <a:effectLst/>
                <a:latin typeface="+mn-lt"/>
                <a:ea typeface="+mn-ea"/>
                <a:cs typeface="+mn-cs"/>
              </a:rPr>
              <a:t>|\</a:t>
            </a:r>
            <a:r>
              <a:rPr lang="es-ES" sz="1200" b="0" i="0" kern="1200" dirty="0" err="1">
                <a:solidFill>
                  <a:schemeClr val="tx1"/>
                </a:solidFill>
                <a:effectLst/>
                <a:latin typeface="+mn-lt"/>
                <a:ea typeface="+mn-ea"/>
                <a:cs typeface="+mn-cs"/>
              </a:rPr>
              <a:t>bigcup</a:t>
            </a:r>
            <a:r>
              <a:rPr lang="es-ES" sz="1200" b="0" i="1" kern="1200" dirty="0">
                <a:solidFill>
                  <a:schemeClr val="tx1"/>
                </a:solidFill>
                <a:effectLst/>
                <a:latin typeface="+mn-lt"/>
                <a:ea typeface="+mn-ea"/>
                <a:cs typeface="+mn-cs"/>
              </a:rPr>
              <a:t>{i=1}^{n} </a:t>
            </a:r>
            <a:r>
              <a:rPr lang="es-ES" sz="1200" b="0" i="1" kern="1200" dirty="0" err="1">
                <a:solidFill>
                  <a:schemeClr val="tx1"/>
                </a:solidFill>
                <a:effectLst/>
                <a:latin typeface="+mn-lt"/>
                <a:ea typeface="+mn-ea"/>
                <a:cs typeface="+mn-cs"/>
              </a:rPr>
              <a:t>A</a:t>
            </a:r>
            <a:r>
              <a:rPr lang="es-ES" sz="1200" b="0" i="0" kern="1200" dirty="0" err="1">
                <a:solidFill>
                  <a:schemeClr val="tx1"/>
                </a:solidFill>
                <a:effectLst/>
                <a:latin typeface="+mn-lt"/>
                <a:ea typeface="+mn-ea"/>
                <a:cs typeface="+mn-cs"/>
              </a:rPr>
              <a:t>i</a:t>
            </a:r>
            <a:r>
              <a:rPr lang="es-ES" sz="1200" b="0" i="0" kern="1200" dirty="0">
                <a:solidFill>
                  <a:schemeClr val="tx1"/>
                </a:solidFill>
                <a:effectLst/>
                <a:latin typeface="+mn-lt"/>
                <a:ea typeface="+mn-ea"/>
                <a:cs typeface="+mn-cs"/>
              </a:rPr>
              <a:t>\</a:t>
            </a:r>
            <a:r>
              <a:rPr lang="es-ES" sz="1200" b="0" i="0" kern="1200" dirty="0" err="1">
                <a:solidFill>
                  <a:schemeClr val="tx1"/>
                </a:solidFill>
                <a:effectLst/>
                <a:latin typeface="+mn-lt"/>
                <a:ea typeface="+mn-ea"/>
                <a:cs typeface="+mn-cs"/>
              </a:rPr>
              <a:t>right</a:t>
            </a:r>
            <a:r>
              <a:rPr lang="es-ES" sz="1200" b="0" i="0" kern="1200" dirty="0">
                <a:solidFill>
                  <a:schemeClr val="tx1"/>
                </a:solidFill>
                <a:effectLst/>
                <a:latin typeface="+mn-lt"/>
                <a:ea typeface="+mn-ea"/>
                <a:cs typeface="+mn-cs"/>
              </a:rPr>
              <a:t>| = \sum</a:t>
            </a:r>
            <a:r>
              <a:rPr lang="es-ES" sz="1200" b="0" i="1" kern="1200" dirty="0">
                <a:solidFill>
                  <a:schemeClr val="tx1"/>
                </a:solidFill>
                <a:effectLst/>
                <a:latin typeface="+mn-lt"/>
                <a:ea typeface="+mn-ea"/>
                <a:cs typeface="+mn-cs"/>
              </a:rPr>
              <a:t>{k=1}^{n} (-1)^{k+1} \</a:t>
            </a:r>
            <a:r>
              <a:rPr lang="es-ES" sz="1200" b="0" i="1" kern="1200" dirty="0" err="1">
                <a:solidFill>
                  <a:schemeClr val="tx1"/>
                </a:solidFill>
                <a:effectLst/>
                <a:latin typeface="+mn-lt"/>
                <a:ea typeface="+mn-ea"/>
                <a:cs typeface="+mn-cs"/>
              </a:rPr>
              <a:t>left</a:t>
            </a:r>
            <a:r>
              <a:rPr lang="es-ES" sz="1200" b="0" i="1" kern="1200" dirty="0">
                <a:solidFill>
                  <a:schemeClr val="tx1"/>
                </a:solidFill>
                <a:effectLst/>
                <a:latin typeface="+mn-lt"/>
                <a:ea typeface="+mn-ea"/>
                <a:cs typeface="+mn-cs"/>
              </a:rPr>
              <a:t>( \sum</a:t>
            </a:r>
            <a:r>
              <a:rPr lang="es-ES" sz="1200" b="0" i="0" kern="1200" dirty="0">
                <a:solidFill>
                  <a:schemeClr val="tx1"/>
                </a:solidFill>
                <a:effectLst/>
                <a:latin typeface="+mn-lt"/>
                <a:ea typeface="+mn-ea"/>
                <a:cs typeface="+mn-cs"/>
              </a:rPr>
              <a:t>{1 \le i</a:t>
            </a:r>
            <a:r>
              <a:rPr lang="es-ES" sz="1200" b="0" i="1" kern="1200" dirty="0">
                <a:solidFill>
                  <a:schemeClr val="tx1"/>
                </a:solidFill>
                <a:effectLst/>
                <a:latin typeface="+mn-lt"/>
                <a:ea typeface="+mn-ea"/>
                <a:cs typeface="+mn-cs"/>
              </a:rPr>
              <a:t>1 &lt; i</a:t>
            </a:r>
            <a:r>
              <a:rPr lang="es-ES" sz="1200" b="0" i="0" kern="1200" dirty="0">
                <a:solidFill>
                  <a:schemeClr val="tx1"/>
                </a:solidFill>
                <a:effectLst/>
                <a:latin typeface="+mn-lt"/>
                <a:ea typeface="+mn-ea"/>
                <a:cs typeface="+mn-cs"/>
              </a:rPr>
              <a:t>2 &lt; \</a:t>
            </a:r>
            <a:r>
              <a:rPr lang="es-ES" sz="1200" b="0" i="0" kern="1200" dirty="0" err="1">
                <a:solidFill>
                  <a:schemeClr val="tx1"/>
                </a:solidFill>
                <a:effectLst/>
                <a:latin typeface="+mn-lt"/>
                <a:ea typeface="+mn-ea"/>
                <a:cs typeface="+mn-cs"/>
              </a:rPr>
              <a:t>cdots</a:t>
            </a:r>
            <a:r>
              <a:rPr lang="es-ES" sz="1200" b="0" i="0" kern="1200" dirty="0">
                <a:solidFill>
                  <a:schemeClr val="tx1"/>
                </a:solidFill>
                <a:effectLst/>
                <a:latin typeface="+mn-lt"/>
                <a:ea typeface="+mn-ea"/>
                <a:cs typeface="+mn-cs"/>
              </a:rPr>
              <a:t> &lt; i</a:t>
            </a:r>
            <a:r>
              <a:rPr lang="es-ES" sz="1200" b="0" i="1" kern="1200" dirty="0">
                <a:solidFill>
                  <a:schemeClr val="tx1"/>
                </a:solidFill>
                <a:effectLst/>
                <a:latin typeface="+mn-lt"/>
                <a:ea typeface="+mn-ea"/>
                <a:cs typeface="+mn-cs"/>
              </a:rPr>
              <a:t>k \le n} |A</a:t>
            </a:r>
            <a:r>
              <a:rPr lang="es-ES" sz="1200" b="0" i="0" kern="1200" dirty="0">
                <a:solidFill>
                  <a:schemeClr val="tx1"/>
                </a:solidFill>
                <a:effectLst/>
                <a:latin typeface="+mn-lt"/>
                <a:ea typeface="+mn-ea"/>
                <a:cs typeface="+mn-cs"/>
              </a:rPr>
              <a:t>{i</a:t>
            </a:r>
            <a:r>
              <a:rPr lang="es-ES" sz="1200" b="0" i="1" kern="1200" dirty="0">
                <a:solidFill>
                  <a:schemeClr val="tx1"/>
                </a:solidFill>
                <a:effectLst/>
                <a:latin typeface="+mn-lt"/>
                <a:ea typeface="+mn-ea"/>
                <a:cs typeface="+mn-cs"/>
              </a:rPr>
              <a:t>1}\</a:t>
            </a:r>
            <a:r>
              <a:rPr lang="es-ES" sz="1200" b="0" i="1" kern="1200" dirty="0" err="1">
                <a:solidFill>
                  <a:schemeClr val="tx1"/>
                </a:solidFill>
                <a:effectLst/>
                <a:latin typeface="+mn-lt"/>
                <a:ea typeface="+mn-ea"/>
                <a:cs typeface="+mn-cs"/>
              </a:rPr>
              <a:t>cap</a:t>
            </a:r>
            <a:r>
              <a:rPr lang="es-ES" sz="1200" b="0" i="1" kern="1200" dirty="0">
                <a:solidFill>
                  <a:schemeClr val="tx1"/>
                </a:solidFill>
                <a:effectLst/>
                <a:latin typeface="+mn-lt"/>
                <a:ea typeface="+mn-ea"/>
                <a:cs typeface="+mn-cs"/>
              </a:rPr>
              <a:t> A</a:t>
            </a:r>
            <a:r>
              <a:rPr lang="es-ES" sz="1200" b="0" i="0" kern="1200" dirty="0">
                <a:solidFill>
                  <a:schemeClr val="tx1"/>
                </a:solidFill>
                <a:effectLst/>
                <a:latin typeface="+mn-lt"/>
                <a:ea typeface="+mn-ea"/>
                <a:cs typeface="+mn-cs"/>
              </a:rPr>
              <a:t>{i</a:t>
            </a:r>
            <a:r>
              <a:rPr lang="es-ES" sz="1200" b="0" i="1" kern="1200" dirty="0">
                <a:solidFill>
                  <a:schemeClr val="tx1"/>
                </a:solidFill>
                <a:effectLst/>
                <a:latin typeface="+mn-lt"/>
                <a:ea typeface="+mn-ea"/>
                <a:cs typeface="+mn-cs"/>
              </a:rPr>
              <a:t>2}\</a:t>
            </a:r>
            <a:r>
              <a:rPr lang="es-ES" sz="1200" b="0" i="1" kern="1200" dirty="0" err="1">
                <a:solidFill>
                  <a:schemeClr val="tx1"/>
                </a:solidFill>
                <a:effectLst/>
                <a:latin typeface="+mn-lt"/>
                <a:ea typeface="+mn-ea"/>
                <a:cs typeface="+mn-cs"/>
              </a:rPr>
              <a:t>cap</a:t>
            </a:r>
            <a:r>
              <a:rPr lang="es-ES" sz="1200" b="0" i="1" kern="1200" dirty="0">
                <a:solidFill>
                  <a:schemeClr val="tx1"/>
                </a:solidFill>
                <a:effectLst/>
                <a:latin typeface="+mn-lt"/>
                <a:ea typeface="+mn-ea"/>
                <a:cs typeface="+mn-cs"/>
              </a:rPr>
              <a:t>\</a:t>
            </a:r>
            <a:r>
              <a:rPr lang="es-ES" sz="1200" b="0" i="1" kern="1200" dirty="0" err="1">
                <a:solidFill>
                  <a:schemeClr val="tx1"/>
                </a:solidFill>
                <a:effectLst/>
                <a:latin typeface="+mn-lt"/>
                <a:ea typeface="+mn-ea"/>
                <a:cs typeface="+mn-cs"/>
              </a:rPr>
              <a:t>cdots</a:t>
            </a:r>
            <a:r>
              <a:rPr lang="es-ES" sz="1200" b="0" i="1" kern="1200" dirty="0">
                <a:solidFill>
                  <a:schemeClr val="tx1"/>
                </a:solidFill>
                <a:effectLst/>
                <a:latin typeface="+mn-lt"/>
                <a:ea typeface="+mn-ea"/>
                <a:cs typeface="+mn-cs"/>
              </a:rPr>
              <a:t>\</a:t>
            </a:r>
            <a:r>
              <a:rPr lang="es-ES" sz="1200" b="0" i="1" kern="1200" dirty="0" err="1">
                <a:solidFill>
                  <a:schemeClr val="tx1"/>
                </a:solidFill>
                <a:effectLst/>
                <a:latin typeface="+mn-lt"/>
                <a:ea typeface="+mn-ea"/>
                <a:cs typeface="+mn-cs"/>
              </a:rPr>
              <a:t>cap</a:t>
            </a:r>
            <a:r>
              <a:rPr lang="es-ES" sz="1200" b="0" i="1" kern="1200" dirty="0">
                <a:solidFill>
                  <a:schemeClr val="tx1"/>
                </a:solidFill>
                <a:effectLst/>
                <a:latin typeface="+mn-lt"/>
                <a:ea typeface="+mn-ea"/>
                <a:cs typeface="+mn-cs"/>
              </a:rPr>
              <a:t> A</a:t>
            </a:r>
            <a:r>
              <a:rPr lang="es-ES" sz="1200" b="0" i="0" kern="1200" dirty="0">
                <a:solidFill>
                  <a:schemeClr val="tx1"/>
                </a:solidFill>
                <a:effectLst/>
                <a:latin typeface="+mn-lt"/>
                <a:ea typeface="+mn-ea"/>
                <a:cs typeface="+mn-cs"/>
              </a:rPr>
              <a:t>{</a:t>
            </a:r>
            <a:r>
              <a:rPr lang="es-ES" sz="1200" b="0" i="0" kern="1200" dirty="0" err="1">
                <a:solidFill>
                  <a:schemeClr val="tx1"/>
                </a:solidFill>
                <a:effectLst/>
                <a:latin typeface="+mn-lt"/>
                <a:ea typeface="+mn-ea"/>
                <a:cs typeface="+mn-cs"/>
              </a:rPr>
              <a:t>i_k</a:t>
            </a:r>
            <a:r>
              <a:rPr lang="es-ES" sz="1200" b="0" i="0" kern="1200" dirty="0">
                <a:solidFill>
                  <a:schemeClr val="tx1"/>
                </a:solidFill>
                <a:effectLst/>
                <a:latin typeface="+mn-lt"/>
                <a:ea typeface="+mn-ea"/>
                <a:cs typeface="+mn-cs"/>
              </a:rPr>
              <a:t>}| \</a:t>
            </a:r>
            <a:r>
              <a:rPr lang="es-ES" sz="1200" b="0" i="0" kern="1200" dirty="0" err="1">
                <a:solidFill>
                  <a:schemeClr val="tx1"/>
                </a:solidFill>
                <a:effectLst/>
                <a:latin typeface="+mn-lt"/>
                <a:ea typeface="+mn-ea"/>
                <a:cs typeface="+mn-cs"/>
              </a:rPr>
              <a:t>right</a:t>
            </a:r>
            <a:r>
              <a:rPr lang="es-ES" sz="1200" b="0" i="0" kern="1200" dirty="0">
                <a:solidFill>
                  <a:schemeClr val="tx1"/>
                </a:solidFill>
                <a:effectLst/>
                <a:latin typeface="+mn-lt"/>
                <a:ea typeface="+mn-ea"/>
                <a:cs typeface="+mn-cs"/>
              </a:rPr>
              <a:t>) } $</a:t>
            </a:r>
          </a:p>
          <a:p>
            <a:r>
              <a:rPr lang="es-ES" sz="1200" b="0" i="0" kern="1200" dirty="0" err="1">
                <a:solidFill>
                  <a:schemeClr val="tx1"/>
                </a:solidFill>
                <a:effectLst/>
                <a:latin typeface="+mn-lt"/>
                <a:ea typeface="+mn-ea"/>
                <a:cs typeface="+mn-cs"/>
              </a:rPr>
              <a:t>És</a:t>
            </a:r>
            <a:r>
              <a:rPr lang="es-ES" sz="1200" b="0" i="0" kern="1200" dirty="0">
                <a:solidFill>
                  <a:schemeClr val="tx1"/>
                </a:solidFill>
                <a:effectLst/>
                <a:latin typeface="+mn-lt"/>
                <a:ea typeface="+mn-ea"/>
                <a:cs typeface="+mn-cs"/>
              </a:rPr>
              <a:t> a </a:t>
            </a:r>
            <a:r>
              <a:rPr lang="es-ES" sz="1200" b="0" i="0" kern="1200" dirty="0" err="1">
                <a:solidFill>
                  <a:schemeClr val="tx1"/>
                </a:solidFill>
                <a:effectLst/>
                <a:latin typeface="+mn-lt"/>
                <a:ea typeface="+mn-ea"/>
                <a:cs typeface="+mn-cs"/>
              </a:rPr>
              <a:t>dir</a:t>
            </a:r>
            <a:r>
              <a:rPr lang="es-ES" sz="1200" b="0" i="0" kern="1200" dirty="0">
                <a:solidFill>
                  <a:schemeClr val="tx1"/>
                </a:solidFill>
                <a:effectLst/>
                <a:latin typeface="+mn-lt"/>
                <a:ea typeface="+mn-ea"/>
                <a:cs typeface="+mn-cs"/>
              </a:rPr>
              <a:t>:</a:t>
            </a:r>
          </a:p>
          <a:p>
            <a:r>
              <a:rPr lang="es-ES" sz="1200" b="1" i="0" kern="1200" dirty="0" err="1">
                <a:solidFill>
                  <a:schemeClr val="tx1"/>
                </a:solidFill>
                <a:effectLst/>
                <a:latin typeface="+mn-lt"/>
                <a:ea typeface="+mn-ea"/>
                <a:cs typeface="+mn-cs"/>
              </a:rPr>
              <a:t>Inclous</a:t>
            </a:r>
            <a:r>
              <a:rPr lang="es-ES" sz="1200" b="0" i="0" kern="1200" dirty="0">
                <a:solidFill>
                  <a:schemeClr val="tx1"/>
                </a:solidFill>
                <a:effectLst/>
                <a:latin typeface="+mn-lt"/>
                <a:ea typeface="+mn-ea"/>
                <a:cs typeface="+mn-cs"/>
              </a:rPr>
              <a:t> (signe +) totes les </a:t>
            </a:r>
            <a:r>
              <a:rPr lang="es-ES" sz="1200" b="0" i="0" kern="1200" dirty="0" err="1">
                <a:solidFill>
                  <a:schemeClr val="tx1"/>
                </a:solidFill>
                <a:effectLst/>
                <a:latin typeface="+mn-lt"/>
                <a:ea typeface="+mn-ea"/>
                <a:cs typeface="+mn-cs"/>
              </a:rPr>
              <a:t>interseccions</a:t>
            </a:r>
            <a:r>
              <a:rPr lang="es-ES" sz="1200" b="0" i="0" kern="1200" dirty="0">
                <a:solidFill>
                  <a:schemeClr val="tx1"/>
                </a:solidFill>
                <a:effectLst/>
                <a:latin typeface="+mn-lt"/>
                <a:ea typeface="+mn-ea"/>
                <a:cs typeface="+mn-cs"/>
              </a:rPr>
              <a:t> de </a:t>
            </a:r>
            <a:r>
              <a:rPr lang="es-ES" sz="1200" b="0" i="0" kern="1200" dirty="0" err="1">
                <a:solidFill>
                  <a:schemeClr val="tx1"/>
                </a:solidFill>
                <a:effectLst/>
                <a:latin typeface="+mn-lt"/>
                <a:ea typeface="+mn-ea"/>
                <a:cs typeface="+mn-cs"/>
              </a:rPr>
              <a:t>cardinalitat</a:t>
            </a:r>
            <a:r>
              <a:rPr lang="es-ES" sz="1200" b="0" i="0" kern="1200" dirty="0">
                <a:solidFill>
                  <a:schemeClr val="tx1"/>
                </a:solidFill>
                <a:effectLst/>
                <a:latin typeface="+mn-lt"/>
                <a:ea typeface="+mn-ea"/>
                <a:cs typeface="+mn-cs"/>
              </a:rPr>
              <a:t> </a:t>
            </a:r>
            <a:r>
              <a:rPr lang="es-ES" sz="1200" b="0" i="1" kern="1200" dirty="0">
                <a:solidFill>
                  <a:schemeClr val="tx1"/>
                </a:solidFill>
                <a:effectLst/>
                <a:latin typeface="+mn-lt"/>
                <a:ea typeface="+mn-ea"/>
                <a:cs typeface="+mn-cs"/>
              </a:rPr>
              <a:t>impar</a:t>
            </a:r>
            <a:endParaRPr lang="es-ES" sz="1200" b="0" i="0" kern="1200" dirty="0">
              <a:solidFill>
                <a:schemeClr val="tx1"/>
              </a:solidFill>
              <a:effectLst/>
              <a:latin typeface="+mn-lt"/>
              <a:ea typeface="+mn-ea"/>
              <a:cs typeface="+mn-cs"/>
            </a:endParaRPr>
          </a:p>
          <a:p>
            <a:r>
              <a:rPr lang="es-ES" sz="1200" b="1" i="0" kern="1200" dirty="0" err="1">
                <a:solidFill>
                  <a:schemeClr val="tx1"/>
                </a:solidFill>
                <a:effectLst/>
                <a:latin typeface="+mn-lt"/>
                <a:ea typeface="+mn-ea"/>
                <a:cs typeface="+mn-cs"/>
              </a:rPr>
              <a:t>Exclous</a:t>
            </a:r>
            <a:r>
              <a:rPr lang="es-ES" sz="1200" b="0" i="0" kern="1200" dirty="0">
                <a:solidFill>
                  <a:schemeClr val="tx1"/>
                </a:solidFill>
                <a:effectLst/>
                <a:latin typeface="+mn-lt"/>
                <a:ea typeface="+mn-ea"/>
                <a:cs typeface="+mn-cs"/>
              </a:rPr>
              <a:t> (signe –) totes les </a:t>
            </a:r>
            <a:r>
              <a:rPr lang="es-ES" sz="1200" b="0" i="0" kern="1200" dirty="0" err="1">
                <a:solidFill>
                  <a:schemeClr val="tx1"/>
                </a:solidFill>
                <a:effectLst/>
                <a:latin typeface="+mn-lt"/>
                <a:ea typeface="+mn-ea"/>
                <a:cs typeface="+mn-cs"/>
              </a:rPr>
              <a:t>interseccions</a:t>
            </a:r>
            <a:r>
              <a:rPr lang="es-ES" sz="1200" b="0" i="0" kern="1200" dirty="0">
                <a:solidFill>
                  <a:schemeClr val="tx1"/>
                </a:solidFill>
                <a:effectLst/>
                <a:latin typeface="+mn-lt"/>
                <a:ea typeface="+mn-ea"/>
                <a:cs typeface="+mn-cs"/>
              </a:rPr>
              <a:t> de </a:t>
            </a:r>
            <a:r>
              <a:rPr lang="es-ES" sz="1200" b="0" i="0" kern="1200" dirty="0" err="1">
                <a:solidFill>
                  <a:schemeClr val="tx1"/>
                </a:solidFill>
                <a:effectLst/>
                <a:latin typeface="+mn-lt"/>
                <a:ea typeface="+mn-ea"/>
                <a:cs typeface="+mn-cs"/>
              </a:rPr>
              <a:t>cardinalitat</a:t>
            </a:r>
            <a:r>
              <a:rPr lang="es-ES" sz="1200" b="0" i="0" kern="1200" dirty="0">
                <a:solidFill>
                  <a:schemeClr val="tx1"/>
                </a:solidFill>
                <a:effectLst/>
                <a:latin typeface="+mn-lt"/>
                <a:ea typeface="+mn-ea"/>
                <a:cs typeface="+mn-cs"/>
              </a:rPr>
              <a:t> </a:t>
            </a:r>
            <a:r>
              <a:rPr lang="es-ES" sz="1200" b="0" i="1" kern="1200" dirty="0">
                <a:solidFill>
                  <a:schemeClr val="tx1"/>
                </a:solidFill>
                <a:effectLst/>
                <a:latin typeface="+mn-lt"/>
                <a:ea typeface="+mn-ea"/>
                <a:cs typeface="+mn-cs"/>
              </a:rPr>
              <a:t>par</a:t>
            </a:r>
            <a:endParaRPr lang="es-ES" sz="1200" b="0" i="0" kern="1200" dirty="0">
              <a:solidFill>
                <a:schemeClr val="tx1"/>
              </a:solidFill>
              <a:effectLst/>
              <a:latin typeface="+mn-lt"/>
              <a:ea typeface="+mn-ea"/>
              <a:cs typeface="+mn-cs"/>
            </a:endParaRPr>
          </a:p>
          <a:p>
            <a:br>
              <a:rPr lang="es-ES" sz="1200" b="0" i="0" kern="1200" dirty="0">
                <a:solidFill>
                  <a:schemeClr val="tx1"/>
                </a:solidFill>
                <a:effectLst/>
                <a:latin typeface="+mn-lt"/>
                <a:ea typeface="+mn-ea"/>
                <a:cs typeface="+mn-cs"/>
              </a:rPr>
            </a:br>
            <a:endParaRPr lang="es-ES" sz="1200" b="0" i="0" kern="1200" dirty="0">
              <a:solidFill>
                <a:schemeClr val="tx1"/>
              </a:solidFill>
              <a:effectLst/>
              <a:latin typeface="+mn-lt"/>
              <a:ea typeface="+mn-ea"/>
              <a:cs typeface="+mn-cs"/>
            </a:endParaRPr>
          </a:p>
          <a:p>
            <a:r>
              <a:rPr lang="es-ES" sz="1200" b="1" i="0" kern="1200" dirty="0">
                <a:solidFill>
                  <a:schemeClr val="tx1"/>
                </a:solidFill>
                <a:effectLst/>
                <a:latin typeface="+mn-lt"/>
                <a:ea typeface="+mn-ea"/>
                <a:cs typeface="+mn-cs"/>
              </a:rPr>
              <a:t>4. </a:t>
            </a:r>
            <a:r>
              <a:rPr lang="es-ES" sz="1200" b="1" i="0" kern="1200" dirty="0" err="1">
                <a:solidFill>
                  <a:schemeClr val="tx1"/>
                </a:solidFill>
                <a:effectLst/>
                <a:latin typeface="+mn-lt"/>
                <a:ea typeface="+mn-ea"/>
                <a:cs typeface="+mn-cs"/>
              </a:rPr>
              <a:t>Exemple</a:t>
            </a:r>
            <a:r>
              <a:rPr lang="es-ES" sz="1200" b="1" i="0" kern="1200" dirty="0">
                <a:solidFill>
                  <a:schemeClr val="tx1"/>
                </a:solidFill>
                <a:effectLst/>
                <a:latin typeface="+mn-lt"/>
                <a:ea typeface="+mn-ea"/>
                <a:cs typeface="+mn-cs"/>
              </a:rPr>
              <a:t> </a:t>
            </a:r>
            <a:r>
              <a:rPr lang="es-ES" sz="1200" b="1" i="0" kern="1200" dirty="0" err="1">
                <a:solidFill>
                  <a:schemeClr val="tx1"/>
                </a:solidFill>
                <a:effectLst/>
                <a:latin typeface="+mn-lt"/>
                <a:ea typeface="+mn-ea"/>
                <a:cs typeface="+mn-cs"/>
              </a:rPr>
              <a:t>fàcil</a:t>
            </a:r>
            <a:endParaRPr lang="es-ES" sz="1200" b="1" i="0" kern="1200" dirty="0">
              <a:solidFill>
                <a:schemeClr val="tx1"/>
              </a:solidFill>
              <a:effectLst/>
              <a:latin typeface="+mn-lt"/>
              <a:ea typeface="+mn-ea"/>
              <a:cs typeface="+mn-cs"/>
            </a:endParaRPr>
          </a:p>
          <a:p>
            <a:r>
              <a:rPr lang="es-ES" sz="1200" b="1" i="0" kern="1200" dirty="0" err="1">
                <a:solidFill>
                  <a:schemeClr val="tx1"/>
                </a:solidFill>
                <a:effectLst/>
                <a:latin typeface="+mn-lt"/>
                <a:ea typeface="+mn-ea"/>
                <a:cs typeface="+mn-cs"/>
              </a:rPr>
              <a:t>Quants</a:t>
            </a:r>
            <a:r>
              <a:rPr lang="es-ES" sz="1200" b="1" i="0" kern="1200" dirty="0">
                <a:solidFill>
                  <a:schemeClr val="tx1"/>
                </a:solidFill>
                <a:effectLst/>
                <a:latin typeface="+mn-lt"/>
                <a:ea typeface="+mn-ea"/>
                <a:cs typeface="+mn-cs"/>
              </a:rPr>
              <a:t> números del 1 al 30 </a:t>
            </a:r>
            <a:r>
              <a:rPr lang="es-ES" sz="1200" b="1" i="0" kern="1200" dirty="0" err="1">
                <a:solidFill>
                  <a:schemeClr val="tx1"/>
                </a:solidFill>
                <a:effectLst/>
                <a:latin typeface="+mn-lt"/>
                <a:ea typeface="+mn-ea"/>
                <a:cs typeface="+mn-cs"/>
              </a:rPr>
              <a:t>són</a:t>
            </a:r>
            <a:r>
              <a:rPr lang="es-ES" sz="1200" b="1" i="0" kern="1200" dirty="0">
                <a:solidFill>
                  <a:schemeClr val="tx1"/>
                </a:solidFill>
                <a:effectLst/>
                <a:latin typeface="+mn-lt"/>
                <a:ea typeface="+mn-ea"/>
                <a:cs typeface="+mn-cs"/>
              </a:rPr>
              <a:t> múltiples de 3 o de 5?</a:t>
            </a:r>
            <a:endParaRPr lang="es-ES" sz="1200" b="0" i="0" kern="1200" dirty="0">
              <a:solidFill>
                <a:schemeClr val="tx1"/>
              </a:solidFill>
              <a:effectLst/>
              <a:latin typeface="+mn-lt"/>
              <a:ea typeface="+mn-ea"/>
              <a:cs typeface="+mn-cs"/>
            </a:endParaRPr>
          </a:p>
          <a:p>
            <a:r>
              <a:rPr lang="es-ES" sz="1200" b="0" i="0" kern="1200" dirty="0" err="1">
                <a:solidFill>
                  <a:schemeClr val="tx1"/>
                </a:solidFill>
                <a:effectLst/>
                <a:latin typeface="+mn-lt"/>
                <a:ea typeface="+mn-ea"/>
                <a:cs typeface="+mn-cs"/>
              </a:rPr>
              <a:t>Definim</a:t>
            </a:r>
            <a:r>
              <a:rPr lang="es-ES" sz="1200" b="0" i="0" kern="1200" dirty="0">
                <a:solidFill>
                  <a:schemeClr val="tx1"/>
                </a:solidFill>
                <a:effectLst/>
                <a:latin typeface="+mn-lt"/>
                <a:ea typeface="+mn-ea"/>
                <a:cs typeface="+mn-cs"/>
              </a:rPr>
              <a:t>:</a:t>
            </a:r>
          </a:p>
          <a:p>
            <a:r>
              <a:rPr lang="es-ES" sz="1200" b="0" i="0" kern="1200" dirty="0">
                <a:solidFill>
                  <a:schemeClr val="tx1"/>
                </a:solidFill>
                <a:effectLst/>
                <a:latin typeface="+mn-lt"/>
                <a:ea typeface="+mn-ea"/>
                <a:cs typeface="+mn-cs"/>
              </a:rPr>
              <a:t>$A$: múltiples de 3</a:t>
            </a:r>
          </a:p>
          <a:p>
            <a:r>
              <a:rPr lang="es-ES" sz="1200" b="0" i="0" kern="1200" dirty="0">
                <a:solidFill>
                  <a:schemeClr val="tx1"/>
                </a:solidFill>
                <a:effectLst/>
                <a:latin typeface="+mn-lt"/>
                <a:ea typeface="+mn-ea"/>
                <a:cs typeface="+mn-cs"/>
              </a:rPr>
              <a:t>$B$: múltiples de 5</a:t>
            </a:r>
          </a:p>
          <a:p>
            <a:r>
              <a:rPr lang="es-ES" sz="1200" b="0" i="0" kern="1200" dirty="0">
                <a:solidFill>
                  <a:schemeClr val="tx1"/>
                </a:solidFill>
                <a:effectLst/>
                <a:latin typeface="+mn-lt"/>
                <a:ea typeface="+mn-ea"/>
                <a:cs typeface="+mn-cs"/>
              </a:rPr>
              <a:t>$ |A| = 10,\</a:t>
            </a:r>
            <a:r>
              <a:rPr lang="es-ES" sz="1200" b="0" i="0" kern="1200" dirty="0" err="1">
                <a:solidFill>
                  <a:schemeClr val="tx1"/>
                </a:solidFill>
                <a:effectLst/>
                <a:latin typeface="+mn-lt"/>
                <a:ea typeface="+mn-ea"/>
                <a:cs typeface="+mn-cs"/>
              </a:rPr>
              <a:t>quad</a:t>
            </a:r>
            <a:r>
              <a:rPr lang="es-ES" sz="1200" b="0" i="0" kern="1200" dirty="0">
                <a:solidFill>
                  <a:schemeClr val="tx1"/>
                </a:solidFill>
                <a:effectLst/>
                <a:latin typeface="+mn-lt"/>
                <a:ea typeface="+mn-ea"/>
                <a:cs typeface="+mn-cs"/>
              </a:rPr>
              <a:t> |B| = 6,\</a:t>
            </a:r>
            <a:r>
              <a:rPr lang="es-ES" sz="1200" b="0" i="0" kern="1200" dirty="0" err="1">
                <a:solidFill>
                  <a:schemeClr val="tx1"/>
                </a:solidFill>
                <a:effectLst/>
                <a:latin typeface="+mn-lt"/>
                <a:ea typeface="+mn-ea"/>
                <a:cs typeface="+mn-cs"/>
              </a:rPr>
              <a:t>quad</a:t>
            </a:r>
            <a:r>
              <a:rPr lang="es-ES" sz="1200" b="0" i="0" kern="1200" dirty="0">
                <a:solidFill>
                  <a:schemeClr val="tx1"/>
                </a:solidFill>
                <a:effectLst/>
                <a:latin typeface="+mn-lt"/>
                <a:ea typeface="+mn-ea"/>
                <a:cs typeface="+mn-cs"/>
              </a:rPr>
              <a:t> |A\</a:t>
            </a:r>
            <a:r>
              <a:rPr lang="es-ES" sz="1200" b="0" i="0" kern="1200" dirty="0" err="1">
                <a:solidFill>
                  <a:schemeClr val="tx1"/>
                </a:solidFill>
                <a:effectLst/>
                <a:latin typeface="+mn-lt"/>
                <a:ea typeface="+mn-ea"/>
                <a:cs typeface="+mn-cs"/>
              </a:rPr>
              <a:t>cap</a:t>
            </a:r>
            <a:r>
              <a:rPr lang="es-ES" sz="1200" b="0" i="0" kern="1200" dirty="0">
                <a:solidFill>
                  <a:schemeClr val="tx1"/>
                </a:solidFill>
                <a:effectLst/>
                <a:latin typeface="+mn-lt"/>
                <a:ea typeface="+mn-ea"/>
                <a:cs typeface="+mn-cs"/>
              </a:rPr>
              <a:t> B| = 2\ (15, 30) $</a:t>
            </a:r>
          </a:p>
          <a:p>
            <a:r>
              <a:rPr lang="es-ES" sz="1200" b="0" i="0" kern="1200" dirty="0">
                <a:solidFill>
                  <a:schemeClr val="tx1"/>
                </a:solidFill>
                <a:effectLst/>
                <a:latin typeface="+mn-lt"/>
                <a:ea typeface="+mn-ea"/>
                <a:cs typeface="+mn-cs"/>
              </a:rPr>
              <a:t>PIE dona:</a:t>
            </a:r>
          </a:p>
          <a:p>
            <a:r>
              <a:rPr lang="es-ES" sz="1200" b="0" i="0" kern="1200" dirty="0">
                <a:solidFill>
                  <a:schemeClr val="tx1"/>
                </a:solidFill>
                <a:effectLst/>
                <a:latin typeface="+mn-lt"/>
                <a:ea typeface="+mn-ea"/>
                <a:cs typeface="+mn-cs"/>
              </a:rPr>
              <a:t>$ |A\cup B| = 10 + 6 - 2 = 14. $</a:t>
            </a:r>
          </a:p>
          <a:p>
            <a:br>
              <a:rPr lang="es-ES" sz="1200" b="0" i="0" kern="1200" dirty="0">
                <a:solidFill>
                  <a:schemeClr val="tx1"/>
                </a:solidFill>
                <a:effectLst/>
                <a:latin typeface="+mn-lt"/>
                <a:ea typeface="+mn-ea"/>
                <a:cs typeface="+mn-cs"/>
              </a:rPr>
            </a:br>
            <a:endParaRPr lang="es-ES" sz="1200" b="0" i="0" kern="1200" dirty="0">
              <a:solidFill>
                <a:schemeClr val="tx1"/>
              </a:solidFill>
              <a:effectLst/>
              <a:latin typeface="+mn-lt"/>
              <a:ea typeface="+mn-ea"/>
              <a:cs typeface="+mn-cs"/>
            </a:endParaRPr>
          </a:p>
          <a:p>
            <a:r>
              <a:rPr lang="es-ES" sz="1200" b="1" i="0" kern="1200" dirty="0">
                <a:solidFill>
                  <a:schemeClr val="tx1"/>
                </a:solidFill>
                <a:effectLst/>
                <a:latin typeface="+mn-lt"/>
                <a:ea typeface="+mn-ea"/>
                <a:cs typeface="+mn-cs"/>
              </a:rPr>
              <a:t>5. </a:t>
            </a:r>
            <a:r>
              <a:rPr lang="es-ES" sz="1200" b="1" i="0" kern="1200" dirty="0" err="1">
                <a:solidFill>
                  <a:schemeClr val="tx1"/>
                </a:solidFill>
                <a:effectLst/>
                <a:latin typeface="+mn-lt"/>
                <a:ea typeface="+mn-ea"/>
                <a:cs typeface="+mn-cs"/>
              </a:rPr>
              <a:t>Exemple</a:t>
            </a:r>
            <a:r>
              <a:rPr lang="es-ES" sz="1200" b="1" i="0" kern="1200" dirty="0">
                <a:solidFill>
                  <a:schemeClr val="tx1"/>
                </a:solidFill>
                <a:effectLst/>
                <a:latin typeface="+mn-lt"/>
                <a:ea typeface="+mn-ea"/>
                <a:cs typeface="+mn-cs"/>
              </a:rPr>
              <a:t> </a:t>
            </a:r>
            <a:r>
              <a:rPr lang="es-ES" sz="1200" b="1" i="0" kern="1200" dirty="0" err="1">
                <a:solidFill>
                  <a:schemeClr val="tx1"/>
                </a:solidFill>
                <a:effectLst/>
                <a:latin typeface="+mn-lt"/>
                <a:ea typeface="+mn-ea"/>
                <a:cs typeface="+mn-cs"/>
              </a:rPr>
              <a:t>més</a:t>
            </a:r>
            <a:r>
              <a:rPr lang="es-ES" sz="1200" b="1" i="0" kern="1200" dirty="0">
                <a:solidFill>
                  <a:schemeClr val="tx1"/>
                </a:solidFill>
                <a:effectLst/>
                <a:latin typeface="+mn-lt"/>
                <a:ea typeface="+mn-ea"/>
                <a:cs typeface="+mn-cs"/>
              </a:rPr>
              <a:t> “</a:t>
            </a:r>
            <a:r>
              <a:rPr lang="es-ES" sz="1200" b="1" i="0" kern="1200" dirty="0" err="1">
                <a:solidFill>
                  <a:schemeClr val="tx1"/>
                </a:solidFill>
                <a:effectLst/>
                <a:latin typeface="+mn-lt"/>
                <a:ea typeface="+mn-ea"/>
                <a:cs typeface="+mn-cs"/>
              </a:rPr>
              <a:t>matemàtic</a:t>
            </a:r>
            <a:r>
              <a:rPr lang="es-ES" sz="1200" b="1" i="0" kern="1200" dirty="0">
                <a:solidFill>
                  <a:schemeClr val="tx1"/>
                </a:solidFill>
                <a:effectLst/>
                <a:latin typeface="+mn-lt"/>
                <a:ea typeface="+mn-ea"/>
                <a:cs typeface="+mn-cs"/>
              </a:rPr>
              <a:t>”: criba de dos </a:t>
            </a:r>
            <a:r>
              <a:rPr lang="es-ES" sz="1200" b="1" i="0" kern="1200" dirty="0" err="1">
                <a:solidFill>
                  <a:schemeClr val="tx1"/>
                </a:solidFill>
                <a:effectLst/>
                <a:latin typeface="+mn-lt"/>
                <a:ea typeface="+mn-ea"/>
                <a:cs typeface="+mn-cs"/>
              </a:rPr>
              <a:t>prims</a:t>
            </a:r>
            <a:endParaRPr lang="es-ES" sz="1200" b="1" i="0" kern="1200" dirty="0">
              <a:solidFill>
                <a:schemeClr val="tx1"/>
              </a:solidFill>
              <a:effectLst/>
              <a:latin typeface="+mn-lt"/>
              <a:ea typeface="+mn-ea"/>
              <a:cs typeface="+mn-cs"/>
            </a:endParaRPr>
          </a:p>
          <a:p>
            <a:r>
              <a:rPr lang="es-ES" sz="1200" b="0" i="0" kern="1200" dirty="0">
                <a:solidFill>
                  <a:schemeClr val="tx1"/>
                </a:solidFill>
                <a:effectLst/>
                <a:latin typeface="+mn-lt"/>
                <a:ea typeface="+mn-ea"/>
                <a:cs typeface="+mn-cs"/>
              </a:rPr>
              <a:t>Si </a:t>
            </a:r>
            <a:r>
              <a:rPr lang="es-ES" sz="1200" b="0" i="0" kern="1200" dirty="0" err="1">
                <a:solidFill>
                  <a:schemeClr val="tx1"/>
                </a:solidFill>
                <a:effectLst/>
                <a:latin typeface="+mn-lt"/>
                <a:ea typeface="+mn-ea"/>
                <a:cs typeface="+mn-cs"/>
              </a:rPr>
              <a:t>vols</a:t>
            </a:r>
            <a:r>
              <a:rPr lang="es-ES" sz="1200" b="0" i="0" kern="1200" dirty="0">
                <a:solidFill>
                  <a:schemeClr val="tx1"/>
                </a:solidFill>
                <a:effectLst/>
                <a:latin typeface="+mn-lt"/>
                <a:ea typeface="+mn-ea"/>
                <a:cs typeface="+mn-cs"/>
              </a:rPr>
              <a:t> saber </a:t>
            </a:r>
            <a:r>
              <a:rPr lang="es-ES" sz="1200" b="0" i="0" kern="1200" dirty="0" err="1">
                <a:solidFill>
                  <a:schemeClr val="tx1"/>
                </a:solidFill>
                <a:effectLst/>
                <a:latin typeface="+mn-lt"/>
                <a:ea typeface="+mn-ea"/>
                <a:cs typeface="+mn-cs"/>
              </a:rPr>
              <a:t>quants</a:t>
            </a:r>
            <a:r>
              <a:rPr lang="es-ES" sz="1200" b="0" i="0" kern="1200" dirty="0">
                <a:solidFill>
                  <a:schemeClr val="tx1"/>
                </a:solidFill>
                <a:effectLst/>
                <a:latin typeface="+mn-lt"/>
                <a:ea typeface="+mn-ea"/>
                <a:cs typeface="+mn-cs"/>
              </a:rPr>
              <a:t> </a:t>
            </a:r>
            <a:r>
              <a:rPr lang="es-ES" sz="1200" b="0" i="0" kern="1200" dirty="0" err="1">
                <a:solidFill>
                  <a:schemeClr val="tx1"/>
                </a:solidFill>
                <a:effectLst/>
                <a:latin typeface="+mn-lt"/>
                <a:ea typeface="+mn-ea"/>
                <a:cs typeface="+mn-cs"/>
              </a:rPr>
              <a:t>enters</a:t>
            </a:r>
            <a:r>
              <a:rPr lang="es-ES" sz="1200" b="0" i="0" kern="1200" dirty="0">
                <a:solidFill>
                  <a:schemeClr val="tx1"/>
                </a:solidFill>
                <a:effectLst/>
                <a:latin typeface="+mn-lt"/>
                <a:ea typeface="+mn-ea"/>
                <a:cs typeface="+mn-cs"/>
              </a:rPr>
              <a:t> </a:t>
            </a:r>
            <a:r>
              <a:rPr lang="es-ES" sz="1200" b="0" i="0" kern="1200" dirty="0" err="1">
                <a:solidFill>
                  <a:schemeClr val="tx1"/>
                </a:solidFill>
                <a:effectLst/>
                <a:latin typeface="+mn-lt"/>
                <a:ea typeface="+mn-ea"/>
                <a:cs typeface="+mn-cs"/>
              </a:rPr>
              <a:t>fins</a:t>
            </a:r>
            <a:r>
              <a:rPr lang="es-ES" sz="1200" b="0" i="0" kern="1200" dirty="0">
                <a:solidFill>
                  <a:schemeClr val="tx1"/>
                </a:solidFill>
                <a:effectLst/>
                <a:latin typeface="+mn-lt"/>
                <a:ea typeface="+mn-ea"/>
                <a:cs typeface="+mn-cs"/>
              </a:rPr>
              <a:t> a $N$ </a:t>
            </a:r>
            <a:r>
              <a:rPr lang="es-ES" sz="1200" b="1" i="0" kern="1200" dirty="0">
                <a:solidFill>
                  <a:schemeClr val="tx1"/>
                </a:solidFill>
                <a:effectLst/>
                <a:latin typeface="+mn-lt"/>
                <a:ea typeface="+mn-ea"/>
                <a:cs typeface="+mn-cs"/>
              </a:rPr>
              <a:t>no </a:t>
            </a:r>
            <a:r>
              <a:rPr lang="es-ES" sz="1200" b="1" i="0" kern="1200" dirty="0" err="1">
                <a:solidFill>
                  <a:schemeClr val="tx1"/>
                </a:solidFill>
                <a:effectLst/>
                <a:latin typeface="+mn-lt"/>
                <a:ea typeface="+mn-ea"/>
                <a:cs typeface="+mn-cs"/>
              </a:rPr>
              <a:t>són</a:t>
            </a:r>
            <a:r>
              <a:rPr lang="es-ES" sz="1200" b="1" i="0" kern="1200" dirty="0">
                <a:solidFill>
                  <a:schemeClr val="tx1"/>
                </a:solidFill>
                <a:effectLst/>
                <a:latin typeface="+mn-lt"/>
                <a:ea typeface="+mn-ea"/>
                <a:cs typeface="+mn-cs"/>
              </a:rPr>
              <a:t> múltiple de 2 ni de 3</a:t>
            </a:r>
            <a:r>
              <a:rPr lang="es-ES" sz="1200" b="0" i="0" kern="1200" dirty="0">
                <a:solidFill>
                  <a:schemeClr val="tx1"/>
                </a:solidFill>
                <a:effectLst/>
                <a:latin typeface="+mn-lt"/>
                <a:ea typeface="+mn-ea"/>
                <a:cs typeface="+mn-cs"/>
              </a:rPr>
              <a:t>:</a:t>
            </a:r>
          </a:p>
          <a:p>
            <a:r>
              <a:rPr lang="es-ES" sz="1200" b="0" i="0" kern="1200" dirty="0" err="1">
                <a:solidFill>
                  <a:schemeClr val="tx1"/>
                </a:solidFill>
                <a:effectLst/>
                <a:latin typeface="+mn-lt"/>
                <a:ea typeface="+mn-ea"/>
                <a:cs typeface="+mn-cs"/>
              </a:rPr>
              <a:t>Definim</a:t>
            </a:r>
            <a:r>
              <a:rPr lang="es-ES" sz="1200" b="0" i="0" kern="1200" dirty="0">
                <a:solidFill>
                  <a:schemeClr val="tx1"/>
                </a:solidFill>
                <a:effectLst/>
                <a:latin typeface="+mn-lt"/>
                <a:ea typeface="+mn-ea"/>
                <a:cs typeface="+mn-cs"/>
              </a:rPr>
              <a:t>:</a:t>
            </a:r>
          </a:p>
          <a:p>
            <a:r>
              <a:rPr lang="es-ES" sz="1200" b="0" i="0" kern="1200" dirty="0">
                <a:solidFill>
                  <a:schemeClr val="tx1"/>
                </a:solidFill>
                <a:effectLst/>
                <a:latin typeface="+mn-lt"/>
                <a:ea typeface="+mn-ea"/>
                <a:cs typeface="+mn-cs"/>
              </a:rPr>
              <a:t>$A$: múltiples de 2</a:t>
            </a:r>
          </a:p>
          <a:p>
            <a:r>
              <a:rPr lang="es-ES" sz="1200" b="0" i="0" kern="1200" dirty="0">
                <a:solidFill>
                  <a:schemeClr val="tx1"/>
                </a:solidFill>
                <a:effectLst/>
                <a:latin typeface="+mn-lt"/>
                <a:ea typeface="+mn-ea"/>
                <a:cs typeface="+mn-cs"/>
              </a:rPr>
              <a:t>$B$: múltiples de 3</a:t>
            </a:r>
          </a:p>
          <a:p>
            <a:r>
              <a:rPr lang="es-ES" sz="1200" b="0" i="0" kern="1200" dirty="0">
                <a:solidFill>
                  <a:schemeClr val="tx1"/>
                </a:solidFill>
                <a:effectLst/>
                <a:latin typeface="+mn-lt"/>
                <a:ea typeface="+mn-ea"/>
                <a:cs typeface="+mn-cs"/>
              </a:rPr>
              <a:t>$ |A|=\</a:t>
            </a:r>
            <a:r>
              <a:rPr lang="es-ES" sz="1200" b="0" i="0" kern="1200" dirty="0" err="1">
                <a:solidFill>
                  <a:schemeClr val="tx1"/>
                </a:solidFill>
                <a:effectLst/>
                <a:latin typeface="+mn-lt"/>
                <a:ea typeface="+mn-ea"/>
                <a:cs typeface="+mn-cs"/>
              </a:rPr>
              <a:t>left</a:t>
            </a:r>
            <a:r>
              <a:rPr lang="es-ES" sz="1200" b="0" i="0" kern="1200" dirty="0">
                <a:solidFill>
                  <a:schemeClr val="tx1"/>
                </a:solidFill>
                <a:effectLst/>
                <a:latin typeface="+mn-lt"/>
                <a:ea typeface="+mn-ea"/>
                <a:cs typeface="+mn-cs"/>
              </a:rPr>
              <a:t>\</a:t>
            </a:r>
            <a:r>
              <a:rPr lang="es-ES" sz="1200" b="0" i="0" kern="1200" dirty="0" err="1">
                <a:solidFill>
                  <a:schemeClr val="tx1"/>
                </a:solidFill>
                <a:effectLst/>
                <a:latin typeface="+mn-lt"/>
                <a:ea typeface="+mn-ea"/>
                <a:cs typeface="+mn-cs"/>
              </a:rPr>
              <a:t>lfloor</a:t>
            </a:r>
            <a:r>
              <a:rPr lang="es-ES" sz="1200" b="0" i="0" kern="1200" dirty="0">
                <a:solidFill>
                  <a:schemeClr val="tx1"/>
                </a:solidFill>
                <a:effectLst/>
                <a:latin typeface="+mn-lt"/>
                <a:ea typeface="+mn-ea"/>
                <a:cs typeface="+mn-cs"/>
              </a:rPr>
              <a:t>\frac{N}{2}\</a:t>
            </a:r>
            <a:r>
              <a:rPr lang="es-ES" sz="1200" b="0" i="0" kern="1200" dirty="0" err="1">
                <a:solidFill>
                  <a:schemeClr val="tx1"/>
                </a:solidFill>
                <a:effectLst/>
                <a:latin typeface="+mn-lt"/>
                <a:ea typeface="+mn-ea"/>
                <a:cs typeface="+mn-cs"/>
              </a:rPr>
              <a:t>right</a:t>
            </a:r>
            <a:r>
              <a:rPr lang="es-ES" sz="1200" b="0" i="0" kern="1200" dirty="0">
                <a:solidFill>
                  <a:schemeClr val="tx1"/>
                </a:solidFill>
                <a:effectLst/>
                <a:latin typeface="+mn-lt"/>
                <a:ea typeface="+mn-ea"/>
                <a:cs typeface="+mn-cs"/>
              </a:rPr>
              <a:t>\</a:t>
            </a:r>
            <a:r>
              <a:rPr lang="es-ES" sz="1200" b="0" i="0" kern="1200" dirty="0" err="1">
                <a:solidFill>
                  <a:schemeClr val="tx1"/>
                </a:solidFill>
                <a:effectLst/>
                <a:latin typeface="+mn-lt"/>
                <a:ea typeface="+mn-ea"/>
                <a:cs typeface="+mn-cs"/>
              </a:rPr>
              <a:t>rfloor</a:t>
            </a:r>
            <a:r>
              <a:rPr lang="es-ES" sz="1200" b="0" i="0" kern="1200" dirty="0">
                <a:solidFill>
                  <a:schemeClr val="tx1"/>
                </a:solidFill>
                <a:effectLst/>
                <a:latin typeface="+mn-lt"/>
                <a:ea typeface="+mn-ea"/>
                <a:cs typeface="+mn-cs"/>
              </a:rPr>
              <a:t>,\; |B|=\</a:t>
            </a:r>
            <a:r>
              <a:rPr lang="es-ES" sz="1200" b="0" i="0" kern="1200" dirty="0" err="1">
                <a:solidFill>
                  <a:schemeClr val="tx1"/>
                </a:solidFill>
                <a:effectLst/>
                <a:latin typeface="+mn-lt"/>
                <a:ea typeface="+mn-ea"/>
                <a:cs typeface="+mn-cs"/>
              </a:rPr>
              <a:t>left</a:t>
            </a:r>
            <a:r>
              <a:rPr lang="es-ES" sz="1200" b="0" i="0" kern="1200" dirty="0">
                <a:solidFill>
                  <a:schemeClr val="tx1"/>
                </a:solidFill>
                <a:effectLst/>
                <a:latin typeface="+mn-lt"/>
                <a:ea typeface="+mn-ea"/>
                <a:cs typeface="+mn-cs"/>
              </a:rPr>
              <a:t>\</a:t>
            </a:r>
            <a:r>
              <a:rPr lang="es-ES" sz="1200" b="0" i="0" kern="1200" dirty="0" err="1">
                <a:solidFill>
                  <a:schemeClr val="tx1"/>
                </a:solidFill>
                <a:effectLst/>
                <a:latin typeface="+mn-lt"/>
                <a:ea typeface="+mn-ea"/>
                <a:cs typeface="+mn-cs"/>
              </a:rPr>
              <a:t>lfloor</a:t>
            </a:r>
            <a:r>
              <a:rPr lang="es-ES" sz="1200" b="0" i="0" kern="1200" dirty="0">
                <a:solidFill>
                  <a:schemeClr val="tx1"/>
                </a:solidFill>
                <a:effectLst/>
                <a:latin typeface="+mn-lt"/>
                <a:ea typeface="+mn-ea"/>
                <a:cs typeface="+mn-cs"/>
              </a:rPr>
              <a:t>\frac{N}{3}\</a:t>
            </a:r>
            <a:r>
              <a:rPr lang="es-ES" sz="1200" b="0" i="0" kern="1200" dirty="0" err="1">
                <a:solidFill>
                  <a:schemeClr val="tx1"/>
                </a:solidFill>
                <a:effectLst/>
                <a:latin typeface="+mn-lt"/>
                <a:ea typeface="+mn-ea"/>
                <a:cs typeface="+mn-cs"/>
              </a:rPr>
              <a:t>right</a:t>
            </a:r>
            <a:r>
              <a:rPr lang="es-ES" sz="1200" b="0" i="0" kern="1200" dirty="0">
                <a:solidFill>
                  <a:schemeClr val="tx1"/>
                </a:solidFill>
                <a:effectLst/>
                <a:latin typeface="+mn-lt"/>
                <a:ea typeface="+mn-ea"/>
                <a:cs typeface="+mn-cs"/>
              </a:rPr>
              <a:t>\</a:t>
            </a:r>
            <a:r>
              <a:rPr lang="es-ES" sz="1200" b="0" i="0" kern="1200" dirty="0" err="1">
                <a:solidFill>
                  <a:schemeClr val="tx1"/>
                </a:solidFill>
                <a:effectLst/>
                <a:latin typeface="+mn-lt"/>
                <a:ea typeface="+mn-ea"/>
                <a:cs typeface="+mn-cs"/>
              </a:rPr>
              <a:t>rfloor</a:t>
            </a:r>
            <a:r>
              <a:rPr lang="es-ES" sz="1200" b="0" i="0" kern="1200" dirty="0">
                <a:solidFill>
                  <a:schemeClr val="tx1"/>
                </a:solidFill>
                <a:effectLst/>
                <a:latin typeface="+mn-lt"/>
                <a:ea typeface="+mn-ea"/>
                <a:cs typeface="+mn-cs"/>
              </a:rPr>
              <a:t>,\; |A\</a:t>
            </a:r>
            <a:r>
              <a:rPr lang="es-ES" sz="1200" b="0" i="0" kern="1200" dirty="0" err="1">
                <a:solidFill>
                  <a:schemeClr val="tx1"/>
                </a:solidFill>
                <a:effectLst/>
                <a:latin typeface="+mn-lt"/>
                <a:ea typeface="+mn-ea"/>
                <a:cs typeface="+mn-cs"/>
              </a:rPr>
              <a:t>cap</a:t>
            </a:r>
            <a:r>
              <a:rPr lang="es-ES" sz="1200" b="0" i="0" kern="1200" dirty="0">
                <a:solidFill>
                  <a:schemeClr val="tx1"/>
                </a:solidFill>
                <a:effectLst/>
                <a:latin typeface="+mn-lt"/>
                <a:ea typeface="+mn-ea"/>
                <a:cs typeface="+mn-cs"/>
              </a:rPr>
              <a:t> B|=\</a:t>
            </a:r>
            <a:r>
              <a:rPr lang="es-ES" sz="1200" b="0" i="0" kern="1200" dirty="0" err="1">
                <a:solidFill>
                  <a:schemeClr val="tx1"/>
                </a:solidFill>
                <a:effectLst/>
                <a:latin typeface="+mn-lt"/>
                <a:ea typeface="+mn-ea"/>
                <a:cs typeface="+mn-cs"/>
              </a:rPr>
              <a:t>left</a:t>
            </a:r>
            <a:r>
              <a:rPr lang="es-ES" sz="1200" b="0" i="0" kern="1200" dirty="0">
                <a:solidFill>
                  <a:schemeClr val="tx1"/>
                </a:solidFill>
                <a:effectLst/>
                <a:latin typeface="+mn-lt"/>
                <a:ea typeface="+mn-ea"/>
                <a:cs typeface="+mn-cs"/>
              </a:rPr>
              <a:t>\</a:t>
            </a:r>
            <a:r>
              <a:rPr lang="es-ES" sz="1200" b="0" i="0" kern="1200" dirty="0" err="1">
                <a:solidFill>
                  <a:schemeClr val="tx1"/>
                </a:solidFill>
                <a:effectLst/>
                <a:latin typeface="+mn-lt"/>
                <a:ea typeface="+mn-ea"/>
                <a:cs typeface="+mn-cs"/>
              </a:rPr>
              <a:t>lfloor</a:t>
            </a:r>
            <a:r>
              <a:rPr lang="es-ES" sz="1200" b="0" i="0" kern="1200" dirty="0">
                <a:solidFill>
                  <a:schemeClr val="tx1"/>
                </a:solidFill>
                <a:effectLst/>
                <a:latin typeface="+mn-lt"/>
                <a:ea typeface="+mn-ea"/>
                <a:cs typeface="+mn-cs"/>
              </a:rPr>
              <a:t>\frac{N}{6}\</a:t>
            </a:r>
            <a:r>
              <a:rPr lang="es-ES" sz="1200" b="0" i="0" kern="1200" dirty="0" err="1">
                <a:solidFill>
                  <a:schemeClr val="tx1"/>
                </a:solidFill>
                <a:effectLst/>
                <a:latin typeface="+mn-lt"/>
                <a:ea typeface="+mn-ea"/>
                <a:cs typeface="+mn-cs"/>
              </a:rPr>
              <a:t>right</a:t>
            </a:r>
            <a:r>
              <a:rPr lang="es-ES" sz="1200" b="0" i="0" kern="1200" dirty="0">
                <a:solidFill>
                  <a:schemeClr val="tx1"/>
                </a:solidFill>
                <a:effectLst/>
                <a:latin typeface="+mn-lt"/>
                <a:ea typeface="+mn-ea"/>
                <a:cs typeface="+mn-cs"/>
              </a:rPr>
              <a:t>\</a:t>
            </a:r>
            <a:r>
              <a:rPr lang="es-ES" sz="1200" b="0" i="0" kern="1200" dirty="0" err="1">
                <a:solidFill>
                  <a:schemeClr val="tx1"/>
                </a:solidFill>
                <a:effectLst/>
                <a:latin typeface="+mn-lt"/>
                <a:ea typeface="+mn-ea"/>
                <a:cs typeface="+mn-cs"/>
              </a:rPr>
              <a:t>rfloor</a:t>
            </a:r>
            <a:r>
              <a:rPr lang="es-ES" sz="1200" b="0" i="0" kern="1200" dirty="0">
                <a:solidFill>
                  <a:schemeClr val="tx1"/>
                </a:solidFill>
                <a:effectLst/>
                <a:latin typeface="+mn-lt"/>
                <a:ea typeface="+mn-ea"/>
                <a:cs typeface="+mn-cs"/>
              </a:rPr>
              <a:t>. $</a:t>
            </a:r>
          </a:p>
          <a:p>
            <a:r>
              <a:rPr lang="es-ES" sz="1200" b="0" i="0" kern="1200" dirty="0" err="1">
                <a:solidFill>
                  <a:schemeClr val="tx1"/>
                </a:solidFill>
                <a:effectLst/>
                <a:latin typeface="+mn-lt"/>
                <a:ea typeface="+mn-ea"/>
                <a:cs typeface="+mn-cs"/>
              </a:rPr>
              <a:t>Els</a:t>
            </a:r>
            <a:r>
              <a:rPr lang="es-ES" sz="1200" b="0" i="0" kern="1200" dirty="0">
                <a:solidFill>
                  <a:schemeClr val="tx1"/>
                </a:solidFill>
                <a:effectLst/>
                <a:latin typeface="+mn-lt"/>
                <a:ea typeface="+mn-ea"/>
                <a:cs typeface="+mn-cs"/>
              </a:rPr>
              <a:t> </a:t>
            </a:r>
            <a:r>
              <a:rPr lang="es-ES" sz="1200" b="0" i="0" kern="1200" dirty="0" err="1">
                <a:solidFill>
                  <a:schemeClr val="tx1"/>
                </a:solidFill>
                <a:effectLst/>
                <a:latin typeface="+mn-lt"/>
                <a:ea typeface="+mn-ea"/>
                <a:cs typeface="+mn-cs"/>
              </a:rPr>
              <a:t>prohibits</a:t>
            </a:r>
            <a:r>
              <a:rPr lang="es-ES" sz="1200" b="0" i="0" kern="1200" dirty="0">
                <a:solidFill>
                  <a:schemeClr val="tx1"/>
                </a:solidFill>
                <a:effectLst/>
                <a:latin typeface="+mn-lt"/>
                <a:ea typeface="+mn-ea"/>
                <a:cs typeface="+mn-cs"/>
              </a:rPr>
              <a:t> </a:t>
            </a:r>
            <a:r>
              <a:rPr lang="es-ES" sz="1200" b="0" i="0" kern="1200" dirty="0" err="1">
                <a:solidFill>
                  <a:schemeClr val="tx1"/>
                </a:solidFill>
                <a:effectLst/>
                <a:latin typeface="+mn-lt"/>
                <a:ea typeface="+mn-ea"/>
                <a:cs typeface="+mn-cs"/>
              </a:rPr>
              <a:t>són</a:t>
            </a:r>
            <a:r>
              <a:rPr lang="es-ES" sz="1200" b="0" i="0" kern="1200" dirty="0">
                <a:solidFill>
                  <a:schemeClr val="tx1"/>
                </a:solidFill>
                <a:effectLst/>
                <a:latin typeface="+mn-lt"/>
                <a:ea typeface="+mn-ea"/>
                <a:cs typeface="+mn-cs"/>
              </a:rPr>
              <a:t>:</a:t>
            </a:r>
          </a:p>
          <a:p>
            <a:r>
              <a:rPr lang="es-ES" sz="1200" b="0" i="0" kern="1200" dirty="0">
                <a:solidFill>
                  <a:schemeClr val="tx1"/>
                </a:solidFill>
                <a:effectLst/>
                <a:latin typeface="+mn-lt"/>
                <a:ea typeface="+mn-ea"/>
                <a:cs typeface="+mn-cs"/>
              </a:rPr>
              <a:t>$ |A\cup B| = \frac{N}{2} + \frac{N}{3} - \frac{N}{6} = \frac{2N}{3}. $</a:t>
            </a:r>
          </a:p>
          <a:p>
            <a:r>
              <a:rPr lang="es-ES" sz="1200" b="0" i="0" kern="1200" dirty="0" err="1">
                <a:solidFill>
                  <a:schemeClr val="tx1"/>
                </a:solidFill>
                <a:effectLst/>
                <a:latin typeface="+mn-lt"/>
                <a:ea typeface="+mn-ea"/>
                <a:cs typeface="+mn-cs"/>
              </a:rPr>
              <a:t>Els</a:t>
            </a:r>
            <a:r>
              <a:rPr lang="es-ES" sz="1200" b="0" i="0" kern="1200" dirty="0">
                <a:solidFill>
                  <a:schemeClr val="tx1"/>
                </a:solidFill>
                <a:effectLst/>
                <a:latin typeface="+mn-lt"/>
                <a:ea typeface="+mn-ea"/>
                <a:cs typeface="+mn-cs"/>
              </a:rPr>
              <a:t> </a:t>
            </a:r>
            <a:r>
              <a:rPr lang="es-ES" sz="1200" b="1" i="0" kern="1200" dirty="0" err="1">
                <a:solidFill>
                  <a:schemeClr val="tx1"/>
                </a:solidFill>
                <a:effectLst/>
                <a:latin typeface="+mn-lt"/>
                <a:ea typeface="+mn-ea"/>
                <a:cs typeface="+mn-cs"/>
              </a:rPr>
              <a:t>permesos</a:t>
            </a:r>
            <a:r>
              <a:rPr lang="es-ES" sz="1200" b="0" i="0" kern="1200" dirty="0">
                <a:solidFill>
                  <a:schemeClr val="tx1"/>
                </a:solidFill>
                <a:effectLst/>
                <a:latin typeface="+mn-lt"/>
                <a:ea typeface="+mn-ea"/>
                <a:cs typeface="+mn-cs"/>
              </a:rPr>
              <a:t>:</a:t>
            </a:r>
          </a:p>
          <a:p>
            <a:r>
              <a:rPr lang="es-ES" sz="1200" b="0" i="0" kern="1200" dirty="0">
                <a:solidFill>
                  <a:schemeClr val="tx1"/>
                </a:solidFill>
                <a:effectLst/>
                <a:latin typeface="+mn-lt"/>
                <a:ea typeface="+mn-ea"/>
                <a:cs typeface="+mn-cs"/>
              </a:rPr>
              <a:t>$ N - |A\cup B| = \frac{N}{3}. $</a:t>
            </a:r>
          </a:p>
          <a:p>
            <a:r>
              <a:rPr lang="es-ES" sz="1200" b="0" i="0" kern="1200" dirty="0">
                <a:solidFill>
                  <a:schemeClr val="tx1"/>
                </a:solidFill>
                <a:effectLst/>
                <a:latin typeface="+mn-lt"/>
                <a:ea typeface="+mn-ea"/>
                <a:cs typeface="+mn-cs"/>
              </a:rPr>
              <a:t>Este </a:t>
            </a:r>
            <a:r>
              <a:rPr lang="es-ES" sz="1200" b="0" i="0" kern="1200" dirty="0" err="1">
                <a:solidFill>
                  <a:schemeClr val="tx1"/>
                </a:solidFill>
                <a:effectLst/>
                <a:latin typeface="+mn-lt"/>
                <a:ea typeface="+mn-ea"/>
                <a:cs typeface="+mn-cs"/>
              </a:rPr>
              <a:t>és</a:t>
            </a:r>
            <a:r>
              <a:rPr lang="es-ES" sz="1200" b="0" i="0" kern="1200" dirty="0">
                <a:solidFill>
                  <a:schemeClr val="tx1"/>
                </a:solidFill>
                <a:effectLst/>
                <a:latin typeface="+mn-lt"/>
                <a:ea typeface="+mn-ea"/>
                <a:cs typeface="+mn-cs"/>
              </a:rPr>
              <a:t> </a:t>
            </a:r>
            <a:r>
              <a:rPr lang="es-ES" sz="1200" b="0" i="0" kern="1200" dirty="0" err="1">
                <a:solidFill>
                  <a:schemeClr val="tx1"/>
                </a:solidFill>
                <a:effectLst/>
                <a:latin typeface="+mn-lt"/>
                <a:ea typeface="+mn-ea"/>
                <a:cs typeface="+mn-cs"/>
              </a:rPr>
              <a:t>exactament</a:t>
            </a:r>
            <a:r>
              <a:rPr lang="es-ES" sz="1200" b="0" i="0" kern="1200" dirty="0">
                <a:solidFill>
                  <a:schemeClr val="tx1"/>
                </a:solidFill>
                <a:effectLst/>
                <a:latin typeface="+mn-lt"/>
                <a:ea typeface="+mn-ea"/>
                <a:cs typeface="+mn-cs"/>
              </a:rPr>
              <a:t> el </a:t>
            </a:r>
            <a:r>
              <a:rPr lang="es-ES" sz="1200" b="0" i="0" kern="1200" dirty="0" err="1">
                <a:solidFill>
                  <a:schemeClr val="tx1"/>
                </a:solidFill>
                <a:effectLst/>
                <a:latin typeface="+mn-lt"/>
                <a:ea typeface="+mn-ea"/>
                <a:cs typeface="+mn-cs"/>
              </a:rPr>
              <a:t>mecanisme</a:t>
            </a:r>
            <a:r>
              <a:rPr lang="es-ES" sz="1200" b="0" i="0" kern="1200" dirty="0">
                <a:solidFill>
                  <a:schemeClr val="tx1"/>
                </a:solidFill>
                <a:effectLst/>
                <a:latin typeface="+mn-lt"/>
                <a:ea typeface="+mn-ea"/>
                <a:cs typeface="+mn-cs"/>
              </a:rPr>
              <a:t> que fa funcionar </a:t>
            </a:r>
            <a:r>
              <a:rPr lang="es-ES" sz="1200" b="0" i="0" kern="1200" dirty="0" err="1">
                <a:solidFill>
                  <a:schemeClr val="tx1"/>
                </a:solidFill>
                <a:effectLst/>
                <a:latin typeface="+mn-lt"/>
                <a:ea typeface="+mn-ea"/>
                <a:cs typeface="+mn-cs"/>
              </a:rPr>
              <a:t>qualsevol</a:t>
            </a:r>
            <a:r>
              <a:rPr lang="es-ES" sz="1200" b="0" i="0" kern="1200" dirty="0">
                <a:solidFill>
                  <a:schemeClr val="tx1"/>
                </a:solidFill>
                <a:effectLst/>
                <a:latin typeface="+mn-lt"/>
                <a:ea typeface="+mn-ea"/>
                <a:cs typeface="+mn-cs"/>
              </a:rPr>
              <a:t> </a:t>
            </a:r>
            <a:r>
              <a:rPr lang="es-ES" sz="1200" b="1" i="0" kern="1200" dirty="0">
                <a:solidFill>
                  <a:schemeClr val="tx1"/>
                </a:solidFill>
                <a:effectLst/>
                <a:latin typeface="+mn-lt"/>
                <a:ea typeface="+mn-ea"/>
                <a:cs typeface="+mn-cs"/>
              </a:rPr>
              <a:t>criba multiplicativa</a:t>
            </a:r>
            <a:r>
              <a:rPr lang="es-ES" sz="1200" b="0" i="0" kern="1200" dirty="0">
                <a:solidFill>
                  <a:schemeClr val="tx1"/>
                </a:solidFill>
                <a:effectLst/>
                <a:latin typeface="+mn-lt"/>
                <a:ea typeface="+mn-ea"/>
                <a:cs typeface="+mn-cs"/>
              </a:rPr>
              <a:t>.</a:t>
            </a:r>
          </a:p>
          <a:p>
            <a:br>
              <a:rPr lang="es-ES" sz="1200" b="0" i="0" kern="1200" dirty="0">
                <a:solidFill>
                  <a:schemeClr val="tx1"/>
                </a:solidFill>
                <a:effectLst/>
                <a:latin typeface="+mn-lt"/>
                <a:ea typeface="+mn-ea"/>
                <a:cs typeface="+mn-cs"/>
              </a:rPr>
            </a:br>
            <a:endParaRPr lang="es-ES" sz="1200" b="0" i="0" kern="1200" dirty="0">
              <a:solidFill>
                <a:schemeClr val="tx1"/>
              </a:solidFill>
              <a:effectLst/>
              <a:latin typeface="+mn-lt"/>
              <a:ea typeface="+mn-ea"/>
              <a:cs typeface="+mn-cs"/>
            </a:endParaRPr>
          </a:p>
          <a:p>
            <a:r>
              <a:rPr lang="es-ES" sz="1200" b="1" i="0" kern="1200" dirty="0">
                <a:solidFill>
                  <a:schemeClr val="tx1"/>
                </a:solidFill>
                <a:effectLst/>
                <a:latin typeface="+mn-lt"/>
                <a:ea typeface="+mn-ea"/>
                <a:cs typeface="+mn-cs"/>
              </a:rPr>
              <a:t>6. </a:t>
            </a:r>
            <a:r>
              <a:rPr lang="es-ES" sz="1200" b="1" i="0" kern="1200" dirty="0" err="1">
                <a:solidFill>
                  <a:schemeClr val="tx1"/>
                </a:solidFill>
                <a:effectLst/>
                <a:latin typeface="+mn-lt"/>
                <a:ea typeface="+mn-ea"/>
                <a:cs typeface="+mn-cs"/>
              </a:rPr>
              <a:t>Interpretació</a:t>
            </a:r>
            <a:r>
              <a:rPr lang="es-ES" sz="1200" b="1" i="0" kern="1200" dirty="0">
                <a:solidFill>
                  <a:schemeClr val="tx1"/>
                </a:solidFill>
                <a:effectLst/>
                <a:latin typeface="+mn-lt"/>
                <a:ea typeface="+mn-ea"/>
                <a:cs typeface="+mn-cs"/>
              </a:rPr>
              <a:t> </a:t>
            </a:r>
            <a:r>
              <a:rPr lang="es-ES" sz="1200" b="1" i="0" kern="1200" dirty="0" err="1">
                <a:solidFill>
                  <a:schemeClr val="tx1"/>
                </a:solidFill>
                <a:effectLst/>
                <a:latin typeface="+mn-lt"/>
                <a:ea typeface="+mn-ea"/>
                <a:cs typeface="+mn-cs"/>
              </a:rPr>
              <a:t>combinatòria</a:t>
            </a:r>
            <a:r>
              <a:rPr lang="es-ES" sz="1200" b="1" i="0" kern="1200" dirty="0">
                <a:solidFill>
                  <a:schemeClr val="tx1"/>
                </a:solidFill>
                <a:effectLst/>
                <a:latin typeface="+mn-lt"/>
                <a:ea typeface="+mn-ea"/>
                <a:cs typeface="+mn-cs"/>
              </a:rPr>
              <a:t> “de </a:t>
            </a:r>
            <a:r>
              <a:rPr lang="es-ES" sz="1200" b="1" i="0" kern="1200" dirty="0" err="1">
                <a:solidFill>
                  <a:schemeClr val="tx1"/>
                </a:solidFill>
                <a:effectLst/>
                <a:latin typeface="+mn-lt"/>
                <a:ea typeface="+mn-ea"/>
                <a:cs typeface="+mn-cs"/>
              </a:rPr>
              <a:t>veritat</a:t>
            </a:r>
            <a:r>
              <a:rPr lang="es-ES" sz="1200" b="1" i="0" kern="1200" dirty="0">
                <a:solidFill>
                  <a:schemeClr val="tx1"/>
                </a:solidFill>
                <a:effectLst/>
                <a:latin typeface="+mn-lt"/>
                <a:ea typeface="+mn-ea"/>
                <a:cs typeface="+mn-cs"/>
              </a:rPr>
              <a:t>”</a:t>
            </a:r>
          </a:p>
          <a:p>
            <a:r>
              <a:rPr lang="es-ES" sz="1200" b="0" i="0" kern="1200" dirty="0">
                <a:solidFill>
                  <a:schemeClr val="tx1"/>
                </a:solidFill>
                <a:effectLst/>
                <a:latin typeface="+mn-lt"/>
                <a:ea typeface="+mn-ea"/>
                <a:cs typeface="+mn-cs"/>
              </a:rPr>
              <a:t>PIE </a:t>
            </a:r>
            <a:r>
              <a:rPr lang="es-ES" sz="1200" b="0" i="0" kern="1200" dirty="0" err="1">
                <a:solidFill>
                  <a:schemeClr val="tx1"/>
                </a:solidFill>
                <a:effectLst/>
                <a:latin typeface="+mn-lt"/>
                <a:ea typeface="+mn-ea"/>
                <a:cs typeface="+mn-cs"/>
              </a:rPr>
              <a:t>diu</a:t>
            </a:r>
            <a:r>
              <a:rPr lang="es-ES" sz="1200" b="0" i="0" kern="1200" dirty="0">
                <a:solidFill>
                  <a:schemeClr val="tx1"/>
                </a:solidFill>
                <a:effectLst/>
                <a:latin typeface="+mn-lt"/>
                <a:ea typeface="+mn-ea"/>
                <a:cs typeface="+mn-cs"/>
              </a:rPr>
              <a:t> </a:t>
            </a:r>
            <a:r>
              <a:rPr lang="es-ES" sz="1200" b="0" i="0" kern="1200" dirty="0" err="1">
                <a:solidFill>
                  <a:schemeClr val="tx1"/>
                </a:solidFill>
                <a:effectLst/>
                <a:latin typeface="+mn-lt"/>
                <a:ea typeface="+mn-ea"/>
                <a:cs typeface="+mn-cs"/>
              </a:rPr>
              <a:t>literalment</a:t>
            </a:r>
            <a:r>
              <a:rPr lang="es-ES" sz="1200" b="0" i="0" kern="1200" dirty="0">
                <a:solidFill>
                  <a:schemeClr val="tx1"/>
                </a:solidFill>
                <a:effectLst/>
                <a:latin typeface="+mn-lt"/>
                <a:ea typeface="+mn-ea"/>
                <a:cs typeface="+mn-cs"/>
              </a:rPr>
              <a:t>:</a:t>
            </a:r>
          </a:p>
          <a:p>
            <a:r>
              <a:rPr lang="es-ES" sz="1200" b="0" i="0" kern="1200" dirty="0">
                <a:solidFill>
                  <a:schemeClr val="tx1"/>
                </a:solidFill>
                <a:effectLst/>
                <a:latin typeface="+mn-lt"/>
                <a:ea typeface="+mn-ea"/>
                <a:cs typeface="+mn-cs"/>
              </a:rPr>
              <a:t>“</a:t>
            </a:r>
            <a:r>
              <a:rPr lang="es-ES" sz="1200" b="0" i="0" kern="1200" dirty="0" err="1">
                <a:solidFill>
                  <a:schemeClr val="tx1"/>
                </a:solidFill>
                <a:effectLst/>
                <a:latin typeface="+mn-lt"/>
                <a:ea typeface="+mn-ea"/>
                <a:cs typeface="+mn-cs"/>
              </a:rPr>
              <a:t>Afegeix</a:t>
            </a:r>
            <a:r>
              <a:rPr lang="es-ES" sz="1200" b="0" i="0" kern="1200" dirty="0">
                <a:solidFill>
                  <a:schemeClr val="tx1"/>
                </a:solidFill>
                <a:effectLst/>
                <a:latin typeface="+mn-lt"/>
                <a:ea typeface="+mn-ea"/>
                <a:cs typeface="+mn-cs"/>
              </a:rPr>
              <a:t> totes les </a:t>
            </a:r>
            <a:r>
              <a:rPr lang="es-ES" sz="1200" b="0" i="0" kern="1200" dirty="0" err="1">
                <a:solidFill>
                  <a:schemeClr val="tx1"/>
                </a:solidFill>
                <a:effectLst/>
                <a:latin typeface="+mn-lt"/>
                <a:ea typeface="+mn-ea"/>
                <a:cs typeface="+mn-cs"/>
              </a:rPr>
              <a:t>vegades</a:t>
            </a:r>
            <a:r>
              <a:rPr lang="es-ES" sz="1200" b="0" i="0" kern="1200" dirty="0">
                <a:solidFill>
                  <a:schemeClr val="tx1"/>
                </a:solidFill>
                <a:effectLst/>
                <a:latin typeface="+mn-lt"/>
                <a:ea typeface="+mn-ea"/>
                <a:cs typeface="+mn-cs"/>
              </a:rPr>
              <a:t> que un </a:t>
            </a:r>
            <a:r>
              <a:rPr lang="es-ES" sz="1200" b="0" i="0" kern="1200" dirty="0" err="1">
                <a:solidFill>
                  <a:schemeClr val="tx1"/>
                </a:solidFill>
                <a:effectLst/>
                <a:latin typeface="+mn-lt"/>
                <a:ea typeface="+mn-ea"/>
                <a:cs typeface="+mn-cs"/>
              </a:rPr>
              <a:t>element</a:t>
            </a:r>
            <a:r>
              <a:rPr lang="es-ES" sz="1200" b="0" i="0" kern="1200" dirty="0">
                <a:solidFill>
                  <a:schemeClr val="tx1"/>
                </a:solidFill>
                <a:effectLst/>
                <a:latin typeface="+mn-lt"/>
                <a:ea typeface="+mn-ea"/>
                <a:cs typeface="+mn-cs"/>
              </a:rPr>
              <a:t> </a:t>
            </a:r>
            <a:r>
              <a:rPr lang="es-ES" sz="1200" b="0" i="0" kern="1200" dirty="0" err="1">
                <a:solidFill>
                  <a:schemeClr val="tx1"/>
                </a:solidFill>
                <a:effectLst/>
                <a:latin typeface="+mn-lt"/>
                <a:ea typeface="+mn-ea"/>
                <a:cs typeface="+mn-cs"/>
              </a:rPr>
              <a:t>és</a:t>
            </a:r>
            <a:r>
              <a:rPr lang="es-ES" sz="1200" b="0" i="0" kern="1200" dirty="0">
                <a:solidFill>
                  <a:schemeClr val="tx1"/>
                </a:solidFill>
                <a:effectLst/>
                <a:latin typeface="+mn-lt"/>
                <a:ea typeface="+mn-ea"/>
                <a:cs typeface="+mn-cs"/>
              </a:rPr>
              <a:t> </a:t>
            </a:r>
            <a:r>
              <a:rPr lang="es-ES" sz="1200" b="0" i="0" kern="1200" dirty="0" err="1">
                <a:solidFill>
                  <a:schemeClr val="tx1"/>
                </a:solidFill>
                <a:effectLst/>
                <a:latin typeface="+mn-lt"/>
                <a:ea typeface="+mn-ea"/>
                <a:cs typeface="+mn-cs"/>
              </a:rPr>
              <a:t>comptat</a:t>
            </a:r>
            <a:r>
              <a:rPr lang="es-ES" sz="1200" b="0" i="0" kern="1200" dirty="0">
                <a:solidFill>
                  <a:schemeClr val="tx1"/>
                </a:solidFill>
                <a:effectLst/>
                <a:latin typeface="+mn-lt"/>
                <a:ea typeface="+mn-ea"/>
                <a:cs typeface="+mn-cs"/>
              </a:rPr>
              <a:t>,</a:t>
            </a:r>
            <a:br>
              <a:rPr lang="es-ES" sz="1200" b="0" i="0" kern="1200" dirty="0">
                <a:solidFill>
                  <a:schemeClr val="tx1"/>
                </a:solidFill>
                <a:effectLst/>
                <a:latin typeface="+mn-lt"/>
                <a:ea typeface="+mn-ea"/>
                <a:cs typeface="+mn-cs"/>
              </a:rPr>
            </a:br>
            <a:r>
              <a:rPr lang="es-ES" sz="1200" b="0" i="0" kern="1200" dirty="0" err="1">
                <a:solidFill>
                  <a:schemeClr val="tx1"/>
                </a:solidFill>
                <a:effectLst/>
                <a:latin typeface="+mn-lt"/>
                <a:ea typeface="+mn-ea"/>
                <a:cs typeface="+mn-cs"/>
              </a:rPr>
              <a:t>però</a:t>
            </a:r>
            <a:r>
              <a:rPr lang="es-ES" sz="1200" b="0" i="0" kern="1200" dirty="0">
                <a:solidFill>
                  <a:schemeClr val="tx1"/>
                </a:solidFill>
                <a:effectLst/>
                <a:latin typeface="+mn-lt"/>
                <a:ea typeface="+mn-ea"/>
                <a:cs typeface="+mn-cs"/>
              </a:rPr>
              <a:t> </a:t>
            </a:r>
            <a:r>
              <a:rPr lang="es-ES" sz="1200" b="0" i="0" kern="1200" dirty="0" err="1">
                <a:solidFill>
                  <a:schemeClr val="tx1"/>
                </a:solidFill>
                <a:effectLst/>
                <a:latin typeface="+mn-lt"/>
                <a:ea typeface="+mn-ea"/>
                <a:cs typeface="+mn-cs"/>
              </a:rPr>
              <a:t>després</a:t>
            </a:r>
            <a:r>
              <a:rPr lang="es-ES" sz="1200" b="0" i="0" kern="1200" dirty="0">
                <a:solidFill>
                  <a:schemeClr val="tx1"/>
                </a:solidFill>
                <a:effectLst/>
                <a:latin typeface="+mn-lt"/>
                <a:ea typeface="+mn-ea"/>
                <a:cs typeface="+mn-cs"/>
              </a:rPr>
              <a:t> compensa </a:t>
            </a:r>
            <a:r>
              <a:rPr lang="es-ES" sz="1200" b="0" i="0" kern="1200" dirty="0" err="1">
                <a:solidFill>
                  <a:schemeClr val="tx1"/>
                </a:solidFill>
                <a:effectLst/>
                <a:latin typeface="+mn-lt"/>
                <a:ea typeface="+mn-ea"/>
                <a:cs typeface="+mn-cs"/>
              </a:rPr>
              <a:t>els</a:t>
            </a:r>
            <a:r>
              <a:rPr lang="es-ES" sz="1200" b="0" i="0" kern="1200" dirty="0">
                <a:solidFill>
                  <a:schemeClr val="tx1"/>
                </a:solidFill>
                <a:effectLst/>
                <a:latin typeface="+mn-lt"/>
                <a:ea typeface="+mn-ea"/>
                <a:cs typeface="+mn-cs"/>
              </a:rPr>
              <a:t> </a:t>
            </a:r>
            <a:r>
              <a:rPr lang="es-ES" sz="1200" b="0" i="0" kern="1200" dirty="0" err="1">
                <a:solidFill>
                  <a:schemeClr val="tx1"/>
                </a:solidFill>
                <a:effectLst/>
                <a:latin typeface="+mn-lt"/>
                <a:ea typeface="+mn-ea"/>
                <a:cs typeface="+mn-cs"/>
              </a:rPr>
              <a:t>solapaments</a:t>
            </a:r>
            <a:r>
              <a:rPr lang="es-ES" sz="1200" b="0" i="0" kern="1200" dirty="0">
                <a:solidFill>
                  <a:schemeClr val="tx1"/>
                </a:solidFill>
                <a:effectLst/>
                <a:latin typeface="+mn-lt"/>
                <a:ea typeface="+mn-ea"/>
                <a:cs typeface="+mn-cs"/>
              </a:rPr>
              <a:t> </a:t>
            </a:r>
            <a:r>
              <a:rPr lang="es-ES" sz="1200" b="0" i="0" kern="1200" dirty="0" err="1">
                <a:solidFill>
                  <a:schemeClr val="tx1"/>
                </a:solidFill>
                <a:effectLst/>
                <a:latin typeface="+mn-lt"/>
                <a:ea typeface="+mn-ea"/>
                <a:cs typeface="+mn-cs"/>
              </a:rPr>
              <a:t>alternativament</a:t>
            </a:r>
            <a:r>
              <a:rPr lang="es-ES" sz="1200" b="0" i="0" kern="1200" dirty="0">
                <a:solidFill>
                  <a:schemeClr val="tx1"/>
                </a:solidFill>
                <a:effectLst/>
                <a:latin typeface="+mn-lt"/>
                <a:ea typeface="+mn-ea"/>
                <a:cs typeface="+mn-cs"/>
              </a:rPr>
              <a:t> </a:t>
            </a:r>
            <a:r>
              <a:rPr lang="es-ES" sz="1200" b="0" i="0" kern="1200" dirty="0" err="1">
                <a:solidFill>
                  <a:schemeClr val="tx1"/>
                </a:solidFill>
                <a:effectLst/>
                <a:latin typeface="+mn-lt"/>
                <a:ea typeface="+mn-ea"/>
                <a:cs typeface="+mn-cs"/>
              </a:rPr>
              <a:t>amb</a:t>
            </a:r>
            <a:r>
              <a:rPr lang="es-ES" sz="1200" b="0" i="0" kern="1200" dirty="0">
                <a:solidFill>
                  <a:schemeClr val="tx1"/>
                </a:solidFill>
                <a:effectLst/>
                <a:latin typeface="+mn-lt"/>
                <a:ea typeface="+mn-ea"/>
                <a:cs typeface="+mn-cs"/>
              </a:rPr>
              <a:t> + i –</a:t>
            </a:r>
            <a:br>
              <a:rPr lang="es-ES" sz="1200" b="0" i="0" kern="1200" dirty="0">
                <a:solidFill>
                  <a:schemeClr val="tx1"/>
                </a:solidFill>
                <a:effectLst/>
                <a:latin typeface="+mn-lt"/>
                <a:ea typeface="+mn-ea"/>
                <a:cs typeface="+mn-cs"/>
              </a:rPr>
            </a:br>
            <a:r>
              <a:rPr lang="es-ES" sz="1200" b="0" i="0" kern="1200" dirty="0">
                <a:solidFill>
                  <a:schemeClr val="tx1"/>
                </a:solidFill>
                <a:effectLst/>
                <a:latin typeface="+mn-lt"/>
                <a:ea typeface="+mn-ea"/>
                <a:cs typeface="+mn-cs"/>
              </a:rPr>
              <a:t>per </a:t>
            </a:r>
            <a:r>
              <a:rPr lang="es-ES" sz="1200" b="0" i="0" kern="1200" dirty="0" err="1">
                <a:solidFill>
                  <a:schemeClr val="tx1"/>
                </a:solidFill>
                <a:effectLst/>
                <a:latin typeface="+mn-lt"/>
                <a:ea typeface="+mn-ea"/>
                <a:cs typeface="+mn-cs"/>
              </a:rPr>
              <a:t>aconseguir</a:t>
            </a:r>
            <a:r>
              <a:rPr lang="es-ES" sz="1200" b="0" i="0" kern="1200" dirty="0">
                <a:solidFill>
                  <a:schemeClr val="tx1"/>
                </a:solidFill>
                <a:effectLst/>
                <a:latin typeface="+mn-lt"/>
                <a:ea typeface="+mn-ea"/>
                <a:cs typeface="+mn-cs"/>
              </a:rPr>
              <a:t> que cada </a:t>
            </a:r>
            <a:r>
              <a:rPr lang="es-ES" sz="1200" b="0" i="0" kern="1200" dirty="0" err="1">
                <a:solidFill>
                  <a:schemeClr val="tx1"/>
                </a:solidFill>
                <a:effectLst/>
                <a:latin typeface="+mn-lt"/>
                <a:ea typeface="+mn-ea"/>
                <a:cs typeface="+mn-cs"/>
              </a:rPr>
              <a:t>element</a:t>
            </a:r>
            <a:r>
              <a:rPr lang="es-ES" sz="1200" b="0" i="0" kern="1200" dirty="0">
                <a:solidFill>
                  <a:schemeClr val="tx1"/>
                </a:solidFill>
                <a:effectLst/>
                <a:latin typeface="+mn-lt"/>
                <a:ea typeface="+mn-ea"/>
                <a:cs typeface="+mn-cs"/>
              </a:rPr>
              <a:t> es </a:t>
            </a:r>
            <a:r>
              <a:rPr lang="es-ES" sz="1200" b="0" i="0" kern="1200" dirty="0" err="1">
                <a:solidFill>
                  <a:schemeClr val="tx1"/>
                </a:solidFill>
                <a:effectLst/>
                <a:latin typeface="+mn-lt"/>
                <a:ea typeface="+mn-ea"/>
                <a:cs typeface="+mn-cs"/>
              </a:rPr>
              <a:t>compte</a:t>
            </a:r>
            <a:r>
              <a:rPr lang="es-ES" sz="1200" b="0" i="0" kern="1200" dirty="0">
                <a:solidFill>
                  <a:schemeClr val="tx1"/>
                </a:solidFill>
                <a:effectLst/>
                <a:latin typeface="+mn-lt"/>
                <a:ea typeface="+mn-ea"/>
                <a:cs typeface="+mn-cs"/>
              </a:rPr>
              <a:t> </a:t>
            </a:r>
            <a:r>
              <a:rPr lang="es-ES" sz="1200" b="0" i="0" kern="1200" dirty="0" err="1">
                <a:solidFill>
                  <a:schemeClr val="tx1"/>
                </a:solidFill>
                <a:effectLst/>
                <a:latin typeface="+mn-lt"/>
                <a:ea typeface="+mn-ea"/>
                <a:cs typeface="+mn-cs"/>
              </a:rPr>
              <a:t>exactament</a:t>
            </a:r>
            <a:r>
              <a:rPr lang="es-ES" sz="1200" b="0" i="0" kern="1200" dirty="0">
                <a:solidFill>
                  <a:schemeClr val="tx1"/>
                </a:solidFill>
                <a:effectLst/>
                <a:latin typeface="+mn-lt"/>
                <a:ea typeface="+mn-ea"/>
                <a:cs typeface="+mn-cs"/>
              </a:rPr>
              <a:t> 1 vegada.”</a:t>
            </a:r>
          </a:p>
          <a:p>
            <a:r>
              <a:rPr lang="es-ES" sz="1200" b="0" i="0" kern="1200" dirty="0">
                <a:solidFill>
                  <a:schemeClr val="tx1"/>
                </a:solidFill>
                <a:effectLst/>
                <a:latin typeface="+mn-lt"/>
                <a:ea typeface="+mn-ea"/>
                <a:cs typeface="+mn-cs"/>
              </a:rPr>
              <a:t>Este </a:t>
            </a:r>
            <a:r>
              <a:rPr lang="es-ES" sz="1200" b="0" i="0" kern="1200" dirty="0" err="1">
                <a:solidFill>
                  <a:schemeClr val="tx1"/>
                </a:solidFill>
                <a:effectLst/>
                <a:latin typeface="+mn-lt"/>
                <a:ea typeface="+mn-ea"/>
                <a:cs typeface="+mn-cs"/>
              </a:rPr>
              <a:t>concepte</a:t>
            </a:r>
            <a:r>
              <a:rPr lang="es-ES" sz="1200" b="0" i="0" kern="1200" dirty="0">
                <a:solidFill>
                  <a:schemeClr val="tx1"/>
                </a:solidFill>
                <a:effectLst/>
                <a:latin typeface="+mn-lt"/>
                <a:ea typeface="+mn-ea"/>
                <a:cs typeface="+mn-cs"/>
              </a:rPr>
              <a:t> </a:t>
            </a:r>
            <a:r>
              <a:rPr lang="es-ES" sz="1200" b="0" i="0" kern="1200" dirty="0" err="1">
                <a:solidFill>
                  <a:schemeClr val="tx1"/>
                </a:solidFill>
                <a:effectLst/>
                <a:latin typeface="+mn-lt"/>
                <a:ea typeface="+mn-ea"/>
                <a:cs typeface="+mn-cs"/>
              </a:rPr>
              <a:t>és</a:t>
            </a:r>
            <a:r>
              <a:rPr lang="es-ES" sz="1200" b="0" i="0" kern="1200" dirty="0">
                <a:solidFill>
                  <a:schemeClr val="tx1"/>
                </a:solidFill>
                <a:effectLst/>
                <a:latin typeface="+mn-lt"/>
                <a:ea typeface="+mn-ea"/>
                <a:cs typeface="+mn-cs"/>
              </a:rPr>
              <a:t> indispensable en:</a:t>
            </a:r>
          </a:p>
          <a:p>
            <a:r>
              <a:rPr lang="es-ES" sz="1200" b="0" i="0" kern="1200" dirty="0" err="1">
                <a:solidFill>
                  <a:schemeClr val="tx1"/>
                </a:solidFill>
                <a:effectLst/>
                <a:latin typeface="+mn-lt"/>
                <a:ea typeface="+mn-ea"/>
                <a:cs typeface="+mn-cs"/>
              </a:rPr>
              <a:t>Teoria</a:t>
            </a:r>
            <a:r>
              <a:rPr lang="es-ES" sz="1200" b="0" i="0" kern="1200" dirty="0">
                <a:solidFill>
                  <a:schemeClr val="tx1"/>
                </a:solidFill>
                <a:effectLst/>
                <a:latin typeface="+mn-lt"/>
                <a:ea typeface="+mn-ea"/>
                <a:cs typeface="+mn-cs"/>
              </a:rPr>
              <a:t> de </a:t>
            </a:r>
            <a:r>
              <a:rPr lang="es-ES" sz="1200" b="0" i="0" kern="1200" dirty="0" err="1">
                <a:solidFill>
                  <a:schemeClr val="tx1"/>
                </a:solidFill>
                <a:effectLst/>
                <a:latin typeface="+mn-lt"/>
                <a:ea typeface="+mn-ea"/>
                <a:cs typeface="+mn-cs"/>
              </a:rPr>
              <a:t>cribatge</a:t>
            </a:r>
            <a:r>
              <a:rPr lang="es-ES" sz="1200" b="0" i="0" kern="1200" dirty="0">
                <a:solidFill>
                  <a:schemeClr val="tx1"/>
                </a:solidFill>
                <a:effectLst/>
                <a:latin typeface="+mn-lt"/>
                <a:ea typeface="+mn-ea"/>
                <a:cs typeface="+mn-cs"/>
              </a:rPr>
              <a:t> </a:t>
            </a:r>
            <a:r>
              <a:rPr lang="es-ES" sz="1200" b="0" i="0" kern="1200" dirty="0" err="1">
                <a:solidFill>
                  <a:schemeClr val="tx1"/>
                </a:solidFill>
                <a:effectLst/>
                <a:latin typeface="+mn-lt"/>
                <a:ea typeface="+mn-ea"/>
                <a:cs typeface="+mn-cs"/>
              </a:rPr>
              <a:t>analític</a:t>
            </a:r>
            <a:endParaRPr lang="es-ES" sz="1200" b="0" i="0" kern="1200" dirty="0">
              <a:solidFill>
                <a:schemeClr val="tx1"/>
              </a:solidFill>
              <a:effectLst/>
              <a:latin typeface="+mn-lt"/>
              <a:ea typeface="+mn-ea"/>
              <a:cs typeface="+mn-cs"/>
            </a:endParaRPr>
          </a:p>
          <a:p>
            <a:r>
              <a:rPr lang="es-ES" sz="1200" b="0" i="0" kern="1200" dirty="0" err="1">
                <a:solidFill>
                  <a:schemeClr val="tx1"/>
                </a:solidFill>
                <a:effectLst/>
                <a:latin typeface="+mn-lt"/>
                <a:ea typeface="+mn-ea"/>
                <a:cs typeface="+mn-cs"/>
              </a:rPr>
              <a:t>Densitats</a:t>
            </a:r>
            <a:r>
              <a:rPr lang="es-ES" sz="1200" b="0" i="0" kern="1200" dirty="0">
                <a:solidFill>
                  <a:schemeClr val="tx1"/>
                </a:solidFill>
                <a:effectLst/>
                <a:latin typeface="+mn-lt"/>
                <a:ea typeface="+mn-ea"/>
                <a:cs typeface="+mn-cs"/>
              </a:rPr>
              <a:t> de </a:t>
            </a:r>
            <a:r>
              <a:rPr lang="es-ES" sz="1200" b="0" i="0" kern="1200" dirty="0" err="1">
                <a:solidFill>
                  <a:schemeClr val="tx1"/>
                </a:solidFill>
                <a:effectLst/>
                <a:latin typeface="+mn-lt"/>
                <a:ea typeface="+mn-ea"/>
                <a:cs typeface="+mn-cs"/>
              </a:rPr>
              <a:t>prims</a:t>
            </a:r>
            <a:endParaRPr lang="es-ES" sz="1200" b="0" i="0" kern="1200" dirty="0">
              <a:solidFill>
                <a:schemeClr val="tx1"/>
              </a:solidFill>
              <a:effectLst/>
              <a:latin typeface="+mn-lt"/>
              <a:ea typeface="+mn-ea"/>
              <a:cs typeface="+mn-cs"/>
            </a:endParaRPr>
          </a:p>
          <a:p>
            <a:r>
              <a:rPr lang="es-ES" sz="1200" b="0" i="0" kern="1200" dirty="0" err="1">
                <a:solidFill>
                  <a:schemeClr val="tx1"/>
                </a:solidFill>
                <a:effectLst/>
                <a:latin typeface="+mn-lt"/>
                <a:ea typeface="+mn-ea"/>
                <a:cs typeface="+mn-cs"/>
              </a:rPr>
              <a:t>Comptatge</a:t>
            </a:r>
            <a:r>
              <a:rPr lang="es-ES" sz="1200" b="0" i="0" kern="1200" dirty="0">
                <a:solidFill>
                  <a:schemeClr val="tx1"/>
                </a:solidFill>
                <a:effectLst/>
                <a:latin typeface="+mn-lt"/>
                <a:ea typeface="+mn-ea"/>
                <a:cs typeface="+mn-cs"/>
              </a:rPr>
              <a:t> de </a:t>
            </a:r>
            <a:r>
              <a:rPr lang="es-ES" sz="1200" b="0" i="0" kern="1200" dirty="0" err="1">
                <a:solidFill>
                  <a:schemeClr val="tx1"/>
                </a:solidFill>
                <a:effectLst/>
                <a:latin typeface="+mn-lt"/>
                <a:ea typeface="+mn-ea"/>
                <a:cs typeface="+mn-cs"/>
              </a:rPr>
              <a:t>solucions</a:t>
            </a:r>
            <a:r>
              <a:rPr lang="es-ES" sz="1200" b="0" i="0" kern="1200" dirty="0">
                <a:solidFill>
                  <a:schemeClr val="tx1"/>
                </a:solidFill>
                <a:effectLst/>
                <a:latin typeface="+mn-lt"/>
                <a:ea typeface="+mn-ea"/>
                <a:cs typeface="+mn-cs"/>
              </a:rPr>
              <a:t> </a:t>
            </a:r>
            <a:r>
              <a:rPr lang="es-ES" sz="1200" b="0" i="0" kern="1200" dirty="0" err="1">
                <a:solidFill>
                  <a:schemeClr val="tx1"/>
                </a:solidFill>
                <a:effectLst/>
                <a:latin typeface="+mn-lt"/>
                <a:ea typeface="+mn-ea"/>
                <a:cs typeface="+mn-cs"/>
              </a:rPr>
              <a:t>modulars</a:t>
            </a:r>
            <a:endParaRPr lang="es-ES" sz="1200" b="0" i="0" kern="1200" dirty="0">
              <a:solidFill>
                <a:schemeClr val="tx1"/>
              </a:solidFill>
              <a:effectLst/>
              <a:latin typeface="+mn-lt"/>
              <a:ea typeface="+mn-ea"/>
              <a:cs typeface="+mn-cs"/>
            </a:endParaRPr>
          </a:p>
          <a:p>
            <a:r>
              <a:rPr lang="es-ES" sz="1200" b="0" i="0" kern="1200" dirty="0" err="1">
                <a:solidFill>
                  <a:schemeClr val="tx1"/>
                </a:solidFill>
                <a:effectLst/>
                <a:latin typeface="+mn-lt"/>
                <a:ea typeface="+mn-ea"/>
                <a:cs typeface="+mn-cs"/>
              </a:rPr>
              <a:t>Probabilitat</a:t>
            </a:r>
            <a:r>
              <a:rPr lang="es-ES" sz="1200" b="0" i="0" kern="1200" dirty="0">
                <a:solidFill>
                  <a:schemeClr val="tx1"/>
                </a:solidFill>
                <a:effectLst/>
                <a:latin typeface="+mn-lt"/>
                <a:ea typeface="+mn-ea"/>
                <a:cs typeface="+mn-cs"/>
              </a:rPr>
              <a:t> </a:t>
            </a:r>
            <a:r>
              <a:rPr lang="es-ES" sz="1200" b="0" i="0" kern="1200" dirty="0" err="1">
                <a:solidFill>
                  <a:schemeClr val="tx1"/>
                </a:solidFill>
                <a:effectLst/>
                <a:latin typeface="+mn-lt"/>
                <a:ea typeface="+mn-ea"/>
                <a:cs typeface="+mn-cs"/>
              </a:rPr>
              <a:t>combinatòria</a:t>
            </a:r>
            <a:endParaRPr lang="es-ES" sz="1200" b="0" i="0" kern="1200" dirty="0">
              <a:solidFill>
                <a:schemeClr val="tx1"/>
              </a:solidFill>
              <a:effectLst/>
              <a:latin typeface="+mn-lt"/>
              <a:ea typeface="+mn-ea"/>
              <a:cs typeface="+mn-cs"/>
            </a:endParaRPr>
          </a:p>
          <a:p>
            <a:r>
              <a:rPr lang="es-ES" sz="1200" b="0" i="0" kern="1200" dirty="0" err="1">
                <a:solidFill>
                  <a:schemeClr val="tx1"/>
                </a:solidFill>
                <a:effectLst/>
                <a:latin typeface="+mn-lt"/>
                <a:ea typeface="+mn-ea"/>
                <a:cs typeface="+mn-cs"/>
              </a:rPr>
              <a:t>Detecció</a:t>
            </a:r>
            <a:r>
              <a:rPr lang="es-ES" sz="1200" b="0" i="0" kern="1200" dirty="0">
                <a:solidFill>
                  <a:schemeClr val="tx1"/>
                </a:solidFill>
                <a:effectLst/>
                <a:latin typeface="+mn-lt"/>
                <a:ea typeface="+mn-ea"/>
                <a:cs typeface="+mn-cs"/>
              </a:rPr>
              <a:t> de </a:t>
            </a:r>
            <a:r>
              <a:rPr lang="es-ES" sz="1200" b="0" i="0" kern="1200" dirty="0" err="1">
                <a:solidFill>
                  <a:schemeClr val="tx1"/>
                </a:solidFill>
                <a:effectLst/>
                <a:latin typeface="+mn-lt"/>
                <a:ea typeface="+mn-ea"/>
                <a:cs typeface="+mn-cs"/>
              </a:rPr>
              <a:t>patrons</a:t>
            </a:r>
            <a:r>
              <a:rPr lang="es-ES" sz="1200" b="0" i="0" kern="1200" dirty="0">
                <a:solidFill>
                  <a:schemeClr val="tx1"/>
                </a:solidFill>
                <a:effectLst/>
                <a:latin typeface="+mn-lt"/>
                <a:ea typeface="+mn-ea"/>
                <a:cs typeface="+mn-cs"/>
              </a:rPr>
              <a:t> </a:t>
            </a:r>
            <a:r>
              <a:rPr lang="es-ES" sz="1200" b="0" i="0" kern="1200" dirty="0" err="1">
                <a:solidFill>
                  <a:schemeClr val="tx1"/>
                </a:solidFill>
                <a:effectLst/>
                <a:latin typeface="+mn-lt"/>
                <a:ea typeface="+mn-ea"/>
                <a:cs typeface="+mn-cs"/>
              </a:rPr>
              <a:t>repetits</a:t>
            </a:r>
            <a:endParaRPr lang="es-ES" sz="1200" b="0" i="0" kern="1200" dirty="0">
              <a:solidFill>
                <a:schemeClr val="tx1"/>
              </a:solidFill>
              <a:effectLst/>
              <a:latin typeface="+mn-lt"/>
              <a:ea typeface="+mn-ea"/>
              <a:cs typeface="+mn-cs"/>
            </a:endParaRPr>
          </a:p>
          <a:p>
            <a:r>
              <a:rPr lang="es-ES" sz="1200" b="0" i="0" kern="1200" dirty="0" err="1">
                <a:solidFill>
                  <a:schemeClr val="tx1"/>
                </a:solidFill>
                <a:effectLst/>
                <a:latin typeface="+mn-lt"/>
                <a:ea typeface="+mn-ea"/>
                <a:cs typeface="+mn-cs"/>
              </a:rPr>
              <a:t>Teoria</a:t>
            </a:r>
            <a:r>
              <a:rPr lang="es-ES" sz="1200" b="0" i="0" kern="1200" dirty="0">
                <a:solidFill>
                  <a:schemeClr val="tx1"/>
                </a:solidFill>
                <a:effectLst/>
                <a:latin typeface="+mn-lt"/>
                <a:ea typeface="+mn-ea"/>
                <a:cs typeface="+mn-cs"/>
              </a:rPr>
              <a:t> de </a:t>
            </a:r>
            <a:r>
              <a:rPr lang="es-ES" sz="1200" b="0" i="0" kern="1200" dirty="0" err="1">
                <a:solidFill>
                  <a:schemeClr val="tx1"/>
                </a:solidFill>
                <a:effectLst/>
                <a:latin typeface="+mn-lt"/>
                <a:ea typeface="+mn-ea"/>
                <a:cs typeface="+mn-cs"/>
              </a:rPr>
              <a:t>grafes</a:t>
            </a:r>
            <a:r>
              <a:rPr lang="es-ES" sz="1200" b="0" i="0" kern="1200" dirty="0">
                <a:solidFill>
                  <a:schemeClr val="tx1"/>
                </a:solidFill>
                <a:effectLst/>
                <a:latin typeface="+mn-lt"/>
                <a:ea typeface="+mn-ea"/>
                <a:cs typeface="+mn-cs"/>
              </a:rPr>
              <a:t> (in/</a:t>
            </a:r>
            <a:r>
              <a:rPr lang="es-ES" sz="1200" b="0" i="0" kern="1200" dirty="0" err="1">
                <a:solidFill>
                  <a:schemeClr val="tx1"/>
                </a:solidFill>
                <a:effectLst/>
                <a:latin typeface="+mn-lt"/>
                <a:ea typeface="+mn-ea"/>
                <a:cs typeface="+mn-cs"/>
              </a:rPr>
              <a:t>outs</a:t>
            </a:r>
            <a:r>
              <a:rPr lang="es-ES" sz="1200" b="0" i="0" kern="1200" dirty="0">
                <a:solidFill>
                  <a:schemeClr val="tx1"/>
                </a:solidFill>
                <a:effectLst/>
                <a:latin typeface="+mn-lt"/>
                <a:ea typeface="+mn-ea"/>
                <a:cs typeface="+mn-cs"/>
              </a:rPr>
              <a:t>, </a:t>
            </a:r>
            <a:r>
              <a:rPr lang="es-ES" sz="1200" b="0" i="0" kern="1200" dirty="0" err="1">
                <a:solidFill>
                  <a:schemeClr val="tx1"/>
                </a:solidFill>
                <a:effectLst/>
                <a:latin typeface="+mn-lt"/>
                <a:ea typeface="+mn-ea"/>
                <a:cs typeface="+mn-cs"/>
              </a:rPr>
              <a:t>independència</a:t>
            </a:r>
            <a:r>
              <a:rPr lang="es-ES" sz="1200" b="0" i="0" kern="1200" dirty="0">
                <a:solidFill>
                  <a:schemeClr val="tx1"/>
                </a:solidFill>
                <a:effectLst/>
                <a:latin typeface="+mn-lt"/>
                <a:ea typeface="+mn-ea"/>
                <a:cs typeface="+mn-cs"/>
              </a:rPr>
              <a:t>, etc.)</a:t>
            </a:r>
          </a:p>
          <a:p>
            <a:br>
              <a:rPr lang="es-ES" sz="1200" b="0" i="0" kern="1200" dirty="0">
                <a:solidFill>
                  <a:schemeClr val="tx1"/>
                </a:solidFill>
                <a:effectLst/>
                <a:latin typeface="+mn-lt"/>
                <a:ea typeface="+mn-ea"/>
                <a:cs typeface="+mn-cs"/>
              </a:rPr>
            </a:br>
            <a:endParaRPr lang="es-ES" sz="1200" b="0" i="0" kern="1200" dirty="0">
              <a:solidFill>
                <a:schemeClr val="tx1"/>
              </a:solidFill>
              <a:effectLst/>
              <a:latin typeface="+mn-lt"/>
              <a:ea typeface="+mn-ea"/>
              <a:cs typeface="+mn-cs"/>
            </a:endParaRPr>
          </a:p>
          <a:p>
            <a:r>
              <a:rPr lang="es-ES" sz="1200" b="1" i="0" kern="1200" dirty="0">
                <a:solidFill>
                  <a:schemeClr val="tx1"/>
                </a:solidFill>
                <a:effectLst/>
                <a:latin typeface="+mn-lt"/>
                <a:ea typeface="+mn-ea"/>
                <a:cs typeface="+mn-cs"/>
              </a:rPr>
              <a:t>7. La </a:t>
            </a:r>
            <a:r>
              <a:rPr lang="es-ES" sz="1200" b="1" i="0" kern="1200" dirty="0" err="1">
                <a:solidFill>
                  <a:schemeClr val="tx1"/>
                </a:solidFill>
                <a:effectLst/>
                <a:latin typeface="+mn-lt"/>
                <a:ea typeface="+mn-ea"/>
                <a:cs typeface="+mn-cs"/>
              </a:rPr>
              <a:t>connexió</a:t>
            </a:r>
            <a:r>
              <a:rPr lang="es-ES" sz="1200" b="1" i="0" kern="1200" dirty="0">
                <a:solidFill>
                  <a:schemeClr val="tx1"/>
                </a:solidFill>
                <a:effectLst/>
                <a:latin typeface="+mn-lt"/>
                <a:ea typeface="+mn-ea"/>
                <a:cs typeface="+mn-cs"/>
              </a:rPr>
              <a:t> </a:t>
            </a:r>
            <a:r>
              <a:rPr lang="es-ES" sz="1200" b="1" i="0" kern="1200" dirty="0" err="1">
                <a:solidFill>
                  <a:schemeClr val="tx1"/>
                </a:solidFill>
                <a:effectLst/>
                <a:latin typeface="+mn-lt"/>
                <a:ea typeface="+mn-ea"/>
                <a:cs typeface="+mn-cs"/>
              </a:rPr>
              <a:t>amb</a:t>
            </a:r>
            <a:r>
              <a:rPr lang="es-ES" sz="1200" b="1" i="0" kern="1200" dirty="0">
                <a:solidFill>
                  <a:schemeClr val="tx1"/>
                </a:solidFill>
                <a:effectLst/>
                <a:latin typeface="+mn-lt"/>
                <a:ea typeface="+mn-ea"/>
                <a:cs typeface="+mn-cs"/>
              </a:rPr>
              <a:t> tu (</a:t>
            </a:r>
            <a:r>
              <a:rPr lang="es-ES" sz="1200" b="1" i="0" kern="1200" dirty="0" err="1">
                <a:solidFill>
                  <a:schemeClr val="tx1"/>
                </a:solidFill>
                <a:effectLst/>
                <a:latin typeface="+mn-lt"/>
                <a:ea typeface="+mn-ea"/>
                <a:cs typeface="+mn-cs"/>
              </a:rPr>
              <a:t>Criva</a:t>
            </a:r>
            <a:r>
              <a:rPr lang="es-ES" sz="1200" b="1" i="0" kern="1200" dirty="0">
                <a:solidFill>
                  <a:schemeClr val="tx1"/>
                </a:solidFill>
                <a:effectLst/>
                <a:latin typeface="+mn-lt"/>
                <a:ea typeface="+mn-ea"/>
                <a:cs typeface="+mn-cs"/>
              </a:rPr>
              <a:t>, L4\L2, Km modular, etc.)</a:t>
            </a:r>
          </a:p>
          <a:p>
            <a:r>
              <a:rPr lang="es-ES" sz="1200" b="0" i="0" kern="1200" dirty="0">
                <a:solidFill>
                  <a:schemeClr val="tx1"/>
                </a:solidFill>
                <a:effectLst/>
                <a:latin typeface="+mn-lt"/>
                <a:ea typeface="+mn-ea"/>
                <a:cs typeface="+mn-cs"/>
              </a:rPr>
              <a:t>En </a:t>
            </a:r>
            <a:r>
              <a:rPr lang="es-ES" sz="1200" b="0" i="0" kern="1200" dirty="0" err="1">
                <a:solidFill>
                  <a:schemeClr val="tx1"/>
                </a:solidFill>
                <a:effectLst/>
                <a:latin typeface="+mn-lt"/>
                <a:ea typeface="+mn-ea"/>
                <a:cs typeface="+mn-cs"/>
              </a:rPr>
              <a:t>els</a:t>
            </a:r>
            <a:r>
              <a:rPr lang="es-ES" sz="1200" b="0" i="0" kern="1200" dirty="0">
                <a:solidFill>
                  <a:schemeClr val="tx1"/>
                </a:solidFill>
                <a:effectLst/>
                <a:latin typeface="+mn-lt"/>
                <a:ea typeface="+mn-ea"/>
                <a:cs typeface="+mn-cs"/>
              </a:rPr>
              <a:t> </a:t>
            </a:r>
            <a:r>
              <a:rPr lang="es-ES" sz="1200" b="0" i="0" kern="1200" dirty="0" err="1">
                <a:solidFill>
                  <a:schemeClr val="tx1"/>
                </a:solidFill>
                <a:effectLst/>
                <a:latin typeface="+mn-lt"/>
                <a:ea typeface="+mn-ea"/>
                <a:cs typeface="+mn-cs"/>
              </a:rPr>
              <a:t>teus</a:t>
            </a:r>
            <a:r>
              <a:rPr lang="es-ES" sz="1200" b="0" i="0" kern="1200" dirty="0">
                <a:solidFill>
                  <a:schemeClr val="tx1"/>
                </a:solidFill>
                <a:effectLst/>
                <a:latin typeface="+mn-lt"/>
                <a:ea typeface="+mn-ea"/>
                <a:cs typeface="+mn-cs"/>
              </a:rPr>
              <a:t> </a:t>
            </a:r>
            <a:r>
              <a:rPr lang="es-ES" sz="1200" b="0" i="0" kern="1200" dirty="0" err="1">
                <a:solidFill>
                  <a:schemeClr val="tx1"/>
                </a:solidFill>
                <a:effectLst/>
                <a:latin typeface="+mn-lt"/>
                <a:ea typeface="+mn-ea"/>
                <a:cs typeface="+mn-cs"/>
              </a:rPr>
              <a:t>treballs</a:t>
            </a:r>
            <a:r>
              <a:rPr lang="es-ES" sz="1200" b="0" i="0" kern="1200" dirty="0">
                <a:solidFill>
                  <a:schemeClr val="tx1"/>
                </a:solidFill>
                <a:effectLst/>
                <a:latin typeface="+mn-lt"/>
                <a:ea typeface="+mn-ea"/>
                <a:cs typeface="+mn-cs"/>
              </a:rPr>
              <a:t>:</a:t>
            </a:r>
          </a:p>
          <a:p>
            <a:r>
              <a:rPr lang="es-ES" sz="1200" b="1" i="0" kern="1200" dirty="0">
                <a:solidFill>
                  <a:schemeClr val="tx1"/>
                </a:solidFill>
                <a:effectLst/>
                <a:latin typeface="+mn-lt"/>
                <a:ea typeface="+mn-ea"/>
                <a:cs typeface="+mn-cs"/>
              </a:rPr>
              <a:t>Marques </a:t>
            </a:r>
            <a:r>
              <a:rPr lang="es-ES" sz="1200" b="1" i="0" kern="1200" dirty="0" err="1">
                <a:solidFill>
                  <a:schemeClr val="tx1"/>
                </a:solidFill>
                <a:effectLst/>
                <a:latin typeface="+mn-lt"/>
                <a:ea typeface="+mn-ea"/>
                <a:cs typeface="+mn-cs"/>
              </a:rPr>
              <a:t>subconjunts</a:t>
            </a:r>
            <a:r>
              <a:rPr lang="es-ES" sz="1200" b="1" i="0" kern="1200" dirty="0">
                <a:solidFill>
                  <a:schemeClr val="tx1"/>
                </a:solidFill>
                <a:effectLst/>
                <a:latin typeface="+mn-lt"/>
                <a:ea typeface="+mn-ea"/>
                <a:cs typeface="+mn-cs"/>
              </a:rPr>
              <a:t> de </a:t>
            </a:r>
            <a:r>
              <a:rPr lang="es-ES" sz="1200" b="1" i="0" kern="1200" dirty="0" err="1">
                <a:solidFill>
                  <a:schemeClr val="tx1"/>
                </a:solidFill>
                <a:effectLst/>
                <a:latin typeface="+mn-lt"/>
                <a:ea typeface="+mn-ea"/>
                <a:cs typeface="+mn-cs"/>
              </a:rPr>
              <a:t>residus</a:t>
            </a:r>
            <a:r>
              <a:rPr lang="es-ES" sz="1200" b="1" i="0" kern="1200" dirty="0">
                <a:solidFill>
                  <a:schemeClr val="tx1"/>
                </a:solidFill>
                <a:effectLst/>
                <a:latin typeface="+mn-lt"/>
                <a:ea typeface="+mn-ea"/>
                <a:cs typeface="+mn-cs"/>
              </a:rPr>
              <a:t> </a:t>
            </a:r>
            <a:r>
              <a:rPr lang="es-ES" sz="1200" b="1" i="0" kern="1200" dirty="0" err="1">
                <a:solidFill>
                  <a:schemeClr val="tx1"/>
                </a:solidFill>
                <a:effectLst/>
                <a:latin typeface="+mn-lt"/>
                <a:ea typeface="+mn-ea"/>
                <a:cs typeface="+mn-cs"/>
              </a:rPr>
              <a:t>prohibits</a:t>
            </a:r>
            <a:r>
              <a:rPr lang="es-ES" sz="1200" b="0" i="0" kern="1200" dirty="0">
                <a:solidFill>
                  <a:schemeClr val="tx1"/>
                </a:solidFill>
                <a:effectLst/>
                <a:latin typeface="+mn-lt"/>
                <a:ea typeface="+mn-ea"/>
                <a:cs typeface="+mn-cs"/>
              </a:rPr>
              <a:t> → </a:t>
            </a:r>
            <a:r>
              <a:rPr lang="es-ES" sz="1200" b="0" i="0" kern="1200" dirty="0" err="1">
                <a:solidFill>
                  <a:schemeClr val="tx1"/>
                </a:solidFill>
                <a:effectLst/>
                <a:latin typeface="+mn-lt"/>
                <a:ea typeface="+mn-ea"/>
                <a:cs typeface="+mn-cs"/>
              </a:rPr>
              <a:t>això</a:t>
            </a:r>
            <a:r>
              <a:rPr lang="es-ES" sz="1200" b="0" i="0" kern="1200" dirty="0">
                <a:solidFill>
                  <a:schemeClr val="tx1"/>
                </a:solidFill>
                <a:effectLst/>
                <a:latin typeface="+mn-lt"/>
                <a:ea typeface="+mn-ea"/>
                <a:cs typeface="+mn-cs"/>
              </a:rPr>
              <a:t> </a:t>
            </a:r>
            <a:r>
              <a:rPr lang="es-ES" sz="1200" b="0" i="0" kern="1200" dirty="0" err="1">
                <a:solidFill>
                  <a:schemeClr val="tx1"/>
                </a:solidFill>
                <a:effectLst/>
                <a:latin typeface="+mn-lt"/>
                <a:ea typeface="+mn-ea"/>
                <a:cs typeface="+mn-cs"/>
              </a:rPr>
              <a:t>són</a:t>
            </a:r>
            <a:r>
              <a:rPr lang="es-ES" sz="1200" b="0" i="0" kern="1200" dirty="0">
                <a:solidFill>
                  <a:schemeClr val="tx1"/>
                </a:solidFill>
                <a:effectLst/>
                <a:latin typeface="+mn-lt"/>
                <a:ea typeface="+mn-ea"/>
                <a:cs typeface="+mn-cs"/>
              </a:rPr>
              <a:t> $</a:t>
            </a:r>
            <a:r>
              <a:rPr lang="es-ES" sz="1200" b="0" i="0" kern="1200" dirty="0" err="1">
                <a:solidFill>
                  <a:schemeClr val="tx1"/>
                </a:solidFill>
                <a:effectLst/>
                <a:latin typeface="+mn-lt"/>
                <a:ea typeface="+mn-ea"/>
                <a:cs typeface="+mn-cs"/>
              </a:rPr>
              <a:t>A_i</a:t>
            </a:r>
            <a:r>
              <a:rPr lang="es-ES" sz="1200" b="0" i="0" kern="1200" dirty="0">
                <a:solidFill>
                  <a:schemeClr val="tx1"/>
                </a:solidFill>
                <a:effectLst/>
                <a:latin typeface="+mn-lt"/>
                <a:ea typeface="+mn-ea"/>
                <a:cs typeface="+mn-cs"/>
              </a:rPr>
              <a:t>$.</a:t>
            </a:r>
          </a:p>
          <a:p>
            <a:r>
              <a:rPr lang="es-ES" sz="1200" b="1" i="0" kern="1200" dirty="0">
                <a:solidFill>
                  <a:schemeClr val="tx1"/>
                </a:solidFill>
                <a:effectLst/>
                <a:latin typeface="+mn-lt"/>
                <a:ea typeface="+mn-ea"/>
                <a:cs typeface="+mn-cs"/>
              </a:rPr>
              <a:t>La </a:t>
            </a:r>
            <a:r>
              <a:rPr lang="es-ES" sz="1200" b="1" i="0" kern="1200" dirty="0" err="1">
                <a:solidFill>
                  <a:schemeClr val="tx1"/>
                </a:solidFill>
                <a:effectLst/>
                <a:latin typeface="+mn-lt"/>
                <a:ea typeface="+mn-ea"/>
                <a:cs typeface="+mn-cs"/>
              </a:rPr>
              <a:t>densitat</a:t>
            </a:r>
            <a:r>
              <a:rPr lang="es-ES" sz="1200" b="1" i="0" kern="1200" dirty="0">
                <a:solidFill>
                  <a:schemeClr val="tx1"/>
                </a:solidFill>
                <a:effectLst/>
                <a:latin typeface="+mn-lt"/>
                <a:ea typeface="+mn-ea"/>
                <a:cs typeface="+mn-cs"/>
              </a:rPr>
              <a:t> real </a:t>
            </a:r>
            <a:r>
              <a:rPr lang="es-ES" sz="1200" b="1" i="0" kern="1200" dirty="0" err="1">
                <a:solidFill>
                  <a:schemeClr val="tx1"/>
                </a:solidFill>
                <a:effectLst/>
                <a:latin typeface="+mn-lt"/>
                <a:ea typeface="+mn-ea"/>
                <a:cs typeface="+mn-cs"/>
              </a:rPr>
              <a:t>és</a:t>
            </a:r>
            <a:r>
              <a:rPr lang="es-ES" sz="1200" b="1" i="0" kern="1200" dirty="0">
                <a:solidFill>
                  <a:schemeClr val="tx1"/>
                </a:solidFill>
                <a:effectLst/>
                <a:latin typeface="+mn-lt"/>
                <a:ea typeface="+mn-ea"/>
                <a:cs typeface="+mn-cs"/>
              </a:rPr>
              <a:t> 1 – </a:t>
            </a:r>
            <a:r>
              <a:rPr lang="es-ES" sz="1200" b="1" i="0" kern="1200" dirty="0" err="1">
                <a:solidFill>
                  <a:schemeClr val="tx1"/>
                </a:solidFill>
                <a:effectLst/>
                <a:latin typeface="+mn-lt"/>
                <a:ea typeface="+mn-ea"/>
                <a:cs typeface="+mn-cs"/>
              </a:rPr>
              <a:t>densitat</a:t>
            </a:r>
            <a:r>
              <a:rPr lang="es-ES" sz="1200" b="1" i="0" kern="1200" dirty="0">
                <a:solidFill>
                  <a:schemeClr val="tx1"/>
                </a:solidFill>
                <a:effectLst/>
                <a:latin typeface="+mn-lt"/>
                <a:ea typeface="+mn-ea"/>
                <a:cs typeface="+mn-cs"/>
              </a:rPr>
              <a:t>(</a:t>
            </a:r>
            <a:r>
              <a:rPr lang="es-ES" sz="1200" b="1" i="0" kern="1200" dirty="0" err="1">
                <a:solidFill>
                  <a:schemeClr val="tx1"/>
                </a:solidFill>
                <a:effectLst/>
                <a:latin typeface="+mn-lt"/>
                <a:ea typeface="+mn-ea"/>
                <a:cs typeface="+mn-cs"/>
              </a:rPr>
              <a:t>prohibits</a:t>
            </a:r>
            <a:r>
              <a:rPr lang="es-ES" sz="1200" b="1" i="0" kern="1200" dirty="0">
                <a:solidFill>
                  <a:schemeClr val="tx1"/>
                </a:solidFill>
                <a:effectLst/>
                <a:latin typeface="+mn-lt"/>
                <a:ea typeface="+mn-ea"/>
                <a:cs typeface="+mn-cs"/>
              </a:rPr>
              <a:t>)</a:t>
            </a:r>
            <a:r>
              <a:rPr lang="es-ES" sz="1200" b="0" i="0" kern="1200" dirty="0">
                <a:solidFill>
                  <a:schemeClr val="tx1"/>
                </a:solidFill>
                <a:effectLst/>
                <a:latin typeface="+mn-lt"/>
                <a:ea typeface="+mn-ea"/>
                <a:cs typeface="+mn-cs"/>
              </a:rPr>
              <a:t> → </a:t>
            </a:r>
            <a:r>
              <a:rPr lang="es-ES" sz="1200" b="0" i="0" kern="1200" dirty="0" err="1">
                <a:solidFill>
                  <a:schemeClr val="tx1"/>
                </a:solidFill>
                <a:effectLst/>
                <a:latin typeface="+mn-lt"/>
                <a:ea typeface="+mn-ea"/>
                <a:cs typeface="+mn-cs"/>
              </a:rPr>
              <a:t>això</a:t>
            </a:r>
            <a:r>
              <a:rPr lang="es-ES" sz="1200" b="0" i="0" kern="1200" dirty="0">
                <a:solidFill>
                  <a:schemeClr val="tx1"/>
                </a:solidFill>
                <a:effectLst/>
                <a:latin typeface="+mn-lt"/>
                <a:ea typeface="+mn-ea"/>
                <a:cs typeface="+mn-cs"/>
              </a:rPr>
              <a:t> </a:t>
            </a:r>
            <a:r>
              <a:rPr lang="es-ES" sz="1200" b="0" i="0" kern="1200" dirty="0" err="1">
                <a:solidFill>
                  <a:schemeClr val="tx1"/>
                </a:solidFill>
                <a:effectLst/>
                <a:latin typeface="+mn-lt"/>
                <a:ea typeface="+mn-ea"/>
                <a:cs typeface="+mn-cs"/>
              </a:rPr>
              <a:t>és</a:t>
            </a:r>
            <a:r>
              <a:rPr lang="es-ES" sz="1200" b="0" i="0" kern="1200" dirty="0">
                <a:solidFill>
                  <a:schemeClr val="tx1"/>
                </a:solidFill>
                <a:effectLst/>
                <a:latin typeface="+mn-lt"/>
                <a:ea typeface="+mn-ea"/>
                <a:cs typeface="+mn-cs"/>
              </a:rPr>
              <a:t> $1 - |A\cup B\cup C\cup\</a:t>
            </a:r>
            <a:r>
              <a:rPr lang="es-ES" sz="1200" b="0" i="0" kern="1200" dirty="0" err="1">
                <a:solidFill>
                  <a:schemeClr val="tx1"/>
                </a:solidFill>
                <a:effectLst/>
                <a:latin typeface="+mn-lt"/>
                <a:ea typeface="+mn-ea"/>
                <a:cs typeface="+mn-cs"/>
              </a:rPr>
              <a:t>dots</a:t>
            </a:r>
            <a:r>
              <a:rPr lang="es-ES" sz="1200" b="0" i="0" kern="1200" dirty="0">
                <a:solidFill>
                  <a:schemeClr val="tx1"/>
                </a:solidFill>
                <a:effectLst/>
                <a:latin typeface="+mn-lt"/>
                <a:ea typeface="+mn-ea"/>
                <a:cs typeface="+mn-cs"/>
              </a:rPr>
              <a:t>|/N$.</a:t>
            </a:r>
          </a:p>
          <a:p>
            <a:r>
              <a:rPr lang="es-ES" sz="1200" b="0" i="0" kern="1200" dirty="0">
                <a:solidFill>
                  <a:schemeClr val="tx1"/>
                </a:solidFill>
                <a:effectLst/>
                <a:latin typeface="+mn-lt"/>
                <a:ea typeface="+mn-ea"/>
                <a:cs typeface="+mn-cs"/>
              </a:rPr>
              <a:t>Tota la </a:t>
            </a:r>
            <a:r>
              <a:rPr lang="es-ES" sz="1200" b="0" i="0" kern="1200" dirty="0" err="1">
                <a:solidFill>
                  <a:schemeClr val="tx1"/>
                </a:solidFill>
                <a:effectLst/>
                <a:latin typeface="+mn-lt"/>
                <a:ea typeface="+mn-ea"/>
                <a:cs typeface="+mn-cs"/>
              </a:rPr>
              <a:t>part</a:t>
            </a:r>
            <a:r>
              <a:rPr lang="es-ES" sz="1200" b="0" i="0" kern="1200" dirty="0">
                <a:solidFill>
                  <a:schemeClr val="tx1"/>
                </a:solidFill>
                <a:effectLst/>
                <a:latin typeface="+mn-lt"/>
                <a:ea typeface="+mn-ea"/>
                <a:cs typeface="+mn-cs"/>
              </a:rPr>
              <a:t> de</a:t>
            </a:r>
          </a:p>
          <a:p>
            <a:pPr lvl="1"/>
            <a:r>
              <a:rPr lang="es-ES" sz="1200" b="0" i="0" kern="1200" dirty="0">
                <a:solidFill>
                  <a:schemeClr val="tx1"/>
                </a:solidFill>
                <a:effectLst/>
                <a:latin typeface="+mn-lt"/>
                <a:ea typeface="+mn-ea"/>
                <a:cs typeface="+mn-cs"/>
              </a:rPr>
              <a:t>L4/L2</a:t>
            </a:r>
          </a:p>
          <a:p>
            <a:pPr lvl="1"/>
            <a:r>
              <a:rPr lang="es-ES" sz="1200" b="0" i="0" kern="1200" dirty="0" err="1">
                <a:solidFill>
                  <a:schemeClr val="tx1"/>
                </a:solidFill>
                <a:effectLst/>
                <a:latin typeface="+mn-lt"/>
                <a:ea typeface="+mn-ea"/>
                <a:cs typeface="+mn-cs"/>
              </a:rPr>
              <a:t>progressions</a:t>
            </a:r>
            <a:r>
              <a:rPr lang="es-ES" sz="1200" b="0" i="0" kern="1200" dirty="0">
                <a:solidFill>
                  <a:schemeClr val="tx1"/>
                </a:solidFill>
                <a:effectLst/>
                <a:latin typeface="+mn-lt"/>
                <a:ea typeface="+mn-ea"/>
                <a:cs typeface="+mn-cs"/>
              </a:rPr>
              <a:t> 6k±1</a:t>
            </a:r>
          </a:p>
          <a:p>
            <a:pPr lvl="1"/>
            <a:r>
              <a:rPr lang="es-ES" sz="1200" b="0" i="0" kern="1200" dirty="0">
                <a:solidFill>
                  <a:schemeClr val="tx1"/>
                </a:solidFill>
                <a:effectLst/>
                <a:latin typeface="+mn-lt"/>
                <a:ea typeface="+mn-ea"/>
                <a:cs typeface="+mn-cs"/>
              </a:rPr>
              <a:t>primes de Sophie Germain</a:t>
            </a:r>
          </a:p>
          <a:p>
            <a:pPr lvl="1"/>
            <a:r>
              <a:rPr lang="es-ES" sz="1200" b="0" i="0" kern="1200" dirty="0" err="1">
                <a:solidFill>
                  <a:schemeClr val="tx1"/>
                </a:solidFill>
                <a:effectLst/>
                <a:latin typeface="+mn-lt"/>
                <a:ea typeface="+mn-ea"/>
                <a:cs typeface="+mn-cs"/>
              </a:rPr>
              <a:t>densitats</a:t>
            </a:r>
            <a:r>
              <a:rPr lang="es-ES" sz="1200" b="0" i="0" kern="1200" dirty="0">
                <a:solidFill>
                  <a:schemeClr val="tx1"/>
                </a:solidFill>
                <a:effectLst/>
                <a:latin typeface="+mn-lt"/>
                <a:ea typeface="+mn-ea"/>
                <a:cs typeface="+mn-cs"/>
              </a:rPr>
              <a:t> compostes</a:t>
            </a:r>
            <a:br>
              <a:rPr lang="es-ES" sz="1200" b="0" i="0" kern="1200" dirty="0">
                <a:solidFill>
                  <a:schemeClr val="tx1"/>
                </a:solidFill>
                <a:effectLst/>
                <a:latin typeface="+mn-lt"/>
                <a:ea typeface="+mn-ea"/>
                <a:cs typeface="+mn-cs"/>
              </a:rPr>
            </a:br>
            <a:r>
              <a:rPr lang="es-ES" sz="1200" b="0" i="0" kern="1200" dirty="0" err="1">
                <a:solidFill>
                  <a:schemeClr val="tx1"/>
                </a:solidFill>
                <a:effectLst/>
                <a:latin typeface="+mn-lt"/>
                <a:ea typeface="+mn-ea"/>
                <a:cs typeface="+mn-cs"/>
              </a:rPr>
              <a:t>és</a:t>
            </a:r>
            <a:r>
              <a:rPr lang="es-ES" sz="1200" b="0" i="0" kern="1200" dirty="0">
                <a:solidFill>
                  <a:schemeClr val="tx1"/>
                </a:solidFill>
                <a:effectLst/>
                <a:latin typeface="+mn-lt"/>
                <a:ea typeface="+mn-ea"/>
                <a:cs typeface="+mn-cs"/>
              </a:rPr>
              <a:t> </a:t>
            </a:r>
            <a:r>
              <a:rPr lang="es-ES" sz="1200" b="0" i="0" kern="1200" dirty="0" err="1">
                <a:solidFill>
                  <a:schemeClr val="tx1"/>
                </a:solidFill>
                <a:effectLst/>
                <a:latin typeface="+mn-lt"/>
                <a:ea typeface="+mn-ea"/>
                <a:cs typeface="+mn-cs"/>
              </a:rPr>
              <a:t>exactament</a:t>
            </a:r>
            <a:r>
              <a:rPr lang="es-ES" sz="1200" b="0" i="0" kern="1200" dirty="0">
                <a:solidFill>
                  <a:schemeClr val="tx1"/>
                </a:solidFill>
                <a:effectLst/>
                <a:latin typeface="+mn-lt"/>
                <a:ea typeface="+mn-ea"/>
                <a:cs typeface="+mn-cs"/>
              </a:rPr>
              <a:t> PIE </a:t>
            </a:r>
            <a:r>
              <a:rPr lang="es-ES" sz="1200" b="0" i="0" kern="1200" dirty="0" err="1">
                <a:solidFill>
                  <a:schemeClr val="tx1"/>
                </a:solidFill>
                <a:effectLst/>
                <a:latin typeface="+mn-lt"/>
                <a:ea typeface="+mn-ea"/>
                <a:cs typeface="+mn-cs"/>
              </a:rPr>
              <a:t>aplicat</a:t>
            </a:r>
            <a:r>
              <a:rPr lang="es-ES" sz="1200" b="0" i="0" kern="1200" dirty="0">
                <a:solidFill>
                  <a:schemeClr val="tx1"/>
                </a:solidFill>
                <a:effectLst/>
                <a:latin typeface="+mn-lt"/>
                <a:ea typeface="+mn-ea"/>
                <a:cs typeface="+mn-cs"/>
              </a:rPr>
              <a:t> a múltiples </a:t>
            </a:r>
            <a:r>
              <a:rPr lang="es-ES" sz="1200" b="0" i="0" kern="1200" dirty="0" err="1">
                <a:solidFill>
                  <a:schemeClr val="tx1"/>
                </a:solidFill>
                <a:effectLst/>
                <a:latin typeface="+mn-lt"/>
                <a:ea typeface="+mn-ea"/>
                <a:cs typeface="+mn-cs"/>
              </a:rPr>
              <a:t>condicions</a:t>
            </a:r>
            <a:r>
              <a:rPr lang="es-ES" sz="1200" b="0" i="0" kern="1200" dirty="0">
                <a:solidFill>
                  <a:schemeClr val="tx1"/>
                </a:solidFill>
                <a:effectLst/>
                <a:latin typeface="+mn-lt"/>
                <a:ea typeface="+mn-ea"/>
                <a:cs typeface="+mn-cs"/>
              </a:rPr>
              <a:t> </a:t>
            </a:r>
            <a:r>
              <a:rPr lang="es-ES" sz="1200" b="0" i="0" kern="1200" dirty="0" err="1">
                <a:solidFill>
                  <a:schemeClr val="tx1"/>
                </a:solidFill>
                <a:effectLst/>
                <a:latin typeface="+mn-lt"/>
                <a:ea typeface="+mn-ea"/>
                <a:cs typeface="+mn-cs"/>
              </a:rPr>
              <a:t>modulars</a:t>
            </a:r>
            <a:r>
              <a:rPr lang="es-ES" sz="1200" b="0" i="0" kern="1200" dirty="0">
                <a:solidFill>
                  <a:schemeClr val="tx1"/>
                </a:solidFill>
                <a:effectLst/>
                <a:latin typeface="+mn-lt"/>
                <a:ea typeface="+mn-ea"/>
                <a:cs typeface="+mn-cs"/>
              </a:rPr>
              <a:t>.</a:t>
            </a:r>
          </a:p>
          <a:p>
            <a:br>
              <a:rPr lang="es-ES" sz="1200" b="0" i="0" kern="1200" dirty="0">
                <a:solidFill>
                  <a:schemeClr val="tx1"/>
                </a:solidFill>
                <a:effectLst/>
                <a:latin typeface="+mn-lt"/>
                <a:ea typeface="+mn-ea"/>
                <a:cs typeface="+mn-cs"/>
              </a:rPr>
            </a:br>
            <a:endParaRPr lang="es-ES" sz="1200" b="0" i="0" kern="1200" dirty="0">
              <a:solidFill>
                <a:schemeClr val="tx1"/>
              </a:solidFill>
              <a:effectLst/>
              <a:latin typeface="+mn-lt"/>
              <a:ea typeface="+mn-ea"/>
              <a:cs typeface="+mn-cs"/>
            </a:endParaRPr>
          </a:p>
          <a:p>
            <a:r>
              <a:rPr lang="es-ES" sz="1200" b="1" i="0" kern="1200" dirty="0">
                <a:solidFill>
                  <a:schemeClr val="tx1"/>
                </a:solidFill>
                <a:effectLst/>
                <a:latin typeface="+mn-lt"/>
                <a:ea typeface="+mn-ea"/>
                <a:cs typeface="+mn-cs"/>
              </a:rPr>
              <a:t>Si </a:t>
            </a:r>
            <a:r>
              <a:rPr lang="es-ES" sz="1200" b="1" i="0" kern="1200" dirty="0" err="1">
                <a:solidFill>
                  <a:schemeClr val="tx1"/>
                </a:solidFill>
                <a:effectLst/>
                <a:latin typeface="+mn-lt"/>
                <a:ea typeface="+mn-ea"/>
                <a:cs typeface="+mn-cs"/>
              </a:rPr>
              <a:t>vols</a:t>
            </a:r>
            <a:r>
              <a:rPr lang="es-ES" sz="1200" b="1" i="0" kern="1200" dirty="0">
                <a:solidFill>
                  <a:schemeClr val="tx1"/>
                </a:solidFill>
                <a:effectLst/>
                <a:latin typeface="+mn-lt"/>
                <a:ea typeface="+mn-ea"/>
                <a:cs typeface="+mn-cs"/>
              </a:rPr>
              <a:t>, et prepare ara:</a:t>
            </a:r>
          </a:p>
          <a:p>
            <a:r>
              <a:rPr lang="es-ES" sz="1200" b="0" i="0" kern="1200" dirty="0">
                <a:solidFill>
                  <a:schemeClr val="tx1"/>
                </a:solidFill>
                <a:effectLst/>
                <a:latin typeface="+mn-lt"/>
                <a:ea typeface="+mn-ea"/>
                <a:cs typeface="+mn-cs"/>
              </a:rPr>
              <a:t>una </a:t>
            </a:r>
            <a:r>
              <a:rPr lang="es-ES" sz="1200" b="0" i="0" kern="1200" dirty="0" err="1">
                <a:solidFill>
                  <a:schemeClr val="tx1"/>
                </a:solidFill>
                <a:effectLst/>
                <a:latin typeface="+mn-lt"/>
                <a:ea typeface="+mn-ea"/>
                <a:cs typeface="+mn-cs"/>
              </a:rPr>
              <a:t>versió</a:t>
            </a:r>
            <a:r>
              <a:rPr lang="es-ES" sz="1200" b="0" i="0" kern="1200" dirty="0">
                <a:solidFill>
                  <a:schemeClr val="tx1"/>
                </a:solidFill>
                <a:effectLst/>
                <a:latin typeface="+mn-lt"/>
                <a:ea typeface="+mn-ea"/>
                <a:cs typeface="+mn-cs"/>
              </a:rPr>
              <a:t> </a:t>
            </a:r>
            <a:r>
              <a:rPr lang="es-ES" sz="1200" b="1" i="0" kern="1200" dirty="0">
                <a:solidFill>
                  <a:schemeClr val="tx1"/>
                </a:solidFill>
                <a:effectLst/>
                <a:latin typeface="+mn-lt"/>
                <a:ea typeface="+mn-ea"/>
                <a:cs typeface="+mn-cs"/>
              </a:rPr>
              <a:t>ultra resumida</a:t>
            </a:r>
            <a:r>
              <a:rPr lang="es-ES" sz="1200" b="0" i="0" kern="1200" dirty="0">
                <a:solidFill>
                  <a:schemeClr val="tx1"/>
                </a:solidFill>
                <a:effectLst/>
                <a:latin typeface="+mn-lt"/>
                <a:ea typeface="+mn-ea"/>
                <a:cs typeface="+mn-cs"/>
              </a:rPr>
              <a:t>,</a:t>
            </a:r>
          </a:p>
          <a:p>
            <a:r>
              <a:rPr lang="es-ES" sz="1200" b="0" i="0" kern="1200" dirty="0">
                <a:solidFill>
                  <a:schemeClr val="tx1"/>
                </a:solidFill>
                <a:effectLst/>
                <a:latin typeface="+mn-lt"/>
                <a:ea typeface="+mn-ea"/>
                <a:cs typeface="+mn-cs"/>
              </a:rPr>
              <a:t>una </a:t>
            </a:r>
            <a:r>
              <a:rPr lang="es-ES" sz="1200" b="0" i="0" kern="1200" dirty="0" err="1">
                <a:solidFill>
                  <a:schemeClr val="tx1"/>
                </a:solidFill>
                <a:effectLst/>
                <a:latin typeface="+mn-lt"/>
                <a:ea typeface="+mn-ea"/>
                <a:cs typeface="+mn-cs"/>
              </a:rPr>
              <a:t>versió</a:t>
            </a:r>
            <a:r>
              <a:rPr lang="es-ES" sz="1200" b="0" i="0" kern="1200" dirty="0">
                <a:solidFill>
                  <a:schemeClr val="tx1"/>
                </a:solidFill>
                <a:effectLst/>
                <a:latin typeface="+mn-lt"/>
                <a:ea typeface="+mn-ea"/>
                <a:cs typeface="+mn-cs"/>
              </a:rPr>
              <a:t> </a:t>
            </a:r>
            <a:r>
              <a:rPr lang="es-ES" sz="1200" b="1" i="0" kern="1200" dirty="0">
                <a:solidFill>
                  <a:schemeClr val="tx1"/>
                </a:solidFill>
                <a:effectLst/>
                <a:latin typeface="+mn-lt"/>
                <a:ea typeface="+mn-ea"/>
                <a:cs typeface="+mn-cs"/>
              </a:rPr>
              <a:t>formal de </a:t>
            </a:r>
            <a:r>
              <a:rPr lang="es-ES" sz="1200" b="1" i="0" kern="1200" dirty="0" err="1">
                <a:solidFill>
                  <a:schemeClr val="tx1"/>
                </a:solidFill>
                <a:effectLst/>
                <a:latin typeface="+mn-lt"/>
                <a:ea typeface="+mn-ea"/>
                <a:cs typeface="+mn-cs"/>
              </a:rPr>
              <a:t>llibre</a:t>
            </a:r>
            <a:r>
              <a:rPr lang="es-ES" sz="1200" b="0" i="0" kern="1200" dirty="0">
                <a:solidFill>
                  <a:schemeClr val="tx1"/>
                </a:solidFill>
                <a:effectLst/>
                <a:latin typeface="+mn-lt"/>
                <a:ea typeface="+mn-ea"/>
                <a:cs typeface="+mn-cs"/>
              </a:rPr>
              <a:t>,</a:t>
            </a:r>
          </a:p>
          <a:p>
            <a:r>
              <a:rPr lang="es-ES" sz="1200" b="0" i="0" kern="1200" dirty="0">
                <a:solidFill>
                  <a:schemeClr val="tx1"/>
                </a:solidFill>
                <a:effectLst/>
                <a:latin typeface="+mn-lt"/>
                <a:ea typeface="+mn-ea"/>
                <a:cs typeface="+mn-cs"/>
              </a:rPr>
              <a:t>una </a:t>
            </a:r>
            <a:r>
              <a:rPr lang="es-ES" sz="1200" b="0" i="0" kern="1200" dirty="0" err="1">
                <a:solidFill>
                  <a:schemeClr val="tx1"/>
                </a:solidFill>
                <a:effectLst/>
                <a:latin typeface="+mn-lt"/>
                <a:ea typeface="+mn-ea"/>
                <a:cs typeface="+mn-cs"/>
              </a:rPr>
              <a:t>versió</a:t>
            </a:r>
            <a:r>
              <a:rPr lang="es-ES" sz="1200" b="0" i="0" kern="1200" dirty="0">
                <a:solidFill>
                  <a:schemeClr val="tx1"/>
                </a:solidFill>
                <a:effectLst/>
                <a:latin typeface="+mn-lt"/>
                <a:ea typeface="+mn-ea"/>
                <a:cs typeface="+mn-cs"/>
              </a:rPr>
              <a:t> </a:t>
            </a:r>
            <a:r>
              <a:rPr lang="es-ES" sz="1200" b="1" i="0" kern="1200" dirty="0">
                <a:solidFill>
                  <a:schemeClr val="tx1"/>
                </a:solidFill>
                <a:effectLst/>
                <a:latin typeface="+mn-lt"/>
                <a:ea typeface="+mn-ea"/>
                <a:cs typeface="+mn-cs"/>
              </a:rPr>
              <a:t>aplicada a la criba 6k±1</a:t>
            </a:r>
            <a:r>
              <a:rPr lang="es-ES" sz="1200" b="0" i="0" kern="1200" dirty="0">
                <a:solidFill>
                  <a:schemeClr val="tx1"/>
                </a:solidFill>
                <a:effectLst/>
                <a:latin typeface="+mn-lt"/>
                <a:ea typeface="+mn-ea"/>
                <a:cs typeface="+mn-cs"/>
              </a:rPr>
              <a:t>,</a:t>
            </a:r>
          </a:p>
          <a:p>
            <a:r>
              <a:rPr lang="es-ES" sz="1200" b="0" i="0" kern="1200" dirty="0">
                <a:solidFill>
                  <a:schemeClr val="tx1"/>
                </a:solidFill>
                <a:effectLst/>
                <a:latin typeface="+mn-lt"/>
                <a:ea typeface="+mn-ea"/>
                <a:cs typeface="+mn-cs"/>
              </a:rPr>
              <a:t>o </a:t>
            </a:r>
            <a:r>
              <a:rPr lang="es-ES" sz="1200" b="1" i="0" kern="1200" dirty="0">
                <a:solidFill>
                  <a:schemeClr val="tx1"/>
                </a:solidFill>
                <a:effectLst/>
                <a:latin typeface="+mn-lt"/>
                <a:ea typeface="+mn-ea"/>
                <a:cs typeface="+mn-cs"/>
              </a:rPr>
              <a:t>a Sophie Germain</a:t>
            </a:r>
            <a:r>
              <a:rPr lang="es-ES" sz="1200" b="0" i="0" kern="1200" dirty="0">
                <a:solidFill>
                  <a:schemeClr val="tx1"/>
                </a:solidFill>
                <a:effectLst/>
                <a:latin typeface="+mn-lt"/>
                <a:ea typeface="+mn-ea"/>
                <a:cs typeface="+mn-cs"/>
              </a:rPr>
              <a:t>,</a:t>
            </a:r>
          </a:p>
          <a:p>
            <a:r>
              <a:rPr lang="es-ES" sz="1200" b="0" i="0" kern="1200" dirty="0">
                <a:solidFill>
                  <a:schemeClr val="tx1"/>
                </a:solidFill>
                <a:effectLst/>
                <a:latin typeface="+mn-lt"/>
                <a:ea typeface="+mn-ea"/>
                <a:cs typeface="+mn-cs"/>
              </a:rPr>
              <a:t>o </a:t>
            </a:r>
            <a:r>
              <a:rPr lang="es-ES" sz="1200" b="1" i="0" kern="1200" dirty="0">
                <a:solidFill>
                  <a:schemeClr val="tx1"/>
                </a:solidFill>
                <a:effectLst/>
                <a:latin typeface="+mn-lt"/>
                <a:ea typeface="+mn-ea"/>
                <a:cs typeface="+mn-cs"/>
              </a:rPr>
              <a:t>a la </a:t>
            </a:r>
            <a:r>
              <a:rPr lang="es-ES" sz="1200" b="1" i="0" kern="1200" dirty="0" err="1">
                <a:solidFill>
                  <a:schemeClr val="tx1"/>
                </a:solidFill>
                <a:effectLst/>
                <a:latin typeface="+mn-lt"/>
                <a:ea typeface="+mn-ea"/>
                <a:cs typeface="+mn-cs"/>
              </a:rPr>
              <a:t>densitat</a:t>
            </a:r>
            <a:r>
              <a:rPr lang="es-ES" sz="1200" b="1" i="0" kern="1200" dirty="0">
                <a:solidFill>
                  <a:schemeClr val="tx1"/>
                </a:solidFill>
                <a:effectLst/>
                <a:latin typeface="+mn-lt"/>
                <a:ea typeface="+mn-ea"/>
                <a:cs typeface="+mn-cs"/>
              </a:rPr>
              <a:t> L4\L2</a:t>
            </a:r>
            <a:r>
              <a:rPr lang="es-ES" sz="1200" b="0" i="0" kern="1200" dirty="0">
                <a:solidFill>
                  <a:schemeClr val="tx1"/>
                </a:solidFill>
                <a:effectLst/>
                <a:latin typeface="+mn-lt"/>
                <a:ea typeface="+mn-ea"/>
                <a:cs typeface="+mn-cs"/>
              </a:rPr>
              <a:t> que </a:t>
            </a:r>
            <a:r>
              <a:rPr lang="es-ES" sz="1200" b="0" i="0" kern="1200" dirty="0" err="1">
                <a:solidFill>
                  <a:schemeClr val="tx1"/>
                </a:solidFill>
                <a:effectLst/>
                <a:latin typeface="+mn-lt"/>
                <a:ea typeface="+mn-ea"/>
                <a:cs typeface="+mn-cs"/>
              </a:rPr>
              <a:t>tens</a:t>
            </a:r>
            <a:r>
              <a:rPr lang="es-ES" sz="1200" b="0" i="0" kern="1200" dirty="0">
                <a:solidFill>
                  <a:schemeClr val="tx1"/>
                </a:solidFill>
                <a:effectLst/>
                <a:latin typeface="+mn-lt"/>
                <a:ea typeface="+mn-ea"/>
                <a:cs typeface="+mn-cs"/>
              </a:rPr>
              <a:t> </a:t>
            </a:r>
            <a:r>
              <a:rPr lang="es-ES" sz="1200" b="0" i="0" kern="1200" dirty="0" err="1">
                <a:solidFill>
                  <a:schemeClr val="tx1"/>
                </a:solidFill>
                <a:effectLst/>
                <a:latin typeface="+mn-lt"/>
                <a:ea typeface="+mn-ea"/>
                <a:cs typeface="+mn-cs"/>
              </a:rPr>
              <a:t>desenvolupada</a:t>
            </a:r>
            <a:r>
              <a:rPr lang="es-ES" sz="1200" b="0" i="0" kern="1200" dirty="0">
                <a:solidFill>
                  <a:schemeClr val="tx1"/>
                </a:solidFill>
                <a:effectLst/>
                <a:latin typeface="+mn-lt"/>
                <a:ea typeface="+mn-ea"/>
                <a:cs typeface="+mn-cs"/>
              </a:rPr>
              <a:t>.</a:t>
            </a:r>
          </a:p>
          <a:p>
            <a:r>
              <a:rPr lang="es-ES" sz="1200" b="0" i="0" kern="1200" dirty="0" err="1">
                <a:solidFill>
                  <a:schemeClr val="tx1"/>
                </a:solidFill>
                <a:effectLst/>
                <a:latin typeface="+mn-lt"/>
                <a:ea typeface="+mn-ea"/>
                <a:cs typeface="+mn-cs"/>
              </a:rPr>
              <a:t>Només</a:t>
            </a:r>
            <a:r>
              <a:rPr lang="es-ES" sz="1200" b="0" i="0" kern="1200" dirty="0">
                <a:solidFill>
                  <a:schemeClr val="tx1"/>
                </a:solidFill>
                <a:effectLst/>
                <a:latin typeface="+mn-lt"/>
                <a:ea typeface="+mn-ea"/>
                <a:cs typeface="+mn-cs"/>
              </a:rPr>
              <a:t> </a:t>
            </a:r>
            <a:r>
              <a:rPr lang="es-ES" sz="1200" b="0" i="0" kern="1200" dirty="0" err="1">
                <a:solidFill>
                  <a:schemeClr val="tx1"/>
                </a:solidFill>
                <a:effectLst/>
                <a:latin typeface="+mn-lt"/>
                <a:ea typeface="+mn-ea"/>
                <a:cs typeface="+mn-cs"/>
              </a:rPr>
              <a:t>digues</a:t>
            </a:r>
            <a:r>
              <a:rPr lang="es-ES" sz="1200" b="0" i="0" kern="1200" dirty="0">
                <a:solidFill>
                  <a:schemeClr val="tx1"/>
                </a:solidFill>
                <a:effectLst/>
                <a:latin typeface="+mn-lt"/>
                <a:ea typeface="+mn-ea"/>
                <a:cs typeface="+mn-cs"/>
              </a:rPr>
              <a:t> quina vols.</a:t>
            </a:r>
          </a:p>
          <a:p>
            <a:endParaRPr lang="es-ES" dirty="0"/>
          </a:p>
        </p:txBody>
      </p:sp>
      <p:sp>
        <p:nvSpPr>
          <p:cNvPr id="4" name="Marcador de número de diapositiva 3"/>
          <p:cNvSpPr>
            <a:spLocks noGrp="1"/>
          </p:cNvSpPr>
          <p:nvPr>
            <p:ph type="sldNum" sz="quarter" idx="5"/>
          </p:nvPr>
        </p:nvSpPr>
        <p:spPr/>
        <p:txBody>
          <a:bodyPr/>
          <a:lstStyle/>
          <a:p>
            <a:fld id="{98D70127-EE0F-4E6E-BC66-ABB9CC793D37}" type="slidenum">
              <a:rPr lang="es-ES" smtClean="0"/>
              <a:t>3</a:t>
            </a:fld>
            <a:endParaRPr lang="es-ES"/>
          </a:p>
        </p:txBody>
      </p:sp>
    </p:spTree>
    <p:extLst>
      <p:ext uri="{BB962C8B-B14F-4D97-AF65-F5344CB8AC3E}">
        <p14:creationId xmlns:p14="http://schemas.microsoft.com/office/powerpoint/2010/main" val="33801999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sz="1200" b="0" i="0" kern="1200" dirty="0">
                <a:solidFill>
                  <a:schemeClr val="tx1"/>
                </a:solidFill>
                <a:effectLst/>
                <a:latin typeface="+mn-lt"/>
                <a:ea typeface="+mn-ea"/>
                <a:cs typeface="+mn-cs"/>
              </a:rPr>
              <a:t>Perfecte, Víctor. He </a:t>
            </a:r>
            <a:r>
              <a:rPr lang="es-ES" sz="1200" b="0" i="0" kern="1200" dirty="0" err="1">
                <a:solidFill>
                  <a:schemeClr val="tx1"/>
                </a:solidFill>
                <a:effectLst/>
                <a:latin typeface="+mn-lt"/>
                <a:ea typeface="+mn-ea"/>
                <a:cs typeface="+mn-cs"/>
              </a:rPr>
              <a:t>revisat</a:t>
            </a:r>
            <a:r>
              <a:rPr lang="es-ES" sz="1200" b="0" i="0" kern="1200" dirty="0">
                <a:solidFill>
                  <a:schemeClr val="tx1"/>
                </a:solidFill>
                <a:effectLst/>
                <a:latin typeface="+mn-lt"/>
                <a:ea typeface="+mn-ea"/>
                <a:cs typeface="+mn-cs"/>
              </a:rPr>
              <a:t> </a:t>
            </a:r>
            <a:r>
              <a:rPr lang="es-ES" sz="1200" b="1" i="0" kern="1200" dirty="0">
                <a:solidFill>
                  <a:schemeClr val="tx1"/>
                </a:solidFill>
                <a:effectLst/>
                <a:latin typeface="+mn-lt"/>
                <a:ea typeface="+mn-ea"/>
                <a:cs typeface="+mn-cs"/>
              </a:rPr>
              <a:t>sofi.pptx</a:t>
            </a:r>
            <a:r>
              <a:rPr lang="es-ES" sz="1200" b="0" i="0" kern="1200" dirty="0">
                <a:solidFill>
                  <a:schemeClr val="tx1"/>
                </a:solidFill>
                <a:effectLst/>
                <a:latin typeface="+mn-lt"/>
                <a:ea typeface="+mn-ea"/>
                <a:cs typeface="+mn-cs"/>
              </a:rPr>
              <a:t> i el que </a:t>
            </a:r>
            <a:r>
              <a:rPr lang="es-ES" sz="1200" b="0" i="0" kern="1200" dirty="0" err="1">
                <a:solidFill>
                  <a:schemeClr val="tx1"/>
                </a:solidFill>
                <a:effectLst/>
                <a:latin typeface="+mn-lt"/>
                <a:ea typeface="+mn-ea"/>
                <a:cs typeface="+mn-cs"/>
              </a:rPr>
              <a:t>necessites</a:t>
            </a:r>
            <a:r>
              <a:rPr lang="es-ES" sz="1200" b="0" i="0" kern="1200" dirty="0">
                <a:solidFill>
                  <a:schemeClr val="tx1"/>
                </a:solidFill>
                <a:effectLst/>
                <a:latin typeface="+mn-lt"/>
                <a:ea typeface="+mn-ea"/>
                <a:cs typeface="+mn-cs"/>
              </a:rPr>
              <a:t> ara </a:t>
            </a:r>
            <a:r>
              <a:rPr lang="es-ES" sz="1200" b="0" i="0" kern="1200" dirty="0" err="1">
                <a:solidFill>
                  <a:schemeClr val="tx1"/>
                </a:solidFill>
                <a:effectLst/>
                <a:latin typeface="+mn-lt"/>
                <a:ea typeface="+mn-ea"/>
                <a:cs typeface="+mn-cs"/>
              </a:rPr>
              <a:t>és</a:t>
            </a:r>
            <a:r>
              <a:rPr lang="es-ES" sz="1200" b="0" i="0" kern="1200" dirty="0">
                <a:solidFill>
                  <a:schemeClr val="tx1"/>
                </a:solidFill>
                <a:effectLst/>
                <a:latin typeface="+mn-lt"/>
                <a:ea typeface="+mn-ea"/>
                <a:cs typeface="+mn-cs"/>
              </a:rPr>
              <a:t> un </a:t>
            </a:r>
            <a:r>
              <a:rPr lang="es-ES" sz="1200" b="1" i="0" kern="1200" dirty="0" err="1">
                <a:solidFill>
                  <a:schemeClr val="tx1"/>
                </a:solidFill>
                <a:effectLst/>
                <a:latin typeface="+mn-lt"/>
                <a:ea typeface="+mn-ea"/>
                <a:cs typeface="+mn-cs"/>
              </a:rPr>
              <a:t>text</a:t>
            </a:r>
            <a:r>
              <a:rPr lang="es-ES" sz="1200" b="1" i="0" kern="1200" dirty="0">
                <a:solidFill>
                  <a:schemeClr val="tx1"/>
                </a:solidFill>
                <a:effectLst/>
                <a:latin typeface="+mn-lt"/>
                <a:ea typeface="+mn-ea"/>
                <a:cs typeface="+mn-cs"/>
              </a:rPr>
              <a:t> net i </a:t>
            </a:r>
            <a:r>
              <a:rPr lang="es-ES" sz="1200" b="1" i="0" kern="1200" dirty="0" err="1">
                <a:solidFill>
                  <a:schemeClr val="tx1"/>
                </a:solidFill>
                <a:effectLst/>
                <a:latin typeface="+mn-lt"/>
                <a:ea typeface="+mn-ea"/>
                <a:cs typeface="+mn-cs"/>
              </a:rPr>
              <a:t>explicatiu</a:t>
            </a:r>
            <a:r>
              <a:rPr lang="es-ES" sz="1200" b="0" i="0" kern="1200" dirty="0">
                <a:solidFill>
                  <a:schemeClr val="tx1"/>
                </a:solidFill>
                <a:effectLst/>
                <a:latin typeface="+mn-lt"/>
                <a:ea typeface="+mn-ea"/>
                <a:cs typeface="+mn-cs"/>
              </a:rPr>
              <a:t> sobre </a:t>
            </a:r>
            <a:r>
              <a:rPr lang="es-ES" sz="1200" b="1" i="0" kern="1200" dirty="0" err="1">
                <a:solidFill>
                  <a:schemeClr val="tx1"/>
                </a:solidFill>
                <a:effectLst/>
                <a:latin typeface="+mn-lt"/>
                <a:ea typeface="+mn-ea"/>
                <a:cs typeface="+mn-cs"/>
              </a:rPr>
              <a:t>creixement</a:t>
            </a:r>
            <a:r>
              <a:rPr lang="es-ES" sz="1200" b="1" i="0" kern="1200" dirty="0">
                <a:solidFill>
                  <a:schemeClr val="tx1"/>
                </a:solidFill>
                <a:effectLst/>
                <a:latin typeface="+mn-lt"/>
                <a:ea typeface="+mn-ea"/>
                <a:cs typeface="+mn-cs"/>
              </a:rPr>
              <a:t> </a:t>
            </a:r>
            <a:r>
              <a:rPr lang="es-ES" sz="1200" b="1" i="0" kern="1200" dirty="0" err="1">
                <a:solidFill>
                  <a:schemeClr val="tx1"/>
                </a:solidFill>
                <a:effectLst/>
                <a:latin typeface="+mn-lt"/>
                <a:ea typeface="+mn-ea"/>
                <a:cs typeface="+mn-cs"/>
              </a:rPr>
              <a:t>asimptòtic</a:t>
            </a:r>
            <a:r>
              <a:rPr lang="es-ES" sz="1200" b="1" i="0" kern="1200" dirty="0">
                <a:solidFill>
                  <a:schemeClr val="tx1"/>
                </a:solidFill>
                <a:effectLst/>
                <a:latin typeface="+mn-lt"/>
                <a:ea typeface="+mn-ea"/>
                <a:cs typeface="+mn-cs"/>
              </a:rPr>
              <a:t> de </a:t>
            </a:r>
            <a:r>
              <a:rPr lang="es-ES" sz="1200" b="1" i="0" kern="1200" dirty="0" err="1">
                <a:solidFill>
                  <a:schemeClr val="tx1"/>
                </a:solidFill>
                <a:effectLst/>
                <a:latin typeface="+mn-lt"/>
                <a:ea typeface="+mn-ea"/>
                <a:cs typeface="+mn-cs"/>
              </a:rPr>
              <a:t>conjunts</a:t>
            </a:r>
            <a:r>
              <a:rPr lang="es-ES" sz="1200" b="0" i="0" kern="1200" dirty="0">
                <a:solidFill>
                  <a:schemeClr val="tx1"/>
                </a:solidFill>
                <a:effectLst/>
                <a:latin typeface="+mn-lt"/>
                <a:ea typeface="+mn-ea"/>
                <a:cs typeface="+mn-cs"/>
              </a:rPr>
              <a:t> per </a:t>
            </a:r>
            <a:r>
              <a:rPr lang="es-ES" sz="1200" b="0" i="0" kern="1200" dirty="0" err="1">
                <a:solidFill>
                  <a:schemeClr val="tx1"/>
                </a:solidFill>
                <a:effectLst/>
                <a:latin typeface="+mn-lt"/>
                <a:ea typeface="+mn-ea"/>
                <a:cs typeface="+mn-cs"/>
              </a:rPr>
              <a:t>acompanyar</a:t>
            </a:r>
            <a:r>
              <a:rPr lang="es-ES" sz="1200" b="0" i="0" kern="1200" dirty="0">
                <a:solidFill>
                  <a:schemeClr val="tx1"/>
                </a:solidFill>
                <a:effectLst/>
                <a:latin typeface="+mn-lt"/>
                <a:ea typeface="+mn-ea"/>
                <a:cs typeface="+mn-cs"/>
              </a:rPr>
              <a:t> les </a:t>
            </a:r>
            <a:r>
              <a:rPr lang="es-ES" sz="1200" b="0" i="0" kern="1200" dirty="0" err="1">
                <a:solidFill>
                  <a:schemeClr val="tx1"/>
                </a:solidFill>
                <a:effectLst/>
                <a:latin typeface="+mn-lt"/>
                <a:ea typeface="+mn-ea"/>
                <a:cs typeface="+mn-cs"/>
              </a:rPr>
              <a:t>diapositives</a:t>
            </a:r>
            <a:r>
              <a:rPr lang="es-ES" sz="1200" b="0" i="0" kern="1200" dirty="0">
                <a:solidFill>
                  <a:schemeClr val="tx1"/>
                </a:solidFill>
                <a:effectLst/>
                <a:latin typeface="+mn-lt"/>
                <a:ea typeface="+mn-ea"/>
                <a:cs typeface="+mn-cs"/>
              </a:rPr>
              <a:t> sobre:</a:t>
            </a:r>
          </a:p>
          <a:p>
            <a:r>
              <a:rPr lang="es-ES" sz="1200" b="0" i="0" kern="1200" dirty="0">
                <a:solidFill>
                  <a:schemeClr val="tx1"/>
                </a:solidFill>
                <a:effectLst/>
                <a:latin typeface="+mn-lt"/>
                <a:ea typeface="+mn-ea"/>
                <a:cs typeface="+mn-cs"/>
              </a:rPr>
              <a:t>L1 = </a:t>
            </a:r>
            <a:r>
              <a:rPr lang="es-ES" sz="1200" b="0" i="0" kern="1200" dirty="0" err="1">
                <a:solidFill>
                  <a:schemeClr val="tx1"/>
                </a:solidFill>
                <a:effectLst/>
                <a:latin typeface="+mn-lt"/>
                <a:ea typeface="+mn-ea"/>
                <a:cs typeface="+mn-cs"/>
              </a:rPr>
              <a:t>univers</a:t>
            </a:r>
            <a:r>
              <a:rPr lang="es-ES" sz="1200" b="0" i="0" kern="1200" dirty="0">
                <a:solidFill>
                  <a:schemeClr val="tx1"/>
                </a:solidFill>
                <a:effectLst/>
                <a:latin typeface="+mn-lt"/>
                <a:ea typeface="+mn-ea"/>
                <a:cs typeface="+mn-cs"/>
              </a:rPr>
              <a:t> 6k−1</a:t>
            </a:r>
          </a:p>
          <a:p>
            <a:r>
              <a:rPr lang="es-ES" sz="1200" b="0" i="0" kern="1200" dirty="0">
                <a:solidFill>
                  <a:schemeClr val="tx1"/>
                </a:solidFill>
                <a:effectLst/>
                <a:latin typeface="+mn-lt"/>
                <a:ea typeface="+mn-ea"/>
                <a:cs typeface="+mn-cs"/>
              </a:rPr>
              <a:t>L3 = </a:t>
            </a:r>
            <a:r>
              <a:rPr lang="es-ES" sz="1200" b="0" i="0" kern="1200" dirty="0" err="1">
                <a:solidFill>
                  <a:schemeClr val="tx1"/>
                </a:solidFill>
                <a:effectLst/>
                <a:latin typeface="+mn-lt"/>
                <a:ea typeface="+mn-ea"/>
                <a:cs typeface="+mn-cs"/>
              </a:rPr>
              <a:t>compostos</a:t>
            </a:r>
            <a:r>
              <a:rPr lang="es-ES" sz="1200" b="0" i="0" kern="1200" dirty="0">
                <a:solidFill>
                  <a:schemeClr val="tx1"/>
                </a:solidFill>
                <a:effectLst/>
                <a:latin typeface="+mn-lt"/>
                <a:ea typeface="+mn-ea"/>
                <a:cs typeface="+mn-cs"/>
              </a:rPr>
              <a:t> </a:t>
            </a:r>
            <a:r>
              <a:rPr lang="es-ES" sz="1200" b="0" i="0" kern="1200" dirty="0" err="1">
                <a:solidFill>
                  <a:schemeClr val="tx1"/>
                </a:solidFill>
                <a:effectLst/>
                <a:latin typeface="+mn-lt"/>
                <a:ea typeface="+mn-ea"/>
                <a:cs typeface="+mn-cs"/>
              </a:rPr>
              <a:t>baixos</a:t>
            </a:r>
            <a:endParaRPr lang="es-ES" sz="1200" b="0" i="0" kern="1200" dirty="0">
              <a:solidFill>
                <a:schemeClr val="tx1"/>
              </a:solidFill>
              <a:effectLst/>
              <a:latin typeface="+mn-lt"/>
              <a:ea typeface="+mn-ea"/>
              <a:cs typeface="+mn-cs"/>
            </a:endParaRPr>
          </a:p>
          <a:p>
            <a:r>
              <a:rPr lang="es-ES" sz="1200" b="0" i="0" kern="1200" dirty="0">
                <a:solidFill>
                  <a:schemeClr val="tx1"/>
                </a:solidFill>
                <a:effectLst/>
                <a:latin typeface="+mn-lt"/>
                <a:ea typeface="+mn-ea"/>
                <a:cs typeface="+mn-cs"/>
              </a:rPr>
              <a:t>L4 = </a:t>
            </a:r>
            <a:r>
              <a:rPr lang="es-ES" sz="1200" b="0" i="0" kern="1200" dirty="0" err="1">
                <a:solidFill>
                  <a:schemeClr val="tx1"/>
                </a:solidFill>
                <a:effectLst/>
                <a:latin typeface="+mn-lt"/>
                <a:ea typeface="+mn-ea"/>
                <a:cs typeface="+mn-cs"/>
              </a:rPr>
              <a:t>compostos</a:t>
            </a:r>
            <a:r>
              <a:rPr lang="es-ES" sz="1200" b="0" i="0" kern="1200" dirty="0">
                <a:solidFill>
                  <a:schemeClr val="tx1"/>
                </a:solidFill>
                <a:effectLst/>
                <a:latin typeface="+mn-lt"/>
                <a:ea typeface="+mn-ea"/>
                <a:cs typeface="+mn-cs"/>
              </a:rPr>
              <a:t> </a:t>
            </a:r>
            <a:r>
              <a:rPr lang="es-ES" sz="1200" b="0" i="0" kern="1200" dirty="0" err="1">
                <a:solidFill>
                  <a:schemeClr val="tx1"/>
                </a:solidFill>
                <a:effectLst/>
                <a:latin typeface="+mn-lt"/>
                <a:ea typeface="+mn-ea"/>
                <a:cs typeface="+mn-cs"/>
              </a:rPr>
              <a:t>alts</a:t>
            </a:r>
            <a:endParaRPr lang="es-ES" sz="1200" b="0" i="0" kern="1200" dirty="0">
              <a:solidFill>
                <a:schemeClr val="tx1"/>
              </a:solidFill>
              <a:effectLst/>
              <a:latin typeface="+mn-lt"/>
              <a:ea typeface="+mn-ea"/>
              <a:cs typeface="+mn-cs"/>
            </a:endParaRPr>
          </a:p>
          <a:p>
            <a:r>
              <a:rPr lang="es-ES" sz="1200" b="0" i="0" kern="1200" dirty="0">
                <a:solidFill>
                  <a:schemeClr val="tx1"/>
                </a:solidFill>
                <a:effectLst/>
                <a:latin typeface="+mn-lt"/>
                <a:ea typeface="+mn-ea"/>
                <a:cs typeface="+mn-cs"/>
              </a:rPr>
              <a:t>L2 = </a:t>
            </a:r>
            <a:r>
              <a:rPr lang="es-ES" sz="1200" b="0" i="0" kern="1200" dirty="0" err="1">
                <a:solidFill>
                  <a:schemeClr val="tx1"/>
                </a:solidFill>
                <a:effectLst/>
                <a:latin typeface="+mn-lt"/>
                <a:ea typeface="+mn-ea"/>
                <a:cs typeface="+mn-cs"/>
              </a:rPr>
              <a:t>intersecció</a:t>
            </a:r>
            <a:r>
              <a:rPr lang="es-ES" sz="1200" b="0" i="0" kern="1200" dirty="0">
                <a:solidFill>
                  <a:schemeClr val="tx1"/>
                </a:solidFill>
                <a:effectLst/>
                <a:latin typeface="+mn-lt"/>
                <a:ea typeface="+mn-ea"/>
                <a:cs typeface="+mn-cs"/>
              </a:rPr>
              <a:t> L3 ∩ L4</a:t>
            </a:r>
          </a:p>
          <a:p>
            <a:r>
              <a:rPr lang="es-ES" sz="1200" b="0" i="0" kern="1200" dirty="0" err="1">
                <a:solidFill>
                  <a:schemeClr val="tx1"/>
                </a:solidFill>
                <a:effectLst/>
                <a:latin typeface="+mn-lt"/>
                <a:ea typeface="+mn-ea"/>
                <a:cs typeface="+mn-cs"/>
              </a:rPr>
              <a:t>Lsg</a:t>
            </a:r>
            <a:r>
              <a:rPr lang="es-ES" sz="1200" b="0" i="0" kern="1200" dirty="0">
                <a:solidFill>
                  <a:schemeClr val="tx1"/>
                </a:solidFill>
                <a:effectLst/>
                <a:latin typeface="+mn-lt"/>
                <a:ea typeface="+mn-ea"/>
                <a:cs typeface="+mn-cs"/>
              </a:rPr>
              <a:t> = primes de Sophie Germain</a:t>
            </a:r>
          </a:p>
          <a:p>
            <a:r>
              <a:rPr lang="es-ES" sz="1200" b="0" i="0" kern="1200" dirty="0">
                <a:solidFill>
                  <a:schemeClr val="tx1"/>
                </a:solidFill>
                <a:effectLst/>
                <a:latin typeface="+mn-lt"/>
                <a:ea typeface="+mn-ea"/>
                <a:cs typeface="+mn-cs"/>
              </a:rPr>
              <a:t>les </a:t>
            </a:r>
            <a:r>
              <a:rPr lang="es-ES" sz="1200" b="0" i="0" kern="1200" dirty="0" err="1">
                <a:solidFill>
                  <a:schemeClr val="tx1"/>
                </a:solidFill>
                <a:effectLst/>
                <a:latin typeface="+mn-lt"/>
                <a:ea typeface="+mn-ea"/>
                <a:cs typeface="+mn-cs"/>
              </a:rPr>
              <a:t>igualtats</a:t>
            </a:r>
            <a:r>
              <a:rPr lang="es-ES" sz="1200" b="0" i="0" kern="1200" dirty="0">
                <a:solidFill>
                  <a:schemeClr val="tx1"/>
                </a:solidFill>
                <a:effectLst/>
                <a:latin typeface="+mn-lt"/>
                <a:ea typeface="+mn-ea"/>
                <a:cs typeface="+mn-cs"/>
              </a:rPr>
              <a:t> de </a:t>
            </a:r>
            <a:r>
              <a:rPr lang="es-ES" sz="1200" b="0" i="0" kern="1200" dirty="0" err="1">
                <a:solidFill>
                  <a:schemeClr val="tx1"/>
                </a:solidFill>
                <a:effectLst/>
                <a:latin typeface="+mn-lt"/>
                <a:ea typeface="+mn-ea"/>
                <a:cs typeface="+mn-cs"/>
              </a:rPr>
              <a:t>creixement</a:t>
            </a:r>
            <a:r>
              <a:rPr lang="es-ES" sz="1200" b="0" i="0" kern="1200" dirty="0">
                <a:solidFill>
                  <a:schemeClr val="tx1"/>
                </a:solidFill>
                <a:effectLst/>
                <a:latin typeface="+mn-lt"/>
                <a:ea typeface="+mn-ea"/>
                <a:cs typeface="+mn-cs"/>
              </a:rPr>
              <a:t> i </a:t>
            </a:r>
            <a:r>
              <a:rPr lang="es-ES" sz="1200" b="0" i="0" kern="1200" dirty="0" err="1">
                <a:solidFill>
                  <a:schemeClr val="tx1"/>
                </a:solidFill>
                <a:effectLst/>
                <a:latin typeface="+mn-lt"/>
                <a:ea typeface="+mn-ea"/>
                <a:cs typeface="+mn-cs"/>
              </a:rPr>
              <a:t>els</a:t>
            </a:r>
            <a:r>
              <a:rPr lang="es-ES" sz="1200" b="0" i="0" kern="1200" dirty="0">
                <a:solidFill>
                  <a:schemeClr val="tx1"/>
                </a:solidFill>
                <a:effectLst/>
                <a:latin typeface="+mn-lt"/>
                <a:ea typeface="+mn-ea"/>
                <a:cs typeface="+mn-cs"/>
              </a:rPr>
              <a:t> </a:t>
            </a:r>
            <a:r>
              <a:rPr lang="es-ES" sz="1200" b="0" i="0" kern="1200" dirty="0" err="1">
                <a:solidFill>
                  <a:schemeClr val="tx1"/>
                </a:solidFill>
                <a:effectLst/>
                <a:latin typeface="+mn-lt"/>
                <a:ea typeface="+mn-ea"/>
                <a:cs typeface="+mn-cs"/>
              </a:rPr>
              <a:t>coeficients</a:t>
            </a:r>
            <a:r>
              <a:rPr lang="es-ES" sz="1200" b="0" i="0" kern="1200" dirty="0">
                <a:solidFill>
                  <a:schemeClr val="tx1"/>
                </a:solidFill>
                <a:effectLst/>
                <a:latin typeface="+mn-lt"/>
                <a:ea typeface="+mn-ea"/>
                <a:cs typeface="+mn-cs"/>
              </a:rPr>
              <a:t> A, B, C, D…</a:t>
            </a:r>
          </a:p>
          <a:p>
            <a:r>
              <a:rPr lang="es-ES" sz="1200" b="0" i="0" kern="1200" dirty="0">
                <a:solidFill>
                  <a:schemeClr val="tx1"/>
                </a:solidFill>
                <a:effectLst/>
                <a:latin typeface="+mn-lt"/>
                <a:ea typeface="+mn-ea"/>
                <a:cs typeface="+mn-cs"/>
              </a:rPr>
              <a:t>Et </a:t>
            </a:r>
            <a:r>
              <a:rPr lang="es-ES" sz="1200" b="0" i="0" kern="1200" dirty="0" err="1">
                <a:solidFill>
                  <a:schemeClr val="tx1"/>
                </a:solidFill>
                <a:effectLst/>
                <a:latin typeface="+mn-lt"/>
                <a:ea typeface="+mn-ea"/>
                <a:cs typeface="+mn-cs"/>
              </a:rPr>
              <a:t>deixe</a:t>
            </a:r>
            <a:r>
              <a:rPr lang="es-ES" sz="1200" b="0" i="0" kern="1200" dirty="0">
                <a:solidFill>
                  <a:schemeClr val="tx1"/>
                </a:solidFill>
                <a:effectLst/>
                <a:latin typeface="+mn-lt"/>
                <a:ea typeface="+mn-ea"/>
                <a:cs typeface="+mn-cs"/>
              </a:rPr>
              <a:t> un </a:t>
            </a:r>
            <a:r>
              <a:rPr lang="es-ES" sz="1200" b="0" i="0" kern="1200" dirty="0" err="1">
                <a:solidFill>
                  <a:schemeClr val="tx1"/>
                </a:solidFill>
                <a:effectLst/>
                <a:latin typeface="+mn-lt"/>
                <a:ea typeface="+mn-ea"/>
                <a:cs typeface="+mn-cs"/>
              </a:rPr>
              <a:t>text</a:t>
            </a:r>
            <a:r>
              <a:rPr lang="es-ES" sz="1200" b="0" i="0" kern="1200" dirty="0">
                <a:solidFill>
                  <a:schemeClr val="tx1"/>
                </a:solidFill>
                <a:effectLst/>
                <a:latin typeface="+mn-lt"/>
                <a:ea typeface="+mn-ea"/>
                <a:cs typeface="+mn-cs"/>
              </a:rPr>
              <a:t> perfecte per posar a la </a:t>
            </a:r>
            <a:r>
              <a:rPr lang="es-ES" sz="1200" b="0" i="0" kern="1200" dirty="0" err="1">
                <a:solidFill>
                  <a:schemeClr val="tx1"/>
                </a:solidFill>
                <a:effectLst/>
                <a:latin typeface="+mn-lt"/>
                <a:ea typeface="+mn-ea"/>
                <a:cs typeface="+mn-cs"/>
              </a:rPr>
              <a:t>presentació</a:t>
            </a:r>
            <a:r>
              <a:rPr lang="es-ES" sz="1200" b="0" i="0" kern="1200" dirty="0">
                <a:solidFill>
                  <a:schemeClr val="tx1"/>
                </a:solidFill>
                <a:effectLst/>
                <a:latin typeface="+mn-lt"/>
                <a:ea typeface="+mn-ea"/>
                <a:cs typeface="+mn-cs"/>
              </a:rPr>
              <a:t> o usar </a:t>
            </a:r>
            <a:r>
              <a:rPr lang="es-ES" sz="1200" b="0" i="0" kern="1200" dirty="0" err="1">
                <a:solidFill>
                  <a:schemeClr val="tx1"/>
                </a:solidFill>
                <a:effectLst/>
                <a:latin typeface="+mn-lt"/>
                <a:ea typeface="+mn-ea"/>
                <a:cs typeface="+mn-cs"/>
              </a:rPr>
              <a:t>com</a:t>
            </a:r>
            <a:r>
              <a:rPr lang="es-ES" sz="1200" b="0" i="0" kern="1200" dirty="0">
                <a:solidFill>
                  <a:schemeClr val="tx1"/>
                </a:solidFill>
                <a:effectLst/>
                <a:latin typeface="+mn-lt"/>
                <a:ea typeface="+mn-ea"/>
                <a:cs typeface="+mn-cs"/>
              </a:rPr>
              <a:t> a </a:t>
            </a:r>
            <a:r>
              <a:rPr lang="es-ES" sz="1200" b="0" i="0" kern="1200" dirty="0" err="1">
                <a:solidFill>
                  <a:schemeClr val="tx1"/>
                </a:solidFill>
                <a:effectLst/>
                <a:latin typeface="+mn-lt"/>
                <a:ea typeface="+mn-ea"/>
                <a:cs typeface="+mn-cs"/>
              </a:rPr>
              <a:t>narració</a:t>
            </a:r>
            <a:r>
              <a:rPr lang="es-ES" sz="1200" b="0" i="0" kern="1200" dirty="0">
                <a:solidFill>
                  <a:schemeClr val="tx1"/>
                </a:solidFill>
                <a:effectLst/>
                <a:latin typeface="+mn-lt"/>
                <a:ea typeface="+mn-ea"/>
                <a:cs typeface="+mn-cs"/>
              </a:rPr>
              <a:t> oral.</a:t>
            </a:r>
          </a:p>
          <a:p>
            <a:br>
              <a:rPr lang="es-ES" sz="1200" b="0" i="0" kern="1200" dirty="0">
                <a:solidFill>
                  <a:schemeClr val="tx1"/>
                </a:solidFill>
                <a:effectLst/>
                <a:latin typeface="+mn-lt"/>
                <a:ea typeface="+mn-ea"/>
                <a:cs typeface="+mn-cs"/>
              </a:rPr>
            </a:br>
            <a:endParaRPr lang="es-ES" sz="1200" b="0" i="0" kern="1200" dirty="0">
              <a:solidFill>
                <a:schemeClr val="tx1"/>
              </a:solidFill>
              <a:effectLst/>
              <a:latin typeface="+mn-lt"/>
              <a:ea typeface="+mn-ea"/>
              <a:cs typeface="+mn-cs"/>
            </a:endParaRPr>
          </a:p>
          <a:p>
            <a:r>
              <a:rPr lang="es-ES" sz="1200" b="1" i="0" kern="1200" dirty="0">
                <a:solidFill>
                  <a:schemeClr val="tx1"/>
                </a:solidFill>
                <a:effectLst/>
                <a:latin typeface="+mn-lt"/>
                <a:ea typeface="+mn-ea"/>
                <a:cs typeface="+mn-cs"/>
              </a:rPr>
              <a:t>📈 </a:t>
            </a:r>
            <a:r>
              <a:rPr lang="es-ES" sz="1200" b="1" i="0" kern="1200" dirty="0" err="1">
                <a:solidFill>
                  <a:schemeClr val="tx1"/>
                </a:solidFill>
                <a:effectLst/>
                <a:latin typeface="+mn-lt"/>
                <a:ea typeface="+mn-ea"/>
                <a:cs typeface="+mn-cs"/>
              </a:rPr>
              <a:t>Creixement</a:t>
            </a:r>
            <a:r>
              <a:rPr lang="es-ES" sz="1200" b="1" i="0" kern="1200" dirty="0">
                <a:solidFill>
                  <a:schemeClr val="tx1"/>
                </a:solidFill>
                <a:effectLst/>
                <a:latin typeface="+mn-lt"/>
                <a:ea typeface="+mn-ea"/>
                <a:cs typeface="+mn-cs"/>
              </a:rPr>
              <a:t> </a:t>
            </a:r>
            <a:r>
              <a:rPr lang="es-ES" sz="1200" b="1" i="0" kern="1200" dirty="0" err="1">
                <a:solidFill>
                  <a:schemeClr val="tx1"/>
                </a:solidFill>
                <a:effectLst/>
                <a:latin typeface="+mn-lt"/>
                <a:ea typeface="+mn-ea"/>
                <a:cs typeface="+mn-cs"/>
              </a:rPr>
              <a:t>asimptòtic</a:t>
            </a:r>
            <a:r>
              <a:rPr lang="es-ES" sz="1200" b="1" i="0" kern="1200" dirty="0">
                <a:solidFill>
                  <a:schemeClr val="tx1"/>
                </a:solidFill>
                <a:effectLst/>
                <a:latin typeface="+mn-lt"/>
                <a:ea typeface="+mn-ea"/>
                <a:cs typeface="+mn-cs"/>
              </a:rPr>
              <a:t> de </a:t>
            </a:r>
            <a:r>
              <a:rPr lang="es-ES" sz="1200" b="1" i="0" kern="1200" dirty="0" err="1">
                <a:solidFill>
                  <a:schemeClr val="tx1"/>
                </a:solidFill>
                <a:effectLst/>
                <a:latin typeface="+mn-lt"/>
                <a:ea typeface="+mn-ea"/>
                <a:cs typeface="+mn-cs"/>
              </a:rPr>
              <a:t>conjunts</a:t>
            </a:r>
            <a:r>
              <a:rPr lang="es-ES" sz="1200" b="1" i="0" kern="1200" dirty="0">
                <a:solidFill>
                  <a:schemeClr val="tx1"/>
                </a:solidFill>
                <a:effectLst/>
                <a:latin typeface="+mn-lt"/>
                <a:ea typeface="+mn-ea"/>
                <a:cs typeface="+mn-cs"/>
              </a:rPr>
              <a:t> (</a:t>
            </a:r>
            <a:r>
              <a:rPr lang="es-ES" sz="1200" b="1" i="0" kern="1200" dirty="0" err="1">
                <a:solidFill>
                  <a:schemeClr val="tx1"/>
                </a:solidFill>
                <a:effectLst/>
                <a:latin typeface="+mn-lt"/>
                <a:ea typeface="+mn-ea"/>
                <a:cs typeface="+mn-cs"/>
              </a:rPr>
              <a:t>versió</a:t>
            </a:r>
            <a:r>
              <a:rPr lang="es-ES" sz="1200" b="1" i="0" kern="1200" dirty="0">
                <a:solidFill>
                  <a:schemeClr val="tx1"/>
                </a:solidFill>
                <a:effectLst/>
                <a:latin typeface="+mn-lt"/>
                <a:ea typeface="+mn-ea"/>
                <a:cs typeface="+mn-cs"/>
              </a:rPr>
              <a:t> per a “Sofi.pptx”)</a:t>
            </a:r>
          </a:p>
          <a:p>
            <a:r>
              <a:rPr lang="es-ES" sz="1200" b="0" i="0" kern="1200" dirty="0" err="1">
                <a:solidFill>
                  <a:schemeClr val="tx1"/>
                </a:solidFill>
                <a:effectLst/>
                <a:latin typeface="+mn-lt"/>
                <a:ea typeface="+mn-ea"/>
                <a:cs typeface="+mn-cs"/>
              </a:rPr>
              <a:t>Quan</a:t>
            </a:r>
            <a:r>
              <a:rPr lang="es-ES" sz="1200" b="0" i="0" kern="1200" dirty="0">
                <a:solidFill>
                  <a:schemeClr val="tx1"/>
                </a:solidFill>
                <a:effectLst/>
                <a:latin typeface="+mn-lt"/>
                <a:ea typeface="+mn-ea"/>
                <a:cs typeface="+mn-cs"/>
              </a:rPr>
              <a:t> </a:t>
            </a:r>
            <a:r>
              <a:rPr lang="es-ES" sz="1200" b="0" i="0" kern="1200" dirty="0" err="1">
                <a:solidFill>
                  <a:schemeClr val="tx1"/>
                </a:solidFill>
                <a:effectLst/>
                <a:latin typeface="+mn-lt"/>
                <a:ea typeface="+mn-ea"/>
                <a:cs typeface="+mn-cs"/>
              </a:rPr>
              <a:t>estudiem</a:t>
            </a:r>
            <a:r>
              <a:rPr lang="es-ES" sz="1200" b="0" i="0" kern="1200" dirty="0">
                <a:solidFill>
                  <a:schemeClr val="tx1"/>
                </a:solidFill>
                <a:effectLst/>
                <a:latin typeface="+mn-lt"/>
                <a:ea typeface="+mn-ea"/>
                <a:cs typeface="+mn-cs"/>
              </a:rPr>
              <a:t> </a:t>
            </a:r>
            <a:r>
              <a:rPr lang="es-ES" sz="1200" b="0" i="0" kern="1200" dirty="0" err="1">
                <a:solidFill>
                  <a:schemeClr val="tx1"/>
                </a:solidFill>
                <a:effectLst/>
                <a:latin typeface="+mn-lt"/>
                <a:ea typeface="+mn-ea"/>
                <a:cs typeface="+mn-cs"/>
              </a:rPr>
              <a:t>conjunts</a:t>
            </a:r>
            <a:r>
              <a:rPr lang="es-ES" sz="1200" b="0" i="0" kern="1200" dirty="0">
                <a:solidFill>
                  <a:schemeClr val="tx1"/>
                </a:solidFill>
                <a:effectLst/>
                <a:latin typeface="+mn-lt"/>
                <a:ea typeface="+mn-ea"/>
                <a:cs typeface="+mn-cs"/>
              </a:rPr>
              <a:t> de nombres </a:t>
            </a:r>
            <a:r>
              <a:rPr lang="es-ES" sz="1200" b="0" i="0" kern="1200" dirty="0" err="1">
                <a:solidFill>
                  <a:schemeClr val="tx1"/>
                </a:solidFill>
                <a:effectLst/>
                <a:latin typeface="+mn-lt"/>
                <a:ea typeface="+mn-ea"/>
                <a:cs typeface="+mn-cs"/>
              </a:rPr>
              <a:t>grans</a:t>
            </a:r>
            <a:r>
              <a:rPr lang="es-ES" sz="1200" b="0" i="0" kern="1200" dirty="0">
                <a:solidFill>
                  <a:schemeClr val="tx1"/>
                </a:solidFill>
                <a:effectLst/>
                <a:latin typeface="+mn-lt"/>
                <a:ea typeface="+mn-ea"/>
                <a:cs typeface="+mn-cs"/>
              </a:rPr>
              <a:t> —</a:t>
            </a:r>
            <a:r>
              <a:rPr lang="es-ES" sz="1200" b="0" i="0" kern="1200" dirty="0" err="1">
                <a:solidFill>
                  <a:schemeClr val="tx1"/>
                </a:solidFill>
                <a:effectLst/>
                <a:latin typeface="+mn-lt"/>
                <a:ea typeface="+mn-ea"/>
                <a:cs typeface="+mn-cs"/>
              </a:rPr>
              <a:t>com</a:t>
            </a:r>
            <a:r>
              <a:rPr lang="es-ES" sz="1200" b="0" i="0" kern="1200" dirty="0">
                <a:solidFill>
                  <a:schemeClr val="tx1"/>
                </a:solidFill>
                <a:effectLst/>
                <a:latin typeface="+mn-lt"/>
                <a:ea typeface="+mn-ea"/>
                <a:cs typeface="+mn-cs"/>
              </a:rPr>
              <a:t> </a:t>
            </a:r>
            <a:r>
              <a:rPr lang="es-ES" sz="1200" b="0" i="0" kern="1200" dirty="0" err="1">
                <a:solidFill>
                  <a:schemeClr val="tx1"/>
                </a:solidFill>
                <a:effectLst/>
                <a:latin typeface="+mn-lt"/>
                <a:ea typeface="+mn-ea"/>
                <a:cs typeface="+mn-cs"/>
              </a:rPr>
              <a:t>els</a:t>
            </a:r>
            <a:r>
              <a:rPr lang="es-ES" sz="1200" b="0" i="0" kern="1200" dirty="0">
                <a:solidFill>
                  <a:schemeClr val="tx1"/>
                </a:solidFill>
                <a:effectLst/>
                <a:latin typeface="+mn-lt"/>
                <a:ea typeface="+mn-ea"/>
                <a:cs typeface="+mn-cs"/>
              </a:rPr>
              <a:t> que </a:t>
            </a:r>
            <a:r>
              <a:rPr lang="es-ES" sz="1200" b="0" i="0" kern="1200" dirty="0" err="1">
                <a:solidFill>
                  <a:schemeClr val="tx1"/>
                </a:solidFill>
                <a:effectLst/>
                <a:latin typeface="+mn-lt"/>
                <a:ea typeface="+mn-ea"/>
                <a:cs typeface="+mn-cs"/>
              </a:rPr>
              <a:t>apareixen</a:t>
            </a:r>
            <a:r>
              <a:rPr lang="es-ES" sz="1200" b="0" i="0" kern="1200" dirty="0">
                <a:solidFill>
                  <a:schemeClr val="tx1"/>
                </a:solidFill>
                <a:effectLst/>
                <a:latin typeface="+mn-lt"/>
                <a:ea typeface="+mn-ea"/>
                <a:cs typeface="+mn-cs"/>
              </a:rPr>
              <a:t> en les </a:t>
            </a:r>
            <a:r>
              <a:rPr lang="es-ES" sz="1200" b="0" i="0" kern="1200" dirty="0" err="1">
                <a:solidFill>
                  <a:schemeClr val="tx1"/>
                </a:solidFill>
                <a:effectLst/>
                <a:latin typeface="+mn-lt"/>
                <a:ea typeface="+mn-ea"/>
                <a:cs typeface="+mn-cs"/>
              </a:rPr>
              <a:t>progressions</a:t>
            </a:r>
            <a:r>
              <a:rPr lang="es-ES" sz="1200" b="0" i="0" kern="1200" dirty="0">
                <a:solidFill>
                  <a:schemeClr val="tx1"/>
                </a:solidFill>
                <a:effectLst/>
                <a:latin typeface="+mn-lt"/>
                <a:ea typeface="+mn-ea"/>
                <a:cs typeface="+mn-cs"/>
              </a:rPr>
              <a:t> $6k \pm 1$, </a:t>
            </a:r>
            <a:r>
              <a:rPr lang="es-ES" sz="1200" b="0" i="0" kern="1200" dirty="0" err="1">
                <a:solidFill>
                  <a:schemeClr val="tx1"/>
                </a:solidFill>
                <a:effectLst/>
                <a:latin typeface="+mn-lt"/>
                <a:ea typeface="+mn-ea"/>
                <a:cs typeface="+mn-cs"/>
              </a:rPr>
              <a:t>els</a:t>
            </a:r>
            <a:r>
              <a:rPr lang="es-ES" sz="1200" b="0" i="0" kern="1200" dirty="0">
                <a:solidFill>
                  <a:schemeClr val="tx1"/>
                </a:solidFill>
                <a:effectLst/>
                <a:latin typeface="+mn-lt"/>
                <a:ea typeface="+mn-ea"/>
                <a:cs typeface="+mn-cs"/>
              </a:rPr>
              <a:t> </a:t>
            </a:r>
            <a:r>
              <a:rPr lang="es-ES" sz="1200" b="0" i="0" kern="1200" dirty="0" err="1">
                <a:solidFill>
                  <a:schemeClr val="tx1"/>
                </a:solidFill>
                <a:effectLst/>
                <a:latin typeface="+mn-lt"/>
                <a:ea typeface="+mn-ea"/>
                <a:cs typeface="+mn-cs"/>
              </a:rPr>
              <a:t>compostos</a:t>
            </a:r>
            <a:r>
              <a:rPr lang="es-ES" sz="1200" b="0" i="0" kern="1200" dirty="0">
                <a:solidFill>
                  <a:schemeClr val="tx1"/>
                </a:solidFill>
                <a:effectLst/>
                <a:latin typeface="+mn-lt"/>
                <a:ea typeface="+mn-ea"/>
                <a:cs typeface="+mn-cs"/>
              </a:rPr>
              <a:t> de Sophie Germain o </a:t>
            </a:r>
            <a:r>
              <a:rPr lang="es-ES" sz="1200" b="0" i="0" kern="1200" dirty="0" err="1">
                <a:solidFill>
                  <a:schemeClr val="tx1"/>
                </a:solidFill>
                <a:effectLst/>
                <a:latin typeface="+mn-lt"/>
                <a:ea typeface="+mn-ea"/>
                <a:cs typeface="+mn-cs"/>
              </a:rPr>
              <a:t>els</a:t>
            </a:r>
            <a:r>
              <a:rPr lang="es-ES" sz="1200" b="0" i="0" kern="1200" dirty="0">
                <a:solidFill>
                  <a:schemeClr val="tx1"/>
                </a:solidFill>
                <a:effectLst/>
                <a:latin typeface="+mn-lt"/>
                <a:ea typeface="+mn-ea"/>
                <a:cs typeface="+mn-cs"/>
              </a:rPr>
              <a:t> </a:t>
            </a:r>
            <a:r>
              <a:rPr lang="es-ES" sz="1200" b="0" i="0" kern="1200" dirty="0" err="1">
                <a:solidFill>
                  <a:schemeClr val="tx1"/>
                </a:solidFill>
                <a:effectLst/>
                <a:latin typeface="+mn-lt"/>
                <a:ea typeface="+mn-ea"/>
                <a:cs typeface="+mn-cs"/>
              </a:rPr>
              <a:t>seus</a:t>
            </a:r>
            <a:r>
              <a:rPr lang="es-ES" sz="1200" b="0" i="0" kern="1200" dirty="0">
                <a:solidFill>
                  <a:schemeClr val="tx1"/>
                </a:solidFill>
                <a:effectLst/>
                <a:latin typeface="+mn-lt"/>
                <a:ea typeface="+mn-ea"/>
                <a:cs typeface="+mn-cs"/>
              </a:rPr>
              <a:t> </a:t>
            </a:r>
            <a:r>
              <a:rPr lang="es-ES" sz="1200" b="0" i="0" kern="1200" dirty="0" err="1">
                <a:solidFill>
                  <a:schemeClr val="tx1"/>
                </a:solidFill>
                <a:effectLst/>
                <a:latin typeface="+mn-lt"/>
                <a:ea typeface="+mn-ea"/>
                <a:cs typeface="+mn-cs"/>
              </a:rPr>
              <a:t>prims</a:t>
            </a:r>
            <a:r>
              <a:rPr lang="es-ES" sz="1200" b="0" i="0" kern="1200" dirty="0">
                <a:solidFill>
                  <a:schemeClr val="tx1"/>
                </a:solidFill>
                <a:effectLst/>
                <a:latin typeface="+mn-lt"/>
                <a:ea typeface="+mn-ea"/>
                <a:cs typeface="+mn-cs"/>
              </a:rPr>
              <a:t>— no </a:t>
            </a:r>
            <a:r>
              <a:rPr lang="es-ES" sz="1200" b="0" i="0" kern="1200" dirty="0" err="1">
                <a:solidFill>
                  <a:schemeClr val="tx1"/>
                </a:solidFill>
                <a:effectLst/>
                <a:latin typeface="+mn-lt"/>
                <a:ea typeface="+mn-ea"/>
                <a:cs typeface="+mn-cs"/>
              </a:rPr>
              <a:t>ens</a:t>
            </a:r>
            <a:r>
              <a:rPr lang="es-ES" sz="1200" b="0" i="0" kern="1200" dirty="0">
                <a:solidFill>
                  <a:schemeClr val="tx1"/>
                </a:solidFill>
                <a:effectLst/>
                <a:latin typeface="+mn-lt"/>
                <a:ea typeface="+mn-ea"/>
                <a:cs typeface="+mn-cs"/>
              </a:rPr>
              <a:t> </a:t>
            </a:r>
            <a:r>
              <a:rPr lang="es-ES" sz="1200" b="0" i="0" kern="1200" dirty="0" err="1">
                <a:solidFill>
                  <a:schemeClr val="tx1"/>
                </a:solidFill>
                <a:effectLst/>
                <a:latin typeface="+mn-lt"/>
                <a:ea typeface="+mn-ea"/>
                <a:cs typeface="+mn-cs"/>
              </a:rPr>
              <a:t>interessa</a:t>
            </a:r>
            <a:r>
              <a:rPr lang="es-ES" sz="1200" b="0" i="0" kern="1200" dirty="0">
                <a:solidFill>
                  <a:schemeClr val="tx1"/>
                </a:solidFill>
                <a:effectLst/>
                <a:latin typeface="+mn-lt"/>
                <a:ea typeface="+mn-ea"/>
                <a:cs typeface="+mn-cs"/>
              </a:rPr>
              <a:t> </a:t>
            </a:r>
            <a:r>
              <a:rPr lang="es-ES" sz="1200" b="0" i="0" kern="1200" dirty="0" err="1">
                <a:solidFill>
                  <a:schemeClr val="tx1"/>
                </a:solidFill>
                <a:effectLst/>
                <a:latin typeface="+mn-lt"/>
                <a:ea typeface="+mn-ea"/>
                <a:cs typeface="+mn-cs"/>
              </a:rPr>
              <a:t>només</a:t>
            </a:r>
            <a:r>
              <a:rPr lang="es-ES" sz="1200" b="0" i="0" kern="1200" dirty="0">
                <a:solidFill>
                  <a:schemeClr val="tx1"/>
                </a:solidFill>
                <a:effectLst/>
                <a:latin typeface="+mn-lt"/>
                <a:ea typeface="+mn-ea"/>
                <a:cs typeface="+mn-cs"/>
              </a:rPr>
              <a:t> </a:t>
            </a:r>
            <a:r>
              <a:rPr lang="es-ES" sz="1200" b="0" i="1" kern="1200" dirty="0" err="1">
                <a:solidFill>
                  <a:schemeClr val="tx1"/>
                </a:solidFill>
                <a:effectLst/>
                <a:latin typeface="+mn-lt"/>
                <a:ea typeface="+mn-ea"/>
                <a:cs typeface="+mn-cs"/>
              </a:rPr>
              <a:t>quants</a:t>
            </a:r>
            <a:r>
              <a:rPr lang="es-ES" sz="1200" b="0" i="0" kern="1200" dirty="0">
                <a:solidFill>
                  <a:schemeClr val="tx1"/>
                </a:solidFill>
                <a:effectLst/>
                <a:latin typeface="+mn-lt"/>
                <a:ea typeface="+mn-ea"/>
                <a:cs typeface="+mn-cs"/>
              </a:rPr>
              <a:t> </a:t>
            </a:r>
            <a:r>
              <a:rPr lang="es-ES" sz="1200" b="0" i="0" kern="1200" dirty="0" err="1">
                <a:solidFill>
                  <a:schemeClr val="tx1"/>
                </a:solidFill>
                <a:effectLst/>
                <a:latin typeface="+mn-lt"/>
                <a:ea typeface="+mn-ea"/>
                <a:cs typeface="+mn-cs"/>
              </a:rPr>
              <a:t>elements</a:t>
            </a:r>
            <a:r>
              <a:rPr lang="es-ES" sz="1200" b="0" i="0" kern="1200" dirty="0">
                <a:solidFill>
                  <a:schemeClr val="tx1"/>
                </a:solidFill>
                <a:effectLst/>
                <a:latin typeface="+mn-lt"/>
                <a:ea typeface="+mn-ea"/>
                <a:cs typeface="+mn-cs"/>
              </a:rPr>
              <a:t> </a:t>
            </a:r>
            <a:r>
              <a:rPr lang="es-ES" sz="1200" b="0" i="0" kern="1200" dirty="0" err="1">
                <a:solidFill>
                  <a:schemeClr val="tx1"/>
                </a:solidFill>
                <a:effectLst/>
                <a:latin typeface="+mn-lt"/>
                <a:ea typeface="+mn-ea"/>
                <a:cs typeface="+mn-cs"/>
              </a:rPr>
              <a:t>tenen</a:t>
            </a:r>
            <a:r>
              <a:rPr lang="es-ES" sz="1200" b="0" i="0" kern="1200" dirty="0">
                <a:solidFill>
                  <a:schemeClr val="tx1"/>
                </a:solidFill>
                <a:effectLst/>
                <a:latin typeface="+mn-lt"/>
                <a:ea typeface="+mn-ea"/>
                <a:cs typeface="+mn-cs"/>
              </a:rPr>
              <a:t> </a:t>
            </a:r>
            <a:r>
              <a:rPr lang="es-ES" sz="1200" b="0" i="0" kern="1200" dirty="0" err="1">
                <a:solidFill>
                  <a:schemeClr val="tx1"/>
                </a:solidFill>
                <a:effectLst/>
                <a:latin typeface="+mn-lt"/>
                <a:ea typeface="+mn-ea"/>
                <a:cs typeface="+mn-cs"/>
              </a:rPr>
              <a:t>exactament</a:t>
            </a:r>
            <a:r>
              <a:rPr lang="es-ES" sz="1200" b="0" i="0" kern="1200" dirty="0">
                <a:solidFill>
                  <a:schemeClr val="tx1"/>
                </a:solidFill>
                <a:effectLst/>
                <a:latin typeface="+mn-lt"/>
                <a:ea typeface="+mn-ea"/>
                <a:cs typeface="+mn-cs"/>
              </a:rPr>
              <a:t>, </a:t>
            </a:r>
            <a:r>
              <a:rPr lang="es-ES" sz="1200" b="0" i="0" kern="1200" dirty="0" err="1">
                <a:solidFill>
                  <a:schemeClr val="tx1"/>
                </a:solidFill>
                <a:effectLst/>
                <a:latin typeface="+mn-lt"/>
                <a:ea typeface="+mn-ea"/>
                <a:cs typeface="+mn-cs"/>
              </a:rPr>
              <a:t>sinó</a:t>
            </a:r>
            <a:r>
              <a:rPr lang="es-ES" sz="1200" b="0" i="0" kern="1200" dirty="0">
                <a:solidFill>
                  <a:schemeClr val="tx1"/>
                </a:solidFill>
                <a:effectLst/>
                <a:latin typeface="+mn-lt"/>
                <a:ea typeface="+mn-ea"/>
                <a:cs typeface="+mn-cs"/>
              </a:rPr>
              <a:t> </a:t>
            </a:r>
            <a:r>
              <a:rPr lang="es-ES" sz="1200" b="0" i="1" kern="1200" dirty="0" err="1">
                <a:solidFill>
                  <a:schemeClr val="tx1"/>
                </a:solidFill>
                <a:effectLst/>
                <a:latin typeface="+mn-lt"/>
                <a:ea typeface="+mn-ea"/>
                <a:cs typeface="+mn-cs"/>
              </a:rPr>
              <a:t>com</a:t>
            </a:r>
            <a:r>
              <a:rPr lang="es-ES" sz="1200" b="0" i="1" kern="1200" dirty="0">
                <a:solidFill>
                  <a:schemeClr val="tx1"/>
                </a:solidFill>
                <a:effectLst/>
                <a:latin typeface="+mn-lt"/>
                <a:ea typeface="+mn-ea"/>
                <a:cs typeface="+mn-cs"/>
              </a:rPr>
              <a:t> </a:t>
            </a:r>
            <a:r>
              <a:rPr lang="es-ES" sz="1200" b="0" i="1" kern="1200" dirty="0" err="1">
                <a:solidFill>
                  <a:schemeClr val="tx1"/>
                </a:solidFill>
                <a:effectLst/>
                <a:latin typeface="+mn-lt"/>
                <a:ea typeface="+mn-ea"/>
                <a:cs typeface="+mn-cs"/>
              </a:rPr>
              <a:t>creixen</a:t>
            </a:r>
            <a:r>
              <a:rPr lang="es-ES" sz="1200" b="0" i="0" kern="1200" dirty="0">
                <a:solidFill>
                  <a:schemeClr val="tx1"/>
                </a:solidFill>
                <a:effectLst/>
                <a:latin typeface="+mn-lt"/>
                <a:ea typeface="+mn-ea"/>
                <a:cs typeface="+mn-cs"/>
              </a:rPr>
              <a:t> </a:t>
            </a:r>
            <a:r>
              <a:rPr lang="es-ES" sz="1200" b="0" i="0" kern="1200" dirty="0" err="1">
                <a:solidFill>
                  <a:schemeClr val="tx1"/>
                </a:solidFill>
                <a:effectLst/>
                <a:latin typeface="+mn-lt"/>
                <a:ea typeface="+mn-ea"/>
                <a:cs typeface="+mn-cs"/>
              </a:rPr>
              <a:t>quan</a:t>
            </a:r>
            <a:r>
              <a:rPr lang="es-ES" sz="1200" b="0" i="0" kern="1200" dirty="0">
                <a:solidFill>
                  <a:schemeClr val="tx1"/>
                </a:solidFill>
                <a:effectLst/>
                <a:latin typeface="+mn-lt"/>
                <a:ea typeface="+mn-ea"/>
                <a:cs typeface="+mn-cs"/>
              </a:rPr>
              <a:t> $N\</a:t>
            </a:r>
            <a:r>
              <a:rPr lang="es-ES" sz="1200" b="0" i="0" kern="1200" dirty="0" err="1">
                <a:solidFill>
                  <a:schemeClr val="tx1"/>
                </a:solidFill>
                <a:effectLst/>
                <a:latin typeface="+mn-lt"/>
                <a:ea typeface="+mn-ea"/>
                <a:cs typeface="+mn-cs"/>
              </a:rPr>
              <a:t>to</a:t>
            </a:r>
            <a:r>
              <a:rPr lang="es-ES" sz="1200" b="0" i="0" kern="1200" dirty="0">
                <a:solidFill>
                  <a:schemeClr val="tx1"/>
                </a:solidFill>
                <a:effectLst/>
                <a:latin typeface="+mn-lt"/>
                <a:ea typeface="+mn-ea"/>
                <a:cs typeface="+mn-cs"/>
              </a:rPr>
              <a:t>\</a:t>
            </a:r>
            <a:r>
              <a:rPr lang="es-ES" sz="1200" b="0" i="0" kern="1200" dirty="0" err="1">
                <a:solidFill>
                  <a:schemeClr val="tx1"/>
                </a:solidFill>
                <a:effectLst/>
                <a:latin typeface="+mn-lt"/>
                <a:ea typeface="+mn-ea"/>
                <a:cs typeface="+mn-cs"/>
              </a:rPr>
              <a:t>infty</a:t>
            </a:r>
            <a:r>
              <a:rPr lang="es-ES" sz="1200" b="0" i="0" kern="1200" dirty="0">
                <a:solidFill>
                  <a:schemeClr val="tx1"/>
                </a:solidFill>
                <a:effectLst/>
                <a:latin typeface="+mn-lt"/>
                <a:ea typeface="+mn-ea"/>
                <a:cs typeface="+mn-cs"/>
              </a:rPr>
              <a:t>$.</a:t>
            </a:r>
            <a:br>
              <a:rPr lang="es-ES" sz="1200" b="0" i="0" kern="1200" dirty="0">
                <a:solidFill>
                  <a:schemeClr val="tx1"/>
                </a:solidFill>
                <a:effectLst/>
                <a:latin typeface="+mn-lt"/>
                <a:ea typeface="+mn-ea"/>
                <a:cs typeface="+mn-cs"/>
              </a:rPr>
            </a:br>
            <a:r>
              <a:rPr lang="es-ES" sz="1200" b="0" i="0" kern="1200" dirty="0" err="1">
                <a:solidFill>
                  <a:schemeClr val="tx1"/>
                </a:solidFill>
                <a:effectLst/>
                <a:latin typeface="+mn-lt"/>
                <a:ea typeface="+mn-ea"/>
                <a:cs typeface="+mn-cs"/>
              </a:rPr>
              <a:t>Això</a:t>
            </a:r>
            <a:r>
              <a:rPr lang="es-ES" sz="1200" b="0" i="0" kern="1200" dirty="0">
                <a:solidFill>
                  <a:schemeClr val="tx1"/>
                </a:solidFill>
                <a:effectLst/>
                <a:latin typeface="+mn-lt"/>
                <a:ea typeface="+mn-ea"/>
                <a:cs typeface="+mn-cs"/>
              </a:rPr>
              <a:t> </a:t>
            </a:r>
            <a:r>
              <a:rPr lang="es-ES" sz="1200" b="0" i="0" kern="1200" dirty="0" err="1">
                <a:solidFill>
                  <a:schemeClr val="tx1"/>
                </a:solidFill>
                <a:effectLst/>
                <a:latin typeface="+mn-lt"/>
                <a:ea typeface="+mn-ea"/>
                <a:cs typeface="+mn-cs"/>
              </a:rPr>
              <a:t>és</a:t>
            </a:r>
            <a:r>
              <a:rPr lang="es-ES" sz="1200" b="0" i="0" kern="1200" dirty="0">
                <a:solidFill>
                  <a:schemeClr val="tx1"/>
                </a:solidFill>
                <a:effectLst/>
                <a:latin typeface="+mn-lt"/>
                <a:ea typeface="+mn-ea"/>
                <a:cs typeface="+mn-cs"/>
              </a:rPr>
              <a:t> el </a:t>
            </a:r>
            <a:r>
              <a:rPr lang="es-ES" sz="1200" b="1" i="0" kern="1200" dirty="0" err="1">
                <a:solidFill>
                  <a:schemeClr val="tx1"/>
                </a:solidFill>
                <a:effectLst/>
                <a:latin typeface="+mn-lt"/>
                <a:ea typeface="+mn-ea"/>
                <a:cs typeface="+mn-cs"/>
              </a:rPr>
              <a:t>creixement</a:t>
            </a:r>
            <a:r>
              <a:rPr lang="es-ES" sz="1200" b="1" i="0" kern="1200" dirty="0">
                <a:solidFill>
                  <a:schemeClr val="tx1"/>
                </a:solidFill>
                <a:effectLst/>
                <a:latin typeface="+mn-lt"/>
                <a:ea typeface="+mn-ea"/>
                <a:cs typeface="+mn-cs"/>
              </a:rPr>
              <a:t> </a:t>
            </a:r>
            <a:r>
              <a:rPr lang="es-ES" sz="1200" b="1" i="0" kern="1200" dirty="0" err="1">
                <a:solidFill>
                  <a:schemeClr val="tx1"/>
                </a:solidFill>
                <a:effectLst/>
                <a:latin typeface="+mn-lt"/>
                <a:ea typeface="+mn-ea"/>
                <a:cs typeface="+mn-cs"/>
              </a:rPr>
              <a:t>asimptòtic</a:t>
            </a:r>
            <a:r>
              <a:rPr lang="es-ES" sz="1200" b="0" i="0" kern="1200" dirty="0">
                <a:solidFill>
                  <a:schemeClr val="tx1"/>
                </a:solidFill>
                <a:effectLst/>
                <a:latin typeface="+mn-lt"/>
                <a:ea typeface="+mn-ea"/>
                <a:cs typeface="+mn-cs"/>
              </a:rPr>
              <a:t>: comparar </a:t>
            </a:r>
            <a:r>
              <a:rPr lang="es-ES" sz="1200" b="0" i="0" kern="1200" dirty="0" err="1">
                <a:solidFill>
                  <a:schemeClr val="tx1"/>
                </a:solidFill>
                <a:effectLst/>
                <a:latin typeface="+mn-lt"/>
                <a:ea typeface="+mn-ea"/>
                <a:cs typeface="+mn-cs"/>
              </a:rPr>
              <a:t>conjunts</a:t>
            </a:r>
            <a:r>
              <a:rPr lang="es-ES" sz="1200" b="0" i="0" kern="1200" dirty="0">
                <a:solidFill>
                  <a:schemeClr val="tx1"/>
                </a:solidFill>
                <a:effectLst/>
                <a:latin typeface="+mn-lt"/>
                <a:ea typeface="+mn-ea"/>
                <a:cs typeface="+mn-cs"/>
              </a:rPr>
              <a:t> </a:t>
            </a:r>
            <a:r>
              <a:rPr lang="es-ES" sz="1200" b="0" i="0" kern="1200" dirty="0" err="1">
                <a:solidFill>
                  <a:schemeClr val="tx1"/>
                </a:solidFill>
                <a:effectLst/>
                <a:latin typeface="+mn-lt"/>
                <a:ea typeface="+mn-ea"/>
                <a:cs typeface="+mn-cs"/>
              </a:rPr>
              <a:t>grans</a:t>
            </a:r>
            <a:r>
              <a:rPr lang="es-ES" sz="1200" b="0" i="0" kern="1200" dirty="0">
                <a:solidFill>
                  <a:schemeClr val="tx1"/>
                </a:solidFill>
                <a:effectLst/>
                <a:latin typeface="+mn-lt"/>
                <a:ea typeface="+mn-ea"/>
                <a:cs typeface="+mn-cs"/>
              </a:rPr>
              <a:t> </a:t>
            </a:r>
            <a:r>
              <a:rPr lang="es-ES" sz="1200" b="0" i="0" kern="1200" dirty="0" err="1">
                <a:solidFill>
                  <a:schemeClr val="tx1"/>
                </a:solidFill>
                <a:effectLst/>
                <a:latin typeface="+mn-lt"/>
                <a:ea typeface="+mn-ea"/>
                <a:cs typeface="+mn-cs"/>
              </a:rPr>
              <a:t>segons</a:t>
            </a:r>
            <a:r>
              <a:rPr lang="es-ES" sz="1200" b="0" i="0" kern="1200" dirty="0">
                <a:solidFill>
                  <a:schemeClr val="tx1"/>
                </a:solidFill>
                <a:effectLst/>
                <a:latin typeface="+mn-lt"/>
                <a:ea typeface="+mn-ea"/>
                <a:cs typeface="+mn-cs"/>
              </a:rPr>
              <a:t> la </a:t>
            </a:r>
            <a:r>
              <a:rPr lang="es-ES" sz="1200" b="0" i="0" kern="1200" dirty="0" err="1">
                <a:solidFill>
                  <a:schemeClr val="tx1"/>
                </a:solidFill>
                <a:effectLst/>
                <a:latin typeface="+mn-lt"/>
                <a:ea typeface="+mn-ea"/>
                <a:cs typeface="+mn-cs"/>
              </a:rPr>
              <a:t>seua</a:t>
            </a:r>
            <a:r>
              <a:rPr lang="es-ES" sz="1200" b="0" i="0" kern="1200" dirty="0">
                <a:solidFill>
                  <a:schemeClr val="tx1"/>
                </a:solidFill>
                <a:effectLst/>
                <a:latin typeface="+mn-lt"/>
                <a:ea typeface="+mn-ea"/>
                <a:cs typeface="+mn-cs"/>
              </a:rPr>
              <a:t> </a:t>
            </a:r>
            <a:r>
              <a:rPr lang="es-ES" sz="1200" b="1" i="0" kern="1200" dirty="0" err="1">
                <a:solidFill>
                  <a:schemeClr val="tx1"/>
                </a:solidFill>
                <a:effectLst/>
                <a:latin typeface="+mn-lt"/>
                <a:ea typeface="+mn-ea"/>
                <a:cs typeface="+mn-cs"/>
              </a:rPr>
              <a:t>proporció</a:t>
            </a:r>
            <a:r>
              <a:rPr lang="es-ES" sz="1200" b="0" i="0" kern="1200" dirty="0">
                <a:solidFill>
                  <a:schemeClr val="tx1"/>
                </a:solidFill>
                <a:effectLst/>
                <a:latin typeface="+mn-lt"/>
                <a:ea typeface="+mn-ea"/>
                <a:cs typeface="+mn-cs"/>
              </a:rPr>
              <a:t>, </a:t>
            </a:r>
            <a:r>
              <a:rPr lang="es-ES" sz="1200" b="1" i="0" kern="1200" dirty="0" err="1">
                <a:solidFill>
                  <a:schemeClr val="tx1"/>
                </a:solidFill>
                <a:effectLst/>
                <a:latin typeface="+mn-lt"/>
                <a:ea typeface="+mn-ea"/>
                <a:cs typeface="+mn-cs"/>
              </a:rPr>
              <a:t>densitat</a:t>
            </a:r>
            <a:r>
              <a:rPr lang="es-ES" sz="1200" b="0" i="0" kern="1200" dirty="0">
                <a:solidFill>
                  <a:schemeClr val="tx1"/>
                </a:solidFill>
                <a:effectLst/>
                <a:latin typeface="+mn-lt"/>
                <a:ea typeface="+mn-ea"/>
                <a:cs typeface="+mn-cs"/>
              </a:rPr>
              <a:t> o </a:t>
            </a:r>
            <a:r>
              <a:rPr lang="es-ES" sz="1200" b="1" i="0" kern="1200" dirty="0">
                <a:solidFill>
                  <a:schemeClr val="tx1"/>
                </a:solidFill>
                <a:effectLst/>
                <a:latin typeface="+mn-lt"/>
                <a:ea typeface="+mn-ea"/>
                <a:cs typeface="+mn-cs"/>
              </a:rPr>
              <a:t>ritme </a:t>
            </a:r>
            <a:r>
              <a:rPr lang="es-ES" sz="1200" b="1" i="0" kern="1200" dirty="0" err="1">
                <a:solidFill>
                  <a:schemeClr val="tx1"/>
                </a:solidFill>
                <a:effectLst/>
                <a:latin typeface="+mn-lt"/>
                <a:ea typeface="+mn-ea"/>
                <a:cs typeface="+mn-cs"/>
              </a:rPr>
              <a:t>d’expansió</a:t>
            </a:r>
            <a:r>
              <a:rPr lang="es-ES" sz="1200" b="0" i="0" kern="1200" dirty="0">
                <a:solidFill>
                  <a:schemeClr val="tx1"/>
                </a:solidFill>
                <a:effectLst/>
                <a:latin typeface="+mn-lt"/>
                <a:ea typeface="+mn-ea"/>
                <a:cs typeface="+mn-cs"/>
              </a:rPr>
              <a:t>.</a:t>
            </a:r>
          </a:p>
          <a:p>
            <a:br>
              <a:rPr lang="es-ES" sz="1200" b="0" i="0" kern="1200" dirty="0">
                <a:solidFill>
                  <a:schemeClr val="tx1"/>
                </a:solidFill>
                <a:effectLst/>
                <a:latin typeface="+mn-lt"/>
                <a:ea typeface="+mn-ea"/>
                <a:cs typeface="+mn-cs"/>
              </a:rPr>
            </a:br>
            <a:endParaRPr lang="es-ES" sz="1200" b="0" i="0" kern="1200" dirty="0">
              <a:solidFill>
                <a:schemeClr val="tx1"/>
              </a:solidFill>
              <a:effectLst/>
              <a:latin typeface="+mn-lt"/>
              <a:ea typeface="+mn-ea"/>
              <a:cs typeface="+mn-cs"/>
            </a:endParaRPr>
          </a:p>
          <a:p>
            <a:r>
              <a:rPr lang="es-ES" sz="1200" b="1" i="0" kern="1200" dirty="0">
                <a:solidFill>
                  <a:schemeClr val="tx1"/>
                </a:solidFill>
                <a:effectLst/>
                <a:latin typeface="+mn-lt"/>
                <a:ea typeface="+mn-ea"/>
                <a:cs typeface="+mn-cs"/>
              </a:rPr>
              <a:t>1. La idea </a:t>
            </a:r>
            <a:r>
              <a:rPr lang="es-ES" sz="1200" b="1" i="0" kern="1200" dirty="0" err="1">
                <a:solidFill>
                  <a:schemeClr val="tx1"/>
                </a:solidFill>
                <a:effectLst/>
                <a:latin typeface="+mn-lt"/>
                <a:ea typeface="+mn-ea"/>
                <a:cs typeface="+mn-cs"/>
              </a:rPr>
              <a:t>fonamental</a:t>
            </a:r>
            <a:r>
              <a:rPr lang="es-ES" sz="1200" b="1" i="0" kern="1200" dirty="0">
                <a:solidFill>
                  <a:schemeClr val="tx1"/>
                </a:solidFill>
                <a:effectLst/>
                <a:latin typeface="+mn-lt"/>
                <a:ea typeface="+mn-ea"/>
                <a:cs typeface="+mn-cs"/>
              </a:rPr>
              <a:t>: cada </a:t>
            </a:r>
            <a:r>
              <a:rPr lang="es-ES" sz="1200" b="1" i="0" kern="1200" dirty="0" err="1">
                <a:solidFill>
                  <a:schemeClr val="tx1"/>
                </a:solidFill>
                <a:effectLst/>
                <a:latin typeface="+mn-lt"/>
                <a:ea typeface="+mn-ea"/>
                <a:cs typeface="+mn-cs"/>
              </a:rPr>
              <a:t>llenguatge</a:t>
            </a:r>
            <a:r>
              <a:rPr lang="es-ES" sz="1200" b="1" i="0" kern="1200" dirty="0">
                <a:solidFill>
                  <a:schemeClr val="tx1"/>
                </a:solidFill>
                <a:effectLst/>
                <a:latin typeface="+mn-lt"/>
                <a:ea typeface="+mn-ea"/>
                <a:cs typeface="+mn-cs"/>
              </a:rPr>
              <a:t> té una </a:t>
            </a:r>
            <a:r>
              <a:rPr lang="es-ES" sz="1200" b="1" i="0" kern="1200" dirty="0" err="1">
                <a:solidFill>
                  <a:schemeClr val="tx1"/>
                </a:solidFill>
                <a:effectLst/>
                <a:latin typeface="+mn-lt"/>
                <a:ea typeface="+mn-ea"/>
                <a:cs typeface="+mn-cs"/>
              </a:rPr>
              <a:t>taxa</a:t>
            </a:r>
            <a:r>
              <a:rPr lang="es-ES" sz="1200" b="1" i="0" kern="1200" dirty="0">
                <a:solidFill>
                  <a:schemeClr val="tx1"/>
                </a:solidFill>
                <a:effectLst/>
                <a:latin typeface="+mn-lt"/>
                <a:ea typeface="+mn-ea"/>
                <a:cs typeface="+mn-cs"/>
              </a:rPr>
              <a:t> de </a:t>
            </a:r>
            <a:r>
              <a:rPr lang="es-ES" sz="1200" b="1" i="0" kern="1200" dirty="0" err="1">
                <a:solidFill>
                  <a:schemeClr val="tx1"/>
                </a:solidFill>
                <a:effectLst/>
                <a:latin typeface="+mn-lt"/>
                <a:ea typeface="+mn-ea"/>
                <a:cs typeface="+mn-cs"/>
              </a:rPr>
              <a:t>creixement</a:t>
            </a:r>
            <a:endParaRPr lang="es-ES" sz="1200" b="1" i="0" kern="1200" dirty="0">
              <a:solidFill>
                <a:schemeClr val="tx1"/>
              </a:solidFill>
              <a:effectLst/>
              <a:latin typeface="+mn-lt"/>
              <a:ea typeface="+mn-ea"/>
              <a:cs typeface="+mn-cs"/>
            </a:endParaRPr>
          </a:p>
          <a:p>
            <a:r>
              <a:rPr lang="es-ES" sz="1200" b="0" i="0" kern="1200" dirty="0">
                <a:solidFill>
                  <a:schemeClr val="tx1"/>
                </a:solidFill>
                <a:effectLst/>
                <a:latin typeface="+mn-lt"/>
                <a:ea typeface="+mn-ea"/>
                <a:cs typeface="+mn-cs"/>
              </a:rPr>
              <a:t>Si $L_1$ </a:t>
            </a:r>
            <a:r>
              <a:rPr lang="es-ES" sz="1200" b="0" i="0" kern="1200" dirty="0" err="1">
                <a:solidFill>
                  <a:schemeClr val="tx1"/>
                </a:solidFill>
                <a:effectLst/>
                <a:latin typeface="+mn-lt"/>
                <a:ea typeface="+mn-ea"/>
                <a:cs typeface="+mn-cs"/>
              </a:rPr>
              <a:t>és</a:t>
            </a:r>
            <a:r>
              <a:rPr lang="es-ES" sz="1200" b="0" i="0" kern="1200" dirty="0">
                <a:solidFill>
                  <a:schemeClr val="tx1"/>
                </a:solidFill>
                <a:effectLst/>
                <a:latin typeface="+mn-lt"/>
                <a:ea typeface="+mn-ea"/>
                <a:cs typeface="+mn-cs"/>
              </a:rPr>
              <a:t> el </a:t>
            </a:r>
            <a:r>
              <a:rPr lang="es-ES" sz="1200" b="0" i="0" kern="1200" dirty="0" err="1">
                <a:solidFill>
                  <a:schemeClr val="tx1"/>
                </a:solidFill>
                <a:effectLst/>
                <a:latin typeface="+mn-lt"/>
                <a:ea typeface="+mn-ea"/>
                <a:cs typeface="+mn-cs"/>
              </a:rPr>
              <a:t>conjunt</a:t>
            </a:r>
            <a:r>
              <a:rPr lang="es-ES" sz="1200" b="0" i="0" kern="1200" dirty="0">
                <a:solidFill>
                  <a:schemeClr val="tx1"/>
                </a:solidFill>
                <a:effectLst/>
                <a:latin typeface="+mn-lt"/>
                <a:ea typeface="+mn-ea"/>
                <a:cs typeface="+mn-cs"/>
              </a:rPr>
              <a:t> </a:t>
            </a:r>
            <a:r>
              <a:rPr lang="es-ES" sz="1200" b="0" i="0" kern="1200" dirty="0" err="1">
                <a:solidFill>
                  <a:schemeClr val="tx1"/>
                </a:solidFill>
                <a:effectLst/>
                <a:latin typeface="+mn-lt"/>
                <a:ea typeface="+mn-ea"/>
                <a:cs typeface="+mn-cs"/>
              </a:rPr>
              <a:t>dels</a:t>
            </a:r>
            <a:r>
              <a:rPr lang="es-ES" sz="1200" b="0" i="0" kern="1200" dirty="0">
                <a:solidFill>
                  <a:schemeClr val="tx1"/>
                </a:solidFill>
                <a:effectLst/>
                <a:latin typeface="+mn-lt"/>
                <a:ea typeface="+mn-ea"/>
                <a:cs typeface="+mn-cs"/>
              </a:rPr>
              <a:t> </a:t>
            </a:r>
            <a:r>
              <a:rPr lang="es-ES" sz="1200" b="0" i="0" kern="1200" dirty="0" err="1">
                <a:solidFill>
                  <a:schemeClr val="tx1"/>
                </a:solidFill>
                <a:effectLst/>
                <a:latin typeface="+mn-lt"/>
                <a:ea typeface="+mn-ea"/>
                <a:cs typeface="+mn-cs"/>
              </a:rPr>
              <a:t>enters</a:t>
            </a:r>
            <a:r>
              <a:rPr lang="es-ES" sz="1200" b="0" i="0" kern="1200" dirty="0">
                <a:solidFill>
                  <a:schemeClr val="tx1"/>
                </a:solidFill>
                <a:effectLst/>
                <a:latin typeface="+mn-lt"/>
                <a:ea typeface="+mn-ea"/>
                <a:cs typeface="+mn-cs"/>
              </a:rPr>
              <a:t> de la forma $6k-1$, </a:t>
            </a:r>
            <a:r>
              <a:rPr lang="es-ES" sz="1200" b="0" i="0" kern="1200" dirty="0" err="1">
                <a:solidFill>
                  <a:schemeClr val="tx1"/>
                </a:solidFill>
                <a:effectLst/>
                <a:latin typeface="+mn-lt"/>
                <a:ea typeface="+mn-ea"/>
                <a:cs typeface="+mn-cs"/>
              </a:rPr>
              <a:t>llavors</a:t>
            </a:r>
            <a:r>
              <a:rPr lang="es-ES" sz="1200" b="0" i="0" kern="1200" dirty="0">
                <a:solidFill>
                  <a:schemeClr val="tx1"/>
                </a:solidFill>
                <a:effectLst/>
                <a:latin typeface="+mn-lt"/>
                <a:ea typeface="+mn-ea"/>
                <a:cs typeface="+mn-cs"/>
              </a:rPr>
              <a:t>:</a:t>
            </a:r>
          </a:p>
          <a:p>
            <a:r>
              <a:rPr lang="es-ES" sz="1200" b="0" i="0" kern="1200" dirty="0">
                <a:solidFill>
                  <a:schemeClr val="tx1"/>
                </a:solidFill>
                <a:effectLst/>
                <a:latin typeface="+mn-lt"/>
                <a:ea typeface="+mn-ea"/>
                <a:cs typeface="+mn-cs"/>
              </a:rPr>
              <a:t>$ |L_1(N)| \sim \frac{N}{6} $</a:t>
            </a:r>
          </a:p>
          <a:p>
            <a:r>
              <a:rPr lang="es-ES" sz="1200" b="0" i="0" kern="1200" dirty="0" err="1">
                <a:solidFill>
                  <a:schemeClr val="tx1"/>
                </a:solidFill>
                <a:effectLst/>
                <a:latin typeface="+mn-lt"/>
                <a:ea typeface="+mn-ea"/>
                <a:cs typeface="+mn-cs"/>
              </a:rPr>
              <a:t>Això</a:t>
            </a:r>
            <a:r>
              <a:rPr lang="es-ES" sz="1200" b="0" i="0" kern="1200" dirty="0">
                <a:solidFill>
                  <a:schemeClr val="tx1"/>
                </a:solidFill>
                <a:effectLst/>
                <a:latin typeface="+mn-lt"/>
                <a:ea typeface="+mn-ea"/>
                <a:cs typeface="+mn-cs"/>
              </a:rPr>
              <a:t> </a:t>
            </a:r>
            <a:r>
              <a:rPr lang="es-ES" sz="1200" b="0" i="0" kern="1200" dirty="0" err="1">
                <a:solidFill>
                  <a:schemeClr val="tx1"/>
                </a:solidFill>
                <a:effectLst/>
                <a:latin typeface="+mn-lt"/>
                <a:ea typeface="+mn-ea"/>
                <a:cs typeface="+mn-cs"/>
              </a:rPr>
              <a:t>vol</a:t>
            </a:r>
            <a:r>
              <a:rPr lang="es-ES" sz="1200" b="0" i="0" kern="1200" dirty="0">
                <a:solidFill>
                  <a:schemeClr val="tx1"/>
                </a:solidFill>
                <a:effectLst/>
                <a:latin typeface="+mn-lt"/>
                <a:ea typeface="+mn-ea"/>
                <a:cs typeface="+mn-cs"/>
              </a:rPr>
              <a:t> </a:t>
            </a:r>
            <a:r>
              <a:rPr lang="es-ES" sz="1200" b="0" i="0" kern="1200" dirty="0" err="1">
                <a:solidFill>
                  <a:schemeClr val="tx1"/>
                </a:solidFill>
                <a:effectLst/>
                <a:latin typeface="+mn-lt"/>
                <a:ea typeface="+mn-ea"/>
                <a:cs typeface="+mn-cs"/>
              </a:rPr>
              <a:t>dir</a:t>
            </a:r>
            <a:r>
              <a:rPr lang="es-ES" sz="1200" b="0" i="0" kern="1200" dirty="0">
                <a:solidFill>
                  <a:schemeClr val="tx1"/>
                </a:solidFill>
                <a:effectLst/>
                <a:latin typeface="+mn-lt"/>
                <a:ea typeface="+mn-ea"/>
                <a:cs typeface="+mn-cs"/>
              </a:rPr>
              <a:t> que, </a:t>
            </a:r>
            <a:r>
              <a:rPr lang="es-ES" sz="1200" b="0" i="0" kern="1200" dirty="0" err="1">
                <a:solidFill>
                  <a:schemeClr val="tx1"/>
                </a:solidFill>
                <a:effectLst/>
                <a:latin typeface="+mn-lt"/>
                <a:ea typeface="+mn-ea"/>
                <a:cs typeface="+mn-cs"/>
              </a:rPr>
              <a:t>quan</a:t>
            </a:r>
            <a:r>
              <a:rPr lang="es-ES" sz="1200" b="0" i="0" kern="1200" dirty="0">
                <a:solidFill>
                  <a:schemeClr val="tx1"/>
                </a:solidFill>
                <a:effectLst/>
                <a:latin typeface="+mn-lt"/>
                <a:ea typeface="+mn-ea"/>
                <a:cs typeface="+mn-cs"/>
              </a:rPr>
              <a:t> $N$ </a:t>
            </a:r>
            <a:r>
              <a:rPr lang="es-ES" sz="1200" b="0" i="0" kern="1200" dirty="0" err="1">
                <a:solidFill>
                  <a:schemeClr val="tx1"/>
                </a:solidFill>
                <a:effectLst/>
                <a:latin typeface="+mn-lt"/>
                <a:ea typeface="+mn-ea"/>
                <a:cs typeface="+mn-cs"/>
              </a:rPr>
              <a:t>és</a:t>
            </a:r>
            <a:r>
              <a:rPr lang="es-ES" sz="1200" b="0" i="0" kern="1200" dirty="0">
                <a:solidFill>
                  <a:schemeClr val="tx1"/>
                </a:solidFill>
                <a:effectLst/>
                <a:latin typeface="+mn-lt"/>
                <a:ea typeface="+mn-ea"/>
                <a:cs typeface="+mn-cs"/>
              </a:rPr>
              <a:t> gran, </a:t>
            </a:r>
            <a:r>
              <a:rPr lang="es-ES" sz="1200" b="1" i="0" kern="1200" dirty="0">
                <a:solidFill>
                  <a:schemeClr val="tx1"/>
                </a:solidFill>
                <a:effectLst/>
                <a:latin typeface="+mn-lt"/>
                <a:ea typeface="+mn-ea"/>
                <a:cs typeface="+mn-cs"/>
              </a:rPr>
              <a:t>1 de cada 6 números</a:t>
            </a:r>
            <a:r>
              <a:rPr lang="es-ES" sz="1200" b="0" i="0" kern="1200" dirty="0">
                <a:solidFill>
                  <a:schemeClr val="tx1"/>
                </a:solidFill>
                <a:effectLst/>
                <a:latin typeface="+mn-lt"/>
                <a:ea typeface="+mn-ea"/>
                <a:cs typeface="+mn-cs"/>
              </a:rPr>
              <a:t> </a:t>
            </a:r>
            <a:r>
              <a:rPr lang="es-ES" sz="1200" b="0" i="0" kern="1200" dirty="0" err="1">
                <a:solidFill>
                  <a:schemeClr val="tx1"/>
                </a:solidFill>
                <a:effectLst/>
                <a:latin typeface="+mn-lt"/>
                <a:ea typeface="+mn-ea"/>
                <a:cs typeface="+mn-cs"/>
              </a:rPr>
              <a:t>pertany</a:t>
            </a:r>
            <a:r>
              <a:rPr lang="es-ES" sz="1200" b="0" i="0" kern="1200" dirty="0">
                <a:solidFill>
                  <a:schemeClr val="tx1"/>
                </a:solidFill>
                <a:effectLst/>
                <a:latin typeface="+mn-lt"/>
                <a:ea typeface="+mn-ea"/>
                <a:cs typeface="+mn-cs"/>
              </a:rPr>
              <a:t> a $L_1$.</a:t>
            </a:r>
            <a:br>
              <a:rPr lang="es-ES" sz="1200" b="0" i="0" kern="1200" dirty="0">
                <a:solidFill>
                  <a:schemeClr val="tx1"/>
                </a:solidFill>
                <a:effectLst/>
                <a:latin typeface="+mn-lt"/>
                <a:ea typeface="+mn-ea"/>
                <a:cs typeface="+mn-cs"/>
              </a:rPr>
            </a:br>
            <a:r>
              <a:rPr lang="es-ES" sz="1200" b="0" i="0" kern="1200" dirty="0" err="1">
                <a:solidFill>
                  <a:schemeClr val="tx1"/>
                </a:solidFill>
                <a:effectLst/>
                <a:latin typeface="+mn-lt"/>
                <a:ea typeface="+mn-ea"/>
                <a:cs typeface="+mn-cs"/>
              </a:rPr>
              <a:t>Açò</a:t>
            </a:r>
            <a:r>
              <a:rPr lang="es-ES" sz="1200" b="0" i="0" kern="1200" dirty="0">
                <a:solidFill>
                  <a:schemeClr val="tx1"/>
                </a:solidFill>
                <a:effectLst/>
                <a:latin typeface="+mn-lt"/>
                <a:ea typeface="+mn-ea"/>
                <a:cs typeface="+mn-cs"/>
              </a:rPr>
              <a:t> </a:t>
            </a:r>
            <a:r>
              <a:rPr lang="es-ES" sz="1200" b="0" i="0" kern="1200" dirty="0" err="1">
                <a:solidFill>
                  <a:schemeClr val="tx1"/>
                </a:solidFill>
                <a:effectLst/>
                <a:latin typeface="+mn-lt"/>
                <a:ea typeface="+mn-ea"/>
                <a:cs typeface="+mn-cs"/>
              </a:rPr>
              <a:t>és</a:t>
            </a:r>
            <a:r>
              <a:rPr lang="es-ES" sz="1200" b="0" i="0" kern="1200" dirty="0">
                <a:solidFill>
                  <a:schemeClr val="tx1"/>
                </a:solidFill>
                <a:effectLst/>
                <a:latin typeface="+mn-lt"/>
                <a:ea typeface="+mn-ea"/>
                <a:cs typeface="+mn-cs"/>
              </a:rPr>
              <a:t> el que en la </a:t>
            </a:r>
            <a:r>
              <a:rPr lang="es-ES" sz="1200" b="0" i="0" kern="1200" dirty="0" err="1">
                <a:solidFill>
                  <a:schemeClr val="tx1"/>
                </a:solidFill>
                <a:effectLst/>
                <a:latin typeface="+mn-lt"/>
                <a:ea typeface="+mn-ea"/>
                <a:cs typeface="+mn-cs"/>
              </a:rPr>
              <a:t>presentació</a:t>
            </a:r>
            <a:r>
              <a:rPr lang="es-ES" sz="1200" b="0" i="0" kern="1200" dirty="0">
                <a:solidFill>
                  <a:schemeClr val="tx1"/>
                </a:solidFill>
                <a:effectLst/>
                <a:latin typeface="+mn-lt"/>
                <a:ea typeface="+mn-ea"/>
                <a:cs typeface="+mn-cs"/>
              </a:rPr>
              <a:t> </a:t>
            </a:r>
            <a:r>
              <a:rPr lang="es-ES" sz="1200" b="0" i="0" kern="1200" dirty="0" err="1">
                <a:solidFill>
                  <a:schemeClr val="tx1"/>
                </a:solidFill>
                <a:effectLst/>
                <a:latin typeface="+mn-lt"/>
                <a:ea typeface="+mn-ea"/>
                <a:cs typeface="+mn-cs"/>
              </a:rPr>
              <a:t>apareix</a:t>
            </a:r>
            <a:r>
              <a:rPr lang="es-ES" sz="1200" b="0" i="0" kern="1200" dirty="0">
                <a:solidFill>
                  <a:schemeClr val="tx1"/>
                </a:solidFill>
                <a:effectLst/>
                <a:latin typeface="+mn-lt"/>
                <a:ea typeface="+mn-ea"/>
                <a:cs typeface="+mn-cs"/>
              </a:rPr>
              <a:t> </a:t>
            </a:r>
            <a:r>
              <a:rPr lang="es-ES" sz="1200" b="0" i="0" kern="1200" dirty="0" err="1">
                <a:solidFill>
                  <a:schemeClr val="tx1"/>
                </a:solidFill>
                <a:effectLst/>
                <a:latin typeface="+mn-lt"/>
                <a:ea typeface="+mn-ea"/>
                <a:cs typeface="+mn-cs"/>
              </a:rPr>
              <a:t>com</a:t>
            </a:r>
            <a:r>
              <a:rPr lang="es-ES" sz="1200" b="0" i="0" kern="1200" dirty="0">
                <a:solidFill>
                  <a:schemeClr val="tx1"/>
                </a:solidFill>
                <a:effectLst/>
                <a:latin typeface="+mn-lt"/>
                <a:ea typeface="+mn-ea"/>
                <a:cs typeface="+mn-cs"/>
              </a:rPr>
              <a:t>:</a:t>
            </a:r>
          </a:p>
          <a:p>
            <a:r>
              <a:rPr lang="es-ES" sz="1200" b="0" i="0" kern="1200" dirty="0">
                <a:solidFill>
                  <a:schemeClr val="tx1"/>
                </a:solidFill>
                <a:effectLst/>
                <a:latin typeface="+mn-lt"/>
                <a:ea typeface="+mn-ea"/>
                <a:cs typeface="+mn-cs"/>
              </a:rPr>
              <a:t>“L1 crece 1/6 positivos”.</a:t>
            </a:r>
          </a:p>
          <a:p>
            <a:r>
              <a:rPr lang="es-ES" sz="1200" b="0" i="0" kern="1200" dirty="0" err="1">
                <a:solidFill>
                  <a:schemeClr val="tx1"/>
                </a:solidFill>
                <a:effectLst/>
                <a:latin typeface="+mn-lt"/>
                <a:ea typeface="+mn-ea"/>
                <a:cs typeface="+mn-cs"/>
              </a:rPr>
              <a:t>És</a:t>
            </a:r>
            <a:r>
              <a:rPr lang="es-ES" sz="1200" b="0" i="0" kern="1200" dirty="0">
                <a:solidFill>
                  <a:schemeClr val="tx1"/>
                </a:solidFill>
                <a:effectLst/>
                <a:latin typeface="+mn-lt"/>
                <a:ea typeface="+mn-ea"/>
                <a:cs typeface="+mn-cs"/>
              </a:rPr>
              <a:t> el </a:t>
            </a:r>
            <a:r>
              <a:rPr lang="es-ES" sz="1200" b="1" i="0" kern="1200" dirty="0">
                <a:solidFill>
                  <a:schemeClr val="tx1"/>
                </a:solidFill>
                <a:effectLst/>
                <a:latin typeface="+mn-lt"/>
                <a:ea typeface="+mn-ea"/>
                <a:cs typeface="+mn-cs"/>
              </a:rPr>
              <a:t>ritme base</a:t>
            </a:r>
            <a:r>
              <a:rPr lang="es-ES" sz="1200" b="0" i="0" kern="1200" dirty="0">
                <a:solidFill>
                  <a:schemeClr val="tx1"/>
                </a:solidFill>
                <a:effectLst/>
                <a:latin typeface="+mn-lt"/>
                <a:ea typeface="+mn-ea"/>
                <a:cs typeface="+mn-cs"/>
              </a:rPr>
              <a:t>; totes les </a:t>
            </a:r>
            <a:r>
              <a:rPr lang="es-ES" sz="1200" b="0" i="0" kern="1200" dirty="0" err="1">
                <a:solidFill>
                  <a:schemeClr val="tx1"/>
                </a:solidFill>
                <a:effectLst/>
                <a:latin typeface="+mn-lt"/>
                <a:ea typeface="+mn-ea"/>
                <a:cs typeface="+mn-cs"/>
              </a:rPr>
              <a:t>altres</a:t>
            </a:r>
            <a:r>
              <a:rPr lang="es-ES" sz="1200" b="0" i="0" kern="1200" dirty="0">
                <a:solidFill>
                  <a:schemeClr val="tx1"/>
                </a:solidFill>
                <a:effectLst/>
                <a:latin typeface="+mn-lt"/>
                <a:ea typeface="+mn-ea"/>
                <a:cs typeface="+mn-cs"/>
              </a:rPr>
              <a:t> </a:t>
            </a:r>
            <a:r>
              <a:rPr lang="es-ES" sz="1200" b="0" i="0" kern="1200" dirty="0" err="1">
                <a:solidFill>
                  <a:schemeClr val="tx1"/>
                </a:solidFill>
                <a:effectLst/>
                <a:latin typeface="+mn-lt"/>
                <a:ea typeface="+mn-ea"/>
                <a:cs typeface="+mn-cs"/>
              </a:rPr>
              <a:t>famílies</a:t>
            </a:r>
            <a:r>
              <a:rPr lang="es-ES" sz="1200" b="0" i="0" kern="1200" dirty="0">
                <a:solidFill>
                  <a:schemeClr val="tx1"/>
                </a:solidFill>
                <a:effectLst/>
                <a:latin typeface="+mn-lt"/>
                <a:ea typeface="+mn-ea"/>
                <a:cs typeface="+mn-cs"/>
              </a:rPr>
              <a:t> L3, L4, L2 i </a:t>
            </a:r>
            <a:r>
              <a:rPr lang="es-ES" sz="1200" b="0" i="0" kern="1200" dirty="0" err="1">
                <a:solidFill>
                  <a:schemeClr val="tx1"/>
                </a:solidFill>
                <a:effectLst/>
                <a:latin typeface="+mn-lt"/>
                <a:ea typeface="+mn-ea"/>
                <a:cs typeface="+mn-cs"/>
              </a:rPr>
              <a:t>Lsg</a:t>
            </a:r>
            <a:r>
              <a:rPr lang="es-ES" sz="1200" b="0" i="0" kern="1200" dirty="0">
                <a:solidFill>
                  <a:schemeClr val="tx1"/>
                </a:solidFill>
                <a:effectLst/>
                <a:latin typeface="+mn-lt"/>
                <a:ea typeface="+mn-ea"/>
                <a:cs typeface="+mn-cs"/>
              </a:rPr>
              <a:t> </a:t>
            </a:r>
            <a:r>
              <a:rPr lang="es-ES" sz="1200" b="0" i="0" kern="1200" dirty="0" err="1">
                <a:solidFill>
                  <a:schemeClr val="tx1"/>
                </a:solidFill>
                <a:effectLst/>
                <a:latin typeface="+mn-lt"/>
                <a:ea typeface="+mn-ea"/>
                <a:cs typeface="+mn-cs"/>
              </a:rPr>
              <a:t>viuen</a:t>
            </a:r>
            <a:r>
              <a:rPr lang="es-ES" sz="1200" b="0" i="0" kern="1200" dirty="0">
                <a:solidFill>
                  <a:schemeClr val="tx1"/>
                </a:solidFill>
                <a:effectLst/>
                <a:latin typeface="+mn-lt"/>
                <a:ea typeface="+mn-ea"/>
                <a:cs typeface="+mn-cs"/>
              </a:rPr>
              <a:t> </a:t>
            </a:r>
            <a:r>
              <a:rPr lang="es-ES" sz="1200" b="0" i="0" kern="1200" dirty="0" err="1">
                <a:solidFill>
                  <a:schemeClr val="tx1"/>
                </a:solidFill>
                <a:effectLst/>
                <a:latin typeface="+mn-lt"/>
                <a:ea typeface="+mn-ea"/>
                <a:cs typeface="+mn-cs"/>
              </a:rPr>
              <a:t>dins</a:t>
            </a:r>
            <a:r>
              <a:rPr lang="es-ES" sz="1200" b="0" i="0" kern="1200" dirty="0">
                <a:solidFill>
                  <a:schemeClr val="tx1"/>
                </a:solidFill>
                <a:effectLst/>
                <a:latin typeface="+mn-lt"/>
                <a:ea typeface="+mn-ea"/>
                <a:cs typeface="+mn-cs"/>
              </a:rPr>
              <a:t> </a:t>
            </a:r>
            <a:r>
              <a:rPr lang="es-ES" sz="1200" b="0" i="0" kern="1200" dirty="0" err="1">
                <a:solidFill>
                  <a:schemeClr val="tx1"/>
                </a:solidFill>
                <a:effectLst/>
                <a:latin typeface="+mn-lt"/>
                <a:ea typeface="+mn-ea"/>
                <a:cs typeface="+mn-cs"/>
              </a:rPr>
              <a:t>d’aquest</a:t>
            </a:r>
            <a:r>
              <a:rPr lang="es-ES" sz="1200" b="0" i="0" kern="1200" dirty="0">
                <a:solidFill>
                  <a:schemeClr val="tx1"/>
                </a:solidFill>
                <a:effectLst/>
                <a:latin typeface="+mn-lt"/>
                <a:ea typeface="+mn-ea"/>
                <a:cs typeface="+mn-cs"/>
              </a:rPr>
              <a:t> </a:t>
            </a:r>
            <a:r>
              <a:rPr lang="es-ES" sz="1200" b="0" i="0" kern="1200" dirty="0" err="1">
                <a:solidFill>
                  <a:schemeClr val="tx1"/>
                </a:solidFill>
                <a:effectLst/>
                <a:latin typeface="+mn-lt"/>
                <a:ea typeface="+mn-ea"/>
                <a:cs typeface="+mn-cs"/>
              </a:rPr>
              <a:t>univers</a:t>
            </a:r>
            <a:r>
              <a:rPr lang="es-ES" sz="1200" b="0" i="0" kern="1200" dirty="0">
                <a:solidFill>
                  <a:schemeClr val="tx1"/>
                </a:solidFill>
                <a:effectLst/>
                <a:latin typeface="+mn-lt"/>
                <a:ea typeface="+mn-ea"/>
                <a:cs typeface="+mn-cs"/>
              </a:rPr>
              <a:t> i per </a:t>
            </a:r>
            <a:r>
              <a:rPr lang="es-ES" sz="1200" b="0" i="0" kern="1200" dirty="0" err="1">
                <a:solidFill>
                  <a:schemeClr val="tx1"/>
                </a:solidFill>
                <a:effectLst/>
                <a:latin typeface="+mn-lt"/>
                <a:ea typeface="+mn-ea"/>
                <a:cs typeface="+mn-cs"/>
              </a:rPr>
              <a:t>tant</a:t>
            </a:r>
            <a:r>
              <a:rPr lang="es-ES" sz="1200" b="0" i="0" kern="1200" dirty="0">
                <a:solidFill>
                  <a:schemeClr val="tx1"/>
                </a:solidFill>
                <a:effectLst/>
                <a:latin typeface="+mn-lt"/>
                <a:ea typeface="+mn-ea"/>
                <a:cs typeface="+mn-cs"/>
              </a:rPr>
              <a:t> </a:t>
            </a:r>
            <a:r>
              <a:rPr lang="es-ES" sz="1200" b="1" i="0" kern="1200" dirty="0" err="1">
                <a:solidFill>
                  <a:schemeClr val="tx1"/>
                </a:solidFill>
                <a:effectLst/>
                <a:latin typeface="+mn-lt"/>
                <a:ea typeface="+mn-ea"/>
                <a:cs typeface="+mn-cs"/>
              </a:rPr>
              <a:t>hereten</a:t>
            </a:r>
            <a:r>
              <a:rPr lang="es-ES" sz="1200" b="1" i="0" kern="1200" dirty="0">
                <a:solidFill>
                  <a:schemeClr val="tx1"/>
                </a:solidFill>
                <a:effectLst/>
                <a:latin typeface="+mn-lt"/>
                <a:ea typeface="+mn-ea"/>
                <a:cs typeface="+mn-cs"/>
              </a:rPr>
              <a:t> una </a:t>
            </a:r>
            <a:r>
              <a:rPr lang="es-ES" sz="1200" b="1" i="0" kern="1200" dirty="0" err="1">
                <a:solidFill>
                  <a:schemeClr val="tx1"/>
                </a:solidFill>
                <a:effectLst/>
                <a:latin typeface="+mn-lt"/>
                <a:ea typeface="+mn-ea"/>
                <a:cs typeface="+mn-cs"/>
              </a:rPr>
              <a:t>densitat</a:t>
            </a:r>
            <a:r>
              <a:rPr lang="es-ES" sz="1200" b="1" i="0" kern="1200" dirty="0">
                <a:solidFill>
                  <a:schemeClr val="tx1"/>
                </a:solidFill>
                <a:effectLst/>
                <a:latin typeface="+mn-lt"/>
                <a:ea typeface="+mn-ea"/>
                <a:cs typeface="+mn-cs"/>
              </a:rPr>
              <a:t> relativa</a:t>
            </a:r>
            <a:r>
              <a:rPr lang="es-ES" sz="1200" b="0" i="0" kern="1200" dirty="0">
                <a:solidFill>
                  <a:schemeClr val="tx1"/>
                </a:solidFill>
                <a:effectLst/>
                <a:latin typeface="+mn-lt"/>
                <a:ea typeface="+mn-ea"/>
                <a:cs typeface="+mn-cs"/>
              </a:rPr>
              <a:t> respecte L1.</a:t>
            </a:r>
          </a:p>
          <a:p>
            <a:br>
              <a:rPr lang="es-ES" sz="1200" b="0" i="0" kern="1200" dirty="0">
                <a:solidFill>
                  <a:schemeClr val="tx1"/>
                </a:solidFill>
                <a:effectLst/>
                <a:latin typeface="+mn-lt"/>
                <a:ea typeface="+mn-ea"/>
                <a:cs typeface="+mn-cs"/>
              </a:rPr>
            </a:br>
            <a:endParaRPr lang="es-ES" sz="1200" b="0" i="0" kern="1200" dirty="0">
              <a:solidFill>
                <a:schemeClr val="tx1"/>
              </a:solidFill>
              <a:effectLst/>
              <a:latin typeface="+mn-lt"/>
              <a:ea typeface="+mn-ea"/>
              <a:cs typeface="+mn-cs"/>
            </a:endParaRPr>
          </a:p>
          <a:p>
            <a:r>
              <a:rPr lang="es-ES" sz="1200" b="1" i="0" kern="1200" dirty="0">
                <a:solidFill>
                  <a:schemeClr val="tx1"/>
                </a:solidFill>
                <a:effectLst/>
                <a:latin typeface="+mn-lt"/>
                <a:ea typeface="+mn-ea"/>
                <a:cs typeface="+mn-cs"/>
              </a:rPr>
              <a:t>2. </a:t>
            </a:r>
            <a:r>
              <a:rPr lang="es-ES" sz="1200" b="1" i="0" kern="1200" dirty="0" err="1">
                <a:solidFill>
                  <a:schemeClr val="tx1"/>
                </a:solidFill>
                <a:effectLst/>
                <a:latin typeface="+mn-lt"/>
                <a:ea typeface="+mn-ea"/>
                <a:cs typeface="+mn-cs"/>
              </a:rPr>
              <a:t>Descomposició</a:t>
            </a:r>
            <a:r>
              <a:rPr lang="es-ES" sz="1200" b="1" i="0" kern="1200" dirty="0">
                <a:solidFill>
                  <a:schemeClr val="tx1"/>
                </a:solidFill>
                <a:effectLst/>
                <a:latin typeface="+mn-lt"/>
                <a:ea typeface="+mn-ea"/>
                <a:cs typeface="+mn-cs"/>
              </a:rPr>
              <a:t> del </a:t>
            </a:r>
            <a:r>
              <a:rPr lang="es-ES" sz="1200" b="1" i="0" kern="1200" dirty="0" err="1">
                <a:solidFill>
                  <a:schemeClr val="tx1"/>
                </a:solidFill>
                <a:effectLst/>
                <a:latin typeface="+mn-lt"/>
                <a:ea typeface="+mn-ea"/>
                <a:cs typeface="+mn-cs"/>
              </a:rPr>
              <a:t>univers</a:t>
            </a:r>
            <a:endParaRPr lang="es-ES" sz="1200" b="1" i="0" kern="1200" dirty="0">
              <a:solidFill>
                <a:schemeClr val="tx1"/>
              </a:solidFill>
              <a:effectLst/>
              <a:latin typeface="+mn-lt"/>
              <a:ea typeface="+mn-ea"/>
              <a:cs typeface="+mn-cs"/>
            </a:endParaRPr>
          </a:p>
          <a:p>
            <a:r>
              <a:rPr lang="es-ES" sz="1200" b="0" i="0" kern="1200" dirty="0">
                <a:solidFill>
                  <a:schemeClr val="tx1"/>
                </a:solidFill>
                <a:effectLst/>
                <a:latin typeface="+mn-lt"/>
                <a:ea typeface="+mn-ea"/>
                <a:cs typeface="+mn-cs"/>
              </a:rPr>
              <a:t>Tal </a:t>
            </a:r>
            <a:r>
              <a:rPr lang="es-ES" sz="1200" b="0" i="0" kern="1200" dirty="0" err="1">
                <a:solidFill>
                  <a:schemeClr val="tx1"/>
                </a:solidFill>
                <a:effectLst/>
                <a:latin typeface="+mn-lt"/>
                <a:ea typeface="+mn-ea"/>
                <a:cs typeface="+mn-cs"/>
              </a:rPr>
              <a:t>com</a:t>
            </a:r>
            <a:r>
              <a:rPr lang="es-ES" sz="1200" b="0" i="0" kern="1200" dirty="0">
                <a:solidFill>
                  <a:schemeClr val="tx1"/>
                </a:solidFill>
                <a:effectLst/>
                <a:latin typeface="+mn-lt"/>
                <a:ea typeface="+mn-ea"/>
                <a:cs typeface="+mn-cs"/>
              </a:rPr>
              <a:t> </a:t>
            </a:r>
            <a:r>
              <a:rPr lang="es-ES" sz="1200" b="0" i="0" kern="1200" dirty="0" err="1">
                <a:solidFill>
                  <a:schemeClr val="tx1"/>
                </a:solidFill>
                <a:effectLst/>
                <a:latin typeface="+mn-lt"/>
                <a:ea typeface="+mn-ea"/>
                <a:cs typeface="+mn-cs"/>
              </a:rPr>
              <a:t>tens</a:t>
            </a:r>
            <a:r>
              <a:rPr lang="es-ES" sz="1200" b="0" i="0" kern="1200" dirty="0">
                <a:solidFill>
                  <a:schemeClr val="tx1"/>
                </a:solidFill>
                <a:effectLst/>
                <a:latin typeface="+mn-lt"/>
                <a:ea typeface="+mn-ea"/>
                <a:cs typeface="+mn-cs"/>
              </a:rPr>
              <a:t> a les </a:t>
            </a:r>
            <a:r>
              <a:rPr lang="es-ES" sz="1200" b="0" i="0" kern="1200" dirty="0" err="1">
                <a:solidFill>
                  <a:schemeClr val="tx1"/>
                </a:solidFill>
                <a:effectLst/>
                <a:latin typeface="+mn-lt"/>
                <a:ea typeface="+mn-ea"/>
                <a:cs typeface="+mn-cs"/>
              </a:rPr>
              <a:t>diapositives</a:t>
            </a:r>
            <a:r>
              <a:rPr lang="es-ES" sz="1200" b="0" i="0" kern="1200" dirty="0">
                <a:solidFill>
                  <a:schemeClr val="tx1"/>
                </a:solidFill>
                <a:effectLst/>
                <a:latin typeface="+mn-lt"/>
                <a:ea typeface="+mn-ea"/>
                <a:cs typeface="+mn-cs"/>
              </a:rPr>
              <a:t>:</a:t>
            </a:r>
          </a:p>
          <a:p>
            <a:r>
              <a:rPr lang="es-ES" sz="1200" b="0" i="0" kern="1200" dirty="0">
                <a:solidFill>
                  <a:schemeClr val="tx1"/>
                </a:solidFill>
                <a:effectLst/>
                <a:latin typeface="+mn-lt"/>
                <a:ea typeface="+mn-ea"/>
                <a:cs typeface="+mn-cs"/>
              </a:rPr>
              <a:t>$L</a:t>
            </a:r>
            <a:r>
              <a:rPr lang="es-ES" sz="1200" b="0" i="1" kern="1200" dirty="0">
                <a:solidFill>
                  <a:schemeClr val="tx1"/>
                </a:solidFill>
                <a:effectLst/>
                <a:latin typeface="+mn-lt"/>
                <a:ea typeface="+mn-ea"/>
                <a:cs typeface="+mn-cs"/>
              </a:rPr>
              <a:t>1 = L</a:t>
            </a:r>
            <a:r>
              <a:rPr lang="es-ES" sz="1200" b="0" i="0" kern="1200" dirty="0">
                <a:solidFill>
                  <a:schemeClr val="tx1"/>
                </a:solidFill>
                <a:effectLst/>
                <a:latin typeface="+mn-lt"/>
                <a:ea typeface="+mn-ea"/>
                <a:cs typeface="+mn-cs"/>
              </a:rPr>
              <a:t>{</a:t>
            </a:r>
            <a:r>
              <a:rPr lang="es-ES" sz="1200" b="0" i="0" kern="1200" dirty="0" err="1">
                <a:solidFill>
                  <a:schemeClr val="tx1"/>
                </a:solidFill>
                <a:effectLst/>
                <a:latin typeface="+mn-lt"/>
                <a:ea typeface="+mn-ea"/>
                <a:cs typeface="+mn-cs"/>
              </a:rPr>
              <a:t>sg</a:t>
            </a:r>
            <a:r>
              <a:rPr lang="es-ES" sz="1200" b="0" i="0" kern="1200" dirty="0">
                <a:solidFill>
                  <a:schemeClr val="tx1"/>
                </a:solidFill>
                <a:effectLst/>
                <a:latin typeface="+mn-lt"/>
                <a:ea typeface="+mn-ea"/>
                <a:cs typeface="+mn-cs"/>
              </a:rPr>
              <a:t>} \cup L</a:t>
            </a:r>
            <a:r>
              <a:rPr lang="es-ES" sz="1200" b="0" i="1" kern="1200" dirty="0">
                <a:solidFill>
                  <a:schemeClr val="tx1"/>
                </a:solidFill>
                <a:effectLst/>
                <a:latin typeface="+mn-lt"/>
                <a:ea typeface="+mn-ea"/>
                <a:cs typeface="+mn-cs"/>
              </a:rPr>
              <a:t>3 \cup L</a:t>
            </a:r>
            <a:r>
              <a:rPr lang="es-ES" sz="1200" b="0" i="0" kern="1200" dirty="0">
                <a:solidFill>
                  <a:schemeClr val="tx1"/>
                </a:solidFill>
                <a:effectLst/>
                <a:latin typeface="+mn-lt"/>
                <a:ea typeface="+mn-ea"/>
                <a:cs typeface="+mn-cs"/>
              </a:rPr>
              <a:t>4$</a:t>
            </a:r>
          </a:p>
          <a:p>
            <a:r>
              <a:rPr lang="es-ES" sz="1200" b="0" i="0" kern="1200" dirty="0">
                <a:solidFill>
                  <a:schemeClr val="tx1"/>
                </a:solidFill>
                <a:effectLst/>
                <a:latin typeface="+mn-lt"/>
                <a:ea typeface="+mn-ea"/>
                <a:cs typeface="+mn-cs"/>
              </a:rPr>
              <a:t>$L</a:t>
            </a:r>
            <a:r>
              <a:rPr lang="es-ES" sz="1200" b="0" i="1" kern="1200" dirty="0">
                <a:solidFill>
                  <a:schemeClr val="tx1"/>
                </a:solidFill>
                <a:effectLst/>
                <a:latin typeface="+mn-lt"/>
                <a:ea typeface="+mn-ea"/>
                <a:cs typeface="+mn-cs"/>
              </a:rPr>
              <a:t>2 = L</a:t>
            </a:r>
            <a:r>
              <a:rPr lang="es-ES" sz="1200" b="0" i="0" kern="1200" dirty="0">
                <a:solidFill>
                  <a:schemeClr val="tx1"/>
                </a:solidFill>
                <a:effectLst/>
                <a:latin typeface="+mn-lt"/>
                <a:ea typeface="+mn-ea"/>
                <a:cs typeface="+mn-cs"/>
              </a:rPr>
              <a:t>3 \</a:t>
            </a:r>
            <a:r>
              <a:rPr lang="es-ES" sz="1200" b="0" i="0" kern="1200" dirty="0" err="1">
                <a:solidFill>
                  <a:schemeClr val="tx1"/>
                </a:solidFill>
                <a:effectLst/>
                <a:latin typeface="+mn-lt"/>
                <a:ea typeface="+mn-ea"/>
                <a:cs typeface="+mn-cs"/>
              </a:rPr>
              <a:t>cap</a:t>
            </a:r>
            <a:r>
              <a:rPr lang="es-ES" sz="1200" b="0" i="0" kern="1200" dirty="0">
                <a:solidFill>
                  <a:schemeClr val="tx1"/>
                </a:solidFill>
                <a:effectLst/>
                <a:latin typeface="+mn-lt"/>
                <a:ea typeface="+mn-ea"/>
                <a:cs typeface="+mn-cs"/>
              </a:rPr>
              <a:t> L_4$</a:t>
            </a:r>
          </a:p>
          <a:p>
            <a:r>
              <a:rPr lang="es-ES" sz="1200" b="0" i="0" kern="1200" dirty="0">
                <a:solidFill>
                  <a:schemeClr val="tx1"/>
                </a:solidFill>
                <a:effectLst/>
                <a:latin typeface="+mn-lt"/>
                <a:ea typeface="+mn-ea"/>
                <a:cs typeface="+mn-cs"/>
              </a:rPr>
              <a:t>$L</a:t>
            </a:r>
            <a:r>
              <a:rPr lang="es-ES" sz="1200" b="0" i="1" kern="1200" dirty="0">
                <a:solidFill>
                  <a:schemeClr val="tx1"/>
                </a:solidFill>
                <a:effectLst/>
                <a:latin typeface="+mn-lt"/>
                <a:ea typeface="+mn-ea"/>
                <a:cs typeface="+mn-cs"/>
              </a:rPr>
              <a:t>3 / L</a:t>
            </a:r>
            <a:r>
              <a:rPr lang="es-ES" sz="1200" b="0" i="0" kern="1200" dirty="0">
                <a:solidFill>
                  <a:schemeClr val="tx1"/>
                </a:solidFill>
                <a:effectLst/>
                <a:latin typeface="+mn-lt"/>
                <a:ea typeface="+mn-ea"/>
                <a:cs typeface="+mn-cs"/>
              </a:rPr>
              <a:t>4 = L</a:t>
            </a:r>
            <a:r>
              <a:rPr lang="es-ES" sz="1200" b="0" i="1" kern="1200" dirty="0">
                <a:solidFill>
                  <a:schemeClr val="tx1"/>
                </a:solidFill>
                <a:effectLst/>
                <a:latin typeface="+mn-lt"/>
                <a:ea typeface="+mn-ea"/>
                <a:cs typeface="+mn-cs"/>
              </a:rPr>
              <a:t>3 \</a:t>
            </a:r>
            <a:r>
              <a:rPr lang="es-ES" sz="1200" b="0" i="1" kern="1200" dirty="0" err="1">
                <a:solidFill>
                  <a:schemeClr val="tx1"/>
                </a:solidFill>
                <a:effectLst/>
                <a:latin typeface="+mn-lt"/>
                <a:ea typeface="+mn-ea"/>
                <a:cs typeface="+mn-cs"/>
              </a:rPr>
              <a:t>setminus</a:t>
            </a:r>
            <a:r>
              <a:rPr lang="es-ES" sz="1200" b="0" i="1" kern="1200" dirty="0">
                <a:solidFill>
                  <a:schemeClr val="tx1"/>
                </a:solidFill>
                <a:effectLst/>
                <a:latin typeface="+mn-lt"/>
                <a:ea typeface="+mn-ea"/>
                <a:cs typeface="+mn-cs"/>
              </a:rPr>
              <a:t> L</a:t>
            </a:r>
            <a:r>
              <a:rPr lang="es-ES" sz="1200" b="0" i="0" kern="1200" dirty="0">
                <a:solidFill>
                  <a:schemeClr val="tx1"/>
                </a:solidFill>
                <a:effectLst/>
                <a:latin typeface="+mn-lt"/>
                <a:ea typeface="+mn-ea"/>
                <a:cs typeface="+mn-cs"/>
              </a:rPr>
              <a:t>4$</a:t>
            </a:r>
          </a:p>
          <a:p>
            <a:r>
              <a:rPr lang="es-ES" sz="1200" b="0" i="0" kern="1200" dirty="0">
                <a:solidFill>
                  <a:schemeClr val="tx1"/>
                </a:solidFill>
                <a:effectLst/>
                <a:latin typeface="+mn-lt"/>
                <a:ea typeface="+mn-ea"/>
                <a:cs typeface="+mn-cs"/>
              </a:rPr>
              <a:t>$L</a:t>
            </a:r>
            <a:r>
              <a:rPr lang="es-ES" sz="1200" b="0" i="1" kern="1200" dirty="0">
                <a:solidFill>
                  <a:schemeClr val="tx1"/>
                </a:solidFill>
                <a:effectLst/>
                <a:latin typeface="+mn-lt"/>
                <a:ea typeface="+mn-ea"/>
                <a:cs typeface="+mn-cs"/>
              </a:rPr>
              <a:t>4 / L</a:t>
            </a:r>
            <a:r>
              <a:rPr lang="es-ES" sz="1200" b="0" i="0" kern="1200" dirty="0">
                <a:solidFill>
                  <a:schemeClr val="tx1"/>
                </a:solidFill>
                <a:effectLst/>
                <a:latin typeface="+mn-lt"/>
                <a:ea typeface="+mn-ea"/>
                <a:cs typeface="+mn-cs"/>
              </a:rPr>
              <a:t>3 = L</a:t>
            </a:r>
            <a:r>
              <a:rPr lang="es-ES" sz="1200" b="0" i="1" kern="1200" dirty="0">
                <a:solidFill>
                  <a:schemeClr val="tx1"/>
                </a:solidFill>
                <a:effectLst/>
                <a:latin typeface="+mn-lt"/>
                <a:ea typeface="+mn-ea"/>
                <a:cs typeface="+mn-cs"/>
              </a:rPr>
              <a:t>4 \</a:t>
            </a:r>
            <a:r>
              <a:rPr lang="es-ES" sz="1200" b="0" i="1" kern="1200" dirty="0" err="1">
                <a:solidFill>
                  <a:schemeClr val="tx1"/>
                </a:solidFill>
                <a:effectLst/>
                <a:latin typeface="+mn-lt"/>
                <a:ea typeface="+mn-ea"/>
                <a:cs typeface="+mn-cs"/>
              </a:rPr>
              <a:t>setminus</a:t>
            </a:r>
            <a:r>
              <a:rPr lang="es-ES" sz="1200" b="0" i="1" kern="1200" dirty="0">
                <a:solidFill>
                  <a:schemeClr val="tx1"/>
                </a:solidFill>
                <a:effectLst/>
                <a:latin typeface="+mn-lt"/>
                <a:ea typeface="+mn-ea"/>
                <a:cs typeface="+mn-cs"/>
              </a:rPr>
              <a:t> L</a:t>
            </a:r>
            <a:r>
              <a:rPr lang="es-ES" sz="1200" b="0" i="0" kern="1200" dirty="0">
                <a:solidFill>
                  <a:schemeClr val="tx1"/>
                </a:solidFill>
                <a:effectLst/>
                <a:latin typeface="+mn-lt"/>
                <a:ea typeface="+mn-ea"/>
                <a:cs typeface="+mn-cs"/>
              </a:rPr>
              <a:t>3$</a:t>
            </a:r>
          </a:p>
          <a:p>
            <a:r>
              <a:rPr lang="es-ES" sz="1200" b="0" i="0" kern="1200" dirty="0" err="1">
                <a:solidFill>
                  <a:schemeClr val="tx1"/>
                </a:solidFill>
                <a:effectLst/>
                <a:latin typeface="+mn-lt"/>
                <a:ea typeface="+mn-ea"/>
                <a:cs typeface="+mn-cs"/>
              </a:rPr>
              <a:t>Això</a:t>
            </a:r>
            <a:r>
              <a:rPr lang="es-ES" sz="1200" b="0" i="0" kern="1200" dirty="0">
                <a:solidFill>
                  <a:schemeClr val="tx1"/>
                </a:solidFill>
                <a:effectLst/>
                <a:latin typeface="+mn-lt"/>
                <a:ea typeface="+mn-ea"/>
                <a:cs typeface="+mn-cs"/>
              </a:rPr>
              <a:t> </a:t>
            </a:r>
            <a:r>
              <a:rPr lang="es-ES" sz="1200" b="0" i="0" kern="1200" dirty="0" err="1">
                <a:solidFill>
                  <a:schemeClr val="tx1"/>
                </a:solidFill>
                <a:effectLst/>
                <a:latin typeface="+mn-lt"/>
                <a:ea typeface="+mn-ea"/>
                <a:cs typeface="+mn-cs"/>
              </a:rPr>
              <a:t>és</a:t>
            </a:r>
            <a:r>
              <a:rPr lang="es-ES" sz="1200" b="0" i="0" kern="1200" dirty="0">
                <a:solidFill>
                  <a:schemeClr val="tx1"/>
                </a:solidFill>
                <a:effectLst/>
                <a:latin typeface="+mn-lt"/>
                <a:ea typeface="+mn-ea"/>
                <a:cs typeface="+mn-cs"/>
              </a:rPr>
              <a:t> </a:t>
            </a:r>
            <a:r>
              <a:rPr lang="es-ES" sz="1200" b="0" i="0" kern="1200" dirty="0" err="1">
                <a:solidFill>
                  <a:schemeClr val="tx1"/>
                </a:solidFill>
                <a:effectLst/>
                <a:latin typeface="+mn-lt"/>
                <a:ea typeface="+mn-ea"/>
                <a:cs typeface="+mn-cs"/>
              </a:rPr>
              <a:t>completament</a:t>
            </a:r>
            <a:r>
              <a:rPr lang="es-ES" sz="1200" b="0" i="0" kern="1200" dirty="0">
                <a:solidFill>
                  <a:schemeClr val="tx1"/>
                </a:solidFill>
                <a:effectLst/>
                <a:latin typeface="+mn-lt"/>
                <a:ea typeface="+mn-ea"/>
                <a:cs typeface="+mn-cs"/>
              </a:rPr>
              <a:t> compatible </a:t>
            </a:r>
            <a:r>
              <a:rPr lang="es-ES" sz="1200" b="0" i="0" kern="1200" dirty="0" err="1">
                <a:solidFill>
                  <a:schemeClr val="tx1"/>
                </a:solidFill>
                <a:effectLst/>
                <a:latin typeface="+mn-lt"/>
                <a:ea typeface="+mn-ea"/>
                <a:cs typeface="+mn-cs"/>
              </a:rPr>
              <a:t>amb</a:t>
            </a:r>
            <a:r>
              <a:rPr lang="es-ES" sz="1200" b="0" i="0" kern="1200" dirty="0">
                <a:solidFill>
                  <a:schemeClr val="tx1"/>
                </a:solidFill>
                <a:effectLst/>
                <a:latin typeface="+mn-lt"/>
                <a:ea typeface="+mn-ea"/>
                <a:cs typeface="+mn-cs"/>
              </a:rPr>
              <a:t> el </a:t>
            </a:r>
            <a:r>
              <a:rPr lang="es-ES" sz="1200" b="1" i="0" kern="1200" dirty="0" err="1">
                <a:solidFill>
                  <a:schemeClr val="tx1"/>
                </a:solidFill>
                <a:effectLst/>
                <a:latin typeface="+mn-lt"/>
                <a:ea typeface="+mn-ea"/>
                <a:cs typeface="+mn-cs"/>
              </a:rPr>
              <a:t>Principi</a:t>
            </a:r>
            <a:r>
              <a:rPr lang="es-ES" sz="1200" b="1" i="0" kern="1200" dirty="0">
                <a:solidFill>
                  <a:schemeClr val="tx1"/>
                </a:solidFill>
                <a:effectLst/>
                <a:latin typeface="+mn-lt"/>
                <a:ea typeface="+mn-ea"/>
                <a:cs typeface="+mn-cs"/>
              </a:rPr>
              <a:t> </a:t>
            </a:r>
            <a:r>
              <a:rPr lang="es-ES" sz="1200" b="1" i="0" kern="1200" dirty="0" err="1">
                <a:solidFill>
                  <a:schemeClr val="tx1"/>
                </a:solidFill>
                <a:effectLst/>
                <a:latin typeface="+mn-lt"/>
                <a:ea typeface="+mn-ea"/>
                <a:cs typeface="+mn-cs"/>
              </a:rPr>
              <a:t>d’Inclusió</a:t>
            </a:r>
            <a:r>
              <a:rPr lang="es-ES" sz="1200" b="1" i="0" kern="1200" dirty="0">
                <a:solidFill>
                  <a:schemeClr val="tx1"/>
                </a:solidFill>
                <a:effectLst/>
                <a:latin typeface="+mn-lt"/>
                <a:ea typeface="+mn-ea"/>
                <a:cs typeface="+mn-cs"/>
              </a:rPr>
              <a:t>–</a:t>
            </a:r>
            <a:r>
              <a:rPr lang="es-ES" sz="1200" b="1" i="0" kern="1200" dirty="0" err="1">
                <a:solidFill>
                  <a:schemeClr val="tx1"/>
                </a:solidFill>
                <a:effectLst/>
                <a:latin typeface="+mn-lt"/>
                <a:ea typeface="+mn-ea"/>
                <a:cs typeface="+mn-cs"/>
              </a:rPr>
              <a:t>Exclusió</a:t>
            </a:r>
            <a:r>
              <a:rPr lang="es-ES" sz="1200" b="1" i="0" kern="1200" dirty="0">
                <a:solidFill>
                  <a:schemeClr val="tx1"/>
                </a:solidFill>
                <a:effectLst/>
                <a:latin typeface="+mn-lt"/>
                <a:ea typeface="+mn-ea"/>
                <a:cs typeface="+mn-cs"/>
              </a:rPr>
              <a:t> (PIE)</a:t>
            </a:r>
            <a:r>
              <a:rPr lang="es-ES" sz="1200" b="0" i="0" kern="1200" dirty="0">
                <a:solidFill>
                  <a:schemeClr val="tx1"/>
                </a:solidFill>
                <a:effectLst/>
                <a:latin typeface="+mn-lt"/>
                <a:ea typeface="+mn-ea"/>
                <a:cs typeface="+mn-cs"/>
              </a:rPr>
              <a:t>:</a:t>
            </a:r>
          </a:p>
          <a:p>
            <a:r>
              <a:rPr lang="es-ES" sz="1200" b="0" i="0" kern="1200" dirty="0">
                <a:solidFill>
                  <a:schemeClr val="tx1"/>
                </a:solidFill>
                <a:effectLst/>
                <a:latin typeface="+mn-lt"/>
                <a:ea typeface="+mn-ea"/>
                <a:cs typeface="+mn-cs"/>
              </a:rPr>
              <a:t>$ |L</a:t>
            </a:r>
            <a:r>
              <a:rPr lang="es-ES" sz="1200" b="0" i="1" kern="1200" dirty="0">
                <a:solidFill>
                  <a:schemeClr val="tx1"/>
                </a:solidFill>
                <a:effectLst/>
                <a:latin typeface="+mn-lt"/>
                <a:ea typeface="+mn-ea"/>
                <a:cs typeface="+mn-cs"/>
              </a:rPr>
              <a:t>1| = |L</a:t>
            </a:r>
            <a:r>
              <a:rPr lang="es-ES" sz="1200" b="0" i="0" kern="1200" dirty="0">
                <a:solidFill>
                  <a:schemeClr val="tx1"/>
                </a:solidFill>
                <a:effectLst/>
                <a:latin typeface="+mn-lt"/>
                <a:ea typeface="+mn-ea"/>
                <a:cs typeface="+mn-cs"/>
              </a:rPr>
              <a:t>3| + |L</a:t>
            </a:r>
            <a:r>
              <a:rPr lang="es-ES" sz="1200" b="0" i="1" kern="1200" dirty="0">
                <a:solidFill>
                  <a:schemeClr val="tx1"/>
                </a:solidFill>
                <a:effectLst/>
                <a:latin typeface="+mn-lt"/>
                <a:ea typeface="+mn-ea"/>
                <a:cs typeface="+mn-cs"/>
              </a:rPr>
              <a:t>4| + |L</a:t>
            </a:r>
            <a:r>
              <a:rPr lang="es-ES" sz="1200" b="0" i="0" kern="1200" dirty="0">
                <a:solidFill>
                  <a:schemeClr val="tx1"/>
                </a:solidFill>
                <a:effectLst/>
                <a:latin typeface="+mn-lt"/>
                <a:ea typeface="+mn-ea"/>
                <a:cs typeface="+mn-cs"/>
              </a:rPr>
              <a:t>{</a:t>
            </a:r>
            <a:r>
              <a:rPr lang="es-ES" sz="1200" b="0" i="0" kern="1200" dirty="0" err="1">
                <a:solidFill>
                  <a:schemeClr val="tx1"/>
                </a:solidFill>
                <a:effectLst/>
                <a:latin typeface="+mn-lt"/>
                <a:ea typeface="+mn-ea"/>
                <a:cs typeface="+mn-cs"/>
              </a:rPr>
              <a:t>sg</a:t>
            </a:r>
            <a:r>
              <a:rPr lang="es-ES" sz="1200" b="0" i="0" kern="1200" dirty="0">
                <a:solidFill>
                  <a:schemeClr val="tx1"/>
                </a:solidFill>
                <a:effectLst/>
                <a:latin typeface="+mn-lt"/>
                <a:ea typeface="+mn-ea"/>
                <a:cs typeface="+mn-cs"/>
              </a:rPr>
              <a:t>}|</a:t>
            </a:r>
          </a:p>
          <a:p>
            <a:r>
              <a:rPr lang="es-ES" sz="1200" b="0" i="0" kern="1200" dirty="0">
                <a:solidFill>
                  <a:schemeClr val="tx1"/>
                </a:solidFill>
                <a:effectLst/>
                <a:latin typeface="+mn-lt"/>
                <a:ea typeface="+mn-ea"/>
                <a:cs typeface="+mn-cs"/>
              </a:rPr>
              <a:t>|L_2| $</a:t>
            </a:r>
          </a:p>
          <a:p>
            <a:r>
              <a:rPr lang="es-ES" sz="1200" b="0" i="0" kern="1200" dirty="0">
                <a:solidFill>
                  <a:schemeClr val="tx1"/>
                </a:solidFill>
                <a:effectLst/>
                <a:latin typeface="+mn-lt"/>
                <a:ea typeface="+mn-ea"/>
                <a:cs typeface="+mn-cs"/>
              </a:rPr>
              <a:t>Esta fórmula </a:t>
            </a:r>
            <a:r>
              <a:rPr lang="es-ES" sz="1200" b="0" i="0" kern="1200" dirty="0" err="1">
                <a:solidFill>
                  <a:schemeClr val="tx1"/>
                </a:solidFill>
                <a:effectLst/>
                <a:latin typeface="+mn-lt"/>
                <a:ea typeface="+mn-ea"/>
                <a:cs typeface="+mn-cs"/>
              </a:rPr>
              <a:t>descriu</a:t>
            </a:r>
            <a:r>
              <a:rPr lang="es-ES" sz="1200" b="0" i="0" kern="1200" dirty="0">
                <a:solidFill>
                  <a:schemeClr val="tx1"/>
                </a:solidFill>
                <a:effectLst/>
                <a:latin typeface="+mn-lt"/>
                <a:ea typeface="+mn-ea"/>
                <a:cs typeface="+mn-cs"/>
              </a:rPr>
              <a:t> </a:t>
            </a:r>
            <a:r>
              <a:rPr lang="es-ES" sz="1200" b="0" i="0" kern="1200" dirty="0" err="1">
                <a:solidFill>
                  <a:schemeClr val="tx1"/>
                </a:solidFill>
                <a:effectLst/>
                <a:latin typeface="+mn-lt"/>
                <a:ea typeface="+mn-ea"/>
                <a:cs typeface="+mn-cs"/>
              </a:rPr>
              <a:t>com</a:t>
            </a:r>
            <a:r>
              <a:rPr lang="es-ES" sz="1200" b="0" i="0" kern="1200" dirty="0">
                <a:solidFill>
                  <a:schemeClr val="tx1"/>
                </a:solidFill>
                <a:effectLst/>
                <a:latin typeface="+mn-lt"/>
                <a:ea typeface="+mn-ea"/>
                <a:cs typeface="+mn-cs"/>
              </a:rPr>
              <a:t> </a:t>
            </a:r>
            <a:r>
              <a:rPr lang="es-ES" sz="1200" b="0" i="0" kern="1200" dirty="0" err="1">
                <a:solidFill>
                  <a:schemeClr val="tx1"/>
                </a:solidFill>
                <a:effectLst/>
                <a:latin typeface="+mn-lt"/>
                <a:ea typeface="+mn-ea"/>
                <a:cs typeface="+mn-cs"/>
              </a:rPr>
              <a:t>els</a:t>
            </a:r>
            <a:r>
              <a:rPr lang="es-ES" sz="1200" b="0" i="0" kern="1200" dirty="0">
                <a:solidFill>
                  <a:schemeClr val="tx1"/>
                </a:solidFill>
                <a:effectLst/>
                <a:latin typeface="+mn-lt"/>
                <a:ea typeface="+mn-ea"/>
                <a:cs typeface="+mn-cs"/>
              </a:rPr>
              <a:t> </a:t>
            </a:r>
            <a:r>
              <a:rPr lang="es-ES" sz="1200" b="0" i="0" kern="1200" dirty="0" err="1">
                <a:solidFill>
                  <a:schemeClr val="tx1"/>
                </a:solidFill>
                <a:effectLst/>
                <a:latin typeface="+mn-lt"/>
                <a:ea typeface="+mn-ea"/>
                <a:cs typeface="+mn-cs"/>
              </a:rPr>
              <a:t>conjunts</a:t>
            </a:r>
            <a:r>
              <a:rPr lang="es-ES" sz="1200" b="0" i="0" kern="1200" dirty="0">
                <a:solidFill>
                  <a:schemeClr val="tx1"/>
                </a:solidFill>
                <a:effectLst/>
                <a:latin typeface="+mn-lt"/>
                <a:ea typeface="+mn-ea"/>
                <a:cs typeface="+mn-cs"/>
              </a:rPr>
              <a:t> </a:t>
            </a:r>
            <a:r>
              <a:rPr lang="es-ES" sz="1200" b="0" i="1" kern="1200" dirty="0" err="1">
                <a:solidFill>
                  <a:schemeClr val="tx1"/>
                </a:solidFill>
                <a:effectLst/>
                <a:latin typeface="+mn-lt"/>
                <a:ea typeface="+mn-ea"/>
                <a:cs typeface="+mn-cs"/>
              </a:rPr>
              <a:t>compartits</a:t>
            </a:r>
            <a:r>
              <a:rPr lang="es-ES" sz="1200" b="0" i="0" kern="1200" dirty="0">
                <a:solidFill>
                  <a:schemeClr val="tx1"/>
                </a:solidFill>
                <a:effectLst/>
                <a:latin typeface="+mn-lt"/>
                <a:ea typeface="+mn-ea"/>
                <a:cs typeface="+mn-cs"/>
              </a:rPr>
              <a:t> resten </a:t>
            </a:r>
            <a:r>
              <a:rPr lang="es-ES" sz="1200" b="0" i="0" kern="1200" dirty="0" err="1">
                <a:solidFill>
                  <a:schemeClr val="tx1"/>
                </a:solidFill>
                <a:effectLst/>
                <a:latin typeface="+mn-lt"/>
                <a:ea typeface="+mn-ea"/>
                <a:cs typeface="+mn-cs"/>
              </a:rPr>
              <a:t>creixement</a:t>
            </a:r>
            <a:r>
              <a:rPr lang="es-ES" sz="1200" b="0" i="0" kern="1200" dirty="0">
                <a:solidFill>
                  <a:schemeClr val="tx1"/>
                </a:solidFill>
                <a:effectLst/>
                <a:latin typeface="+mn-lt"/>
                <a:ea typeface="+mn-ea"/>
                <a:cs typeface="+mn-cs"/>
              </a:rPr>
              <a:t> i </a:t>
            </a:r>
            <a:r>
              <a:rPr lang="es-ES" sz="1200" b="0" i="0" kern="1200" dirty="0" err="1">
                <a:solidFill>
                  <a:schemeClr val="tx1"/>
                </a:solidFill>
                <a:effectLst/>
                <a:latin typeface="+mn-lt"/>
                <a:ea typeface="+mn-ea"/>
                <a:cs typeface="+mn-cs"/>
              </a:rPr>
              <a:t>els</a:t>
            </a:r>
            <a:r>
              <a:rPr lang="es-ES" sz="1200" b="0" i="0" kern="1200" dirty="0">
                <a:solidFill>
                  <a:schemeClr val="tx1"/>
                </a:solidFill>
                <a:effectLst/>
                <a:latin typeface="+mn-lt"/>
                <a:ea typeface="+mn-ea"/>
                <a:cs typeface="+mn-cs"/>
              </a:rPr>
              <a:t> </a:t>
            </a:r>
            <a:r>
              <a:rPr lang="es-ES" sz="1200" b="0" i="0" kern="1200" dirty="0" err="1">
                <a:solidFill>
                  <a:schemeClr val="tx1"/>
                </a:solidFill>
                <a:effectLst/>
                <a:latin typeface="+mn-lt"/>
                <a:ea typeface="+mn-ea"/>
                <a:cs typeface="+mn-cs"/>
              </a:rPr>
              <a:t>conjunts</a:t>
            </a:r>
            <a:r>
              <a:rPr lang="es-ES" sz="1200" b="0" i="0" kern="1200" dirty="0">
                <a:solidFill>
                  <a:schemeClr val="tx1"/>
                </a:solidFill>
                <a:effectLst/>
                <a:latin typeface="+mn-lt"/>
                <a:ea typeface="+mn-ea"/>
                <a:cs typeface="+mn-cs"/>
              </a:rPr>
              <a:t> </a:t>
            </a:r>
            <a:r>
              <a:rPr lang="es-ES" sz="1200" b="0" i="1" kern="1200" dirty="0" err="1">
                <a:solidFill>
                  <a:schemeClr val="tx1"/>
                </a:solidFill>
                <a:effectLst/>
                <a:latin typeface="+mn-lt"/>
                <a:ea typeface="+mn-ea"/>
                <a:cs typeface="+mn-cs"/>
              </a:rPr>
              <a:t>exclusius</a:t>
            </a:r>
            <a:r>
              <a:rPr lang="es-ES" sz="1200" b="0" i="0" kern="1200" dirty="0">
                <a:solidFill>
                  <a:schemeClr val="tx1"/>
                </a:solidFill>
                <a:effectLst/>
                <a:latin typeface="+mn-lt"/>
                <a:ea typeface="+mn-ea"/>
                <a:cs typeface="+mn-cs"/>
              </a:rPr>
              <a:t> </a:t>
            </a:r>
            <a:r>
              <a:rPr lang="es-ES" sz="1200" b="0" i="0" kern="1200" dirty="0" err="1">
                <a:solidFill>
                  <a:schemeClr val="tx1"/>
                </a:solidFill>
                <a:effectLst/>
                <a:latin typeface="+mn-lt"/>
                <a:ea typeface="+mn-ea"/>
                <a:cs typeface="+mn-cs"/>
              </a:rPr>
              <a:t>l’aporten</a:t>
            </a:r>
            <a:r>
              <a:rPr lang="es-ES" sz="1200" b="0" i="0" kern="1200" dirty="0">
                <a:solidFill>
                  <a:schemeClr val="tx1"/>
                </a:solidFill>
                <a:effectLst/>
                <a:latin typeface="+mn-lt"/>
                <a:ea typeface="+mn-ea"/>
                <a:cs typeface="+mn-cs"/>
              </a:rPr>
              <a:t>.</a:t>
            </a:r>
          </a:p>
          <a:p>
            <a:br>
              <a:rPr lang="es-ES" sz="1200" b="0" i="0" kern="1200" dirty="0">
                <a:solidFill>
                  <a:schemeClr val="tx1"/>
                </a:solidFill>
                <a:effectLst/>
                <a:latin typeface="+mn-lt"/>
                <a:ea typeface="+mn-ea"/>
                <a:cs typeface="+mn-cs"/>
              </a:rPr>
            </a:br>
            <a:endParaRPr lang="es-ES" sz="1200" b="0" i="0" kern="1200" dirty="0">
              <a:solidFill>
                <a:schemeClr val="tx1"/>
              </a:solidFill>
              <a:effectLst/>
              <a:latin typeface="+mn-lt"/>
              <a:ea typeface="+mn-ea"/>
              <a:cs typeface="+mn-cs"/>
            </a:endParaRPr>
          </a:p>
          <a:p>
            <a:r>
              <a:rPr lang="es-ES" sz="1200" b="1" i="0" kern="1200" dirty="0">
                <a:solidFill>
                  <a:schemeClr val="tx1"/>
                </a:solidFill>
                <a:effectLst/>
                <a:latin typeface="+mn-lt"/>
                <a:ea typeface="+mn-ea"/>
                <a:cs typeface="+mn-cs"/>
              </a:rPr>
              <a:t>3. </a:t>
            </a:r>
            <a:r>
              <a:rPr lang="es-ES" sz="1200" b="1" i="0" kern="1200" dirty="0" err="1">
                <a:solidFill>
                  <a:schemeClr val="tx1"/>
                </a:solidFill>
                <a:effectLst/>
                <a:latin typeface="+mn-lt"/>
                <a:ea typeface="+mn-ea"/>
                <a:cs typeface="+mn-cs"/>
              </a:rPr>
              <a:t>Introducció</a:t>
            </a:r>
            <a:r>
              <a:rPr lang="es-ES" sz="1200" b="1" i="0" kern="1200" dirty="0">
                <a:solidFill>
                  <a:schemeClr val="tx1"/>
                </a:solidFill>
                <a:effectLst/>
                <a:latin typeface="+mn-lt"/>
                <a:ea typeface="+mn-ea"/>
                <a:cs typeface="+mn-cs"/>
              </a:rPr>
              <a:t> </a:t>
            </a:r>
            <a:r>
              <a:rPr lang="es-ES" sz="1200" b="1" i="0" kern="1200" dirty="0" err="1">
                <a:solidFill>
                  <a:schemeClr val="tx1"/>
                </a:solidFill>
                <a:effectLst/>
                <a:latin typeface="+mn-lt"/>
                <a:ea typeface="+mn-ea"/>
                <a:cs typeface="+mn-cs"/>
              </a:rPr>
              <a:t>dels</a:t>
            </a:r>
            <a:r>
              <a:rPr lang="es-ES" sz="1200" b="1" i="0" kern="1200" dirty="0">
                <a:solidFill>
                  <a:schemeClr val="tx1"/>
                </a:solidFill>
                <a:effectLst/>
                <a:latin typeface="+mn-lt"/>
                <a:ea typeface="+mn-ea"/>
                <a:cs typeface="+mn-cs"/>
              </a:rPr>
              <a:t> </a:t>
            </a:r>
            <a:r>
              <a:rPr lang="es-ES" sz="1200" b="1" i="0" kern="1200" dirty="0" err="1">
                <a:solidFill>
                  <a:schemeClr val="tx1"/>
                </a:solidFill>
                <a:effectLst/>
                <a:latin typeface="+mn-lt"/>
                <a:ea typeface="+mn-ea"/>
                <a:cs typeface="+mn-cs"/>
              </a:rPr>
              <a:t>coeficients</a:t>
            </a:r>
            <a:r>
              <a:rPr lang="es-ES" sz="1200" b="1" i="0" kern="1200" dirty="0">
                <a:solidFill>
                  <a:schemeClr val="tx1"/>
                </a:solidFill>
                <a:effectLst/>
                <a:latin typeface="+mn-lt"/>
                <a:ea typeface="+mn-ea"/>
                <a:cs typeface="+mn-cs"/>
              </a:rPr>
              <a:t> de </a:t>
            </a:r>
            <a:r>
              <a:rPr lang="es-ES" sz="1200" b="1" i="0" kern="1200" dirty="0" err="1">
                <a:solidFill>
                  <a:schemeClr val="tx1"/>
                </a:solidFill>
                <a:effectLst/>
                <a:latin typeface="+mn-lt"/>
                <a:ea typeface="+mn-ea"/>
                <a:cs typeface="+mn-cs"/>
              </a:rPr>
              <a:t>creixement</a:t>
            </a:r>
            <a:endParaRPr lang="es-ES" sz="1200" b="1" i="0" kern="1200" dirty="0">
              <a:solidFill>
                <a:schemeClr val="tx1"/>
              </a:solidFill>
              <a:effectLst/>
              <a:latin typeface="+mn-lt"/>
              <a:ea typeface="+mn-ea"/>
              <a:cs typeface="+mn-cs"/>
            </a:endParaRPr>
          </a:p>
          <a:p>
            <a:r>
              <a:rPr lang="es-ES" sz="1200" b="0" i="0" kern="1200" dirty="0">
                <a:solidFill>
                  <a:schemeClr val="tx1"/>
                </a:solidFill>
                <a:effectLst/>
                <a:latin typeface="+mn-lt"/>
                <a:ea typeface="+mn-ea"/>
                <a:cs typeface="+mn-cs"/>
              </a:rPr>
              <a:t>En la </a:t>
            </a:r>
            <a:r>
              <a:rPr lang="es-ES" sz="1200" b="0" i="0" kern="1200" dirty="0" err="1">
                <a:solidFill>
                  <a:schemeClr val="tx1"/>
                </a:solidFill>
                <a:effectLst/>
                <a:latin typeface="+mn-lt"/>
                <a:ea typeface="+mn-ea"/>
                <a:cs typeface="+mn-cs"/>
              </a:rPr>
              <a:t>presentació</a:t>
            </a:r>
            <a:r>
              <a:rPr lang="es-ES" sz="1200" b="0" i="0" kern="1200" dirty="0">
                <a:solidFill>
                  <a:schemeClr val="tx1"/>
                </a:solidFill>
                <a:effectLst/>
                <a:latin typeface="+mn-lt"/>
                <a:ea typeface="+mn-ea"/>
                <a:cs typeface="+mn-cs"/>
              </a:rPr>
              <a:t> </a:t>
            </a:r>
            <a:r>
              <a:rPr lang="es-ES" sz="1200" b="0" i="0" kern="1200" dirty="0" err="1">
                <a:solidFill>
                  <a:schemeClr val="tx1"/>
                </a:solidFill>
                <a:effectLst/>
                <a:latin typeface="+mn-lt"/>
                <a:ea typeface="+mn-ea"/>
                <a:cs typeface="+mn-cs"/>
              </a:rPr>
              <a:t>apareixen</a:t>
            </a:r>
            <a:r>
              <a:rPr lang="es-ES" sz="1200" b="0" i="0" kern="1200" dirty="0">
                <a:solidFill>
                  <a:schemeClr val="tx1"/>
                </a:solidFill>
                <a:effectLst/>
                <a:latin typeface="+mn-lt"/>
                <a:ea typeface="+mn-ea"/>
                <a:cs typeface="+mn-cs"/>
              </a:rPr>
              <a:t> termes </a:t>
            </a:r>
            <a:r>
              <a:rPr lang="es-ES" sz="1200" b="0" i="0" kern="1200" dirty="0" err="1">
                <a:solidFill>
                  <a:schemeClr val="tx1"/>
                </a:solidFill>
                <a:effectLst/>
                <a:latin typeface="+mn-lt"/>
                <a:ea typeface="+mn-ea"/>
                <a:cs typeface="+mn-cs"/>
              </a:rPr>
              <a:t>com</a:t>
            </a:r>
            <a:r>
              <a:rPr lang="es-ES" sz="1200" b="0" i="0" kern="1200" dirty="0">
                <a:solidFill>
                  <a:schemeClr val="tx1"/>
                </a:solidFill>
                <a:effectLst/>
                <a:latin typeface="+mn-lt"/>
                <a:ea typeface="+mn-ea"/>
                <a:cs typeface="+mn-cs"/>
              </a:rPr>
              <a:t>:</a:t>
            </a:r>
          </a:p>
          <a:p>
            <a:r>
              <a:rPr lang="es-ES" sz="1200" b="0" i="0" kern="1200" dirty="0">
                <a:solidFill>
                  <a:schemeClr val="tx1"/>
                </a:solidFill>
                <a:effectLst/>
                <a:latin typeface="+mn-lt"/>
                <a:ea typeface="+mn-ea"/>
                <a:cs typeface="+mn-cs"/>
              </a:rPr>
              <a:t>$A\</a:t>
            </a:r>
            <a:r>
              <a:rPr lang="es-ES" sz="1200" b="0" i="0" kern="1200" dirty="0" err="1">
                <a:solidFill>
                  <a:schemeClr val="tx1"/>
                </a:solidFill>
                <a:effectLst/>
                <a:latin typeface="+mn-lt"/>
                <a:ea typeface="+mn-ea"/>
                <a:cs typeface="+mn-cs"/>
              </a:rPr>
              <a:t>cdot</a:t>
            </a:r>
            <a:r>
              <a:rPr lang="es-ES" sz="1200" b="0" i="0" kern="1200" dirty="0">
                <a:solidFill>
                  <a:schemeClr val="tx1"/>
                </a:solidFill>
                <a:effectLst/>
                <a:latin typeface="+mn-lt"/>
                <a:ea typeface="+mn-ea"/>
                <a:cs typeface="+mn-cs"/>
              </a:rPr>
              <a:t> a</a:t>
            </a:r>
            <a:r>
              <a:rPr lang="es-ES" sz="1200" b="0" i="1" kern="1200" dirty="0">
                <a:solidFill>
                  <a:schemeClr val="tx1"/>
                </a:solidFill>
                <a:effectLst/>
                <a:latin typeface="+mn-lt"/>
                <a:ea typeface="+mn-ea"/>
                <a:cs typeface="+mn-cs"/>
              </a:rPr>
              <a:t>{L</a:t>
            </a:r>
            <a:r>
              <a:rPr lang="es-ES" sz="1200" b="0" i="0" kern="1200" dirty="0">
                <a:solidFill>
                  <a:schemeClr val="tx1"/>
                </a:solidFill>
                <a:effectLst/>
                <a:latin typeface="+mn-lt"/>
                <a:ea typeface="+mn-ea"/>
                <a:cs typeface="+mn-cs"/>
              </a:rPr>
              <a:t>1}$</a:t>
            </a:r>
          </a:p>
          <a:p>
            <a:r>
              <a:rPr lang="es-ES" sz="1200" b="0" i="0" kern="1200" dirty="0">
                <a:solidFill>
                  <a:schemeClr val="tx1"/>
                </a:solidFill>
                <a:effectLst/>
                <a:latin typeface="+mn-lt"/>
                <a:ea typeface="+mn-ea"/>
                <a:cs typeface="+mn-cs"/>
              </a:rPr>
              <a:t>$B\</a:t>
            </a:r>
            <a:r>
              <a:rPr lang="es-ES" sz="1200" b="0" i="0" kern="1200" dirty="0" err="1">
                <a:solidFill>
                  <a:schemeClr val="tx1"/>
                </a:solidFill>
                <a:effectLst/>
                <a:latin typeface="+mn-lt"/>
                <a:ea typeface="+mn-ea"/>
                <a:cs typeface="+mn-cs"/>
              </a:rPr>
              <a:t>cdot</a:t>
            </a:r>
            <a:r>
              <a:rPr lang="es-ES" sz="1200" b="0" i="0" kern="1200" dirty="0">
                <a:solidFill>
                  <a:schemeClr val="tx1"/>
                </a:solidFill>
                <a:effectLst/>
                <a:latin typeface="+mn-lt"/>
                <a:ea typeface="+mn-ea"/>
                <a:cs typeface="+mn-cs"/>
              </a:rPr>
              <a:t>(</a:t>
            </a:r>
            <a:r>
              <a:rPr lang="es-ES" sz="1200" b="0" i="0" kern="1200" dirty="0" err="1">
                <a:solidFill>
                  <a:schemeClr val="tx1"/>
                </a:solidFill>
                <a:effectLst/>
                <a:latin typeface="+mn-lt"/>
                <a:ea typeface="+mn-ea"/>
                <a:cs typeface="+mn-cs"/>
              </a:rPr>
              <a:t>b+c+d</a:t>
            </a:r>
            <a:r>
              <a:rPr lang="es-ES" sz="1200" b="0" i="0" kern="1200" dirty="0">
                <a:solidFill>
                  <a:schemeClr val="tx1"/>
                </a:solidFill>
                <a:effectLst/>
                <a:latin typeface="+mn-lt"/>
                <a:ea typeface="+mn-ea"/>
                <a:cs typeface="+mn-cs"/>
              </a:rPr>
              <a:t>)$</a:t>
            </a:r>
          </a:p>
          <a:p>
            <a:r>
              <a:rPr lang="es-ES" sz="1200" b="0" i="0" kern="1200" dirty="0">
                <a:solidFill>
                  <a:schemeClr val="tx1"/>
                </a:solidFill>
                <a:effectLst/>
                <a:latin typeface="+mn-lt"/>
                <a:ea typeface="+mn-ea"/>
                <a:cs typeface="+mn-cs"/>
              </a:rPr>
              <a:t>$C\</a:t>
            </a:r>
            <a:r>
              <a:rPr lang="es-ES" sz="1200" b="0" i="0" kern="1200" dirty="0" err="1">
                <a:solidFill>
                  <a:schemeClr val="tx1"/>
                </a:solidFill>
                <a:effectLst/>
                <a:latin typeface="+mn-lt"/>
                <a:ea typeface="+mn-ea"/>
                <a:cs typeface="+mn-cs"/>
              </a:rPr>
              <a:t>cdot</a:t>
            </a:r>
            <a:r>
              <a:rPr lang="es-ES" sz="1200" b="0" i="0" kern="1200" dirty="0">
                <a:solidFill>
                  <a:schemeClr val="tx1"/>
                </a:solidFill>
                <a:effectLst/>
                <a:latin typeface="+mn-lt"/>
                <a:ea typeface="+mn-ea"/>
                <a:cs typeface="+mn-cs"/>
              </a:rPr>
              <a:t> d$</a:t>
            </a:r>
          </a:p>
          <a:p>
            <a:r>
              <a:rPr lang="es-ES" sz="1200" b="0" i="0" kern="1200" dirty="0">
                <a:solidFill>
                  <a:schemeClr val="tx1"/>
                </a:solidFill>
                <a:effectLst/>
                <a:latin typeface="+mn-lt"/>
                <a:ea typeface="+mn-ea"/>
                <a:cs typeface="+mn-cs"/>
              </a:rPr>
              <a:t>$D\</a:t>
            </a:r>
            <a:r>
              <a:rPr lang="es-ES" sz="1200" b="0" i="0" kern="1200" dirty="0" err="1">
                <a:solidFill>
                  <a:schemeClr val="tx1"/>
                </a:solidFill>
                <a:effectLst/>
                <a:latin typeface="+mn-lt"/>
                <a:ea typeface="+mn-ea"/>
                <a:cs typeface="+mn-cs"/>
              </a:rPr>
              <a:t>cdot</a:t>
            </a:r>
            <a:r>
              <a:rPr lang="es-ES" sz="1200" b="0" i="0" kern="1200" dirty="0">
                <a:solidFill>
                  <a:schemeClr val="tx1"/>
                </a:solidFill>
                <a:effectLst/>
                <a:latin typeface="+mn-lt"/>
                <a:ea typeface="+mn-ea"/>
                <a:cs typeface="+mn-cs"/>
              </a:rPr>
              <a:t> e$</a:t>
            </a:r>
          </a:p>
          <a:p>
            <a:r>
              <a:rPr lang="es-ES" sz="1200" b="0" i="0" kern="1200" dirty="0" err="1">
                <a:solidFill>
                  <a:schemeClr val="tx1"/>
                </a:solidFill>
                <a:effectLst/>
                <a:latin typeface="+mn-lt"/>
                <a:ea typeface="+mn-ea"/>
                <a:cs typeface="+mn-cs"/>
              </a:rPr>
              <a:t>Això</a:t>
            </a:r>
            <a:r>
              <a:rPr lang="es-ES" sz="1200" b="0" i="0" kern="1200" dirty="0">
                <a:solidFill>
                  <a:schemeClr val="tx1"/>
                </a:solidFill>
                <a:effectLst/>
                <a:latin typeface="+mn-lt"/>
                <a:ea typeface="+mn-ea"/>
                <a:cs typeface="+mn-cs"/>
              </a:rPr>
              <a:t> representa que </a:t>
            </a:r>
            <a:r>
              <a:rPr lang="es-ES" sz="1200" b="1" i="0" kern="1200" dirty="0">
                <a:solidFill>
                  <a:schemeClr val="tx1"/>
                </a:solidFill>
                <a:effectLst/>
                <a:latin typeface="+mn-lt"/>
                <a:ea typeface="+mn-ea"/>
                <a:cs typeface="+mn-cs"/>
              </a:rPr>
              <a:t>cada </a:t>
            </a:r>
            <a:r>
              <a:rPr lang="es-ES" sz="1200" b="1" i="0" kern="1200" dirty="0" err="1">
                <a:solidFill>
                  <a:schemeClr val="tx1"/>
                </a:solidFill>
                <a:effectLst/>
                <a:latin typeface="+mn-lt"/>
                <a:ea typeface="+mn-ea"/>
                <a:cs typeface="+mn-cs"/>
              </a:rPr>
              <a:t>conjunt</a:t>
            </a:r>
            <a:r>
              <a:rPr lang="es-ES" sz="1200" b="1" i="0" kern="1200" dirty="0">
                <a:solidFill>
                  <a:schemeClr val="tx1"/>
                </a:solidFill>
                <a:effectLst/>
                <a:latin typeface="+mn-lt"/>
                <a:ea typeface="+mn-ea"/>
                <a:cs typeface="+mn-cs"/>
              </a:rPr>
              <a:t> </a:t>
            </a:r>
            <a:r>
              <a:rPr lang="es-ES" sz="1200" b="1" i="0" kern="1200" dirty="0" err="1">
                <a:solidFill>
                  <a:schemeClr val="tx1"/>
                </a:solidFill>
                <a:effectLst/>
                <a:latin typeface="+mn-lt"/>
                <a:ea typeface="+mn-ea"/>
                <a:cs typeface="+mn-cs"/>
              </a:rPr>
              <a:t>creix</a:t>
            </a:r>
            <a:r>
              <a:rPr lang="es-ES" sz="1200" b="1" i="0" kern="1200" dirty="0">
                <a:solidFill>
                  <a:schemeClr val="tx1"/>
                </a:solidFill>
                <a:effectLst/>
                <a:latin typeface="+mn-lt"/>
                <a:ea typeface="+mn-ea"/>
                <a:cs typeface="+mn-cs"/>
              </a:rPr>
              <a:t> </a:t>
            </a:r>
            <a:r>
              <a:rPr lang="es-ES" sz="1200" b="1" i="0" kern="1200" dirty="0" err="1">
                <a:solidFill>
                  <a:schemeClr val="tx1"/>
                </a:solidFill>
                <a:effectLst/>
                <a:latin typeface="+mn-lt"/>
                <a:ea typeface="+mn-ea"/>
                <a:cs typeface="+mn-cs"/>
              </a:rPr>
              <a:t>amb</a:t>
            </a:r>
            <a:r>
              <a:rPr lang="es-ES" sz="1200" b="1" i="0" kern="1200" dirty="0">
                <a:solidFill>
                  <a:schemeClr val="tx1"/>
                </a:solidFill>
                <a:effectLst/>
                <a:latin typeface="+mn-lt"/>
                <a:ea typeface="+mn-ea"/>
                <a:cs typeface="+mn-cs"/>
              </a:rPr>
              <a:t> una </a:t>
            </a:r>
            <a:r>
              <a:rPr lang="es-ES" sz="1200" b="1" i="0" kern="1200" dirty="0" err="1">
                <a:solidFill>
                  <a:schemeClr val="tx1"/>
                </a:solidFill>
                <a:effectLst/>
                <a:latin typeface="+mn-lt"/>
                <a:ea typeface="+mn-ea"/>
                <a:cs typeface="+mn-cs"/>
              </a:rPr>
              <a:t>proporció</a:t>
            </a:r>
            <a:r>
              <a:rPr lang="es-ES" sz="1200" b="1" i="0" kern="1200" dirty="0">
                <a:solidFill>
                  <a:schemeClr val="tx1"/>
                </a:solidFill>
                <a:effectLst/>
                <a:latin typeface="+mn-lt"/>
                <a:ea typeface="+mn-ea"/>
                <a:cs typeface="+mn-cs"/>
              </a:rPr>
              <a:t> </a:t>
            </a:r>
            <a:r>
              <a:rPr lang="es-ES" sz="1200" b="1" i="0" kern="1200" dirty="0" err="1">
                <a:solidFill>
                  <a:schemeClr val="tx1"/>
                </a:solidFill>
                <a:effectLst/>
                <a:latin typeface="+mn-lt"/>
                <a:ea typeface="+mn-ea"/>
                <a:cs typeface="+mn-cs"/>
              </a:rPr>
              <a:t>fixa</a:t>
            </a:r>
            <a:r>
              <a:rPr lang="es-ES" sz="1200" b="0" i="0" kern="1200" dirty="0">
                <a:solidFill>
                  <a:schemeClr val="tx1"/>
                </a:solidFill>
                <a:effectLst/>
                <a:latin typeface="+mn-lt"/>
                <a:ea typeface="+mn-ea"/>
                <a:cs typeface="+mn-cs"/>
              </a:rPr>
              <a:t> </a:t>
            </a:r>
            <a:r>
              <a:rPr lang="es-ES" sz="1200" b="0" i="0" kern="1200" dirty="0" err="1">
                <a:solidFill>
                  <a:schemeClr val="tx1"/>
                </a:solidFill>
                <a:effectLst/>
                <a:latin typeface="+mn-lt"/>
                <a:ea typeface="+mn-ea"/>
                <a:cs typeface="+mn-cs"/>
              </a:rPr>
              <a:t>dins</a:t>
            </a:r>
            <a:r>
              <a:rPr lang="es-ES" sz="1200" b="0" i="0" kern="1200" dirty="0">
                <a:solidFill>
                  <a:schemeClr val="tx1"/>
                </a:solidFill>
                <a:effectLst/>
                <a:latin typeface="+mn-lt"/>
                <a:ea typeface="+mn-ea"/>
                <a:cs typeface="+mn-cs"/>
              </a:rPr>
              <a:t> del </a:t>
            </a:r>
            <a:r>
              <a:rPr lang="es-ES" sz="1200" b="0" i="0" kern="1200" dirty="0" err="1">
                <a:solidFill>
                  <a:schemeClr val="tx1"/>
                </a:solidFill>
                <a:effectLst/>
                <a:latin typeface="+mn-lt"/>
                <a:ea typeface="+mn-ea"/>
                <a:cs typeface="+mn-cs"/>
              </a:rPr>
              <a:t>seu</a:t>
            </a:r>
            <a:r>
              <a:rPr lang="es-ES" sz="1200" b="0" i="0" kern="1200" dirty="0">
                <a:solidFill>
                  <a:schemeClr val="tx1"/>
                </a:solidFill>
                <a:effectLst/>
                <a:latin typeface="+mn-lt"/>
                <a:ea typeface="+mn-ea"/>
                <a:cs typeface="+mn-cs"/>
              </a:rPr>
              <a:t> </a:t>
            </a:r>
            <a:r>
              <a:rPr lang="es-ES" sz="1200" b="0" i="0" kern="1200" dirty="0" err="1">
                <a:solidFill>
                  <a:schemeClr val="tx1"/>
                </a:solidFill>
                <a:effectLst/>
                <a:latin typeface="+mn-lt"/>
                <a:ea typeface="+mn-ea"/>
                <a:cs typeface="+mn-cs"/>
              </a:rPr>
              <a:t>univers</a:t>
            </a:r>
            <a:r>
              <a:rPr lang="es-ES" sz="1200" b="0" i="0" kern="1200" dirty="0">
                <a:solidFill>
                  <a:schemeClr val="tx1"/>
                </a:solidFill>
                <a:effectLst/>
                <a:latin typeface="+mn-lt"/>
                <a:ea typeface="+mn-ea"/>
                <a:cs typeface="+mn-cs"/>
              </a:rPr>
              <a:t>:</a:t>
            </a:r>
          </a:p>
          <a:p>
            <a:r>
              <a:rPr lang="es-ES" sz="1200" b="0" i="0" kern="1200" dirty="0">
                <a:solidFill>
                  <a:schemeClr val="tx1"/>
                </a:solidFill>
                <a:effectLst/>
                <a:latin typeface="+mn-lt"/>
                <a:ea typeface="+mn-ea"/>
                <a:cs typeface="+mn-cs"/>
              </a:rPr>
              <a:t>$a$ </a:t>
            </a:r>
            <a:r>
              <a:rPr lang="es-ES" sz="1200" b="0" i="0" kern="1200" dirty="0" err="1">
                <a:solidFill>
                  <a:schemeClr val="tx1"/>
                </a:solidFill>
                <a:effectLst/>
                <a:latin typeface="+mn-lt"/>
                <a:ea typeface="+mn-ea"/>
                <a:cs typeface="+mn-cs"/>
              </a:rPr>
              <a:t>és</a:t>
            </a:r>
            <a:r>
              <a:rPr lang="es-ES" sz="1200" b="0" i="0" kern="1200" dirty="0">
                <a:solidFill>
                  <a:schemeClr val="tx1"/>
                </a:solidFill>
                <a:effectLst/>
                <a:latin typeface="+mn-lt"/>
                <a:ea typeface="+mn-ea"/>
                <a:cs typeface="+mn-cs"/>
              </a:rPr>
              <a:t> la </a:t>
            </a:r>
            <a:r>
              <a:rPr lang="es-ES" sz="1200" b="0" i="0" kern="1200" dirty="0" err="1">
                <a:solidFill>
                  <a:schemeClr val="tx1"/>
                </a:solidFill>
                <a:effectLst/>
                <a:latin typeface="+mn-lt"/>
                <a:ea typeface="+mn-ea"/>
                <a:cs typeface="+mn-cs"/>
              </a:rPr>
              <a:t>densitat</a:t>
            </a:r>
            <a:r>
              <a:rPr lang="es-ES" sz="1200" b="0" i="0" kern="1200" dirty="0">
                <a:solidFill>
                  <a:schemeClr val="tx1"/>
                </a:solidFill>
                <a:effectLst/>
                <a:latin typeface="+mn-lt"/>
                <a:ea typeface="+mn-ea"/>
                <a:cs typeface="+mn-cs"/>
              </a:rPr>
              <a:t> de L1 (1/6).</a:t>
            </a:r>
          </a:p>
          <a:p>
            <a:r>
              <a:rPr lang="es-ES" sz="1200" b="0" i="0" kern="1200" dirty="0">
                <a:solidFill>
                  <a:schemeClr val="tx1"/>
                </a:solidFill>
                <a:effectLst/>
                <a:latin typeface="+mn-lt"/>
                <a:ea typeface="+mn-ea"/>
                <a:cs typeface="+mn-cs"/>
              </a:rPr>
              <a:t>$b, c, d, e$ </a:t>
            </a:r>
            <a:r>
              <a:rPr lang="es-ES" sz="1200" b="0" i="0" kern="1200" dirty="0" err="1">
                <a:solidFill>
                  <a:schemeClr val="tx1"/>
                </a:solidFill>
                <a:effectLst/>
                <a:latin typeface="+mn-lt"/>
                <a:ea typeface="+mn-ea"/>
                <a:cs typeface="+mn-cs"/>
              </a:rPr>
              <a:t>són</a:t>
            </a:r>
            <a:r>
              <a:rPr lang="es-ES" sz="1200" b="0" i="0" kern="1200" dirty="0">
                <a:solidFill>
                  <a:schemeClr val="tx1"/>
                </a:solidFill>
                <a:effectLst/>
                <a:latin typeface="+mn-lt"/>
                <a:ea typeface="+mn-ea"/>
                <a:cs typeface="+mn-cs"/>
              </a:rPr>
              <a:t> les </a:t>
            </a:r>
            <a:r>
              <a:rPr lang="es-ES" sz="1200" b="0" i="0" kern="1200" dirty="0" err="1">
                <a:solidFill>
                  <a:schemeClr val="tx1"/>
                </a:solidFill>
                <a:effectLst/>
                <a:latin typeface="+mn-lt"/>
                <a:ea typeface="+mn-ea"/>
                <a:cs typeface="+mn-cs"/>
              </a:rPr>
              <a:t>densitats</a:t>
            </a:r>
            <a:r>
              <a:rPr lang="es-ES" sz="1200" b="0" i="0" kern="1200" dirty="0">
                <a:solidFill>
                  <a:schemeClr val="tx1"/>
                </a:solidFill>
                <a:effectLst/>
                <a:latin typeface="+mn-lt"/>
                <a:ea typeface="+mn-ea"/>
                <a:cs typeface="+mn-cs"/>
              </a:rPr>
              <a:t> relatives de L3, L4, L2 i </a:t>
            </a:r>
            <a:r>
              <a:rPr lang="es-ES" sz="1200" b="0" i="0" kern="1200" dirty="0" err="1">
                <a:solidFill>
                  <a:schemeClr val="tx1"/>
                </a:solidFill>
                <a:effectLst/>
                <a:latin typeface="+mn-lt"/>
                <a:ea typeface="+mn-ea"/>
                <a:cs typeface="+mn-cs"/>
              </a:rPr>
              <a:t>Lsg</a:t>
            </a:r>
            <a:r>
              <a:rPr lang="es-ES" sz="1200" b="0" i="0" kern="1200" dirty="0">
                <a:solidFill>
                  <a:schemeClr val="tx1"/>
                </a:solidFill>
                <a:effectLst/>
                <a:latin typeface="+mn-lt"/>
                <a:ea typeface="+mn-ea"/>
                <a:cs typeface="+mn-cs"/>
              </a:rPr>
              <a:t> </a:t>
            </a:r>
            <a:r>
              <a:rPr lang="es-ES" sz="1200" b="0" i="0" kern="1200" dirty="0" err="1">
                <a:solidFill>
                  <a:schemeClr val="tx1"/>
                </a:solidFill>
                <a:effectLst/>
                <a:latin typeface="+mn-lt"/>
                <a:ea typeface="+mn-ea"/>
                <a:cs typeface="+mn-cs"/>
              </a:rPr>
              <a:t>dins</a:t>
            </a:r>
            <a:r>
              <a:rPr lang="es-ES" sz="1200" b="0" i="0" kern="1200" dirty="0">
                <a:solidFill>
                  <a:schemeClr val="tx1"/>
                </a:solidFill>
                <a:effectLst/>
                <a:latin typeface="+mn-lt"/>
                <a:ea typeface="+mn-ea"/>
                <a:cs typeface="+mn-cs"/>
              </a:rPr>
              <a:t> de L1.</a:t>
            </a:r>
          </a:p>
          <a:p>
            <a:r>
              <a:rPr lang="es-ES" sz="1200" b="0" i="0" kern="1200" dirty="0">
                <a:solidFill>
                  <a:schemeClr val="tx1"/>
                </a:solidFill>
                <a:effectLst/>
                <a:latin typeface="+mn-lt"/>
                <a:ea typeface="+mn-ea"/>
                <a:cs typeface="+mn-cs"/>
              </a:rPr>
              <a:t>$A,B,C,D$ </a:t>
            </a:r>
            <a:r>
              <a:rPr lang="es-ES" sz="1200" b="0" i="0" kern="1200" dirty="0" err="1">
                <a:solidFill>
                  <a:schemeClr val="tx1"/>
                </a:solidFill>
                <a:effectLst/>
                <a:latin typeface="+mn-lt"/>
                <a:ea typeface="+mn-ea"/>
                <a:cs typeface="+mn-cs"/>
              </a:rPr>
              <a:t>són</a:t>
            </a:r>
            <a:r>
              <a:rPr lang="es-ES" sz="1200" b="0" i="0" kern="1200" dirty="0">
                <a:solidFill>
                  <a:schemeClr val="tx1"/>
                </a:solidFill>
                <a:effectLst/>
                <a:latin typeface="+mn-lt"/>
                <a:ea typeface="+mn-ea"/>
                <a:cs typeface="+mn-cs"/>
              </a:rPr>
              <a:t> </a:t>
            </a:r>
            <a:r>
              <a:rPr lang="es-ES" sz="1200" b="0" i="0" kern="1200" dirty="0" err="1">
                <a:solidFill>
                  <a:schemeClr val="tx1"/>
                </a:solidFill>
                <a:effectLst/>
                <a:latin typeface="+mn-lt"/>
                <a:ea typeface="+mn-ea"/>
                <a:cs typeface="+mn-cs"/>
              </a:rPr>
              <a:t>constants</a:t>
            </a:r>
            <a:r>
              <a:rPr lang="es-ES" sz="1200" b="0" i="0" kern="1200" dirty="0">
                <a:solidFill>
                  <a:schemeClr val="tx1"/>
                </a:solidFill>
                <a:effectLst/>
                <a:latin typeface="+mn-lt"/>
                <a:ea typeface="+mn-ea"/>
                <a:cs typeface="+mn-cs"/>
              </a:rPr>
              <a:t> que expliquen </a:t>
            </a:r>
            <a:r>
              <a:rPr lang="es-ES" sz="1200" b="0" i="1" kern="1200" dirty="0" err="1">
                <a:solidFill>
                  <a:schemeClr val="tx1"/>
                </a:solidFill>
                <a:effectLst/>
                <a:latin typeface="+mn-lt"/>
                <a:ea typeface="+mn-ea"/>
                <a:cs typeface="+mn-cs"/>
              </a:rPr>
              <a:t>com</a:t>
            </a:r>
            <a:r>
              <a:rPr lang="es-ES" sz="1200" b="0" i="1" kern="1200" dirty="0">
                <a:solidFill>
                  <a:schemeClr val="tx1"/>
                </a:solidFill>
                <a:effectLst/>
                <a:latin typeface="+mn-lt"/>
                <a:ea typeface="+mn-ea"/>
                <a:cs typeface="+mn-cs"/>
              </a:rPr>
              <a:t> es </a:t>
            </a:r>
            <a:r>
              <a:rPr lang="es-ES" sz="1200" b="0" i="1" kern="1200" dirty="0" err="1">
                <a:solidFill>
                  <a:schemeClr val="tx1"/>
                </a:solidFill>
                <a:effectLst/>
                <a:latin typeface="+mn-lt"/>
                <a:ea typeface="+mn-ea"/>
                <a:cs typeface="+mn-cs"/>
              </a:rPr>
              <a:t>transmet</a:t>
            </a:r>
            <a:r>
              <a:rPr lang="es-ES" sz="1200" b="0" i="1" kern="1200" dirty="0">
                <a:solidFill>
                  <a:schemeClr val="tx1"/>
                </a:solidFill>
                <a:effectLst/>
                <a:latin typeface="+mn-lt"/>
                <a:ea typeface="+mn-ea"/>
                <a:cs typeface="+mn-cs"/>
              </a:rPr>
              <a:t> </a:t>
            </a:r>
            <a:r>
              <a:rPr lang="es-ES" sz="1200" b="0" i="1" kern="1200" dirty="0" err="1">
                <a:solidFill>
                  <a:schemeClr val="tx1"/>
                </a:solidFill>
                <a:effectLst/>
                <a:latin typeface="+mn-lt"/>
                <a:ea typeface="+mn-ea"/>
                <a:cs typeface="+mn-cs"/>
              </a:rPr>
              <a:t>aquest</a:t>
            </a:r>
            <a:r>
              <a:rPr lang="es-ES" sz="1200" b="0" i="1" kern="1200" dirty="0">
                <a:solidFill>
                  <a:schemeClr val="tx1"/>
                </a:solidFill>
                <a:effectLst/>
                <a:latin typeface="+mn-lt"/>
                <a:ea typeface="+mn-ea"/>
                <a:cs typeface="+mn-cs"/>
              </a:rPr>
              <a:t> </a:t>
            </a:r>
            <a:r>
              <a:rPr lang="es-ES" sz="1200" b="0" i="1" kern="1200" dirty="0" err="1">
                <a:solidFill>
                  <a:schemeClr val="tx1"/>
                </a:solidFill>
                <a:effectLst/>
                <a:latin typeface="+mn-lt"/>
                <a:ea typeface="+mn-ea"/>
                <a:cs typeface="+mn-cs"/>
              </a:rPr>
              <a:t>creixement</a:t>
            </a:r>
            <a:r>
              <a:rPr lang="es-ES" sz="1200" b="0" i="0" kern="1200" dirty="0">
                <a:solidFill>
                  <a:schemeClr val="tx1"/>
                </a:solidFill>
                <a:effectLst/>
                <a:latin typeface="+mn-lt"/>
                <a:ea typeface="+mn-ea"/>
                <a:cs typeface="+mn-cs"/>
              </a:rPr>
              <a:t> </a:t>
            </a:r>
            <a:r>
              <a:rPr lang="es-ES" sz="1200" b="0" i="0" kern="1200" dirty="0" err="1">
                <a:solidFill>
                  <a:schemeClr val="tx1"/>
                </a:solidFill>
                <a:effectLst/>
                <a:latin typeface="+mn-lt"/>
                <a:ea typeface="+mn-ea"/>
                <a:cs typeface="+mn-cs"/>
              </a:rPr>
              <a:t>quan</a:t>
            </a:r>
            <a:r>
              <a:rPr lang="es-ES" sz="1200" b="0" i="0" kern="1200" dirty="0">
                <a:solidFill>
                  <a:schemeClr val="tx1"/>
                </a:solidFill>
                <a:effectLst/>
                <a:latin typeface="+mn-lt"/>
                <a:ea typeface="+mn-ea"/>
                <a:cs typeface="+mn-cs"/>
              </a:rPr>
              <a:t> compares </a:t>
            </a:r>
            <a:r>
              <a:rPr lang="es-ES" sz="1200" b="0" i="0" kern="1200" dirty="0" err="1">
                <a:solidFill>
                  <a:schemeClr val="tx1"/>
                </a:solidFill>
                <a:effectLst/>
                <a:latin typeface="+mn-lt"/>
                <a:ea typeface="+mn-ea"/>
                <a:cs typeface="+mn-cs"/>
              </a:rPr>
              <a:t>conjunts</a:t>
            </a:r>
            <a:r>
              <a:rPr lang="es-ES" sz="1200" b="0" i="0" kern="1200" dirty="0">
                <a:solidFill>
                  <a:schemeClr val="tx1"/>
                </a:solidFill>
                <a:effectLst/>
                <a:latin typeface="+mn-lt"/>
                <a:ea typeface="+mn-ea"/>
                <a:cs typeface="+mn-cs"/>
              </a:rPr>
              <a:t>.</a:t>
            </a:r>
          </a:p>
          <a:p>
            <a:r>
              <a:rPr lang="es-ES" sz="1200" b="0" i="0" kern="1200" dirty="0">
                <a:solidFill>
                  <a:schemeClr val="tx1"/>
                </a:solidFill>
                <a:effectLst/>
                <a:latin typeface="+mn-lt"/>
                <a:ea typeface="+mn-ea"/>
                <a:cs typeface="+mn-cs"/>
              </a:rPr>
              <a:t>El que </a:t>
            </a:r>
            <a:r>
              <a:rPr lang="es-ES" sz="1200" b="0" i="0" kern="1200" dirty="0" err="1">
                <a:solidFill>
                  <a:schemeClr val="tx1"/>
                </a:solidFill>
                <a:effectLst/>
                <a:latin typeface="+mn-lt"/>
                <a:ea typeface="+mn-ea"/>
                <a:cs typeface="+mn-cs"/>
              </a:rPr>
              <a:t>estàs</a:t>
            </a:r>
            <a:r>
              <a:rPr lang="es-ES" sz="1200" b="0" i="0" kern="1200" dirty="0">
                <a:solidFill>
                  <a:schemeClr val="tx1"/>
                </a:solidFill>
                <a:effectLst/>
                <a:latin typeface="+mn-lt"/>
                <a:ea typeface="+mn-ea"/>
                <a:cs typeface="+mn-cs"/>
              </a:rPr>
              <a:t> </a:t>
            </a:r>
            <a:r>
              <a:rPr lang="es-ES" sz="1200" b="0" i="0" kern="1200" dirty="0" err="1">
                <a:solidFill>
                  <a:schemeClr val="tx1"/>
                </a:solidFill>
                <a:effectLst/>
                <a:latin typeface="+mn-lt"/>
                <a:ea typeface="+mn-ea"/>
                <a:cs typeface="+mn-cs"/>
              </a:rPr>
              <a:t>fent</a:t>
            </a:r>
            <a:r>
              <a:rPr lang="es-ES" sz="1200" b="0" i="0" kern="1200" dirty="0">
                <a:solidFill>
                  <a:schemeClr val="tx1"/>
                </a:solidFill>
                <a:effectLst/>
                <a:latin typeface="+mn-lt"/>
                <a:ea typeface="+mn-ea"/>
                <a:cs typeface="+mn-cs"/>
              </a:rPr>
              <a:t> (</a:t>
            </a:r>
            <a:r>
              <a:rPr lang="es-ES" sz="1200" b="0" i="0" kern="1200" dirty="0" err="1">
                <a:solidFill>
                  <a:schemeClr val="tx1"/>
                </a:solidFill>
                <a:effectLst/>
                <a:latin typeface="+mn-lt"/>
                <a:ea typeface="+mn-ea"/>
                <a:cs typeface="+mn-cs"/>
              </a:rPr>
              <a:t>correctíssim</a:t>
            </a:r>
            <a:r>
              <a:rPr lang="es-ES" sz="1200" b="0" i="0" kern="1200" dirty="0">
                <a:solidFill>
                  <a:schemeClr val="tx1"/>
                </a:solidFill>
                <a:effectLst/>
                <a:latin typeface="+mn-lt"/>
                <a:ea typeface="+mn-ea"/>
                <a:cs typeface="+mn-cs"/>
              </a:rPr>
              <a:t>) </a:t>
            </a:r>
            <a:r>
              <a:rPr lang="es-ES" sz="1200" b="0" i="0" kern="1200" dirty="0" err="1">
                <a:solidFill>
                  <a:schemeClr val="tx1"/>
                </a:solidFill>
                <a:effectLst/>
                <a:latin typeface="+mn-lt"/>
                <a:ea typeface="+mn-ea"/>
                <a:cs typeface="+mn-cs"/>
              </a:rPr>
              <a:t>és</a:t>
            </a:r>
            <a:r>
              <a:rPr lang="es-ES" sz="1200" b="0" i="0" kern="1200" dirty="0">
                <a:solidFill>
                  <a:schemeClr val="tx1"/>
                </a:solidFill>
                <a:effectLst/>
                <a:latin typeface="+mn-lt"/>
                <a:ea typeface="+mn-ea"/>
                <a:cs typeface="+mn-cs"/>
              </a:rPr>
              <a:t>:</a:t>
            </a:r>
          </a:p>
          <a:p>
            <a:r>
              <a:rPr lang="es-ES" sz="1200" b="0" i="0" kern="1200" dirty="0" err="1">
                <a:solidFill>
                  <a:schemeClr val="tx1"/>
                </a:solidFill>
                <a:effectLst/>
                <a:latin typeface="+mn-lt"/>
                <a:ea typeface="+mn-ea"/>
                <a:cs typeface="+mn-cs"/>
              </a:rPr>
              <a:t>factoritzar</a:t>
            </a:r>
            <a:r>
              <a:rPr lang="es-ES" sz="1200" b="0" i="0" kern="1200" dirty="0">
                <a:solidFill>
                  <a:schemeClr val="tx1"/>
                </a:solidFill>
                <a:effectLst/>
                <a:latin typeface="+mn-lt"/>
                <a:ea typeface="+mn-ea"/>
                <a:cs typeface="+mn-cs"/>
              </a:rPr>
              <a:t> el </a:t>
            </a:r>
            <a:r>
              <a:rPr lang="es-ES" sz="1200" b="0" i="0" kern="1200" dirty="0" err="1">
                <a:solidFill>
                  <a:schemeClr val="tx1"/>
                </a:solidFill>
                <a:effectLst/>
                <a:latin typeface="+mn-lt"/>
                <a:ea typeface="+mn-ea"/>
                <a:cs typeface="+mn-cs"/>
              </a:rPr>
              <a:t>creixement</a:t>
            </a:r>
            <a:r>
              <a:rPr lang="es-ES" sz="1200" b="0" i="0" kern="1200" dirty="0">
                <a:solidFill>
                  <a:schemeClr val="tx1"/>
                </a:solidFill>
                <a:effectLst/>
                <a:latin typeface="+mn-lt"/>
                <a:ea typeface="+mn-ea"/>
                <a:cs typeface="+mn-cs"/>
              </a:rPr>
              <a:t> general de L1 i repartir-lo </a:t>
            </a:r>
            <a:r>
              <a:rPr lang="es-ES" sz="1200" b="0" i="0" kern="1200" dirty="0" err="1">
                <a:solidFill>
                  <a:schemeClr val="tx1"/>
                </a:solidFill>
                <a:effectLst/>
                <a:latin typeface="+mn-lt"/>
                <a:ea typeface="+mn-ea"/>
                <a:cs typeface="+mn-cs"/>
              </a:rPr>
              <a:t>segons</a:t>
            </a:r>
            <a:r>
              <a:rPr lang="es-ES" sz="1200" b="0" i="0" kern="1200" dirty="0">
                <a:solidFill>
                  <a:schemeClr val="tx1"/>
                </a:solidFill>
                <a:effectLst/>
                <a:latin typeface="+mn-lt"/>
                <a:ea typeface="+mn-ea"/>
                <a:cs typeface="+mn-cs"/>
              </a:rPr>
              <a:t> les </a:t>
            </a:r>
            <a:r>
              <a:rPr lang="es-ES" sz="1200" b="0" i="0" kern="1200" dirty="0" err="1">
                <a:solidFill>
                  <a:schemeClr val="tx1"/>
                </a:solidFill>
                <a:effectLst/>
                <a:latin typeface="+mn-lt"/>
                <a:ea typeface="+mn-ea"/>
                <a:cs typeface="+mn-cs"/>
              </a:rPr>
              <a:t>parts</a:t>
            </a:r>
            <a:r>
              <a:rPr lang="es-ES" sz="1200" b="0" i="0" kern="1200" dirty="0">
                <a:solidFill>
                  <a:schemeClr val="tx1"/>
                </a:solidFill>
                <a:effectLst/>
                <a:latin typeface="+mn-lt"/>
                <a:ea typeface="+mn-ea"/>
                <a:cs typeface="+mn-cs"/>
              </a:rPr>
              <a:t> que aporten cada </a:t>
            </a:r>
            <a:r>
              <a:rPr lang="es-ES" sz="1200" b="0" i="0" kern="1200" dirty="0" err="1">
                <a:solidFill>
                  <a:schemeClr val="tx1"/>
                </a:solidFill>
                <a:effectLst/>
                <a:latin typeface="+mn-lt"/>
                <a:ea typeface="+mn-ea"/>
                <a:cs typeface="+mn-cs"/>
              </a:rPr>
              <a:t>subconjunt</a:t>
            </a:r>
            <a:r>
              <a:rPr lang="es-ES" sz="1200" b="0" i="0" kern="1200" dirty="0">
                <a:solidFill>
                  <a:schemeClr val="tx1"/>
                </a:solidFill>
                <a:effectLst/>
                <a:latin typeface="+mn-lt"/>
                <a:ea typeface="+mn-ea"/>
                <a:cs typeface="+mn-cs"/>
              </a:rPr>
              <a:t>.</a:t>
            </a:r>
          </a:p>
          <a:p>
            <a:r>
              <a:rPr lang="es-ES" sz="1200" b="0" i="0" kern="1200" dirty="0" err="1">
                <a:solidFill>
                  <a:schemeClr val="tx1"/>
                </a:solidFill>
                <a:effectLst/>
                <a:latin typeface="+mn-lt"/>
                <a:ea typeface="+mn-ea"/>
                <a:cs typeface="+mn-cs"/>
              </a:rPr>
              <a:t>Això</a:t>
            </a:r>
            <a:r>
              <a:rPr lang="es-ES" sz="1200" b="0" i="0" kern="1200" dirty="0">
                <a:solidFill>
                  <a:schemeClr val="tx1"/>
                </a:solidFill>
                <a:effectLst/>
                <a:latin typeface="+mn-lt"/>
                <a:ea typeface="+mn-ea"/>
                <a:cs typeface="+mn-cs"/>
              </a:rPr>
              <a:t> </a:t>
            </a:r>
            <a:r>
              <a:rPr lang="es-ES" sz="1200" b="0" i="0" kern="1200" dirty="0" err="1">
                <a:solidFill>
                  <a:schemeClr val="tx1"/>
                </a:solidFill>
                <a:effectLst/>
                <a:latin typeface="+mn-lt"/>
                <a:ea typeface="+mn-ea"/>
                <a:cs typeface="+mn-cs"/>
              </a:rPr>
              <a:t>és</a:t>
            </a:r>
            <a:r>
              <a:rPr lang="es-ES" sz="1200" b="0" i="0" kern="1200" dirty="0">
                <a:solidFill>
                  <a:schemeClr val="tx1"/>
                </a:solidFill>
                <a:effectLst/>
                <a:latin typeface="+mn-lt"/>
                <a:ea typeface="+mn-ea"/>
                <a:cs typeface="+mn-cs"/>
              </a:rPr>
              <a:t> </a:t>
            </a:r>
            <a:r>
              <a:rPr lang="es-ES" sz="1200" b="1" i="0" kern="1200" dirty="0" err="1">
                <a:solidFill>
                  <a:schemeClr val="tx1"/>
                </a:solidFill>
                <a:effectLst/>
                <a:latin typeface="+mn-lt"/>
                <a:ea typeface="+mn-ea"/>
                <a:cs typeface="+mn-cs"/>
              </a:rPr>
              <a:t>asímptòtica</a:t>
            </a:r>
            <a:r>
              <a:rPr lang="es-ES" sz="1200" b="1" i="0" kern="1200" dirty="0">
                <a:solidFill>
                  <a:schemeClr val="tx1"/>
                </a:solidFill>
                <a:effectLst/>
                <a:latin typeface="+mn-lt"/>
                <a:ea typeface="+mn-ea"/>
                <a:cs typeface="+mn-cs"/>
              </a:rPr>
              <a:t> multiplicativa</a:t>
            </a:r>
            <a:r>
              <a:rPr lang="es-ES" sz="1200" b="0" i="0" kern="1200" dirty="0">
                <a:solidFill>
                  <a:schemeClr val="tx1"/>
                </a:solidFill>
                <a:effectLst/>
                <a:latin typeface="+mn-lt"/>
                <a:ea typeface="+mn-ea"/>
                <a:cs typeface="+mn-cs"/>
              </a:rPr>
              <a:t>.</a:t>
            </a:r>
          </a:p>
          <a:p>
            <a:br>
              <a:rPr lang="es-ES" sz="1200" b="0" i="0" kern="1200" dirty="0">
                <a:solidFill>
                  <a:schemeClr val="tx1"/>
                </a:solidFill>
                <a:effectLst/>
                <a:latin typeface="+mn-lt"/>
                <a:ea typeface="+mn-ea"/>
                <a:cs typeface="+mn-cs"/>
              </a:rPr>
            </a:br>
            <a:endParaRPr lang="es-ES" sz="1200" b="0" i="0" kern="1200" dirty="0">
              <a:solidFill>
                <a:schemeClr val="tx1"/>
              </a:solidFill>
              <a:effectLst/>
              <a:latin typeface="+mn-lt"/>
              <a:ea typeface="+mn-ea"/>
              <a:cs typeface="+mn-cs"/>
            </a:endParaRPr>
          </a:p>
          <a:p>
            <a:r>
              <a:rPr lang="es-ES" sz="1200" b="1" i="0" kern="1200" dirty="0">
                <a:solidFill>
                  <a:schemeClr val="tx1"/>
                </a:solidFill>
                <a:effectLst/>
                <a:latin typeface="+mn-lt"/>
                <a:ea typeface="+mn-ea"/>
                <a:cs typeface="+mn-cs"/>
              </a:rPr>
              <a:t>4. </a:t>
            </a:r>
            <a:r>
              <a:rPr lang="es-ES" sz="1200" b="1" i="0" kern="1200" dirty="0" err="1">
                <a:solidFill>
                  <a:schemeClr val="tx1"/>
                </a:solidFill>
                <a:effectLst/>
                <a:latin typeface="+mn-lt"/>
                <a:ea typeface="+mn-ea"/>
                <a:cs typeface="+mn-cs"/>
              </a:rPr>
              <a:t>Interpretació</a:t>
            </a:r>
            <a:r>
              <a:rPr lang="es-ES" sz="1200" b="1" i="0" kern="1200" dirty="0">
                <a:solidFill>
                  <a:schemeClr val="tx1"/>
                </a:solidFill>
                <a:effectLst/>
                <a:latin typeface="+mn-lt"/>
                <a:ea typeface="+mn-ea"/>
                <a:cs typeface="+mn-cs"/>
              </a:rPr>
              <a:t> </a:t>
            </a:r>
            <a:r>
              <a:rPr lang="es-ES" sz="1200" b="1" i="0" kern="1200" dirty="0" err="1">
                <a:solidFill>
                  <a:schemeClr val="tx1"/>
                </a:solidFill>
                <a:effectLst/>
                <a:latin typeface="+mn-lt"/>
                <a:ea typeface="+mn-ea"/>
                <a:cs typeface="+mn-cs"/>
              </a:rPr>
              <a:t>matemàtica</a:t>
            </a:r>
            <a:endParaRPr lang="es-ES" sz="1200" b="1" i="0" kern="1200" dirty="0">
              <a:solidFill>
                <a:schemeClr val="tx1"/>
              </a:solidFill>
              <a:effectLst/>
              <a:latin typeface="+mn-lt"/>
              <a:ea typeface="+mn-ea"/>
              <a:cs typeface="+mn-cs"/>
            </a:endParaRPr>
          </a:p>
          <a:p>
            <a:r>
              <a:rPr lang="es-ES" sz="1200" b="0" i="0" kern="1200" dirty="0">
                <a:solidFill>
                  <a:schemeClr val="tx1"/>
                </a:solidFill>
                <a:effectLst/>
                <a:latin typeface="+mn-lt"/>
                <a:ea typeface="+mn-ea"/>
                <a:cs typeface="+mn-cs"/>
              </a:rPr>
              <a:t>Si un </a:t>
            </a:r>
            <a:r>
              <a:rPr lang="es-ES" sz="1200" b="0" i="0" kern="1200" dirty="0" err="1">
                <a:solidFill>
                  <a:schemeClr val="tx1"/>
                </a:solidFill>
                <a:effectLst/>
                <a:latin typeface="+mn-lt"/>
                <a:ea typeface="+mn-ea"/>
                <a:cs typeface="+mn-cs"/>
              </a:rPr>
              <a:t>conjunt</a:t>
            </a:r>
            <a:r>
              <a:rPr lang="es-ES" sz="1200" b="0" i="0" kern="1200" dirty="0">
                <a:solidFill>
                  <a:schemeClr val="tx1"/>
                </a:solidFill>
                <a:effectLst/>
                <a:latin typeface="+mn-lt"/>
                <a:ea typeface="+mn-ea"/>
                <a:cs typeface="+mn-cs"/>
              </a:rPr>
              <a:t> $X$ té </a:t>
            </a:r>
            <a:r>
              <a:rPr lang="es-ES" sz="1200" b="0" i="0" kern="1200" dirty="0" err="1">
                <a:solidFill>
                  <a:schemeClr val="tx1"/>
                </a:solidFill>
                <a:effectLst/>
                <a:latin typeface="+mn-lt"/>
                <a:ea typeface="+mn-ea"/>
                <a:cs typeface="+mn-cs"/>
              </a:rPr>
              <a:t>densitat</a:t>
            </a:r>
            <a:r>
              <a:rPr lang="es-ES" sz="1200" b="0" i="0" kern="1200" dirty="0">
                <a:solidFill>
                  <a:schemeClr val="tx1"/>
                </a:solidFill>
                <a:effectLst/>
                <a:latin typeface="+mn-lt"/>
                <a:ea typeface="+mn-ea"/>
                <a:cs typeface="+mn-cs"/>
              </a:rPr>
              <a:t>:</a:t>
            </a:r>
          </a:p>
          <a:p>
            <a:r>
              <a:rPr lang="es-ES" sz="1200" b="0" i="0" kern="1200" dirty="0">
                <a:solidFill>
                  <a:schemeClr val="tx1"/>
                </a:solidFill>
                <a:effectLst/>
                <a:latin typeface="+mn-lt"/>
                <a:ea typeface="+mn-ea"/>
                <a:cs typeface="+mn-cs"/>
              </a:rPr>
              <a:t>$ \frac{|X(N)|}{|L_1(N)|} \</a:t>
            </a:r>
            <a:r>
              <a:rPr lang="es-ES" sz="1200" b="0" i="0" kern="1200" dirty="0" err="1">
                <a:solidFill>
                  <a:schemeClr val="tx1"/>
                </a:solidFill>
                <a:effectLst/>
                <a:latin typeface="+mn-lt"/>
                <a:ea typeface="+mn-ea"/>
                <a:cs typeface="+mn-cs"/>
              </a:rPr>
              <a:t>to</a:t>
            </a:r>
            <a:r>
              <a:rPr lang="es-ES" sz="1200" b="0" i="0" kern="1200" dirty="0">
                <a:solidFill>
                  <a:schemeClr val="tx1"/>
                </a:solidFill>
                <a:effectLst/>
                <a:latin typeface="+mn-lt"/>
                <a:ea typeface="+mn-ea"/>
                <a:cs typeface="+mn-cs"/>
              </a:rPr>
              <a:t> \delta $</a:t>
            </a:r>
          </a:p>
          <a:p>
            <a:r>
              <a:rPr lang="es-ES" sz="1200" b="0" i="0" kern="1200" dirty="0" err="1">
                <a:solidFill>
                  <a:schemeClr val="tx1"/>
                </a:solidFill>
                <a:effectLst/>
                <a:latin typeface="+mn-lt"/>
                <a:ea typeface="+mn-ea"/>
                <a:cs typeface="+mn-cs"/>
              </a:rPr>
              <a:t>aleshores</a:t>
            </a:r>
            <a:r>
              <a:rPr lang="es-ES" sz="1200" b="0" i="0" kern="1200" dirty="0">
                <a:solidFill>
                  <a:schemeClr val="tx1"/>
                </a:solidFill>
                <a:effectLst/>
                <a:latin typeface="+mn-lt"/>
                <a:ea typeface="+mn-ea"/>
                <a:cs typeface="+mn-cs"/>
              </a:rPr>
              <a:t>:</a:t>
            </a:r>
          </a:p>
          <a:p>
            <a:r>
              <a:rPr lang="es-ES" sz="1200" b="0" i="0" kern="1200" dirty="0">
                <a:solidFill>
                  <a:schemeClr val="tx1"/>
                </a:solidFill>
                <a:effectLst/>
                <a:latin typeface="+mn-lt"/>
                <a:ea typeface="+mn-ea"/>
                <a:cs typeface="+mn-cs"/>
              </a:rPr>
              <a:t>$ |X(N)| \sim \delta \</a:t>
            </a:r>
            <a:r>
              <a:rPr lang="es-ES" sz="1200" b="0" i="0" kern="1200" dirty="0" err="1">
                <a:solidFill>
                  <a:schemeClr val="tx1"/>
                </a:solidFill>
                <a:effectLst/>
                <a:latin typeface="+mn-lt"/>
                <a:ea typeface="+mn-ea"/>
                <a:cs typeface="+mn-cs"/>
              </a:rPr>
              <a:t>cdot</a:t>
            </a:r>
            <a:r>
              <a:rPr lang="es-ES" sz="1200" b="0" i="0" kern="1200" dirty="0">
                <a:solidFill>
                  <a:schemeClr val="tx1"/>
                </a:solidFill>
                <a:effectLst/>
                <a:latin typeface="+mn-lt"/>
                <a:ea typeface="+mn-ea"/>
                <a:cs typeface="+mn-cs"/>
              </a:rPr>
              <a:t> |L_1(N)| \sim \delta \</a:t>
            </a:r>
            <a:r>
              <a:rPr lang="es-ES" sz="1200" b="0" i="0" kern="1200" dirty="0" err="1">
                <a:solidFill>
                  <a:schemeClr val="tx1"/>
                </a:solidFill>
                <a:effectLst/>
                <a:latin typeface="+mn-lt"/>
                <a:ea typeface="+mn-ea"/>
                <a:cs typeface="+mn-cs"/>
              </a:rPr>
              <a:t>cdot</a:t>
            </a:r>
            <a:r>
              <a:rPr lang="es-ES" sz="1200" b="0" i="0" kern="1200" dirty="0">
                <a:solidFill>
                  <a:schemeClr val="tx1"/>
                </a:solidFill>
                <a:effectLst/>
                <a:latin typeface="+mn-lt"/>
                <a:ea typeface="+mn-ea"/>
                <a:cs typeface="+mn-cs"/>
              </a:rPr>
              <a:t> \frac{N}{6} $</a:t>
            </a:r>
          </a:p>
          <a:p>
            <a:r>
              <a:rPr lang="es-ES" sz="1200" b="0" i="0" kern="1200" dirty="0" err="1">
                <a:solidFill>
                  <a:schemeClr val="tx1"/>
                </a:solidFill>
                <a:effectLst/>
                <a:latin typeface="+mn-lt"/>
                <a:ea typeface="+mn-ea"/>
                <a:cs typeface="+mn-cs"/>
              </a:rPr>
              <a:t>Això</a:t>
            </a:r>
            <a:r>
              <a:rPr lang="es-ES" sz="1200" b="0" i="0" kern="1200" dirty="0">
                <a:solidFill>
                  <a:schemeClr val="tx1"/>
                </a:solidFill>
                <a:effectLst/>
                <a:latin typeface="+mn-lt"/>
                <a:ea typeface="+mn-ea"/>
                <a:cs typeface="+mn-cs"/>
              </a:rPr>
              <a:t> </a:t>
            </a:r>
            <a:r>
              <a:rPr lang="es-ES" sz="1200" b="0" i="0" kern="1200" dirty="0" err="1">
                <a:solidFill>
                  <a:schemeClr val="tx1"/>
                </a:solidFill>
                <a:effectLst/>
                <a:latin typeface="+mn-lt"/>
                <a:ea typeface="+mn-ea"/>
                <a:cs typeface="+mn-cs"/>
              </a:rPr>
              <a:t>és</a:t>
            </a:r>
            <a:r>
              <a:rPr lang="es-ES" sz="1200" b="0" i="0" kern="1200" dirty="0">
                <a:solidFill>
                  <a:schemeClr val="tx1"/>
                </a:solidFill>
                <a:effectLst/>
                <a:latin typeface="+mn-lt"/>
                <a:ea typeface="+mn-ea"/>
                <a:cs typeface="+mn-cs"/>
              </a:rPr>
              <a:t> </a:t>
            </a:r>
            <a:r>
              <a:rPr lang="es-ES" sz="1200" b="0" i="0" kern="1200" dirty="0" err="1">
                <a:solidFill>
                  <a:schemeClr val="tx1"/>
                </a:solidFill>
                <a:effectLst/>
                <a:latin typeface="+mn-lt"/>
                <a:ea typeface="+mn-ea"/>
                <a:cs typeface="+mn-cs"/>
              </a:rPr>
              <a:t>exactament</a:t>
            </a:r>
            <a:r>
              <a:rPr lang="es-ES" sz="1200" b="0" i="0" kern="1200" dirty="0">
                <a:solidFill>
                  <a:schemeClr val="tx1"/>
                </a:solidFill>
                <a:effectLst/>
                <a:latin typeface="+mn-lt"/>
                <a:ea typeface="+mn-ea"/>
                <a:cs typeface="+mn-cs"/>
              </a:rPr>
              <a:t> el que representen les </a:t>
            </a:r>
            <a:r>
              <a:rPr lang="es-ES" sz="1200" b="0" i="0" kern="1200" dirty="0" err="1">
                <a:solidFill>
                  <a:schemeClr val="tx1"/>
                </a:solidFill>
                <a:effectLst/>
                <a:latin typeface="+mn-lt"/>
                <a:ea typeface="+mn-ea"/>
                <a:cs typeface="+mn-cs"/>
              </a:rPr>
              <a:t>teues</a:t>
            </a:r>
            <a:r>
              <a:rPr lang="es-ES" sz="1200" b="0" i="0" kern="1200" dirty="0">
                <a:solidFill>
                  <a:schemeClr val="tx1"/>
                </a:solidFill>
                <a:effectLst/>
                <a:latin typeface="+mn-lt"/>
                <a:ea typeface="+mn-ea"/>
                <a:cs typeface="+mn-cs"/>
              </a:rPr>
              <a:t> </a:t>
            </a:r>
            <a:r>
              <a:rPr lang="es-ES" sz="1200" b="0" i="0" kern="1200" dirty="0" err="1">
                <a:solidFill>
                  <a:schemeClr val="tx1"/>
                </a:solidFill>
                <a:effectLst/>
                <a:latin typeface="+mn-lt"/>
                <a:ea typeface="+mn-ea"/>
                <a:cs typeface="+mn-cs"/>
              </a:rPr>
              <a:t>expressions</a:t>
            </a:r>
            <a:r>
              <a:rPr lang="es-ES" sz="1200" b="0" i="0" kern="1200" dirty="0">
                <a:solidFill>
                  <a:schemeClr val="tx1"/>
                </a:solidFill>
                <a:effectLst/>
                <a:latin typeface="+mn-lt"/>
                <a:ea typeface="+mn-ea"/>
                <a:cs typeface="+mn-cs"/>
              </a:rPr>
              <a:t>:</a:t>
            </a:r>
          </a:p>
          <a:p>
            <a:r>
              <a:rPr lang="es-ES" sz="1200" b="0" i="0" kern="1200" dirty="0">
                <a:solidFill>
                  <a:schemeClr val="tx1"/>
                </a:solidFill>
                <a:effectLst/>
                <a:latin typeface="+mn-lt"/>
                <a:ea typeface="+mn-ea"/>
                <a:cs typeface="+mn-cs"/>
              </a:rPr>
              <a:t>$ A\</a:t>
            </a:r>
            <a:r>
              <a:rPr lang="es-ES" sz="1200" b="0" i="0" kern="1200" dirty="0" err="1">
                <a:solidFill>
                  <a:schemeClr val="tx1"/>
                </a:solidFill>
                <a:effectLst/>
                <a:latin typeface="+mn-lt"/>
                <a:ea typeface="+mn-ea"/>
                <a:cs typeface="+mn-cs"/>
              </a:rPr>
              <a:t>cdot</a:t>
            </a:r>
            <a:r>
              <a:rPr lang="es-ES" sz="1200" b="0" i="0" kern="1200" dirty="0">
                <a:solidFill>
                  <a:schemeClr val="tx1"/>
                </a:solidFill>
                <a:effectLst/>
                <a:latin typeface="+mn-lt"/>
                <a:ea typeface="+mn-ea"/>
                <a:cs typeface="+mn-cs"/>
              </a:rPr>
              <a:t> a</a:t>
            </a:r>
            <a:r>
              <a:rPr lang="es-ES" sz="1200" b="0" i="1" kern="1200" dirty="0">
                <a:solidFill>
                  <a:schemeClr val="tx1"/>
                </a:solidFill>
                <a:effectLst/>
                <a:latin typeface="+mn-lt"/>
                <a:ea typeface="+mn-ea"/>
                <a:cs typeface="+mn-cs"/>
              </a:rPr>
              <a:t>{L</a:t>
            </a:r>
            <a:r>
              <a:rPr lang="es-ES" sz="1200" b="0" i="0" kern="1200" dirty="0">
                <a:solidFill>
                  <a:schemeClr val="tx1"/>
                </a:solidFill>
                <a:effectLst/>
                <a:latin typeface="+mn-lt"/>
                <a:ea typeface="+mn-ea"/>
                <a:cs typeface="+mn-cs"/>
              </a:rPr>
              <a:t>1} = B\</a:t>
            </a:r>
            <a:r>
              <a:rPr lang="es-ES" sz="1200" b="0" i="0" kern="1200" dirty="0" err="1">
                <a:solidFill>
                  <a:schemeClr val="tx1"/>
                </a:solidFill>
                <a:effectLst/>
                <a:latin typeface="+mn-lt"/>
                <a:ea typeface="+mn-ea"/>
                <a:cs typeface="+mn-cs"/>
              </a:rPr>
              <a:t>cdot</a:t>
            </a:r>
            <a:r>
              <a:rPr lang="es-ES" sz="1200" b="0" i="0" kern="1200" dirty="0">
                <a:solidFill>
                  <a:schemeClr val="tx1"/>
                </a:solidFill>
                <a:effectLst/>
                <a:latin typeface="+mn-lt"/>
                <a:ea typeface="+mn-ea"/>
                <a:cs typeface="+mn-cs"/>
              </a:rPr>
              <a:t>(</a:t>
            </a:r>
            <a:r>
              <a:rPr lang="es-ES" sz="1200" b="0" i="0" kern="1200" dirty="0" err="1">
                <a:solidFill>
                  <a:schemeClr val="tx1"/>
                </a:solidFill>
                <a:effectLst/>
                <a:latin typeface="+mn-lt"/>
                <a:ea typeface="+mn-ea"/>
                <a:cs typeface="+mn-cs"/>
              </a:rPr>
              <a:t>b+c+d</a:t>
            </a:r>
            <a:r>
              <a:rPr lang="es-ES" sz="1200" b="0" i="0" kern="1200" dirty="0">
                <a:solidFill>
                  <a:schemeClr val="tx1"/>
                </a:solidFill>
                <a:effectLst/>
                <a:latin typeface="+mn-lt"/>
                <a:ea typeface="+mn-ea"/>
                <a:cs typeface="+mn-cs"/>
              </a:rPr>
              <a:t>) - C\</a:t>
            </a:r>
            <a:r>
              <a:rPr lang="es-ES" sz="1200" b="0" i="0" kern="1200" dirty="0" err="1">
                <a:solidFill>
                  <a:schemeClr val="tx1"/>
                </a:solidFill>
                <a:effectLst/>
                <a:latin typeface="+mn-lt"/>
                <a:ea typeface="+mn-ea"/>
                <a:cs typeface="+mn-cs"/>
              </a:rPr>
              <a:t>cdot</a:t>
            </a:r>
            <a:r>
              <a:rPr lang="es-ES" sz="1200" b="0" i="0" kern="1200" dirty="0">
                <a:solidFill>
                  <a:schemeClr val="tx1"/>
                </a:solidFill>
                <a:effectLst/>
                <a:latin typeface="+mn-lt"/>
                <a:ea typeface="+mn-ea"/>
                <a:cs typeface="+mn-cs"/>
              </a:rPr>
              <a:t> d + D\</a:t>
            </a:r>
            <a:r>
              <a:rPr lang="es-ES" sz="1200" b="0" i="0" kern="1200" dirty="0" err="1">
                <a:solidFill>
                  <a:schemeClr val="tx1"/>
                </a:solidFill>
                <a:effectLst/>
                <a:latin typeface="+mn-lt"/>
                <a:ea typeface="+mn-ea"/>
                <a:cs typeface="+mn-cs"/>
              </a:rPr>
              <a:t>cdot</a:t>
            </a:r>
            <a:r>
              <a:rPr lang="es-ES" sz="1200" b="0" i="0" kern="1200" dirty="0">
                <a:solidFill>
                  <a:schemeClr val="tx1"/>
                </a:solidFill>
                <a:effectLst/>
                <a:latin typeface="+mn-lt"/>
                <a:ea typeface="+mn-ea"/>
                <a:cs typeface="+mn-cs"/>
              </a:rPr>
              <a:t> e $</a:t>
            </a:r>
          </a:p>
          <a:p>
            <a:r>
              <a:rPr lang="es-ES" sz="1200" b="0" i="0" kern="1200" dirty="0" err="1">
                <a:solidFill>
                  <a:schemeClr val="tx1"/>
                </a:solidFill>
                <a:effectLst/>
                <a:latin typeface="+mn-lt"/>
                <a:ea typeface="+mn-ea"/>
                <a:cs typeface="+mn-cs"/>
              </a:rPr>
              <a:t>És</a:t>
            </a:r>
            <a:r>
              <a:rPr lang="es-ES" sz="1200" b="0" i="0" kern="1200" dirty="0">
                <a:solidFill>
                  <a:schemeClr val="tx1"/>
                </a:solidFill>
                <a:effectLst/>
                <a:latin typeface="+mn-lt"/>
                <a:ea typeface="+mn-ea"/>
                <a:cs typeface="+mn-cs"/>
              </a:rPr>
              <a:t> a </a:t>
            </a:r>
            <a:r>
              <a:rPr lang="es-ES" sz="1200" b="0" i="0" kern="1200" dirty="0" err="1">
                <a:solidFill>
                  <a:schemeClr val="tx1"/>
                </a:solidFill>
                <a:effectLst/>
                <a:latin typeface="+mn-lt"/>
                <a:ea typeface="+mn-ea"/>
                <a:cs typeface="+mn-cs"/>
              </a:rPr>
              <a:t>dir</a:t>
            </a:r>
            <a:r>
              <a:rPr lang="es-ES" sz="1200" b="0" i="0" kern="1200" dirty="0">
                <a:solidFill>
                  <a:schemeClr val="tx1"/>
                </a:solidFill>
                <a:effectLst/>
                <a:latin typeface="+mn-lt"/>
                <a:ea typeface="+mn-ea"/>
                <a:cs typeface="+mn-cs"/>
              </a:rPr>
              <a:t>:</a:t>
            </a:r>
          </a:p>
          <a:p>
            <a:r>
              <a:rPr lang="es-ES" sz="1200" b="0" i="0" kern="1200" dirty="0">
                <a:solidFill>
                  <a:schemeClr val="tx1"/>
                </a:solidFill>
                <a:effectLst/>
                <a:latin typeface="+mn-lt"/>
                <a:ea typeface="+mn-ea"/>
                <a:cs typeface="+mn-cs"/>
              </a:rPr>
              <a:t>La </a:t>
            </a:r>
            <a:r>
              <a:rPr lang="es-ES" sz="1200" b="1" i="0" kern="1200" dirty="0" err="1">
                <a:solidFill>
                  <a:schemeClr val="tx1"/>
                </a:solidFill>
                <a:effectLst/>
                <a:latin typeface="+mn-lt"/>
                <a:ea typeface="+mn-ea"/>
                <a:cs typeface="+mn-cs"/>
              </a:rPr>
              <a:t>contribució</a:t>
            </a:r>
            <a:r>
              <a:rPr lang="es-ES" sz="1200" b="1" i="0" kern="1200" dirty="0">
                <a:solidFill>
                  <a:schemeClr val="tx1"/>
                </a:solidFill>
                <a:effectLst/>
                <a:latin typeface="+mn-lt"/>
                <a:ea typeface="+mn-ea"/>
                <a:cs typeface="+mn-cs"/>
              </a:rPr>
              <a:t> total</a:t>
            </a:r>
            <a:r>
              <a:rPr lang="es-ES" sz="1200" b="0" i="0" kern="1200" dirty="0">
                <a:solidFill>
                  <a:schemeClr val="tx1"/>
                </a:solidFill>
                <a:effectLst/>
                <a:latin typeface="+mn-lt"/>
                <a:ea typeface="+mn-ea"/>
                <a:cs typeface="+mn-cs"/>
              </a:rPr>
              <a:t> del </a:t>
            </a:r>
            <a:r>
              <a:rPr lang="es-ES" sz="1200" b="0" i="0" kern="1200" dirty="0" err="1">
                <a:solidFill>
                  <a:schemeClr val="tx1"/>
                </a:solidFill>
                <a:effectLst/>
                <a:latin typeface="+mn-lt"/>
                <a:ea typeface="+mn-ea"/>
                <a:cs typeface="+mn-cs"/>
              </a:rPr>
              <a:t>creixement</a:t>
            </a:r>
            <a:r>
              <a:rPr lang="es-ES" sz="1200" b="0" i="0" kern="1200" dirty="0">
                <a:solidFill>
                  <a:schemeClr val="tx1"/>
                </a:solidFill>
                <a:effectLst/>
                <a:latin typeface="+mn-lt"/>
                <a:ea typeface="+mn-ea"/>
                <a:cs typeface="+mn-cs"/>
              </a:rPr>
              <a:t> de L1</a:t>
            </a:r>
          </a:p>
          <a:p>
            <a:r>
              <a:rPr lang="es-ES" sz="1200" b="0" i="0" kern="1200" dirty="0">
                <a:solidFill>
                  <a:schemeClr val="tx1"/>
                </a:solidFill>
                <a:effectLst/>
                <a:latin typeface="+mn-lt"/>
                <a:ea typeface="+mn-ea"/>
                <a:cs typeface="+mn-cs"/>
              </a:rPr>
              <a:t>es </a:t>
            </a:r>
            <a:r>
              <a:rPr lang="es-ES" sz="1200" b="0" i="0" kern="1200" dirty="0" err="1">
                <a:solidFill>
                  <a:schemeClr val="tx1"/>
                </a:solidFill>
                <a:effectLst/>
                <a:latin typeface="+mn-lt"/>
                <a:ea typeface="+mn-ea"/>
                <a:cs typeface="+mn-cs"/>
              </a:rPr>
              <a:t>reparteix</a:t>
            </a:r>
            <a:r>
              <a:rPr lang="es-ES" sz="1200" b="0" i="0" kern="1200" dirty="0">
                <a:solidFill>
                  <a:schemeClr val="tx1"/>
                </a:solidFill>
                <a:effectLst/>
                <a:latin typeface="+mn-lt"/>
                <a:ea typeface="+mn-ea"/>
                <a:cs typeface="+mn-cs"/>
              </a:rPr>
              <a:t> entre</a:t>
            </a:r>
          </a:p>
          <a:p>
            <a:pPr lvl="1"/>
            <a:r>
              <a:rPr lang="es-ES" sz="1200" b="0" i="0" kern="1200" dirty="0">
                <a:solidFill>
                  <a:schemeClr val="tx1"/>
                </a:solidFill>
                <a:effectLst/>
                <a:latin typeface="+mn-lt"/>
                <a:ea typeface="+mn-ea"/>
                <a:cs typeface="+mn-cs"/>
              </a:rPr>
              <a:t>les </a:t>
            </a:r>
            <a:r>
              <a:rPr lang="es-ES" sz="1200" b="0" i="0" kern="1200" dirty="0" err="1">
                <a:solidFill>
                  <a:schemeClr val="tx1"/>
                </a:solidFill>
                <a:effectLst/>
                <a:latin typeface="+mn-lt"/>
                <a:ea typeface="+mn-ea"/>
                <a:cs typeface="+mn-cs"/>
              </a:rPr>
              <a:t>parts</a:t>
            </a:r>
            <a:r>
              <a:rPr lang="es-ES" sz="1200" b="0" i="0" kern="1200" dirty="0">
                <a:solidFill>
                  <a:schemeClr val="tx1"/>
                </a:solidFill>
                <a:effectLst/>
                <a:latin typeface="+mn-lt"/>
                <a:ea typeface="+mn-ea"/>
                <a:cs typeface="+mn-cs"/>
              </a:rPr>
              <a:t> exclusives (L3/L4, L4/L3)</a:t>
            </a:r>
          </a:p>
          <a:p>
            <a:pPr lvl="1"/>
            <a:r>
              <a:rPr lang="es-ES" sz="1200" b="0" i="0" kern="1200" dirty="0" err="1">
                <a:solidFill>
                  <a:schemeClr val="tx1"/>
                </a:solidFill>
                <a:effectLst/>
                <a:latin typeface="+mn-lt"/>
                <a:ea typeface="+mn-ea"/>
                <a:cs typeface="+mn-cs"/>
              </a:rPr>
              <a:t>l’intersecció</a:t>
            </a:r>
            <a:r>
              <a:rPr lang="es-ES" sz="1200" b="0" i="0" kern="1200" dirty="0">
                <a:solidFill>
                  <a:schemeClr val="tx1"/>
                </a:solidFill>
                <a:effectLst/>
                <a:latin typeface="+mn-lt"/>
                <a:ea typeface="+mn-ea"/>
                <a:cs typeface="+mn-cs"/>
              </a:rPr>
              <a:t> (L2)</a:t>
            </a:r>
          </a:p>
          <a:p>
            <a:pPr lvl="1"/>
            <a:r>
              <a:rPr lang="es-ES" sz="1200" b="0" i="0" kern="1200" dirty="0">
                <a:solidFill>
                  <a:schemeClr val="tx1"/>
                </a:solidFill>
                <a:effectLst/>
                <a:latin typeface="+mn-lt"/>
                <a:ea typeface="+mn-ea"/>
                <a:cs typeface="+mn-cs"/>
              </a:rPr>
              <a:t>i </a:t>
            </a:r>
            <a:r>
              <a:rPr lang="es-ES" sz="1200" b="0" i="0" kern="1200" dirty="0" err="1">
                <a:solidFill>
                  <a:schemeClr val="tx1"/>
                </a:solidFill>
                <a:effectLst/>
                <a:latin typeface="+mn-lt"/>
                <a:ea typeface="+mn-ea"/>
                <a:cs typeface="+mn-cs"/>
              </a:rPr>
              <a:t>Lsg</a:t>
            </a:r>
            <a:endParaRPr lang="es-ES" sz="1200" b="0" i="0" kern="1200" dirty="0">
              <a:solidFill>
                <a:schemeClr val="tx1"/>
              </a:solidFill>
              <a:effectLst/>
              <a:latin typeface="+mn-lt"/>
              <a:ea typeface="+mn-ea"/>
              <a:cs typeface="+mn-cs"/>
            </a:endParaRPr>
          </a:p>
          <a:p>
            <a:r>
              <a:rPr lang="es-ES" sz="1200" b="0" i="0" kern="1200" dirty="0" err="1">
                <a:solidFill>
                  <a:schemeClr val="tx1"/>
                </a:solidFill>
                <a:effectLst/>
                <a:latin typeface="+mn-lt"/>
                <a:ea typeface="+mn-ea"/>
                <a:cs typeface="+mn-cs"/>
              </a:rPr>
              <a:t>Són</a:t>
            </a:r>
            <a:r>
              <a:rPr lang="es-ES" sz="1200" b="0" i="0" kern="1200" dirty="0">
                <a:solidFill>
                  <a:schemeClr val="tx1"/>
                </a:solidFill>
                <a:effectLst/>
                <a:latin typeface="+mn-lt"/>
                <a:ea typeface="+mn-ea"/>
                <a:cs typeface="+mn-cs"/>
              </a:rPr>
              <a:t> </a:t>
            </a:r>
            <a:r>
              <a:rPr lang="es-ES" sz="1200" b="0" i="1" kern="1200" dirty="0" err="1">
                <a:solidFill>
                  <a:schemeClr val="tx1"/>
                </a:solidFill>
                <a:effectLst/>
                <a:latin typeface="+mn-lt"/>
                <a:ea typeface="+mn-ea"/>
                <a:cs typeface="+mn-cs"/>
              </a:rPr>
              <a:t>equacions</a:t>
            </a:r>
            <a:r>
              <a:rPr lang="es-ES" sz="1200" b="0" i="1" kern="1200" dirty="0">
                <a:solidFill>
                  <a:schemeClr val="tx1"/>
                </a:solidFill>
                <a:effectLst/>
                <a:latin typeface="+mn-lt"/>
                <a:ea typeface="+mn-ea"/>
                <a:cs typeface="+mn-cs"/>
              </a:rPr>
              <a:t> de </a:t>
            </a:r>
            <a:r>
              <a:rPr lang="es-ES" sz="1200" b="0" i="1" kern="1200" dirty="0" err="1">
                <a:solidFill>
                  <a:schemeClr val="tx1"/>
                </a:solidFill>
                <a:effectLst/>
                <a:latin typeface="+mn-lt"/>
                <a:ea typeface="+mn-ea"/>
                <a:cs typeface="+mn-cs"/>
              </a:rPr>
              <a:t>balanç</a:t>
            </a:r>
            <a:r>
              <a:rPr lang="es-ES" sz="1200" b="0" i="1" kern="1200" dirty="0">
                <a:solidFill>
                  <a:schemeClr val="tx1"/>
                </a:solidFill>
                <a:effectLst/>
                <a:latin typeface="+mn-lt"/>
                <a:ea typeface="+mn-ea"/>
                <a:cs typeface="+mn-cs"/>
              </a:rPr>
              <a:t> de </a:t>
            </a:r>
            <a:r>
              <a:rPr lang="es-ES" sz="1200" b="0" i="1" kern="1200" dirty="0" err="1">
                <a:solidFill>
                  <a:schemeClr val="tx1"/>
                </a:solidFill>
                <a:effectLst/>
                <a:latin typeface="+mn-lt"/>
                <a:ea typeface="+mn-ea"/>
                <a:cs typeface="+mn-cs"/>
              </a:rPr>
              <a:t>densitats</a:t>
            </a:r>
            <a:r>
              <a:rPr lang="es-ES" sz="1200" b="0" i="0" kern="1200" dirty="0">
                <a:solidFill>
                  <a:schemeClr val="tx1"/>
                </a:solidFill>
                <a:effectLst/>
                <a:latin typeface="+mn-lt"/>
                <a:ea typeface="+mn-ea"/>
                <a:cs typeface="+mn-cs"/>
              </a:rPr>
              <a:t>.</a:t>
            </a:r>
          </a:p>
          <a:p>
            <a:br>
              <a:rPr lang="es-ES" sz="1200" b="0" i="0" kern="1200" dirty="0">
                <a:solidFill>
                  <a:schemeClr val="tx1"/>
                </a:solidFill>
                <a:effectLst/>
                <a:latin typeface="+mn-lt"/>
                <a:ea typeface="+mn-ea"/>
                <a:cs typeface="+mn-cs"/>
              </a:rPr>
            </a:br>
            <a:endParaRPr lang="es-ES" sz="1200" b="0" i="0" kern="1200" dirty="0">
              <a:solidFill>
                <a:schemeClr val="tx1"/>
              </a:solidFill>
              <a:effectLst/>
              <a:latin typeface="+mn-lt"/>
              <a:ea typeface="+mn-ea"/>
              <a:cs typeface="+mn-cs"/>
            </a:endParaRPr>
          </a:p>
          <a:p>
            <a:r>
              <a:rPr lang="es-ES" sz="1200" b="1" i="0" kern="1200" dirty="0">
                <a:solidFill>
                  <a:schemeClr val="tx1"/>
                </a:solidFill>
                <a:effectLst/>
                <a:latin typeface="+mn-lt"/>
                <a:ea typeface="+mn-ea"/>
                <a:cs typeface="+mn-cs"/>
              </a:rPr>
              <a:t>5. </a:t>
            </a:r>
            <a:r>
              <a:rPr lang="es-ES" sz="1200" b="1" i="0" kern="1200" dirty="0" err="1">
                <a:solidFill>
                  <a:schemeClr val="tx1"/>
                </a:solidFill>
                <a:effectLst/>
                <a:latin typeface="+mn-lt"/>
                <a:ea typeface="+mn-ea"/>
                <a:cs typeface="+mn-cs"/>
              </a:rPr>
              <a:t>L’argument</a:t>
            </a:r>
            <a:r>
              <a:rPr lang="es-ES" sz="1200" b="1" i="0" kern="1200" dirty="0">
                <a:solidFill>
                  <a:schemeClr val="tx1"/>
                </a:solidFill>
                <a:effectLst/>
                <a:latin typeface="+mn-lt"/>
                <a:ea typeface="+mn-ea"/>
                <a:cs typeface="+mn-cs"/>
              </a:rPr>
              <a:t> final </a:t>
            </a:r>
            <a:r>
              <a:rPr lang="es-ES" sz="1200" b="1" i="0" kern="1200" dirty="0" err="1">
                <a:solidFill>
                  <a:schemeClr val="tx1"/>
                </a:solidFill>
                <a:effectLst/>
                <a:latin typeface="+mn-lt"/>
                <a:ea typeface="+mn-ea"/>
                <a:cs typeface="+mn-cs"/>
              </a:rPr>
              <a:t>important</a:t>
            </a:r>
            <a:r>
              <a:rPr lang="es-ES" sz="1200" b="1" i="0" kern="1200" dirty="0">
                <a:solidFill>
                  <a:schemeClr val="tx1"/>
                </a:solidFill>
                <a:effectLst/>
                <a:latin typeface="+mn-lt"/>
                <a:ea typeface="+mn-ea"/>
                <a:cs typeface="+mn-cs"/>
              </a:rPr>
              <a:t> del PowerPoint</a:t>
            </a:r>
          </a:p>
          <a:p>
            <a:r>
              <a:rPr lang="es-ES" sz="1200" b="0" i="0" kern="1200" dirty="0">
                <a:solidFill>
                  <a:schemeClr val="tx1"/>
                </a:solidFill>
                <a:effectLst/>
                <a:latin typeface="+mn-lt"/>
                <a:ea typeface="+mn-ea"/>
                <a:cs typeface="+mn-cs"/>
              </a:rPr>
              <a:t>En </a:t>
            </a:r>
            <a:r>
              <a:rPr lang="es-ES" sz="1200" b="0" i="0" kern="1200" dirty="0" err="1">
                <a:solidFill>
                  <a:schemeClr val="tx1"/>
                </a:solidFill>
                <a:effectLst/>
                <a:latin typeface="+mn-lt"/>
                <a:ea typeface="+mn-ea"/>
                <a:cs typeface="+mn-cs"/>
              </a:rPr>
              <a:t>l’última</a:t>
            </a:r>
            <a:r>
              <a:rPr lang="es-ES" sz="1200" b="0" i="0" kern="1200" dirty="0">
                <a:solidFill>
                  <a:schemeClr val="tx1"/>
                </a:solidFill>
                <a:effectLst/>
                <a:latin typeface="+mn-lt"/>
                <a:ea typeface="+mn-ea"/>
                <a:cs typeface="+mn-cs"/>
              </a:rPr>
              <a:t> diapositiva </a:t>
            </a:r>
            <a:r>
              <a:rPr lang="es-ES" sz="1200" b="0" i="0" kern="1200" dirty="0" err="1">
                <a:solidFill>
                  <a:schemeClr val="tx1"/>
                </a:solidFill>
                <a:effectLst/>
                <a:latin typeface="+mn-lt"/>
                <a:ea typeface="+mn-ea"/>
                <a:cs typeface="+mn-cs"/>
              </a:rPr>
              <a:t>proves</a:t>
            </a:r>
            <a:r>
              <a:rPr lang="es-ES" sz="1200" b="0" i="0" kern="1200" dirty="0">
                <a:solidFill>
                  <a:schemeClr val="tx1"/>
                </a:solidFill>
                <a:effectLst/>
                <a:latin typeface="+mn-lt"/>
                <a:ea typeface="+mn-ea"/>
                <a:cs typeface="+mn-cs"/>
              </a:rPr>
              <a:t>:</a:t>
            </a:r>
          </a:p>
          <a:p>
            <a:r>
              <a:rPr lang="es-ES" sz="1200" b="0" i="0" kern="1200" dirty="0">
                <a:solidFill>
                  <a:schemeClr val="tx1"/>
                </a:solidFill>
                <a:effectLst/>
                <a:latin typeface="+mn-lt"/>
                <a:ea typeface="+mn-ea"/>
                <a:cs typeface="+mn-cs"/>
              </a:rPr>
              <a:t>si $L_1 \</a:t>
            </a:r>
            <a:r>
              <a:rPr lang="es-ES" sz="1200" b="0" i="0" kern="1200" dirty="0" err="1">
                <a:solidFill>
                  <a:schemeClr val="tx1"/>
                </a:solidFill>
                <a:effectLst/>
                <a:latin typeface="+mn-lt"/>
                <a:ea typeface="+mn-ea"/>
                <a:cs typeface="+mn-cs"/>
              </a:rPr>
              <a:t>to</a:t>
            </a:r>
            <a:r>
              <a:rPr lang="es-ES" sz="1200" b="0" i="0" kern="1200" dirty="0">
                <a:solidFill>
                  <a:schemeClr val="tx1"/>
                </a:solidFill>
                <a:effectLst/>
                <a:latin typeface="+mn-lt"/>
                <a:ea typeface="+mn-ea"/>
                <a:cs typeface="+mn-cs"/>
              </a:rPr>
              <a:t> \</a:t>
            </a:r>
            <a:r>
              <a:rPr lang="es-ES" sz="1200" b="0" i="0" kern="1200" dirty="0" err="1">
                <a:solidFill>
                  <a:schemeClr val="tx1"/>
                </a:solidFill>
                <a:effectLst/>
                <a:latin typeface="+mn-lt"/>
                <a:ea typeface="+mn-ea"/>
                <a:cs typeface="+mn-cs"/>
              </a:rPr>
              <a:t>infty</a:t>
            </a:r>
            <a:r>
              <a:rPr lang="es-ES" sz="1200" b="0" i="0" kern="1200" dirty="0">
                <a:solidFill>
                  <a:schemeClr val="tx1"/>
                </a:solidFill>
                <a:effectLst/>
                <a:latin typeface="+mn-lt"/>
                <a:ea typeface="+mn-ea"/>
                <a:cs typeface="+mn-cs"/>
              </a:rPr>
              <a:t>$,</a:t>
            </a:r>
          </a:p>
          <a:p>
            <a:r>
              <a:rPr lang="es-ES" sz="1200" b="0" i="0" kern="1200" dirty="0">
                <a:solidFill>
                  <a:schemeClr val="tx1"/>
                </a:solidFill>
                <a:effectLst/>
                <a:latin typeface="+mn-lt"/>
                <a:ea typeface="+mn-ea"/>
                <a:cs typeface="+mn-cs"/>
              </a:rPr>
              <a:t>i si </a:t>
            </a:r>
            <a:r>
              <a:rPr lang="es-ES" sz="1200" b="0" i="0" kern="1200" dirty="0" err="1">
                <a:solidFill>
                  <a:schemeClr val="tx1"/>
                </a:solidFill>
                <a:effectLst/>
                <a:latin typeface="+mn-lt"/>
                <a:ea typeface="+mn-ea"/>
                <a:cs typeface="+mn-cs"/>
              </a:rPr>
              <a:t>els</a:t>
            </a:r>
            <a:r>
              <a:rPr lang="es-ES" sz="1200" b="0" i="0" kern="1200" dirty="0">
                <a:solidFill>
                  <a:schemeClr val="tx1"/>
                </a:solidFill>
                <a:effectLst/>
                <a:latin typeface="+mn-lt"/>
                <a:ea typeface="+mn-ea"/>
                <a:cs typeface="+mn-cs"/>
              </a:rPr>
              <a:t> </a:t>
            </a:r>
            <a:r>
              <a:rPr lang="es-ES" sz="1200" b="0" i="0" kern="1200" dirty="0" err="1">
                <a:solidFill>
                  <a:schemeClr val="tx1"/>
                </a:solidFill>
                <a:effectLst/>
                <a:latin typeface="+mn-lt"/>
                <a:ea typeface="+mn-ea"/>
                <a:cs typeface="+mn-cs"/>
              </a:rPr>
              <a:t>coeficients</a:t>
            </a:r>
            <a:r>
              <a:rPr lang="es-ES" sz="1200" b="0" i="0" kern="1200" dirty="0">
                <a:solidFill>
                  <a:schemeClr val="tx1"/>
                </a:solidFill>
                <a:effectLst/>
                <a:latin typeface="+mn-lt"/>
                <a:ea typeface="+mn-ea"/>
                <a:cs typeface="+mn-cs"/>
              </a:rPr>
              <a:t> de </a:t>
            </a:r>
            <a:r>
              <a:rPr lang="es-ES" sz="1200" b="0" i="0" kern="1200" dirty="0" err="1">
                <a:solidFill>
                  <a:schemeClr val="tx1"/>
                </a:solidFill>
                <a:effectLst/>
                <a:latin typeface="+mn-lt"/>
                <a:ea typeface="+mn-ea"/>
                <a:cs typeface="+mn-cs"/>
              </a:rPr>
              <a:t>creixement</a:t>
            </a:r>
            <a:r>
              <a:rPr lang="es-ES" sz="1200" b="0" i="0" kern="1200" dirty="0">
                <a:solidFill>
                  <a:schemeClr val="tx1"/>
                </a:solidFill>
                <a:effectLst/>
                <a:latin typeface="+mn-lt"/>
                <a:ea typeface="+mn-ea"/>
                <a:cs typeface="+mn-cs"/>
              </a:rPr>
              <a:t> </a:t>
            </a:r>
            <a:r>
              <a:rPr lang="es-ES" sz="1200" b="0" i="0" kern="1200" dirty="0" err="1">
                <a:solidFill>
                  <a:schemeClr val="tx1"/>
                </a:solidFill>
                <a:effectLst/>
                <a:latin typeface="+mn-lt"/>
                <a:ea typeface="+mn-ea"/>
                <a:cs typeface="+mn-cs"/>
              </a:rPr>
              <a:t>satisfan</a:t>
            </a:r>
            <a:r>
              <a:rPr lang="es-ES" sz="1200" b="0" i="0" kern="1200" dirty="0">
                <a:solidFill>
                  <a:schemeClr val="tx1"/>
                </a:solidFill>
                <a:effectLst/>
                <a:latin typeface="+mn-lt"/>
                <a:ea typeface="+mn-ea"/>
                <a:cs typeface="+mn-cs"/>
              </a:rPr>
              <a:t> les </a:t>
            </a:r>
            <a:r>
              <a:rPr lang="es-ES" sz="1200" b="0" i="0" kern="1200" dirty="0" err="1">
                <a:solidFill>
                  <a:schemeClr val="tx1"/>
                </a:solidFill>
                <a:effectLst/>
                <a:latin typeface="+mn-lt"/>
                <a:ea typeface="+mn-ea"/>
                <a:cs typeface="+mn-cs"/>
              </a:rPr>
              <a:t>igualtats</a:t>
            </a:r>
            <a:r>
              <a:rPr lang="es-ES" sz="1200" b="0" i="0" kern="1200" dirty="0">
                <a:solidFill>
                  <a:schemeClr val="tx1"/>
                </a:solidFill>
                <a:effectLst/>
                <a:latin typeface="+mn-lt"/>
                <a:ea typeface="+mn-ea"/>
                <a:cs typeface="+mn-cs"/>
              </a:rPr>
              <a:t>,</a:t>
            </a:r>
          </a:p>
          <a:p>
            <a:r>
              <a:rPr lang="es-ES" sz="1200" b="1" i="0" kern="1200" dirty="0" err="1">
                <a:solidFill>
                  <a:schemeClr val="tx1"/>
                </a:solidFill>
                <a:effectLst/>
                <a:latin typeface="+mn-lt"/>
                <a:ea typeface="+mn-ea"/>
                <a:cs typeface="+mn-cs"/>
              </a:rPr>
              <a:t>llavors</a:t>
            </a:r>
            <a:r>
              <a:rPr lang="es-ES" sz="1200" b="1" i="0" kern="1200" dirty="0">
                <a:solidFill>
                  <a:schemeClr val="tx1"/>
                </a:solidFill>
                <a:effectLst/>
                <a:latin typeface="+mn-lt"/>
                <a:ea typeface="+mn-ea"/>
                <a:cs typeface="+mn-cs"/>
              </a:rPr>
              <a:t> </a:t>
            </a:r>
            <a:r>
              <a:rPr lang="es-ES" sz="1200" b="1" i="0" kern="1200" dirty="0" err="1">
                <a:solidFill>
                  <a:schemeClr val="tx1"/>
                </a:solidFill>
                <a:effectLst/>
                <a:latin typeface="+mn-lt"/>
                <a:ea typeface="+mn-ea"/>
                <a:cs typeface="+mn-cs"/>
              </a:rPr>
              <a:t>és</a:t>
            </a:r>
            <a:r>
              <a:rPr lang="es-ES" sz="1200" b="1" i="0" kern="1200" dirty="0">
                <a:solidFill>
                  <a:schemeClr val="tx1"/>
                </a:solidFill>
                <a:effectLst/>
                <a:latin typeface="+mn-lt"/>
                <a:ea typeface="+mn-ea"/>
                <a:cs typeface="+mn-cs"/>
              </a:rPr>
              <a:t> </a:t>
            </a:r>
            <a:r>
              <a:rPr lang="es-ES" sz="1200" b="1" i="0" kern="1200" dirty="0" err="1">
                <a:solidFill>
                  <a:schemeClr val="tx1"/>
                </a:solidFill>
                <a:effectLst/>
                <a:latin typeface="+mn-lt"/>
                <a:ea typeface="+mn-ea"/>
                <a:cs typeface="+mn-cs"/>
              </a:rPr>
              <a:t>impossible</a:t>
            </a:r>
            <a:r>
              <a:rPr lang="es-ES" sz="1200" b="1" i="0" kern="1200" dirty="0">
                <a:solidFill>
                  <a:schemeClr val="tx1"/>
                </a:solidFill>
                <a:effectLst/>
                <a:latin typeface="+mn-lt"/>
                <a:ea typeface="+mn-ea"/>
                <a:cs typeface="+mn-cs"/>
              </a:rPr>
              <a:t> que $L_{</a:t>
            </a:r>
            <a:r>
              <a:rPr lang="es-ES" sz="1200" b="1" i="0" kern="1200" dirty="0" err="1">
                <a:solidFill>
                  <a:schemeClr val="tx1"/>
                </a:solidFill>
                <a:effectLst/>
                <a:latin typeface="+mn-lt"/>
                <a:ea typeface="+mn-ea"/>
                <a:cs typeface="+mn-cs"/>
              </a:rPr>
              <a:t>sg</a:t>
            </a:r>
            <a:r>
              <a:rPr lang="es-ES" sz="1200" b="1" i="0" kern="1200" dirty="0">
                <a:solidFill>
                  <a:schemeClr val="tx1"/>
                </a:solidFill>
                <a:effectLst/>
                <a:latin typeface="+mn-lt"/>
                <a:ea typeface="+mn-ea"/>
                <a:cs typeface="+mn-cs"/>
              </a:rPr>
              <a:t>}$ siga </a:t>
            </a:r>
            <a:r>
              <a:rPr lang="es-ES" sz="1200" b="1" i="0" kern="1200" dirty="0" err="1">
                <a:solidFill>
                  <a:schemeClr val="tx1"/>
                </a:solidFill>
                <a:effectLst/>
                <a:latin typeface="+mn-lt"/>
                <a:ea typeface="+mn-ea"/>
                <a:cs typeface="+mn-cs"/>
              </a:rPr>
              <a:t>finit</a:t>
            </a:r>
            <a:r>
              <a:rPr lang="es-ES" sz="1200" b="0" i="0" kern="1200" dirty="0">
                <a:solidFill>
                  <a:schemeClr val="tx1"/>
                </a:solidFill>
                <a:effectLst/>
                <a:latin typeface="+mn-lt"/>
                <a:ea typeface="+mn-ea"/>
                <a:cs typeface="+mn-cs"/>
              </a:rPr>
              <a:t>.</a:t>
            </a:r>
          </a:p>
          <a:p>
            <a:r>
              <a:rPr lang="es-ES" sz="1200" b="0" i="0" kern="1200" dirty="0" err="1">
                <a:solidFill>
                  <a:schemeClr val="tx1"/>
                </a:solidFill>
                <a:effectLst/>
                <a:latin typeface="+mn-lt"/>
                <a:ea typeface="+mn-ea"/>
                <a:cs typeface="+mn-cs"/>
              </a:rPr>
              <a:t>Matemàticament</a:t>
            </a:r>
            <a:r>
              <a:rPr lang="es-ES" sz="1200" b="0" i="0" kern="1200" dirty="0">
                <a:solidFill>
                  <a:schemeClr val="tx1"/>
                </a:solidFill>
                <a:effectLst/>
                <a:latin typeface="+mn-lt"/>
                <a:ea typeface="+mn-ea"/>
                <a:cs typeface="+mn-cs"/>
              </a:rPr>
              <a:t>:</a:t>
            </a:r>
          </a:p>
          <a:p>
            <a:r>
              <a:rPr lang="es-ES" sz="1200" b="0" i="0" kern="1200" dirty="0">
                <a:solidFill>
                  <a:schemeClr val="tx1"/>
                </a:solidFill>
                <a:effectLst/>
                <a:latin typeface="+mn-lt"/>
                <a:ea typeface="+mn-ea"/>
                <a:cs typeface="+mn-cs"/>
              </a:rPr>
              <a:t>si la </a:t>
            </a:r>
            <a:r>
              <a:rPr lang="es-ES" sz="1200" b="0" i="0" kern="1200" dirty="0" err="1">
                <a:solidFill>
                  <a:schemeClr val="tx1"/>
                </a:solidFill>
                <a:effectLst/>
                <a:latin typeface="+mn-lt"/>
                <a:ea typeface="+mn-ea"/>
                <a:cs typeface="+mn-cs"/>
              </a:rPr>
              <a:t>part</a:t>
            </a:r>
            <a:r>
              <a:rPr lang="es-ES" sz="1200" b="0" i="0" kern="1200" dirty="0">
                <a:solidFill>
                  <a:schemeClr val="tx1"/>
                </a:solidFill>
                <a:effectLst/>
                <a:latin typeface="+mn-lt"/>
                <a:ea typeface="+mn-ea"/>
                <a:cs typeface="+mn-cs"/>
              </a:rPr>
              <a:t> “Sophie Germain” </a:t>
            </a:r>
            <a:r>
              <a:rPr lang="es-ES" sz="1200" b="0" i="0" kern="1200" dirty="0" err="1">
                <a:solidFill>
                  <a:schemeClr val="tx1"/>
                </a:solidFill>
                <a:effectLst/>
                <a:latin typeface="+mn-lt"/>
                <a:ea typeface="+mn-ea"/>
                <a:cs typeface="+mn-cs"/>
              </a:rPr>
              <a:t>tinguera</a:t>
            </a:r>
            <a:r>
              <a:rPr lang="es-ES" sz="1200" b="0" i="0" kern="1200" dirty="0">
                <a:solidFill>
                  <a:schemeClr val="tx1"/>
                </a:solidFill>
                <a:effectLst/>
                <a:latin typeface="+mn-lt"/>
                <a:ea typeface="+mn-ea"/>
                <a:cs typeface="+mn-cs"/>
              </a:rPr>
              <a:t> </a:t>
            </a:r>
            <a:r>
              <a:rPr lang="es-ES" sz="1200" b="0" i="0" kern="1200" dirty="0" err="1">
                <a:solidFill>
                  <a:schemeClr val="tx1"/>
                </a:solidFill>
                <a:effectLst/>
                <a:latin typeface="+mn-lt"/>
                <a:ea typeface="+mn-ea"/>
                <a:cs typeface="+mn-cs"/>
              </a:rPr>
              <a:t>creixement</a:t>
            </a:r>
            <a:r>
              <a:rPr lang="es-ES" sz="1200" b="0" i="0" kern="1200" dirty="0">
                <a:solidFill>
                  <a:schemeClr val="tx1"/>
                </a:solidFill>
                <a:effectLst/>
                <a:latin typeface="+mn-lt"/>
                <a:ea typeface="+mn-ea"/>
                <a:cs typeface="+mn-cs"/>
              </a:rPr>
              <a:t> </a:t>
            </a:r>
            <a:r>
              <a:rPr lang="es-ES" sz="1200" b="0" i="0" kern="1200" dirty="0" err="1">
                <a:solidFill>
                  <a:schemeClr val="tx1"/>
                </a:solidFill>
                <a:effectLst/>
                <a:latin typeface="+mn-lt"/>
                <a:ea typeface="+mn-ea"/>
                <a:cs typeface="+mn-cs"/>
              </a:rPr>
              <a:t>zero</a:t>
            </a:r>
            <a:r>
              <a:rPr lang="es-ES" sz="1200" b="0" i="0" kern="1200" dirty="0">
                <a:solidFill>
                  <a:schemeClr val="tx1"/>
                </a:solidFill>
                <a:effectLst/>
                <a:latin typeface="+mn-lt"/>
                <a:ea typeface="+mn-ea"/>
                <a:cs typeface="+mn-cs"/>
              </a:rPr>
              <a:t>,</a:t>
            </a:r>
          </a:p>
          <a:p>
            <a:r>
              <a:rPr lang="es-ES" sz="1200" b="0" i="0" kern="1200" dirty="0">
                <a:solidFill>
                  <a:schemeClr val="tx1"/>
                </a:solidFill>
                <a:effectLst/>
                <a:latin typeface="+mn-lt"/>
                <a:ea typeface="+mn-ea"/>
                <a:cs typeface="+mn-cs"/>
              </a:rPr>
              <a:t>les </a:t>
            </a:r>
            <a:r>
              <a:rPr lang="es-ES" sz="1200" b="0" i="0" kern="1200" dirty="0" err="1">
                <a:solidFill>
                  <a:schemeClr val="tx1"/>
                </a:solidFill>
                <a:effectLst/>
                <a:latin typeface="+mn-lt"/>
                <a:ea typeface="+mn-ea"/>
                <a:cs typeface="+mn-cs"/>
              </a:rPr>
              <a:t>igualtats</a:t>
            </a:r>
            <a:r>
              <a:rPr lang="es-ES" sz="1200" b="0" i="0" kern="1200" dirty="0">
                <a:solidFill>
                  <a:schemeClr val="tx1"/>
                </a:solidFill>
                <a:effectLst/>
                <a:latin typeface="+mn-lt"/>
                <a:ea typeface="+mn-ea"/>
                <a:cs typeface="+mn-cs"/>
              </a:rPr>
              <a:t> </a:t>
            </a:r>
            <a:r>
              <a:rPr lang="es-ES" sz="1200" b="0" i="0" kern="1200" dirty="0" err="1">
                <a:solidFill>
                  <a:schemeClr val="tx1"/>
                </a:solidFill>
                <a:effectLst/>
                <a:latin typeface="+mn-lt"/>
                <a:ea typeface="+mn-ea"/>
                <a:cs typeface="+mn-cs"/>
              </a:rPr>
              <a:t>d’asímptotes</a:t>
            </a:r>
            <a:r>
              <a:rPr lang="es-ES" sz="1200" b="0" i="0" kern="1200" dirty="0">
                <a:solidFill>
                  <a:schemeClr val="tx1"/>
                </a:solidFill>
                <a:effectLst/>
                <a:latin typeface="+mn-lt"/>
                <a:ea typeface="+mn-ea"/>
                <a:cs typeface="+mn-cs"/>
              </a:rPr>
              <a:t> </a:t>
            </a:r>
            <a:r>
              <a:rPr lang="es-ES" sz="1200" b="0" i="0" kern="1200" dirty="0" err="1">
                <a:solidFill>
                  <a:schemeClr val="tx1"/>
                </a:solidFill>
                <a:effectLst/>
                <a:latin typeface="+mn-lt"/>
                <a:ea typeface="+mn-ea"/>
                <a:cs typeface="+mn-cs"/>
              </a:rPr>
              <a:t>donarien</a:t>
            </a:r>
            <a:r>
              <a:rPr lang="es-ES" sz="1200" b="0" i="0" kern="1200" dirty="0">
                <a:solidFill>
                  <a:schemeClr val="tx1"/>
                </a:solidFill>
                <a:effectLst/>
                <a:latin typeface="+mn-lt"/>
                <a:ea typeface="+mn-ea"/>
                <a:cs typeface="+mn-cs"/>
              </a:rPr>
              <a:t> una </a:t>
            </a:r>
            <a:r>
              <a:rPr lang="es-ES" sz="1200" b="0" i="0" kern="1200" dirty="0" err="1">
                <a:solidFill>
                  <a:schemeClr val="tx1"/>
                </a:solidFill>
                <a:effectLst/>
                <a:latin typeface="+mn-lt"/>
                <a:ea typeface="+mn-ea"/>
                <a:cs typeface="+mn-cs"/>
              </a:rPr>
              <a:t>contradicció</a:t>
            </a:r>
            <a:r>
              <a:rPr lang="es-ES" sz="1200" b="0" i="0" kern="1200" dirty="0">
                <a:solidFill>
                  <a:schemeClr val="tx1"/>
                </a:solidFill>
                <a:effectLst/>
                <a:latin typeface="+mn-lt"/>
                <a:ea typeface="+mn-ea"/>
                <a:cs typeface="+mn-cs"/>
              </a:rPr>
              <a:t>,</a:t>
            </a:r>
          </a:p>
          <a:p>
            <a:r>
              <a:rPr lang="es-ES" sz="1200" b="0" i="0" kern="1200" dirty="0" err="1">
                <a:solidFill>
                  <a:schemeClr val="tx1"/>
                </a:solidFill>
                <a:effectLst/>
                <a:latin typeface="+mn-lt"/>
                <a:ea typeface="+mn-ea"/>
                <a:cs typeface="+mn-cs"/>
              </a:rPr>
              <a:t>perquè</a:t>
            </a:r>
            <a:r>
              <a:rPr lang="es-ES" sz="1200" b="0" i="0" kern="1200" dirty="0">
                <a:solidFill>
                  <a:schemeClr val="tx1"/>
                </a:solidFill>
                <a:effectLst/>
                <a:latin typeface="+mn-lt"/>
                <a:ea typeface="+mn-ea"/>
                <a:cs typeface="+mn-cs"/>
              </a:rPr>
              <a:t> el que resta (L3/L4 i L4/L3) no compensa el </a:t>
            </a:r>
            <a:r>
              <a:rPr lang="es-ES" sz="1200" b="0" i="0" kern="1200" dirty="0" err="1">
                <a:solidFill>
                  <a:schemeClr val="tx1"/>
                </a:solidFill>
                <a:effectLst/>
                <a:latin typeface="+mn-lt"/>
                <a:ea typeface="+mn-ea"/>
                <a:cs typeface="+mn-cs"/>
              </a:rPr>
              <a:t>creixement</a:t>
            </a:r>
            <a:r>
              <a:rPr lang="es-ES" sz="1200" b="0" i="0" kern="1200" dirty="0">
                <a:solidFill>
                  <a:schemeClr val="tx1"/>
                </a:solidFill>
                <a:effectLst/>
                <a:latin typeface="+mn-lt"/>
                <a:ea typeface="+mn-ea"/>
                <a:cs typeface="+mn-cs"/>
              </a:rPr>
              <a:t> total de L1.</a:t>
            </a:r>
          </a:p>
          <a:p>
            <a:r>
              <a:rPr lang="es-ES" sz="1200" b="0" i="0" kern="1200" dirty="0" err="1">
                <a:solidFill>
                  <a:schemeClr val="tx1"/>
                </a:solidFill>
                <a:effectLst/>
                <a:latin typeface="+mn-lt"/>
                <a:ea typeface="+mn-ea"/>
                <a:cs typeface="+mn-cs"/>
              </a:rPr>
              <a:t>Això</a:t>
            </a:r>
            <a:r>
              <a:rPr lang="es-ES" sz="1200" b="0" i="0" kern="1200" dirty="0">
                <a:solidFill>
                  <a:schemeClr val="tx1"/>
                </a:solidFill>
                <a:effectLst/>
                <a:latin typeface="+mn-lt"/>
                <a:ea typeface="+mn-ea"/>
                <a:cs typeface="+mn-cs"/>
              </a:rPr>
              <a:t> </a:t>
            </a:r>
            <a:r>
              <a:rPr lang="es-ES" sz="1200" b="0" i="0" kern="1200" dirty="0" err="1">
                <a:solidFill>
                  <a:schemeClr val="tx1"/>
                </a:solidFill>
                <a:effectLst/>
                <a:latin typeface="+mn-lt"/>
                <a:ea typeface="+mn-ea"/>
                <a:cs typeface="+mn-cs"/>
              </a:rPr>
              <a:t>és</a:t>
            </a:r>
            <a:r>
              <a:rPr lang="es-ES" sz="1200" b="0" i="0" kern="1200" dirty="0">
                <a:solidFill>
                  <a:schemeClr val="tx1"/>
                </a:solidFill>
                <a:effectLst/>
                <a:latin typeface="+mn-lt"/>
                <a:ea typeface="+mn-ea"/>
                <a:cs typeface="+mn-cs"/>
              </a:rPr>
              <a:t> un </a:t>
            </a:r>
            <a:r>
              <a:rPr lang="es-ES" sz="1200" b="0" i="0" kern="1200" dirty="0" err="1">
                <a:solidFill>
                  <a:schemeClr val="tx1"/>
                </a:solidFill>
                <a:effectLst/>
                <a:latin typeface="+mn-lt"/>
                <a:ea typeface="+mn-ea"/>
                <a:cs typeface="+mn-cs"/>
              </a:rPr>
              <a:t>típic</a:t>
            </a:r>
            <a:r>
              <a:rPr lang="es-ES" sz="1200" b="0" i="0" kern="1200" dirty="0">
                <a:solidFill>
                  <a:schemeClr val="tx1"/>
                </a:solidFill>
                <a:effectLst/>
                <a:latin typeface="+mn-lt"/>
                <a:ea typeface="+mn-ea"/>
                <a:cs typeface="+mn-cs"/>
              </a:rPr>
              <a:t> </a:t>
            </a:r>
            <a:r>
              <a:rPr lang="es-ES" sz="1200" b="0" i="0" kern="1200" dirty="0" err="1">
                <a:solidFill>
                  <a:schemeClr val="tx1"/>
                </a:solidFill>
                <a:effectLst/>
                <a:latin typeface="+mn-lt"/>
                <a:ea typeface="+mn-ea"/>
                <a:cs typeface="+mn-cs"/>
              </a:rPr>
              <a:t>argument</a:t>
            </a:r>
            <a:r>
              <a:rPr lang="es-ES" sz="1200" b="0" i="0" kern="1200" dirty="0">
                <a:solidFill>
                  <a:schemeClr val="tx1"/>
                </a:solidFill>
                <a:effectLst/>
                <a:latin typeface="+mn-lt"/>
                <a:ea typeface="+mn-ea"/>
                <a:cs typeface="+mn-cs"/>
              </a:rPr>
              <a:t> de </a:t>
            </a:r>
            <a:r>
              <a:rPr lang="es-ES" sz="1200" b="1" i="0" kern="1200" dirty="0">
                <a:solidFill>
                  <a:schemeClr val="tx1"/>
                </a:solidFill>
                <a:effectLst/>
                <a:latin typeface="+mn-lt"/>
                <a:ea typeface="+mn-ea"/>
                <a:cs typeface="+mn-cs"/>
              </a:rPr>
              <a:t>no-</a:t>
            </a:r>
            <a:r>
              <a:rPr lang="es-ES" sz="1200" b="1" i="0" kern="1200" dirty="0" err="1">
                <a:solidFill>
                  <a:schemeClr val="tx1"/>
                </a:solidFill>
                <a:effectLst/>
                <a:latin typeface="+mn-lt"/>
                <a:ea typeface="+mn-ea"/>
                <a:cs typeface="+mn-cs"/>
              </a:rPr>
              <a:t>degeneració</a:t>
            </a:r>
            <a:r>
              <a:rPr lang="es-ES" sz="1200" b="0" i="0" kern="1200" dirty="0">
                <a:solidFill>
                  <a:schemeClr val="tx1"/>
                </a:solidFill>
                <a:effectLst/>
                <a:latin typeface="+mn-lt"/>
                <a:ea typeface="+mn-ea"/>
                <a:cs typeface="+mn-cs"/>
              </a:rPr>
              <a:t>:</a:t>
            </a:r>
          </a:p>
          <a:p>
            <a:r>
              <a:rPr lang="es-ES" sz="1200" b="0" i="0" kern="1200" dirty="0">
                <a:solidFill>
                  <a:schemeClr val="tx1"/>
                </a:solidFill>
                <a:effectLst/>
                <a:latin typeface="+mn-lt"/>
                <a:ea typeface="+mn-ea"/>
                <a:cs typeface="+mn-cs"/>
              </a:rPr>
              <a:t>Si el </a:t>
            </a:r>
            <a:r>
              <a:rPr lang="es-ES" sz="1200" b="0" i="0" kern="1200" dirty="0" err="1">
                <a:solidFill>
                  <a:schemeClr val="tx1"/>
                </a:solidFill>
                <a:effectLst/>
                <a:latin typeface="+mn-lt"/>
                <a:ea typeface="+mn-ea"/>
                <a:cs typeface="+mn-cs"/>
              </a:rPr>
              <a:t>conjunt</a:t>
            </a:r>
            <a:r>
              <a:rPr lang="es-ES" sz="1200" b="0" i="0" kern="1200" dirty="0">
                <a:solidFill>
                  <a:schemeClr val="tx1"/>
                </a:solidFill>
                <a:effectLst/>
                <a:latin typeface="+mn-lt"/>
                <a:ea typeface="+mn-ea"/>
                <a:cs typeface="+mn-cs"/>
              </a:rPr>
              <a:t> gran </a:t>
            </a:r>
            <a:r>
              <a:rPr lang="es-ES" sz="1200" b="0" i="0" kern="1200" dirty="0" err="1">
                <a:solidFill>
                  <a:schemeClr val="tx1"/>
                </a:solidFill>
                <a:effectLst/>
                <a:latin typeface="+mn-lt"/>
                <a:ea typeface="+mn-ea"/>
                <a:cs typeface="+mn-cs"/>
              </a:rPr>
              <a:t>creix</a:t>
            </a:r>
            <a:r>
              <a:rPr lang="es-ES" sz="1200" b="0" i="0" kern="1200" dirty="0">
                <a:solidFill>
                  <a:schemeClr val="tx1"/>
                </a:solidFill>
                <a:effectLst/>
                <a:latin typeface="+mn-lt"/>
                <a:ea typeface="+mn-ea"/>
                <a:cs typeface="+mn-cs"/>
              </a:rPr>
              <a:t> i les </a:t>
            </a:r>
            <a:r>
              <a:rPr lang="es-ES" sz="1200" b="0" i="0" kern="1200" dirty="0" err="1">
                <a:solidFill>
                  <a:schemeClr val="tx1"/>
                </a:solidFill>
                <a:effectLst/>
                <a:latin typeface="+mn-lt"/>
                <a:ea typeface="+mn-ea"/>
                <a:cs typeface="+mn-cs"/>
              </a:rPr>
              <a:t>parts</a:t>
            </a:r>
            <a:r>
              <a:rPr lang="es-ES" sz="1200" b="0" i="0" kern="1200" dirty="0">
                <a:solidFill>
                  <a:schemeClr val="tx1"/>
                </a:solidFill>
                <a:effectLst/>
                <a:latin typeface="+mn-lt"/>
                <a:ea typeface="+mn-ea"/>
                <a:cs typeface="+mn-cs"/>
              </a:rPr>
              <a:t> </a:t>
            </a:r>
            <a:r>
              <a:rPr lang="es-ES" sz="1200" b="0" i="0" kern="1200" dirty="0" err="1">
                <a:solidFill>
                  <a:schemeClr val="tx1"/>
                </a:solidFill>
                <a:effectLst/>
                <a:latin typeface="+mn-lt"/>
                <a:ea typeface="+mn-ea"/>
                <a:cs typeface="+mn-cs"/>
              </a:rPr>
              <a:t>conegudes</a:t>
            </a:r>
            <a:r>
              <a:rPr lang="es-ES" sz="1200" b="0" i="0" kern="1200" dirty="0">
                <a:solidFill>
                  <a:schemeClr val="tx1"/>
                </a:solidFill>
                <a:effectLst/>
                <a:latin typeface="+mn-lt"/>
                <a:ea typeface="+mn-ea"/>
                <a:cs typeface="+mn-cs"/>
              </a:rPr>
              <a:t> no el poden “</a:t>
            </a:r>
            <a:r>
              <a:rPr lang="es-ES" sz="1200" b="0" i="0" kern="1200" dirty="0" err="1">
                <a:solidFill>
                  <a:schemeClr val="tx1"/>
                </a:solidFill>
                <a:effectLst/>
                <a:latin typeface="+mn-lt"/>
                <a:ea typeface="+mn-ea"/>
                <a:cs typeface="+mn-cs"/>
              </a:rPr>
              <a:t>omplir</a:t>
            </a:r>
            <a:r>
              <a:rPr lang="es-ES" sz="1200" b="0" i="0" kern="1200" dirty="0">
                <a:solidFill>
                  <a:schemeClr val="tx1"/>
                </a:solidFill>
                <a:effectLst/>
                <a:latin typeface="+mn-lt"/>
                <a:ea typeface="+mn-ea"/>
                <a:cs typeface="+mn-cs"/>
              </a:rPr>
              <a:t>”,</a:t>
            </a:r>
            <a:br>
              <a:rPr lang="es-ES" sz="1200" b="0" i="0" kern="1200" dirty="0">
                <a:solidFill>
                  <a:schemeClr val="tx1"/>
                </a:solidFill>
                <a:effectLst/>
                <a:latin typeface="+mn-lt"/>
                <a:ea typeface="+mn-ea"/>
                <a:cs typeface="+mn-cs"/>
              </a:rPr>
            </a:br>
            <a:r>
              <a:rPr lang="es-ES" sz="1200" b="0" i="0" kern="1200" dirty="0" err="1">
                <a:solidFill>
                  <a:schemeClr val="tx1"/>
                </a:solidFill>
                <a:effectLst/>
                <a:latin typeface="+mn-lt"/>
                <a:ea typeface="+mn-ea"/>
                <a:cs typeface="+mn-cs"/>
              </a:rPr>
              <a:t>llavors</a:t>
            </a:r>
            <a:r>
              <a:rPr lang="es-ES" sz="1200" b="0" i="0" kern="1200" dirty="0">
                <a:solidFill>
                  <a:schemeClr val="tx1"/>
                </a:solidFill>
                <a:effectLst/>
                <a:latin typeface="+mn-lt"/>
                <a:ea typeface="+mn-ea"/>
                <a:cs typeface="+mn-cs"/>
              </a:rPr>
              <a:t> la </a:t>
            </a:r>
            <a:r>
              <a:rPr lang="es-ES" sz="1200" b="0" i="0" kern="1200" dirty="0" err="1">
                <a:solidFill>
                  <a:schemeClr val="tx1"/>
                </a:solidFill>
                <a:effectLst/>
                <a:latin typeface="+mn-lt"/>
                <a:ea typeface="+mn-ea"/>
                <a:cs typeface="+mn-cs"/>
              </a:rPr>
              <a:t>part</a:t>
            </a:r>
            <a:r>
              <a:rPr lang="es-ES" sz="1200" b="0" i="0" kern="1200" dirty="0">
                <a:solidFill>
                  <a:schemeClr val="tx1"/>
                </a:solidFill>
                <a:effectLst/>
                <a:latin typeface="+mn-lt"/>
                <a:ea typeface="+mn-ea"/>
                <a:cs typeface="+mn-cs"/>
              </a:rPr>
              <a:t> </a:t>
            </a:r>
            <a:r>
              <a:rPr lang="es-ES" sz="1200" b="0" i="0" kern="1200" dirty="0" err="1">
                <a:solidFill>
                  <a:schemeClr val="tx1"/>
                </a:solidFill>
                <a:effectLst/>
                <a:latin typeface="+mn-lt"/>
                <a:ea typeface="+mn-ea"/>
                <a:cs typeface="+mn-cs"/>
              </a:rPr>
              <a:t>desconeguda</a:t>
            </a:r>
            <a:r>
              <a:rPr lang="es-ES" sz="1200" b="0" i="0" kern="1200" dirty="0">
                <a:solidFill>
                  <a:schemeClr val="tx1"/>
                </a:solidFill>
                <a:effectLst/>
                <a:latin typeface="+mn-lt"/>
                <a:ea typeface="+mn-ea"/>
                <a:cs typeface="+mn-cs"/>
              </a:rPr>
              <a:t> (</a:t>
            </a:r>
            <a:r>
              <a:rPr lang="es-ES" sz="1200" b="0" i="0" kern="1200" dirty="0" err="1">
                <a:solidFill>
                  <a:schemeClr val="tx1"/>
                </a:solidFill>
                <a:effectLst/>
                <a:latin typeface="+mn-lt"/>
                <a:ea typeface="+mn-ea"/>
                <a:cs typeface="+mn-cs"/>
              </a:rPr>
              <a:t>Lsg</a:t>
            </a:r>
            <a:r>
              <a:rPr lang="es-ES" sz="1200" b="0" i="0" kern="1200" dirty="0">
                <a:solidFill>
                  <a:schemeClr val="tx1"/>
                </a:solidFill>
                <a:effectLst/>
                <a:latin typeface="+mn-lt"/>
                <a:ea typeface="+mn-ea"/>
                <a:cs typeface="+mn-cs"/>
              </a:rPr>
              <a:t>) </a:t>
            </a:r>
            <a:r>
              <a:rPr lang="es-ES" sz="1200" b="0" i="1" kern="1200" dirty="0" err="1">
                <a:solidFill>
                  <a:schemeClr val="tx1"/>
                </a:solidFill>
                <a:effectLst/>
                <a:latin typeface="+mn-lt"/>
                <a:ea typeface="+mn-ea"/>
                <a:cs typeface="+mn-cs"/>
              </a:rPr>
              <a:t>necessàriament</a:t>
            </a:r>
            <a:r>
              <a:rPr lang="es-ES" sz="1200" b="0" i="1" kern="1200" dirty="0">
                <a:solidFill>
                  <a:schemeClr val="tx1"/>
                </a:solidFill>
                <a:effectLst/>
                <a:latin typeface="+mn-lt"/>
                <a:ea typeface="+mn-ea"/>
                <a:cs typeface="+mn-cs"/>
              </a:rPr>
              <a:t> </a:t>
            </a:r>
            <a:r>
              <a:rPr lang="es-ES" sz="1200" b="0" i="1" kern="1200" dirty="0" err="1">
                <a:solidFill>
                  <a:schemeClr val="tx1"/>
                </a:solidFill>
                <a:effectLst/>
                <a:latin typeface="+mn-lt"/>
                <a:ea typeface="+mn-ea"/>
                <a:cs typeface="+mn-cs"/>
              </a:rPr>
              <a:t>creix</a:t>
            </a:r>
            <a:r>
              <a:rPr lang="es-ES" sz="1200" b="0" i="0" kern="1200" dirty="0">
                <a:solidFill>
                  <a:schemeClr val="tx1"/>
                </a:solidFill>
                <a:effectLst/>
                <a:latin typeface="+mn-lt"/>
                <a:ea typeface="+mn-ea"/>
                <a:cs typeface="+mn-cs"/>
              </a:rPr>
              <a:t>.</a:t>
            </a:r>
          </a:p>
          <a:p>
            <a:r>
              <a:rPr lang="es-ES" sz="1200" b="0" i="0" kern="1200" dirty="0">
                <a:solidFill>
                  <a:schemeClr val="tx1"/>
                </a:solidFill>
                <a:effectLst/>
                <a:latin typeface="+mn-lt"/>
                <a:ea typeface="+mn-ea"/>
                <a:cs typeface="+mn-cs"/>
              </a:rPr>
              <a:t>I </a:t>
            </a:r>
            <a:r>
              <a:rPr lang="es-ES" sz="1200" b="0" i="0" kern="1200" dirty="0" err="1">
                <a:solidFill>
                  <a:schemeClr val="tx1"/>
                </a:solidFill>
                <a:effectLst/>
                <a:latin typeface="+mn-lt"/>
                <a:ea typeface="+mn-ea"/>
                <a:cs typeface="+mn-cs"/>
              </a:rPr>
              <a:t>això</a:t>
            </a:r>
            <a:r>
              <a:rPr lang="es-ES" sz="1200" b="0" i="0" kern="1200" dirty="0">
                <a:solidFill>
                  <a:schemeClr val="tx1"/>
                </a:solidFill>
                <a:effectLst/>
                <a:latin typeface="+mn-lt"/>
                <a:ea typeface="+mn-ea"/>
                <a:cs typeface="+mn-cs"/>
              </a:rPr>
              <a:t> </a:t>
            </a:r>
            <a:r>
              <a:rPr lang="es-ES" sz="1200" b="0" i="0" kern="1200" dirty="0" err="1">
                <a:solidFill>
                  <a:schemeClr val="tx1"/>
                </a:solidFill>
                <a:effectLst/>
                <a:latin typeface="+mn-lt"/>
                <a:ea typeface="+mn-ea"/>
                <a:cs typeface="+mn-cs"/>
              </a:rPr>
              <a:t>és</a:t>
            </a:r>
            <a:r>
              <a:rPr lang="es-ES" sz="1200" b="0" i="0" kern="1200" dirty="0">
                <a:solidFill>
                  <a:schemeClr val="tx1"/>
                </a:solidFill>
                <a:effectLst/>
                <a:latin typeface="+mn-lt"/>
                <a:ea typeface="+mn-ea"/>
                <a:cs typeface="+mn-cs"/>
              </a:rPr>
              <a:t> </a:t>
            </a:r>
            <a:r>
              <a:rPr lang="es-ES" sz="1200" b="0" i="0" kern="1200" dirty="0" err="1">
                <a:solidFill>
                  <a:schemeClr val="tx1"/>
                </a:solidFill>
                <a:effectLst/>
                <a:latin typeface="+mn-lt"/>
                <a:ea typeface="+mn-ea"/>
                <a:cs typeface="+mn-cs"/>
              </a:rPr>
              <a:t>exactament</a:t>
            </a:r>
            <a:r>
              <a:rPr lang="es-ES" sz="1200" b="0" i="0" kern="1200" dirty="0">
                <a:solidFill>
                  <a:schemeClr val="tx1"/>
                </a:solidFill>
                <a:effectLst/>
                <a:latin typeface="+mn-lt"/>
                <a:ea typeface="+mn-ea"/>
                <a:cs typeface="+mn-cs"/>
              </a:rPr>
              <a:t> la </a:t>
            </a:r>
            <a:r>
              <a:rPr lang="es-ES" sz="1200" b="0" i="0" kern="1200" dirty="0" err="1">
                <a:solidFill>
                  <a:schemeClr val="tx1"/>
                </a:solidFill>
                <a:effectLst/>
                <a:latin typeface="+mn-lt"/>
                <a:ea typeface="+mn-ea"/>
                <a:cs typeface="+mn-cs"/>
              </a:rPr>
              <a:t>conclusió</a:t>
            </a:r>
            <a:r>
              <a:rPr lang="es-ES" sz="1200" b="0" i="0" kern="1200" dirty="0">
                <a:solidFill>
                  <a:schemeClr val="tx1"/>
                </a:solidFill>
                <a:effectLst/>
                <a:latin typeface="+mn-lt"/>
                <a:ea typeface="+mn-ea"/>
                <a:cs typeface="+mn-cs"/>
              </a:rPr>
              <a:t>:</a:t>
            </a:r>
          </a:p>
          <a:p>
            <a:r>
              <a:rPr lang="es-ES" sz="1200" b="0" i="0" kern="1200" dirty="0">
                <a:solidFill>
                  <a:schemeClr val="tx1"/>
                </a:solidFill>
                <a:effectLst/>
                <a:latin typeface="+mn-lt"/>
                <a:ea typeface="+mn-ea"/>
                <a:cs typeface="+mn-cs"/>
              </a:rPr>
              <a:t>$ |L_{</a:t>
            </a:r>
            <a:r>
              <a:rPr lang="es-ES" sz="1200" b="0" i="0" kern="1200" dirty="0" err="1">
                <a:solidFill>
                  <a:schemeClr val="tx1"/>
                </a:solidFill>
                <a:effectLst/>
                <a:latin typeface="+mn-lt"/>
                <a:ea typeface="+mn-ea"/>
                <a:cs typeface="+mn-cs"/>
              </a:rPr>
              <a:t>sg</a:t>
            </a:r>
            <a:r>
              <a:rPr lang="es-ES" sz="1200" b="0" i="0" kern="1200" dirty="0">
                <a:solidFill>
                  <a:schemeClr val="tx1"/>
                </a:solidFill>
                <a:effectLst/>
                <a:latin typeface="+mn-lt"/>
                <a:ea typeface="+mn-ea"/>
                <a:cs typeface="+mn-cs"/>
              </a:rPr>
              <a:t>}(N)| \</a:t>
            </a:r>
            <a:r>
              <a:rPr lang="es-ES" sz="1200" b="0" i="0" kern="1200" dirty="0" err="1">
                <a:solidFill>
                  <a:schemeClr val="tx1"/>
                </a:solidFill>
                <a:effectLst/>
                <a:latin typeface="+mn-lt"/>
                <a:ea typeface="+mn-ea"/>
                <a:cs typeface="+mn-cs"/>
              </a:rPr>
              <a:t>to</a:t>
            </a:r>
            <a:r>
              <a:rPr lang="es-ES" sz="1200" b="0" i="0" kern="1200" dirty="0">
                <a:solidFill>
                  <a:schemeClr val="tx1"/>
                </a:solidFill>
                <a:effectLst/>
                <a:latin typeface="+mn-lt"/>
                <a:ea typeface="+mn-ea"/>
                <a:cs typeface="+mn-cs"/>
              </a:rPr>
              <a:t> \</a:t>
            </a:r>
            <a:r>
              <a:rPr lang="es-ES" sz="1200" b="0" i="0" kern="1200" dirty="0" err="1">
                <a:solidFill>
                  <a:schemeClr val="tx1"/>
                </a:solidFill>
                <a:effectLst/>
                <a:latin typeface="+mn-lt"/>
                <a:ea typeface="+mn-ea"/>
                <a:cs typeface="+mn-cs"/>
              </a:rPr>
              <a:t>infty</a:t>
            </a:r>
            <a:r>
              <a:rPr lang="es-ES" sz="1200" b="0" i="0" kern="1200" dirty="0">
                <a:solidFill>
                  <a:schemeClr val="tx1"/>
                </a:solidFill>
                <a:effectLst/>
                <a:latin typeface="+mn-lt"/>
                <a:ea typeface="+mn-ea"/>
                <a:cs typeface="+mn-cs"/>
              </a:rPr>
              <a:t>. $</a:t>
            </a:r>
          </a:p>
          <a:p>
            <a:br>
              <a:rPr lang="es-ES" sz="1200" b="0" i="0" kern="1200" dirty="0">
                <a:solidFill>
                  <a:schemeClr val="tx1"/>
                </a:solidFill>
                <a:effectLst/>
                <a:latin typeface="+mn-lt"/>
                <a:ea typeface="+mn-ea"/>
                <a:cs typeface="+mn-cs"/>
              </a:rPr>
            </a:br>
            <a:endParaRPr lang="es-ES" sz="1200" b="0" i="0" kern="1200" dirty="0">
              <a:solidFill>
                <a:schemeClr val="tx1"/>
              </a:solidFill>
              <a:effectLst/>
              <a:latin typeface="+mn-lt"/>
              <a:ea typeface="+mn-ea"/>
              <a:cs typeface="+mn-cs"/>
            </a:endParaRPr>
          </a:p>
          <a:p>
            <a:r>
              <a:rPr lang="es-ES" sz="1200" b="1" i="0" kern="1200" dirty="0">
                <a:solidFill>
                  <a:schemeClr val="tx1"/>
                </a:solidFill>
                <a:effectLst/>
                <a:latin typeface="+mn-lt"/>
                <a:ea typeface="+mn-ea"/>
                <a:cs typeface="+mn-cs"/>
              </a:rPr>
              <a:t>6. Text </a:t>
            </a:r>
            <a:r>
              <a:rPr lang="es-ES" sz="1200" b="1" i="0" kern="1200" dirty="0" err="1">
                <a:solidFill>
                  <a:schemeClr val="tx1"/>
                </a:solidFill>
                <a:effectLst/>
                <a:latin typeface="+mn-lt"/>
                <a:ea typeface="+mn-ea"/>
                <a:cs typeface="+mn-cs"/>
              </a:rPr>
              <a:t>curt</a:t>
            </a:r>
            <a:r>
              <a:rPr lang="es-ES" sz="1200" b="1" i="0" kern="1200" dirty="0">
                <a:solidFill>
                  <a:schemeClr val="tx1"/>
                </a:solidFill>
                <a:effectLst/>
                <a:latin typeface="+mn-lt"/>
                <a:ea typeface="+mn-ea"/>
                <a:cs typeface="+mn-cs"/>
              </a:rPr>
              <a:t> per posar-lo </a:t>
            </a:r>
            <a:r>
              <a:rPr lang="es-ES" sz="1200" b="1" i="0" kern="1200" dirty="0" err="1">
                <a:solidFill>
                  <a:schemeClr val="tx1"/>
                </a:solidFill>
                <a:effectLst/>
                <a:latin typeface="+mn-lt"/>
                <a:ea typeface="+mn-ea"/>
                <a:cs typeface="+mn-cs"/>
              </a:rPr>
              <a:t>directament</a:t>
            </a:r>
            <a:r>
              <a:rPr lang="es-ES" sz="1200" b="1" i="0" kern="1200" dirty="0">
                <a:solidFill>
                  <a:schemeClr val="tx1"/>
                </a:solidFill>
                <a:effectLst/>
                <a:latin typeface="+mn-lt"/>
                <a:ea typeface="+mn-ea"/>
                <a:cs typeface="+mn-cs"/>
              </a:rPr>
              <a:t> a la diapositiva</a:t>
            </a:r>
          </a:p>
          <a:p>
            <a:r>
              <a:rPr lang="es-ES" sz="1200" b="1" i="0" kern="1200" dirty="0" err="1">
                <a:solidFill>
                  <a:schemeClr val="tx1"/>
                </a:solidFill>
                <a:effectLst/>
                <a:latin typeface="+mn-lt"/>
                <a:ea typeface="+mn-ea"/>
                <a:cs typeface="+mn-cs"/>
              </a:rPr>
              <a:t>Creixement</a:t>
            </a:r>
            <a:r>
              <a:rPr lang="es-ES" sz="1200" b="1" i="0" kern="1200" dirty="0">
                <a:solidFill>
                  <a:schemeClr val="tx1"/>
                </a:solidFill>
                <a:effectLst/>
                <a:latin typeface="+mn-lt"/>
                <a:ea typeface="+mn-ea"/>
                <a:cs typeface="+mn-cs"/>
              </a:rPr>
              <a:t> </a:t>
            </a:r>
            <a:r>
              <a:rPr lang="es-ES" sz="1200" b="1" i="0" kern="1200" dirty="0" err="1">
                <a:solidFill>
                  <a:schemeClr val="tx1"/>
                </a:solidFill>
                <a:effectLst/>
                <a:latin typeface="+mn-lt"/>
                <a:ea typeface="+mn-ea"/>
                <a:cs typeface="+mn-cs"/>
              </a:rPr>
              <a:t>asimptòtic</a:t>
            </a:r>
            <a:r>
              <a:rPr lang="es-ES" sz="1200" b="1" i="0" kern="1200" dirty="0">
                <a:solidFill>
                  <a:schemeClr val="tx1"/>
                </a:solidFill>
                <a:effectLst/>
                <a:latin typeface="+mn-lt"/>
                <a:ea typeface="+mn-ea"/>
                <a:cs typeface="+mn-cs"/>
              </a:rPr>
              <a:t> </a:t>
            </a:r>
            <a:r>
              <a:rPr lang="es-ES" sz="1200" b="1" i="0" kern="1200" dirty="0" err="1">
                <a:solidFill>
                  <a:schemeClr val="tx1"/>
                </a:solidFill>
                <a:effectLst/>
                <a:latin typeface="+mn-lt"/>
                <a:ea typeface="+mn-ea"/>
                <a:cs typeface="+mn-cs"/>
              </a:rPr>
              <a:t>dels</a:t>
            </a:r>
            <a:r>
              <a:rPr lang="es-ES" sz="1200" b="1" i="0" kern="1200" dirty="0">
                <a:solidFill>
                  <a:schemeClr val="tx1"/>
                </a:solidFill>
                <a:effectLst/>
                <a:latin typeface="+mn-lt"/>
                <a:ea typeface="+mn-ea"/>
                <a:cs typeface="+mn-cs"/>
              </a:rPr>
              <a:t> </a:t>
            </a:r>
            <a:r>
              <a:rPr lang="es-ES" sz="1200" b="1" i="0" kern="1200" dirty="0" err="1">
                <a:solidFill>
                  <a:schemeClr val="tx1"/>
                </a:solidFill>
                <a:effectLst/>
                <a:latin typeface="+mn-lt"/>
                <a:ea typeface="+mn-ea"/>
                <a:cs typeface="+mn-cs"/>
              </a:rPr>
              <a:t>conjunts</a:t>
            </a:r>
            <a:br>
              <a:rPr lang="es-ES" sz="1200" b="0" i="0" kern="1200" dirty="0">
                <a:solidFill>
                  <a:schemeClr val="tx1"/>
                </a:solidFill>
                <a:effectLst/>
                <a:latin typeface="+mn-lt"/>
                <a:ea typeface="+mn-ea"/>
                <a:cs typeface="+mn-cs"/>
              </a:rPr>
            </a:br>
            <a:r>
              <a:rPr lang="es-ES" sz="1200" b="0" i="0" kern="1200" dirty="0" err="1">
                <a:solidFill>
                  <a:schemeClr val="tx1"/>
                </a:solidFill>
                <a:effectLst/>
                <a:latin typeface="+mn-lt"/>
                <a:ea typeface="+mn-ea"/>
                <a:cs typeface="+mn-cs"/>
              </a:rPr>
              <a:t>Quan</a:t>
            </a:r>
            <a:r>
              <a:rPr lang="es-ES" sz="1200" b="0" i="0" kern="1200" dirty="0">
                <a:solidFill>
                  <a:schemeClr val="tx1"/>
                </a:solidFill>
                <a:effectLst/>
                <a:latin typeface="+mn-lt"/>
                <a:ea typeface="+mn-ea"/>
                <a:cs typeface="+mn-cs"/>
              </a:rPr>
              <a:t> $N\</a:t>
            </a:r>
            <a:r>
              <a:rPr lang="es-ES" sz="1200" b="0" i="0" kern="1200" dirty="0" err="1">
                <a:solidFill>
                  <a:schemeClr val="tx1"/>
                </a:solidFill>
                <a:effectLst/>
                <a:latin typeface="+mn-lt"/>
                <a:ea typeface="+mn-ea"/>
                <a:cs typeface="+mn-cs"/>
              </a:rPr>
              <a:t>to</a:t>
            </a:r>
            <a:r>
              <a:rPr lang="es-ES" sz="1200" b="0" i="0" kern="1200" dirty="0">
                <a:solidFill>
                  <a:schemeClr val="tx1"/>
                </a:solidFill>
                <a:effectLst/>
                <a:latin typeface="+mn-lt"/>
                <a:ea typeface="+mn-ea"/>
                <a:cs typeface="+mn-cs"/>
              </a:rPr>
              <a:t>\</a:t>
            </a:r>
            <a:r>
              <a:rPr lang="es-ES" sz="1200" b="0" i="0" kern="1200" dirty="0" err="1">
                <a:solidFill>
                  <a:schemeClr val="tx1"/>
                </a:solidFill>
                <a:effectLst/>
                <a:latin typeface="+mn-lt"/>
                <a:ea typeface="+mn-ea"/>
                <a:cs typeface="+mn-cs"/>
              </a:rPr>
              <a:t>infty</a:t>
            </a:r>
            <a:r>
              <a:rPr lang="es-ES" sz="1200" b="0" i="0" kern="1200" dirty="0">
                <a:solidFill>
                  <a:schemeClr val="tx1"/>
                </a:solidFill>
                <a:effectLst/>
                <a:latin typeface="+mn-lt"/>
                <a:ea typeface="+mn-ea"/>
                <a:cs typeface="+mn-cs"/>
              </a:rPr>
              <a:t>$, cada </a:t>
            </a:r>
            <a:r>
              <a:rPr lang="es-ES" sz="1200" b="0" i="0" kern="1200" dirty="0" err="1">
                <a:solidFill>
                  <a:schemeClr val="tx1"/>
                </a:solidFill>
                <a:effectLst/>
                <a:latin typeface="+mn-lt"/>
                <a:ea typeface="+mn-ea"/>
                <a:cs typeface="+mn-cs"/>
              </a:rPr>
              <a:t>conjunt</a:t>
            </a:r>
            <a:r>
              <a:rPr lang="es-ES" sz="1200" b="0" i="0" kern="1200" dirty="0">
                <a:solidFill>
                  <a:schemeClr val="tx1"/>
                </a:solidFill>
                <a:effectLst/>
                <a:latin typeface="+mn-lt"/>
                <a:ea typeface="+mn-ea"/>
                <a:cs typeface="+mn-cs"/>
              </a:rPr>
              <a:t> </a:t>
            </a:r>
            <a:r>
              <a:rPr lang="es-ES" sz="1200" b="0" i="0" kern="1200" dirty="0" err="1">
                <a:solidFill>
                  <a:schemeClr val="tx1"/>
                </a:solidFill>
                <a:effectLst/>
                <a:latin typeface="+mn-lt"/>
                <a:ea typeface="+mn-ea"/>
                <a:cs typeface="+mn-cs"/>
              </a:rPr>
              <a:t>dins</a:t>
            </a:r>
            <a:r>
              <a:rPr lang="es-ES" sz="1200" b="0" i="0" kern="1200" dirty="0">
                <a:solidFill>
                  <a:schemeClr val="tx1"/>
                </a:solidFill>
                <a:effectLst/>
                <a:latin typeface="+mn-lt"/>
                <a:ea typeface="+mn-ea"/>
                <a:cs typeface="+mn-cs"/>
              </a:rPr>
              <a:t> de </a:t>
            </a:r>
            <a:r>
              <a:rPr lang="es-ES" sz="1200" b="0" i="0" kern="1200" dirty="0" err="1">
                <a:solidFill>
                  <a:schemeClr val="tx1"/>
                </a:solidFill>
                <a:effectLst/>
                <a:latin typeface="+mn-lt"/>
                <a:ea typeface="+mn-ea"/>
                <a:cs typeface="+mn-cs"/>
              </a:rPr>
              <a:t>l’univers</a:t>
            </a:r>
            <a:r>
              <a:rPr lang="es-ES" sz="1200" b="0" i="0" kern="1200" dirty="0">
                <a:solidFill>
                  <a:schemeClr val="tx1"/>
                </a:solidFill>
                <a:effectLst/>
                <a:latin typeface="+mn-lt"/>
                <a:ea typeface="+mn-ea"/>
                <a:cs typeface="+mn-cs"/>
              </a:rPr>
              <a:t> $L</a:t>
            </a:r>
            <a:r>
              <a:rPr lang="es-ES" sz="1200" b="0" i="1" kern="1200" dirty="0">
                <a:solidFill>
                  <a:schemeClr val="tx1"/>
                </a:solidFill>
                <a:effectLst/>
                <a:latin typeface="+mn-lt"/>
                <a:ea typeface="+mn-ea"/>
                <a:cs typeface="+mn-cs"/>
              </a:rPr>
              <a:t>1$ té una </a:t>
            </a:r>
            <a:r>
              <a:rPr lang="es-ES" sz="1200" b="0" i="1" kern="1200" dirty="0" err="1">
                <a:solidFill>
                  <a:schemeClr val="tx1"/>
                </a:solidFill>
                <a:effectLst/>
                <a:latin typeface="+mn-lt"/>
                <a:ea typeface="+mn-ea"/>
                <a:cs typeface="+mn-cs"/>
              </a:rPr>
              <a:t>densitat</a:t>
            </a:r>
            <a:r>
              <a:rPr lang="es-ES" sz="1200" b="0" i="1" kern="1200" dirty="0">
                <a:solidFill>
                  <a:schemeClr val="tx1"/>
                </a:solidFill>
                <a:effectLst/>
                <a:latin typeface="+mn-lt"/>
                <a:ea typeface="+mn-ea"/>
                <a:cs typeface="+mn-cs"/>
              </a:rPr>
              <a:t> relativa: L3, L4 i L2 ocupen </a:t>
            </a:r>
            <a:r>
              <a:rPr lang="es-ES" sz="1200" b="0" i="1" kern="1200" dirty="0" err="1">
                <a:solidFill>
                  <a:schemeClr val="tx1"/>
                </a:solidFill>
                <a:effectLst/>
                <a:latin typeface="+mn-lt"/>
                <a:ea typeface="+mn-ea"/>
                <a:cs typeface="+mn-cs"/>
              </a:rPr>
              <a:t>parts</a:t>
            </a:r>
            <a:r>
              <a:rPr lang="es-ES" sz="1200" b="0" i="1" kern="1200" dirty="0">
                <a:solidFill>
                  <a:schemeClr val="tx1"/>
                </a:solidFill>
                <a:effectLst/>
                <a:latin typeface="+mn-lt"/>
                <a:ea typeface="+mn-ea"/>
                <a:cs typeface="+mn-cs"/>
              </a:rPr>
              <a:t> </a:t>
            </a:r>
            <a:r>
              <a:rPr lang="es-ES" sz="1200" b="0" i="1" kern="1200" dirty="0" err="1">
                <a:solidFill>
                  <a:schemeClr val="tx1"/>
                </a:solidFill>
                <a:effectLst/>
                <a:latin typeface="+mn-lt"/>
                <a:ea typeface="+mn-ea"/>
                <a:cs typeface="+mn-cs"/>
              </a:rPr>
              <a:t>fixes</a:t>
            </a:r>
            <a:r>
              <a:rPr lang="es-ES" sz="1200" b="0" i="1" kern="1200" dirty="0">
                <a:solidFill>
                  <a:schemeClr val="tx1"/>
                </a:solidFill>
                <a:effectLst/>
                <a:latin typeface="+mn-lt"/>
                <a:ea typeface="+mn-ea"/>
                <a:cs typeface="+mn-cs"/>
              </a:rPr>
              <a:t> del </a:t>
            </a:r>
            <a:r>
              <a:rPr lang="es-ES" sz="1200" b="0" i="1" kern="1200" dirty="0" err="1">
                <a:solidFill>
                  <a:schemeClr val="tx1"/>
                </a:solidFill>
                <a:effectLst/>
                <a:latin typeface="+mn-lt"/>
                <a:ea typeface="+mn-ea"/>
                <a:cs typeface="+mn-cs"/>
              </a:rPr>
              <a:t>creixement</a:t>
            </a:r>
            <a:r>
              <a:rPr lang="es-ES" sz="1200" b="0" i="1" kern="1200" dirty="0">
                <a:solidFill>
                  <a:schemeClr val="tx1"/>
                </a:solidFill>
                <a:effectLst/>
                <a:latin typeface="+mn-lt"/>
                <a:ea typeface="+mn-ea"/>
                <a:cs typeface="+mn-cs"/>
              </a:rPr>
              <a:t> de $L</a:t>
            </a:r>
            <a:r>
              <a:rPr lang="es-ES" sz="1200" b="0" i="0" kern="1200" dirty="0">
                <a:solidFill>
                  <a:schemeClr val="tx1"/>
                </a:solidFill>
                <a:effectLst/>
                <a:latin typeface="+mn-lt"/>
                <a:ea typeface="+mn-ea"/>
                <a:cs typeface="+mn-cs"/>
              </a:rPr>
              <a:t>1$. </a:t>
            </a:r>
            <a:r>
              <a:rPr lang="es-ES" sz="1200" b="0" i="0" kern="1200" dirty="0" err="1">
                <a:solidFill>
                  <a:schemeClr val="tx1"/>
                </a:solidFill>
                <a:effectLst/>
                <a:latin typeface="+mn-lt"/>
                <a:ea typeface="+mn-ea"/>
                <a:cs typeface="+mn-cs"/>
              </a:rPr>
              <a:t>Mitjançant</a:t>
            </a:r>
            <a:r>
              <a:rPr lang="es-ES" sz="1200" b="0" i="0" kern="1200" dirty="0">
                <a:solidFill>
                  <a:schemeClr val="tx1"/>
                </a:solidFill>
                <a:effectLst/>
                <a:latin typeface="+mn-lt"/>
                <a:ea typeface="+mn-ea"/>
                <a:cs typeface="+mn-cs"/>
              </a:rPr>
              <a:t> </a:t>
            </a:r>
            <a:r>
              <a:rPr lang="es-ES" sz="1200" b="0" i="0" kern="1200" dirty="0" err="1">
                <a:solidFill>
                  <a:schemeClr val="tx1"/>
                </a:solidFill>
                <a:effectLst/>
                <a:latin typeface="+mn-lt"/>
                <a:ea typeface="+mn-ea"/>
                <a:cs typeface="+mn-cs"/>
              </a:rPr>
              <a:t>Inclusió</a:t>
            </a:r>
            <a:r>
              <a:rPr lang="es-ES" sz="1200" b="0" i="0" kern="1200" dirty="0">
                <a:solidFill>
                  <a:schemeClr val="tx1"/>
                </a:solidFill>
                <a:effectLst/>
                <a:latin typeface="+mn-lt"/>
                <a:ea typeface="+mn-ea"/>
                <a:cs typeface="+mn-cs"/>
              </a:rPr>
              <a:t>–</a:t>
            </a:r>
            <a:r>
              <a:rPr lang="es-ES" sz="1200" b="0" i="0" kern="1200" dirty="0" err="1">
                <a:solidFill>
                  <a:schemeClr val="tx1"/>
                </a:solidFill>
                <a:effectLst/>
                <a:latin typeface="+mn-lt"/>
                <a:ea typeface="+mn-ea"/>
                <a:cs typeface="+mn-cs"/>
              </a:rPr>
              <a:t>Exclusió</a:t>
            </a:r>
            <a:r>
              <a:rPr lang="es-ES" sz="1200" b="0" i="0" kern="1200" dirty="0">
                <a:solidFill>
                  <a:schemeClr val="tx1"/>
                </a:solidFill>
                <a:effectLst/>
                <a:latin typeface="+mn-lt"/>
                <a:ea typeface="+mn-ea"/>
                <a:cs typeface="+mn-cs"/>
              </a:rPr>
              <a:t> </a:t>
            </a:r>
            <a:r>
              <a:rPr lang="es-ES" sz="1200" b="0" i="0" kern="1200" dirty="0" err="1">
                <a:solidFill>
                  <a:schemeClr val="tx1"/>
                </a:solidFill>
                <a:effectLst/>
                <a:latin typeface="+mn-lt"/>
                <a:ea typeface="+mn-ea"/>
                <a:cs typeface="+mn-cs"/>
              </a:rPr>
              <a:t>podem</a:t>
            </a:r>
            <a:r>
              <a:rPr lang="es-ES" sz="1200" b="0" i="0" kern="1200" dirty="0">
                <a:solidFill>
                  <a:schemeClr val="tx1"/>
                </a:solidFill>
                <a:effectLst/>
                <a:latin typeface="+mn-lt"/>
                <a:ea typeface="+mn-ea"/>
                <a:cs typeface="+mn-cs"/>
              </a:rPr>
              <a:t> </a:t>
            </a:r>
            <a:r>
              <a:rPr lang="es-ES" sz="1200" b="0" i="0" kern="1200" dirty="0" err="1">
                <a:solidFill>
                  <a:schemeClr val="tx1"/>
                </a:solidFill>
                <a:effectLst/>
                <a:latin typeface="+mn-lt"/>
                <a:ea typeface="+mn-ea"/>
                <a:cs typeface="+mn-cs"/>
              </a:rPr>
              <a:t>expressar</a:t>
            </a:r>
            <a:r>
              <a:rPr lang="es-ES" sz="1200" b="0" i="0" kern="1200" dirty="0">
                <a:solidFill>
                  <a:schemeClr val="tx1"/>
                </a:solidFill>
                <a:effectLst/>
                <a:latin typeface="+mn-lt"/>
                <a:ea typeface="+mn-ea"/>
                <a:cs typeface="+mn-cs"/>
              </a:rPr>
              <a:t>:</a:t>
            </a:r>
          </a:p>
          <a:p>
            <a:r>
              <a:rPr lang="es-ES" sz="1200" b="0" i="0" kern="1200" dirty="0">
                <a:solidFill>
                  <a:schemeClr val="tx1"/>
                </a:solidFill>
                <a:effectLst/>
                <a:latin typeface="+mn-lt"/>
                <a:ea typeface="+mn-ea"/>
                <a:cs typeface="+mn-cs"/>
              </a:rPr>
              <a:t>$ |L</a:t>
            </a:r>
            <a:r>
              <a:rPr lang="es-ES" sz="1200" b="0" i="1" kern="1200" dirty="0">
                <a:solidFill>
                  <a:schemeClr val="tx1"/>
                </a:solidFill>
                <a:effectLst/>
                <a:latin typeface="+mn-lt"/>
                <a:ea typeface="+mn-ea"/>
                <a:cs typeface="+mn-cs"/>
              </a:rPr>
              <a:t>1| = |L</a:t>
            </a:r>
            <a:r>
              <a:rPr lang="es-ES" sz="1200" b="0" i="0" kern="1200" dirty="0">
                <a:solidFill>
                  <a:schemeClr val="tx1"/>
                </a:solidFill>
                <a:effectLst/>
                <a:latin typeface="+mn-lt"/>
                <a:ea typeface="+mn-ea"/>
                <a:cs typeface="+mn-cs"/>
              </a:rPr>
              <a:t>3| + |L</a:t>
            </a:r>
            <a:r>
              <a:rPr lang="es-ES" sz="1200" b="0" i="1" kern="1200" dirty="0">
                <a:solidFill>
                  <a:schemeClr val="tx1"/>
                </a:solidFill>
                <a:effectLst/>
                <a:latin typeface="+mn-lt"/>
                <a:ea typeface="+mn-ea"/>
                <a:cs typeface="+mn-cs"/>
              </a:rPr>
              <a:t>4| - |L</a:t>
            </a:r>
            <a:r>
              <a:rPr lang="es-ES" sz="1200" b="0" i="0" kern="1200" dirty="0">
                <a:solidFill>
                  <a:schemeClr val="tx1"/>
                </a:solidFill>
                <a:effectLst/>
                <a:latin typeface="+mn-lt"/>
                <a:ea typeface="+mn-ea"/>
                <a:cs typeface="+mn-cs"/>
              </a:rPr>
              <a:t>2| + |L_{</a:t>
            </a:r>
            <a:r>
              <a:rPr lang="es-ES" sz="1200" b="0" i="0" kern="1200" dirty="0" err="1">
                <a:solidFill>
                  <a:schemeClr val="tx1"/>
                </a:solidFill>
                <a:effectLst/>
                <a:latin typeface="+mn-lt"/>
                <a:ea typeface="+mn-ea"/>
                <a:cs typeface="+mn-cs"/>
              </a:rPr>
              <a:t>sg</a:t>
            </a:r>
            <a:r>
              <a:rPr lang="es-ES" sz="1200" b="0" i="0" kern="1200" dirty="0">
                <a:solidFill>
                  <a:schemeClr val="tx1"/>
                </a:solidFill>
                <a:effectLst/>
                <a:latin typeface="+mn-lt"/>
                <a:ea typeface="+mn-ea"/>
                <a:cs typeface="+mn-cs"/>
              </a:rPr>
              <a:t>}|. $</a:t>
            </a:r>
          </a:p>
          <a:p>
            <a:r>
              <a:rPr lang="es-ES" sz="1200" b="0" i="0" kern="1200" dirty="0">
                <a:solidFill>
                  <a:schemeClr val="tx1"/>
                </a:solidFill>
                <a:effectLst/>
                <a:latin typeface="+mn-lt"/>
                <a:ea typeface="+mn-ea"/>
                <a:cs typeface="+mn-cs"/>
              </a:rPr>
              <a:t>Si </a:t>
            </a:r>
            <a:r>
              <a:rPr lang="es-ES" sz="1200" b="0" i="0" kern="1200" dirty="0" err="1">
                <a:solidFill>
                  <a:schemeClr val="tx1"/>
                </a:solidFill>
                <a:effectLst/>
                <a:latin typeface="+mn-lt"/>
                <a:ea typeface="+mn-ea"/>
                <a:cs typeface="+mn-cs"/>
              </a:rPr>
              <a:t>factoritzem</a:t>
            </a:r>
            <a:r>
              <a:rPr lang="es-ES" sz="1200" b="0" i="0" kern="1200" dirty="0">
                <a:solidFill>
                  <a:schemeClr val="tx1"/>
                </a:solidFill>
                <a:effectLst/>
                <a:latin typeface="+mn-lt"/>
                <a:ea typeface="+mn-ea"/>
                <a:cs typeface="+mn-cs"/>
              </a:rPr>
              <a:t> el </a:t>
            </a:r>
            <a:r>
              <a:rPr lang="es-ES" sz="1200" b="0" i="0" kern="1200" dirty="0" err="1">
                <a:solidFill>
                  <a:schemeClr val="tx1"/>
                </a:solidFill>
                <a:effectLst/>
                <a:latin typeface="+mn-lt"/>
                <a:ea typeface="+mn-ea"/>
                <a:cs typeface="+mn-cs"/>
              </a:rPr>
              <a:t>creixement</a:t>
            </a:r>
            <a:r>
              <a:rPr lang="es-ES" sz="1200" b="0" i="0" kern="1200" dirty="0">
                <a:solidFill>
                  <a:schemeClr val="tx1"/>
                </a:solidFill>
                <a:effectLst/>
                <a:latin typeface="+mn-lt"/>
                <a:ea typeface="+mn-ea"/>
                <a:cs typeface="+mn-cs"/>
              </a:rPr>
              <a:t> de $L_1$ </a:t>
            </a:r>
            <a:r>
              <a:rPr lang="es-ES" sz="1200" b="0" i="0" kern="1200" dirty="0" err="1">
                <a:solidFill>
                  <a:schemeClr val="tx1"/>
                </a:solidFill>
                <a:effectLst/>
                <a:latin typeface="+mn-lt"/>
                <a:ea typeface="+mn-ea"/>
                <a:cs typeface="+mn-cs"/>
              </a:rPr>
              <a:t>com</a:t>
            </a:r>
            <a:r>
              <a:rPr lang="es-ES" sz="1200" b="0" i="0" kern="1200" dirty="0">
                <a:solidFill>
                  <a:schemeClr val="tx1"/>
                </a:solidFill>
                <a:effectLst/>
                <a:latin typeface="+mn-lt"/>
                <a:ea typeface="+mn-ea"/>
                <a:cs typeface="+mn-cs"/>
              </a:rPr>
              <a:t> a </a:t>
            </a:r>
            <a:r>
              <a:rPr lang="es-ES" sz="1200" b="0" i="0" kern="1200" dirty="0" err="1">
                <a:solidFill>
                  <a:schemeClr val="tx1"/>
                </a:solidFill>
                <a:effectLst/>
                <a:latin typeface="+mn-lt"/>
                <a:ea typeface="+mn-ea"/>
                <a:cs typeface="+mn-cs"/>
              </a:rPr>
              <a:t>constant</a:t>
            </a:r>
            <a:r>
              <a:rPr lang="es-ES" sz="1200" b="0" i="0" kern="1200" dirty="0">
                <a:solidFill>
                  <a:schemeClr val="tx1"/>
                </a:solidFill>
                <a:effectLst/>
                <a:latin typeface="+mn-lt"/>
                <a:ea typeface="+mn-ea"/>
                <a:cs typeface="+mn-cs"/>
              </a:rPr>
              <a:t> $1/6$ i </a:t>
            </a:r>
            <a:r>
              <a:rPr lang="es-ES" sz="1200" b="0" i="0" kern="1200" dirty="0" err="1">
                <a:solidFill>
                  <a:schemeClr val="tx1"/>
                </a:solidFill>
                <a:effectLst/>
                <a:latin typeface="+mn-lt"/>
                <a:ea typeface="+mn-ea"/>
                <a:cs typeface="+mn-cs"/>
              </a:rPr>
              <a:t>assignem</a:t>
            </a:r>
            <a:r>
              <a:rPr lang="es-ES" sz="1200" b="0" i="0" kern="1200" dirty="0">
                <a:solidFill>
                  <a:schemeClr val="tx1"/>
                </a:solidFill>
                <a:effectLst/>
                <a:latin typeface="+mn-lt"/>
                <a:ea typeface="+mn-ea"/>
                <a:cs typeface="+mn-cs"/>
              </a:rPr>
              <a:t> </a:t>
            </a:r>
            <a:r>
              <a:rPr lang="es-ES" sz="1200" b="0" i="0" kern="1200" dirty="0" err="1">
                <a:solidFill>
                  <a:schemeClr val="tx1"/>
                </a:solidFill>
                <a:effectLst/>
                <a:latin typeface="+mn-lt"/>
                <a:ea typeface="+mn-ea"/>
                <a:cs typeface="+mn-cs"/>
              </a:rPr>
              <a:t>coeficients</a:t>
            </a:r>
            <a:r>
              <a:rPr lang="es-ES" sz="1200" b="0" i="0" kern="1200" dirty="0">
                <a:solidFill>
                  <a:schemeClr val="tx1"/>
                </a:solidFill>
                <a:effectLst/>
                <a:latin typeface="+mn-lt"/>
                <a:ea typeface="+mn-ea"/>
                <a:cs typeface="+mn-cs"/>
              </a:rPr>
              <a:t> </a:t>
            </a:r>
            <a:r>
              <a:rPr lang="es-ES" sz="1200" b="0" i="0" kern="1200" dirty="0" err="1">
                <a:solidFill>
                  <a:schemeClr val="tx1"/>
                </a:solidFill>
                <a:effectLst/>
                <a:latin typeface="+mn-lt"/>
                <a:ea typeface="+mn-ea"/>
                <a:cs typeface="+mn-cs"/>
              </a:rPr>
              <a:t>als</a:t>
            </a:r>
            <a:r>
              <a:rPr lang="es-ES" sz="1200" b="0" i="0" kern="1200" dirty="0">
                <a:solidFill>
                  <a:schemeClr val="tx1"/>
                </a:solidFill>
                <a:effectLst/>
                <a:latin typeface="+mn-lt"/>
                <a:ea typeface="+mn-ea"/>
                <a:cs typeface="+mn-cs"/>
              </a:rPr>
              <a:t> </a:t>
            </a:r>
            <a:r>
              <a:rPr lang="es-ES" sz="1200" b="0" i="0" kern="1200" dirty="0" err="1">
                <a:solidFill>
                  <a:schemeClr val="tx1"/>
                </a:solidFill>
                <a:effectLst/>
                <a:latin typeface="+mn-lt"/>
                <a:ea typeface="+mn-ea"/>
                <a:cs typeface="+mn-cs"/>
              </a:rPr>
              <a:t>subconjunts</a:t>
            </a:r>
            <a:r>
              <a:rPr lang="es-ES" sz="1200" b="0" i="0" kern="1200" dirty="0">
                <a:solidFill>
                  <a:schemeClr val="tx1"/>
                </a:solidFill>
                <a:effectLst/>
                <a:latin typeface="+mn-lt"/>
                <a:ea typeface="+mn-ea"/>
                <a:cs typeface="+mn-cs"/>
              </a:rPr>
              <a:t>, </a:t>
            </a:r>
            <a:r>
              <a:rPr lang="es-ES" sz="1200" b="0" i="0" kern="1200" dirty="0" err="1">
                <a:solidFill>
                  <a:schemeClr val="tx1"/>
                </a:solidFill>
                <a:effectLst/>
                <a:latin typeface="+mn-lt"/>
                <a:ea typeface="+mn-ea"/>
                <a:cs typeface="+mn-cs"/>
              </a:rPr>
              <a:t>obtenim</a:t>
            </a:r>
            <a:r>
              <a:rPr lang="es-ES" sz="1200" b="0" i="0" kern="1200" dirty="0">
                <a:solidFill>
                  <a:schemeClr val="tx1"/>
                </a:solidFill>
                <a:effectLst/>
                <a:latin typeface="+mn-lt"/>
                <a:ea typeface="+mn-ea"/>
                <a:cs typeface="+mn-cs"/>
              </a:rPr>
              <a:t> un sistema de </a:t>
            </a:r>
            <a:r>
              <a:rPr lang="es-ES" sz="1200" b="0" i="0" kern="1200" dirty="0" err="1">
                <a:solidFill>
                  <a:schemeClr val="tx1"/>
                </a:solidFill>
                <a:effectLst/>
                <a:latin typeface="+mn-lt"/>
                <a:ea typeface="+mn-ea"/>
                <a:cs typeface="+mn-cs"/>
              </a:rPr>
              <a:t>balanç</a:t>
            </a:r>
            <a:r>
              <a:rPr lang="es-ES" sz="1200" b="0" i="0" kern="1200" dirty="0">
                <a:solidFill>
                  <a:schemeClr val="tx1"/>
                </a:solidFill>
                <a:effectLst/>
                <a:latin typeface="+mn-lt"/>
                <a:ea typeface="+mn-ea"/>
                <a:cs typeface="+mn-cs"/>
              </a:rPr>
              <a:t> de </a:t>
            </a:r>
            <a:r>
              <a:rPr lang="es-ES" sz="1200" b="0" i="0" kern="1200" dirty="0" err="1">
                <a:solidFill>
                  <a:schemeClr val="tx1"/>
                </a:solidFill>
                <a:effectLst/>
                <a:latin typeface="+mn-lt"/>
                <a:ea typeface="+mn-ea"/>
                <a:cs typeface="+mn-cs"/>
              </a:rPr>
              <a:t>densitats</a:t>
            </a:r>
            <a:r>
              <a:rPr lang="es-ES" sz="1200" b="0" i="0" kern="1200" dirty="0">
                <a:solidFill>
                  <a:schemeClr val="tx1"/>
                </a:solidFill>
                <a:effectLst/>
                <a:latin typeface="+mn-lt"/>
                <a:ea typeface="+mn-ea"/>
                <a:cs typeface="+mn-cs"/>
              </a:rPr>
              <a:t>. Si L1 </a:t>
            </a:r>
            <a:r>
              <a:rPr lang="es-ES" sz="1200" b="0" i="0" kern="1200" dirty="0" err="1">
                <a:solidFill>
                  <a:schemeClr val="tx1"/>
                </a:solidFill>
                <a:effectLst/>
                <a:latin typeface="+mn-lt"/>
                <a:ea typeface="+mn-ea"/>
                <a:cs typeface="+mn-cs"/>
              </a:rPr>
              <a:t>tendeix</a:t>
            </a:r>
            <a:r>
              <a:rPr lang="es-ES" sz="1200" b="0" i="0" kern="1200" dirty="0">
                <a:solidFill>
                  <a:schemeClr val="tx1"/>
                </a:solidFill>
                <a:effectLst/>
                <a:latin typeface="+mn-lt"/>
                <a:ea typeface="+mn-ea"/>
                <a:cs typeface="+mn-cs"/>
              </a:rPr>
              <a:t> a </a:t>
            </a:r>
            <a:r>
              <a:rPr lang="es-ES" sz="1200" b="0" i="0" kern="1200" dirty="0" err="1">
                <a:solidFill>
                  <a:schemeClr val="tx1"/>
                </a:solidFill>
                <a:effectLst/>
                <a:latin typeface="+mn-lt"/>
                <a:ea typeface="+mn-ea"/>
                <a:cs typeface="+mn-cs"/>
              </a:rPr>
              <a:t>infinit</a:t>
            </a:r>
            <a:r>
              <a:rPr lang="es-ES" sz="1200" b="0" i="0" kern="1200" dirty="0">
                <a:solidFill>
                  <a:schemeClr val="tx1"/>
                </a:solidFill>
                <a:effectLst/>
                <a:latin typeface="+mn-lt"/>
                <a:ea typeface="+mn-ea"/>
                <a:cs typeface="+mn-cs"/>
              </a:rPr>
              <a:t> i les </a:t>
            </a:r>
            <a:r>
              <a:rPr lang="es-ES" sz="1200" b="0" i="0" kern="1200" dirty="0" err="1">
                <a:solidFill>
                  <a:schemeClr val="tx1"/>
                </a:solidFill>
                <a:effectLst/>
                <a:latin typeface="+mn-lt"/>
                <a:ea typeface="+mn-ea"/>
                <a:cs typeface="+mn-cs"/>
              </a:rPr>
              <a:t>parts</a:t>
            </a:r>
            <a:r>
              <a:rPr lang="es-ES" sz="1200" b="0" i="0" kern="1200" dirty="0">
                <a:solidFill>
                  <a:schemeClr val="tx1"/>
                </a:solidFill>
                <a:effectLst/>
                <a:latin typeface="+mn-lt"/>
                <a:ea typeface="+mn-ea"/>
                <a:cs typeface="+mn-cs"/>
              </a:rPr>
              <a:t> </a:t>
            </a:r>
            <a:r>
              <a:rPr lang="es-ES" sz="1200" b="0" i="0" kern="1200" dirty="0" err="1">
                <a:solidFill>
                  <a:schemeClr val="tx1"/>
                </a:solidFill>
                <a:effectLst/>
                <a:latin typeface="+mn-lt"/>
                <a:ea typeface="+mn-ea"/>
                <a:cs typeface="+mn-cs"/>
              </a:rPr>
              <a:t>conegudes</a:t>
            </a:r>
            <a:r>
              <a:rPr lang="es-ES" sz="1200" b="0" i="0" kern="1200" dirty="0">
                <a:solidFill>
                  <a:schemeClr val="tx1"/>
                </a:solidFill>
                <a:effectLst/>
                <a:latin typeface="+mn-lt"/>
                <a:ea typeface="+mn-ea"/>
                <a:cs typeface="+mn-cs"/>
              </a:rPr>
              <a:t> no </a:t>
            </a:r>
            <a:r>
              <a:rPr lang="es-ES" sz="1200" b="0" i="0" kern="1200" dirty="0" err="1">
                <a:solidFill>
                  <a:schemeClr val="tx1"/>
                </a:solidFill>
                <a:effectLst/>
                <a:latin typeface="+mn-lt"/>
                <a:ea typeface="+mn-ea"/>
                <a:cs typeface="+mn-cs"/>
              </a:rPr>
              <a:t>cobreixen</a:t>
            </a:r>
            <a:r>
              <a:rPr lang="es-ES" sz="1200" b="0" i="0" kern="1200" dirty="0">
                <a:solidFill>
                  <a:schemeClr val="tx1"/>
                </a:solidFill>
                <a:effectLst/>
                <a:latin typeface="+mn-lt"/>
                <a:ea typeface="+mn-ea"/>
                <a:cs typeface="+mn-cs"/>
              </a:rPr>
              <a:t> </a:t>
            </a:r>
            <a:r>
              <a:rPr lang="es-ES" sz="1200" b="0" i="0" kern="1200" dirty="0" err="1">
                <a:solidFill>
                  <a:schemeClr val="tx1"/>
                </a:solidFill>
                <a:effectLst/>
                <a:latin typeface="+mn-lt"/>
                <a:ea typeface="+mn-ea"/>
                <a:cs typeface="+mn-cs"/>
              </a:rPr>
              <a:t>tot</a:t>
            </a:r>
            <a:r>
              <a:rPr lang="es-ES" sz="1200" b="0" i="0" kern="1200" dirty="0">
                <a:solidFill>
                  <a:schemeClr val="tx1"/>
                </a:solidFill>
                <a:effectLst/>
                <a:latin typeface="+mn-lt"/>
                <a:ea typeface="+mn-ea"/>
                <a:cs typeface="+mn-cs"/>
              </a:rPr>
              <a:t> el </a:t>
            </a:r>
            <a:r>
              <a:rPr lang="es-ES" sz="1200" b="0" i="0" kern="1200" dirty="0" err="1">
                <a:solidFill>
                  <a:schemeClr val="tx1"/>
                </a:solidFill>
                <a:effectLst/>
                <a:latin typeface="+mn-lt"/>
                <a:ea typeface="+mn-ea"/>
                <a:cs typeface="+mn-cs"/>
              </a:rPr>
              <a:t>creixement</a:t>
            </a:r>
            <a:r>
              <a:rPr lang="es-ES" sz="1200" b="0" i="0" kern="1200" dirty="0">
                <a:solidFill>
                  <a:schemeClr val="tx1"/>
                </a:solidFill>
                <a:effectLst/>
                <a:latin typeface="+mn-lt"/>
                <a:ea typeface="+mn-ea"/>
                <a:cs typeface="+mn-cs"/>
              </a:rPr>
              <a:t>, </a:t>
            </a:r>
            <a:r>
              <a:rPr lang="es-ES" sz="1200" b="0" i="0" kern="1200" dirty="0" err="1">
                <a:solidFill>
                  <a:schemeClr val="tx1"/>
                </a:solidFill>
                <a:effectLst/>
                <a:latin typeface="+mn-lt"/>
                <a:ea typeface="+mn-ea"/>
                <a:cs typeface="+mn-cs"/>
              </a:rPr>
              <a:t>aleshores</a:t>
            </a:r>
            <a:r>
              <a:rPr lang="es-ES" sz="1200" b="0" i="0" kern="1200" dirty="0">
                <a:solidFill>
                  <a:schemeClr val="tx1"/>
                </a:solidFill>
                <a:effectLst/>
                <a:latin typeface="+mn-lt"/>
                <a:ea typeface="+mn-ea"/>
                <a:cs typeface="+mn-cs"/>
              </a:rPr>
              <a:t> la </a:t>
            </a:r>
            <a:r>
              <a:rPr lang="es-ES" sz="1200" b="0" i="0" kern="1200" dirty="0" err="1">
                <a:solidFill>
                  <a:schemeClr val="tx1"/>
                </a:solidFill>
                <a:effectLst/>
                <a:latin typeface="+mn-lt"/>
                <a:ea typeface="+mn-ea"/>
                <a:cs typeface="+mn-cs"/>
              </a:rPr>
              <a:t>part</a:t>
            </a:r>
            <a:r>
              <a:rPr lang="es-ES" sz="1200" b="0" i="0" kern="1200" dirty="0">
                <a:solidFill>
                  <a:schemeClr val="tx1"/>
                </a:solidFill>
                <a:effectLst/>
                <a:latin typeface="+mn-lt"/>
                <a:ea typeface="+mn-ea"/>
                <a:cs typeface="+mn-cs"/>
              </a:rPr>
              <a:t> </a:t>
            </a:r>
            <a:r>
              <a:rPr lang="es-ES" sz="1200" b="0" i="0" kern="1200" dirty="0" err="1">
                <a:solidFill>
                  <a:schemeClr val="tx1"/>
                </a:solidFill>
                <a:effectLst/>
                <a:latin typeface="+mn-lt"/>
                <a:ea typeface="+mn-ea"/>
                <a:cs typeface="+mn-cs"/>
              </a:rPr>
              <a:t>restant</a:t>
            </a:r>
            <a:r>
              <a:rPr lang="es-ES" sz="1200" b="0" i="0" kern="1200" dirty="0">
                <a:solidFill>
                  <a:schemeClr val="tx1"/>
                </a:solidFill>
                <a:effectLst/>
                <a:latin typeface="+mn-lt"/>
                <a:ea typeface="+mn-ea"/>
                <a:cs typeface="+mn-cs"/>
              </a:rPr>
              <a:t> —</a:t>
            </a:r>
            <a:r>
              <a:rPr lang="es-ES" sz="1200" b="0" i="0" kern="1200" dirty="0" err="1">
                <a:solidFill>
                  <a:schemeClr val="tx1"/>
                </a:solidFill>
                <a:effectLst/>
                <a:latin typeface="+mn-lt"/>
                <a:ea typeface="+mn-ea"/>
                <a:cs typeface="+mn-cs"/>
              </a:rPr>
              <a:t>els</a:t>
            </a:r>
            <a:r>
              <a:rPr lang="es-ES" sz="1200" b="0" i="0" kern="1200" dirty="0">
                <a:solidFill>
                  <a:schemeClr val="tx1"/>
                </a:solidFill>
                <a:effectLst/>
                <a:latin typeface="+mn-lt"/>
                <a:ea typeface="+mn-ea"/>
                <a:cs typeface="+mn-cs"/>
              </a:rPr>
              <a:t> </a:t>
            </a:r>
            <a:r>
              <a:rPr lang="es-ES" sz="1200" b="0" i="0" kern="1200" dirty="0" err="1">
                <a:solidFill>
                  <a:schemeClr val="tx1"/>
                </a:solidFill>
                <a:effectLst/>
                <a:latin typeface="+mn-lt"/>
                <a:ea typeface="+mn-ea"/>
                <a:cs typeface="+mn-cs"/>
              </a:rPr>
              <a:t>prims</a:t>
            </a:r>
            <a:r>
              <a:rPr lang="es-ES" sz="1200" b="0" i="0" kern="1200" dirty="0">
                <a:solidFill>
                  <a:schemeClr val="tx1"/>
                </a:solidFill>
                <a:effectLst/>
                <a:latin typeface="+mn-lt"/>
                <a:ea typeface="+mn-ea"/>
                <a:cs typeface="+mn-cs"/>
              </a:rPr>
              <a:t> de Sophie Germain— no </a:t>
            </a:r>
            <a:r>
              <a:rPr lang="es-ES" sz="1200" b="0" i="0" kern="1200" dirty="0" err="1">
                <a:solidFill>
                  <a:schemeClr val="tx1"/>
                </a:solidFill>
                <a:effectLst/>
                <a:latin typeface="+mn-lt"/>
                <a:ea typeface="+mn-ea"/>
                <a:cs typeface="+mn-cs"/>
              </a:rPr>
              <a:t>pot</a:t>
            </a:r>
            <a:r>
              <a:rPr lang="es-ES" sz="1200" b="0" i="0" kern="1200" dirty="0">
                <a:solidFill>
                  <a:schemeClr val="tx1"/>
                </a:solidFill>
                <a:effectLst/>
                <a:latin typeface="+mn-lt"/>
                <a:ea typeface="+mn-ea"/>
                <a:cs typeface="+mn-cs"/>
              </a:rPr>
              <a:t> ser finita. </a:t>
            </a:r>
            <a:r>
              <a:rPr lang="es-ES" sz="1200" b="0" i="0" kern="1200" dirty="0" err="1">
                <a:solidFill>
                  <a:schemeClr val="tx1"/>
                </a:solidFill>
                <a:effectLst/>
                <a:latin typeface="+mn-lt"/>
                <a:ea typeface="+mn-ea"/>
                <a:cs typeface="+mn-cs"/>
              </a:rPr>
              <a:t>Necessàriament</a:t>
            </a:r>
            <a:r>
              <a:rPr lang="es-ES" sz="1200" b="0" i="0" kern="1200" dirty="0">
                <a:solidFill>
                  <a:schemeClr val="tx1"/>
                </a:solidFill>
                <a:effectLst/>
                <a:latin typeface="+mn-lt"/>
                <a:ea typeface="+mn-ea"/>
                <a:cs typeface="+mn-cs"/>
              </a:rPr>
              <a:t> </a:t>
            </a:r>
            <a:r>
              <a:rPr lang="es-ES" sz="1200" b="0" i="0" kern="1200" dirty="0" err="1">
                <a:solidFill>
                  <a:schemeClr val="tx1"/>
                </a:solidFill>
                <a:effectLst/>
                <a:latin typeface="+mn-lt"/>
                <a:ea typeface="+mn-ea"/>
                <a:cs typeface="+mn-cs"/>
              </a:rPr>
              <a:t>creix</a:t>
            </a:r>
            <a:r>
              <a:rPr lang="es-ES" sz="1200" b="0" i="0" kern="1200" dirty="0">
                <a:solidFill>
                  <a:schemeClr val="tx1"/>
                </a:solidFill>
                <a:effectLst/>
                <a:latin typeface="+mn-lt"/>
                <a:ea typeface="+mn-ea"/>
                <a:cs typeface="+mn-cs"/>
              </a:rPr>
              <a:t> </a:t>
            </a:r>
            <a:r>
              <a:rPr lang="es-ES" sz="1200" b="0" i="0" kern="1200" dirty="0" err="1">
                <a:solidFill>
                  <a:schemeClr val="tx1"/>
                </a:solidFill>
                <a:effectLst/>
                <a:latin typeface="+mn-lt"/>
                <a:ea typeface="+mn-ea"/>
                <a:cs typeface="+mn-cs"/>
              </a:rPr>
              <a:t>amb</a:t>
            </a:r>
            <a:r>
              <a:rPr lang="es-ES" sz="1200" b="0" i="0" kern="1200" dirty="0">
                <a:solidFill>
                  <a:schemeClr val="tx1"/>
                </a:solidFill>
                <a:effectLst/>
                <a:latin typeface="+mn-lt"/>
                <a:ea typeface="+mn-ea"/>
                <a:cs typeface="+mn-cs"/>
              </a:rPr>
              <a:t> $N$.</a:t>
            </a:r>
          </a:p>
          <a:p>
            <a:r>
              <a:rPr lang="es-ES" sz="1200" b="0" i="0" kern="1200" dirty="0" err="1">
                <a:solidFill>
                  <a:schemeClr val="tx1"/>
                </a:solidFill>
                <a:effectLst/>
                <a:latin typeface="+mn-lt"/>
                <a:ea typeface="+mn-ea"/>
                <a:cs typeface="+mn-cs"/>
              </a:rPr>
              <a:t>Aquest</a:t>
            </a:r>
            <a:r>
              <a:rPr lang="es-ES" sz="1200" b="0" i="0" kern="1200" dirty="0">
                <a:solidFill>
                  <a:schemeClr val="tx1"/>
                </a:solidFill>
                <a:effectLst/>
                <a:latin typeface="+mn-lt"/>
                <a:ea typeface="+mn-ea"/>
                <a:cs typeface="+mn-cs"/>
              </a:rPr>
              <a:t> </a:t>
            </a:r>
            <a:r>
              <a:rPr lang="es-ES" sz="1200" b="0" i="0" kern="1200" dirty="0" err="1">
                <a:solidFill>
                  <a:schemeClr val="tx1"/>
                </a:solidFill>
                <a:effectLst/>
                <a:latin typeface="+mn-lt"/>
                <a:ea typeface="+mn-ea"/>
                <a:cs typeface="+mn-cs"/>
              </a:rPr>
              <a:t>és</a:t>
            </a:r>
            <a:r>
              <a:rPr lang="es-ES" sz="1200" b="0" i="0" kern="1200" dirty="0">
                <a:solidFill>
                  <a:schemeClr val="tx1"/>
                </a:solidFill>
                <a:effectLst/>
                <a:latin typeface="+mn-lt"/>
                <a:ea typeface="+mn-ea"/>
                <a:cs typeface="+mn-cs"/>
              </a:rPr>
              <a:t> el </a:t>
            </a:r>
            <a:r>
              <a:rPr lang="es-ES" sz="1200" b="0" i="0" kern="1200" dirty="0" err="1">
                <a:solidFill>
                  <a:schemeClr val="tx1"/>
                </a:solidFill>
                <a:effectLst/>
                <a:latin typeface="+mn-lt"/>
                <a:ea typeface="+mn-ea"/>
                <a:cs typeface="+mn-cs"/>
              </a:rPr>
              <a:t>criteri</a:t>
            </a:r>
            <a:r>
              <a:rPr lang="es-ES" sz="1200" b="0" i="0" kern="1200" dirty="0">
                <a:solidFill>
                  <a:schemeClr val="tx1"/>
                </a:solidFill>
                <a:effectLst/>
                <a:latin typeface="+mn-lt"/>
                <a:ea typeface="+mn-ea"/>
                <a:cs typeface="+mn-cs"/>
              </a:rPr>
              <a:t> </a:t>
            </a:r>
            <a:r>
              <a:rPr lang="es-ES" sz="1200" b="0" i="0" kern="1200" dirty="0" err="1">
                <a:solidFill>
                  <a:schemeClr val="tx1"/>
                </a:solidFill>
                <a:effectLst/>
                <a:latin typeface="+mn-lt"/>
                <a:ea typeface="+mn-ea"/>
                <a:cs typeface="+mn-cs"/>
              </a:rPr>
              <a:t>asimptòtic</a:t>
            </a:r>
            <a:r>
              <a:rPr lang="es-ES" sz="1200" b="0" i="0" kern="1200" dirty="0">
                <a:solidFill>
                  <a:schemeClr val="tx1"/>
                </a:solidFill>
                <a:effectLst/>
                <a:latin typeface="+mn-lt"/>
                <a:ea typeface="+mn-ea"/>
                <a:cs typeface="+mn-cs"/>
              </a:rPr>
              <a:t> que justifica que </a:t>
            </a:r>
            <a:r>
              <a:rPr lang="es-ES" sz="1200" b="1" i="0" kern="1200" dirty="0" err="1">
                <a:solidFill>
                  <a:schemeClr val="tx1"/>
                </a:solidFill>
                <a:effectLst/>
                <a:latin typeface="+mn-lt"/>
                <a:ea typeface="+mn-ea"/>
                <a:cs typeface="+mn-cs"/>
              </a:rPr>
              <a:t>Lsg</a:t>
            </a:r>
            <a:r>
              <a:rPr lang="es-ES" sz="1200" b="1" i="0" kern="1200" dirty="0">
                <a:solidFill>
                  <a:schemeClr val="tx1"/>
                </a:solidFill>
                <a:effectLst/>
                <a:latin typeface="+mn-lt"/>
                <a:ea typeface="+mn-ea"/>
                <a:cs typeface="+mn-cs"/>
              </a:rPr>
              <a:t> </a:t>
            </a:r>
            <a:r>
              <a:rPr lang="es-ES" sz="1200" b="1" i="0" kern="1200" dirty="0" err="1">
                <a:solidFill>
                  <a:schemeClr val="tx1"/>
                </a:solidFill>
                <a:effectLst/>
                <a:latin typeface="+mn-lt"/>
                <a:ea typeface="+mn-ea"/>
                <a:cs typeface="+mn-cs"/>
              </a:rPr>
              <a:t>és</a:t>
            </a:r>
            <a:r>
              <a:rPr lang="es-ES" sz="1200" b="1" i="0" kern="1200" dirty="0">
                <a:solidFill>
                  <a:schemeClr val="tx1"/>
                </a:solidFill>
                <a:effectLst/>
                <a:latin typeface="+mn-lt"/>
                <a:ea typeface="+mn-ea"/>
                <a:cs typeface="+mn-cs"/>
              </a:rPr>
              <a:t> </a:t>
            </a:r>
            <a:r>
              <a:rPr lang="es-ES" sz="1200" b="1" i="0" kern="1200" dirty="0" err="1">
                <a:solidFill>
                  <a:schemeClr val="tx1"/>
                </a:solidFill>
                <a:effectLst/>
                <a:latin typeface="+mn-lt"/>
                <a:ea typeface="+mn-ea"/>
                <a:cs typeface="+mn-cs"/>
              </a:rPr>
              <a:t>infinit</a:t>
            </a:r>
            <a:r>
              <a:rPr lang="es-ES" sz="1200" b="0" i="0" kern="1200" dirty="0">
                <a:solidFill>
                  <a:schemeClr val="tx1"/>
                </a:solidFill>
                <a:effectLst/>
                <a:latin typeface="+mn-lt"/>
                <a:ea typeface="+mn-ea"/>
                <a:cs typeface="+mn-cs"/>
              </a:rPr>
              <a:t>.</a:t>
            </a:r>
          </a:p>
          <a:p>
            <a:br>
              <a:rPr lang="es-ES" sz="1200" b="0" i="0" kern="1200" dirty="0">
                <a:solidFill>
                  <a:schemeClr val="tx1"/>
                </a:solidFill>
                <a:effectLst/>
                <a:latin typeface="+mn-lt"/>
                <a:ea typeface="+mn-ea"/>
                <a:cs typeface="+mn-cs"/>
              </a:rPr>
            </a:br>
            <a:endParaRPr lang="es-ES" sz="1200" b="0" i="0" kern="1200" dirty="0">
              <a:solidFill>
                <a:schemeClr val="tx1"/>
              </a:solidFill>
              <a:effectLst/>
              <a:latin typeface="+mn-lt"/>
              <a:ea typeface="+mn-ea"/>
              <a:cs typeface="+mn-cs"/>
            </a:endParaRPr>
          </a:p>
          <a:p>
            <a:r>
              <a:rPr lang="es-ES" sz="1200" b="0" i="0" kern="1200" dirty="0">
                <a:solidFill>
                  <a:schemeClr val="tx1"/>
                </a:solidFill>
                <a:effectLst/>
                <a:latin typeface="+mn-lt"/>
                <a:ea typeface="+mn-ea"/>
                <a:cs typeface="+mn-cs"/>
              </a:rPr>
              <a:t>Si </a:t>
            </a:r>
            <a:r>
              <a:rPr lang="es-ES" sz="1200" b="0" i="0" kern="1200" dirty="0" err="1">
                <a:solidFill>
                  <a:schemeClr val="tx1"/>
                </a:solidFill>
                <a:effectLst/>
                <a:latin typeface="+mn-lt"/>
                <a:ea typeface="+mn-ea"/>
                <a:cs typeface="+mn-cs"/>
              </a:rPr>
              <a:t>vols</a:t>
            </a:r>
            <a:r>
              <a:rPr lang="es-ES" sz="1200" b="0" i="0" kern="1200" dirty="0">
                <a:solidFill>
                  <a:schemeClr val="tx1"/>
                </a:solidFill>
                <a:effectLst/>
                <a:latin typeface="+mn-lt"/>
                <a:ea typeface="+mn-ea"/>
                <a:cs typeface="+mn-cs"/>
              </a:rPr>
              <a:t>, et genere:</a:t>
            </a:r>
          </a:p>
          <a:p>
            <a:r>
              <a:rPr lang="es-ES" sz="1200" b="1" i="0" kern="1200" dirty="0" err="1">
                <a:solidFill>
                  <a:schemeClr val="tx1"/>
                </a:solidFill>
                <a:effectLst/>
                <a:latin typeface="+mn-lt"/>
                <a:ea typeface="+mn-ea"/>
                <a:cs typeface="+mn-cs"/>
              </a:rPr>
              <a:t>versió</a:t>
            </a:r>
            <a:r>
              <a:rPr lang="es-ES" sz="1200" b="1" i="0" kern="1200" dirty="0">
                <a:solidFill>
                  <a:schemeClr val="tx1"/>
                </a:solidFill>
                <a:effectLst/>
                <a:latin typeface="+mn-lt"/>
                <a:ea typeface="+mn-ea"/>
                <a:cs typeface="+mn-cs"/>
              </a:rPr>
              <a:t> </a:t>
            </a:r>
            <a:r>
              <a:rPr lang="es-ES" sz="1200" b="1" i="0" kern="1200" dirty="0" err="1">
                <a:solidFill>
                  <a:schemeClr val="tx1"/>
                </a:solidFill>
                <a:effectLst/>
                <a:latin typeface="+mn-lt"/>
                <a:ea typeface="+mn-ea"/>
                <a:cs typeface="+mn-cs"/>
              </a:rPr>
              <a:t>molt</a:t>
            </a:r>
            <a:r>
              <a:rPr lang="es-ES" sz="1200" b="1" i="0" kern="1200" dirty="0">
                <a:solidFill>
                  <a:schemeClr val="tx1"/>
                </a:solidFill>
                <a:effectLst/>
                <a:latin typeface="+mn-lt"/>
                <a:ea typeface="+mn-ea"/>
                <a:cs typeface="+mn-cs"/>
              </a:rPr>
              <a:t> curta</a:t>
            </a:r>
            <a:r>
              <a:rPr lang="es-ES" sz="1200" b="0" i="0" kern="1200" dirty="0">
                <a:solidFill>
                  <a:schemeClr val="tx1"/>
                </a:solidFill>
                <a:effectLst/>
                <a:latin typeface="+mn-lt"/>
                <a:ea typeface="+mn-ea"/>
                <a:cs typeface="+mn-cs"/>
              </a:rPr>
              <a:t> per a una sola diapositiva,</a:t>
            </a:r>
          </a:p>
          <a:p>
            <a:r>
              <a:rPr lang="es-ES" sz="1200" b="1" i="0" kern="1200" dirty="0" err="1">
                <a:solidFill>
                  <a:schemeClr val="tx1"/>
                </a:solidFill>
                <a:effectLst/>
                <a:latin typeface="+mn-lt"/>
                <a:ea typeface="+mn-ea"/>
                <a:cs typeface="+mn-cs"/>
              </a:rPr>
              <a:t>versió</a:t>
            </a:r>
            <a:r>
              <a:rPr lang="es-ES" sz="1200" b="1" i="0" kern="1200" dirty="0">
                <a:solidFill>
                  <a:schemeClr val="tx1"/>
                </a:solidFill>
                <a:effectLst/>
                <a:latin typeface="+mn-lt"/>
                <a:ea typeface="+mn-ea"/>
                <a:cs typeface="+mn-cs"/>
              </a:rPr>
              <a:t> narrada</a:t>
            </a:r>
            <a:r>
              <a:rPr lang="es-ES" sz="1200" b="0" i="0" kern="1200" dirty="0">
                <a:solidFill>
                  <a:schemeClr val="tx1"/>
                </a:solidFill>
                <a:effectLst/>
                <a:latin typeface="+mn-lt"/>
                <a:ea typeface="+mn-ea"/>
                <a:cs typeface="+mn-cs"/>
              </a:rPr>
              <a:t> per </a:t>
            </a:r>
            <a:r>
              <a:rPr lang="es-ES" sz="1200" b="0" i="0" kern="1200" dirty="0" err="1">
                <a:solidFill>
                  <a:schemeClr val="tx1"/>
                </a:solidFill>
                <a:effectLst/>
                <a:latin typeface="+mn-lt"/>
                <a:ea typeface="+mn-ea"/>
                <a:cs typeface="+mn-cs"/>
              </a:rPr>
              <a:t>llegir</a:t>
            </a:r>
            <a:r>
              <a:rPr lang="es-ES" sz="1200" b="0" i="0" kern="1200" dirty="0">
                <a:solidFill>
                  <a:schemeClr val="tx1"/>
                </a:solidFill>
                <a:effectLst/>
                <a:latin typeface="+mn-lt"/>
                <a:ea typeface="+mn-ea"/>
                <a:cs typeface="+mn-cs"/>
              </a:rPr>
              <a:t> en </a:t>
            </a:r>
            <a:r>
              <a:rPr lang="es-ES" sz="1200" b="0" i="0" kern="1200" dirty="0" err="1">
                <a:solidFill>
                  <a:schemeClr val="tx1"/>
                </a:solidFill>
                <a:effectLst/>
                <a:latin typeface="+mn-lt"/>
                <a:ea typeface="+mn-ea"/>
                <a:cs typeface="+mn-cs"/>
              </a:rPr>
              <a:t>presentació</a:t>
            </a:r>
            <a:r>
              <a:rPr lang="es-ES" sz="1200" b="0" i="0" kern="1200" dirty="0">
                <a:solidFill>
                  <a:schemeClr val="tx1"/>
                </a:solidFill>
                <a:effectLst/>
                <a:latin typeface="+mn-lt"/>
                <a:ea typeface="+mn-ea"/>
                <a:cs typeface="+mn-cs"/>
              </a:rPr>
              <a:t>,</a:t>
            </a:r>
          </a:p>
          <a:p>
            <a:r>
              <a:rPr lang="es-ES" sz="1200" b="0" i="0" kern="1200" dirty="0">
                <a:solidFill>
                  <a:schemeClr val="tx1"/>
                </a:solidFill>
                <a:effectLst/>
                <a:latin typeface="+mn-lt"/>
                <a:ea typeface="+mn-ea"/>
                <a:cs typeface="+mn-cs"/>
              </a:rPr>
              <a:t>o </a:t>
            </a:r>
            <a:r>
              <a:rPr lang="es-ES" sz="1200" b="1" i="0" kern="1200" dirty="0" err="1">
                <a:solidFill>
                  <a:schemeClr val="tx1"/>
                </a:solidFill>
                <a:effectLst/>
                <a:latin typeface="+mn-lt"/>
                <a:ea typeface="+mn-ea"/>
                <a:cs typeface="+mn-cs"/>
              </a:rPr>
              <a:t>versió</a:t>
            </a:r>
            <a:r>
              <a:rPr lang="es-ES" sz="1200" b="1" i="0" kern="1200" dirty="0">
                <a:solidFill>
                  <a:schemeClr val="tx1"/>
                </a:solidFill>
                <a:effectLst/>
                <a:latin typeface="+mn-lt"/>
                <a:ea typeface="+mn-ea"/>
                <a:cs typeface="+mn-cs"/>
              </a:rPr>
              <a:t> formal</a:t>
            </a:r>
            <a:r>
              <a:rPr lang="es-ES" sz="1200" b="0" i="0" kern="1200" dirty="0">
                <a:solidFill>
                  <a:schemeClr val="tx1"/>
                </a:solidFill>
                <a:effectLst/>
                <a:latin typeface="+mn-lt"/>
                <a:ea typeface="+mn-ea"/>
                <a:cs typeface="+mn-cs"/>
              </a:rPr>
              <a:t> </a:t>
            </a:r>
            <a:r>
              <a:rPr lang="es-ES" sz="1200" b="0" i="0" kern="1200" dirty="0" err="1">
                <a:solidFill>
                  <a:schemeClr val="tx1"/>
                </a:solidFill>
                <a:effectLst/>
                <a:latin typeface="+mn-lt"/>
                <a:ea typeface="+mn-ea"/>
                <a:cs typeface="+mn-cs"/>
              </a:rPr>
              <a:t>com</a:t>
            </a:r>
            <a:r>
              <a:rPr lang="es-ES" sz="1200" b="0" i="0" kern="1200" dirty="0">
                <a:solidFill>
                  <a:schemeClr val="tx1"/>
                </a:solidFill>
                <a:effectLst/>
                <a:latin typeface="+mn-lt"/>
                <a:ea typeface="+mn-ea"/>
                <a:cs typeface="+mn-cs"/>
              </a:rPr>
              <a:t> en un </a:t>
            </a:r>
            <a:r>
              <a:rPr lang="es-ES" sz="1200" b="0" i="0" kern="1200" dirty="0" err="1">
                <a:solidFill>
                  <a:schemeClr val="tx1"/>
                </a:solidFill>
                <a:effectLst/>
                <a:latin typeface="+mn-lt"/>
                <a:ea typeface="+mn-ea"/>
                <a:cs typeface="+mn-cs"/>
              </a:rPr>
              <a:t>article</a:t>
            </a:r>
            <a:r>
              <a:rPr lang="es-ES" sz="1200" b="0" i="0" kern="1200" dirty="0">
                <a:solidFill>
                  <a:schemeClr val="tx1"/>
                </a:solidFill>
                <a:effectLst/>
                <a:latin typeface="+mn-lt"/>
                <a:ea typeface="+mn-ea"/>
                <a:cs typeface="+mn-cs"/>
              </a:rPr>
              <a:t> </a:t>
            </a:r>
            <a:r>
              <a:rPr lang="es-ES" sz="1200" b="0" i="0" kern="1200" dirty="0" err="1">
                <a:solidFill>
                  <a:schemeClr val="tx1"/>
                </a:solidFill>
                <a:effectLst/>
                <a:latin typeface="+mn-lt"/>
                <a:ea typeface="+mn-ea"/>
                <a:cs typeface="+mn-cs"/>
              </a:rPr>
              <a:t>científic</a:t>
            </a:r>
            <a:r>
              <a:rPr lang="es-ES" sz="1200" b="0" i="0" kern="1200" dirty="0">
                <a:solidFill>
                  <a:schemeClr val="tx1"/>
                </a:solidFill>
                <a:effectLst/>
                <a:latin typeface="+mn-lt"/>
                <a:ea typeface="+mn-ea"/>
                <a:cs typeface="+mn-cs"/>
              </a:rPr>
              <a:t>.</a:t>
            </a:r>
          </a:p>
          <a:p>
            <a:endParaRPr lang="es-ES" dirty="0"/>
          </a:p>
        </p:txBody>
      </p:sp>
      <p:sp>
        <p:nvSpPr>
          <p:cNvPr id="4" name="Marcador de número de diapositiva 3"/>
          <p:cNvSpPr>
            <a:spLocks noGrp="1"/>
          </p:cNvSpPr>
          <p:nvPr>
            <p:ph type="sldNum" sz="quarter" idx="5"/>
          </p:nvPr>
        </p:nvSpPr>
        <p:spPr/>
        <p:txBody>
          <a:bodyPr/>
          <a:lstStyle/>
          <a:p>
            <a:fld id="{98D70127-EE0F-4E6E-BC66-ABB9CC793D37}" type="slidenum">
              <a:rPr lang="es-ES" smtClean="0"/>
              <a:t>4</a:t>
            </a:fld>
            <a:endParaRPr lang="es-ES"/>
          </a:p>
        </p:txBody>
      </p:sp>
    </p:spTree>
    <p:extLst>
      <p:ext uri="{BB962C8B-B14F-4D97-AF65-F5344CB8AC3E}">
        <p14:creationId xmlns:p14="http://schemas.microsoft.com/office/powerpoint/2010/main" val="25231811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sz="1200" b="0" i="0" kern="1200" dirty="0">
                <a:solidFill>
                  <a:schemeClr val="tx1"/>
                </a:solidFill>
                <a:effectLst/>
                <a:latin typeface="+mn-lt"/>
                <a:ea typeface="+mn-ea"/>
                <a:cs typeface="+mn-cs"/>
              </a:rPr>
              <a:t>Perfecto, Víctor. Te dejo un texto limpio y listo para </a:t>
            </a:r>
            <a:r>
              <a:rPr lang="es-ES" sz="1200" b="1" i="0" kern="1200" dirty="0">
                <a:solidFill>
                  <a:schemeClr val="tx1"/>
                </a:solidFill>
                <a:effectLst/>
                <a:latin typeface="+mn-lt"/>
                <a:ea typeface="+mn-ea"/>
                <a:cs typeface="+mn-cs"/>
              </a:rPr>
              <a:t>sofi.pptx</a:t>
            </a:r>
            <a:r>
              <a:rPr lang="es-ES" sz="1200" b="0" i="0" kern="1200" dirty="0">
                <a:solidFill>
                  <a:schemeClr val="tx1"/>
                </a:solidFill>
                <a:effectLst/>
                <a:latin typeface="+mn-lt"/>
                <a:ea typeface="+mn-ea"/>
                <a:cs typeface="+mn-cs"/>
              </a:rPr>
              <a:t> que plantea la </a:t>
            </a:r>
            <a:r>
              <a:rPr lang="es-ES" sz="1200" b="1" i="0" kern="1200" dirty="0">
                <a:solidFill>
                  <a:schemeClr val="tx1"/>
                </a:solidFill>
                <a:effectLst/>
                <a:latin typeface="+mn-lt"/>
                <a:ea typeface="+mn-ea"/>
                <a:cs typeface="+mn-cs"/>
              </a:rPr>
              <a:t>hipótesis</a:t>
            </a:r>
            <a:r>
              <a:rPr lang="es-ES" sz="1200" b="0" i="0" kern="1200" dirty="0">
                <a:solidFill>
                  <a:schemeClr val="tx1"/>
                </a:solidFill>
                <a:effectLst/>
                <a:latin typeface="+mn-lt"/>
                <a:ea typeface="+mn-ea"/>
                <a:cs typeface="+mn-cs"/>
              </a:rPr>
              <a:t> y las </a:t>
            </a:r>
            <a:r>
              <a:rPr lang="es-ES" sz="1200" b="1" i="0" kern="1200" dirty="0">
                <a:solidFill>
                  <a:schemeClr val="tx1"/>
                </a:solidFill>
                <a:effectLst/>
                <a:latin typeface="+mn-lt"/>
                <a:ea typeface="+mn-ea"/>
                <a:cs typeface="+mn-cs"/>
              </a:rPr>
              <a:t>dos formulaciones excluyentes</a:t>
            </a:r>
            <a:r>
              <a:rPr lang="es-ES" sz="1200" b="0" i="0" kern="1200" dirty="0">
                <a:solidFill>
                  <a:schemeClr val="tx1"/>
                </a:solidFill>
                <a:effectLst/>
                <a:latin typeface="+mn-lt"/>
                <a:ea typeface="+mn-ea"/>
                <a:cs typeface="+mn-cs"/>
              </a:rPr>
              <a:t> sobre $L_{</a:t>
            </a:r>
            <a:r>
              <a:rPr lang="es-ES" sz="1200" b="0" i="0" kern="1200" dirty="0" err="1">
                <a:solidFill>
                  <a:schemeClr val="tx1"/>
                </a:solidFill>
                <a:effectLst/>
                <a:latin typeface="+mn-lt"/>
                <a:ea typeface="+mn-ea"/>
                <a:cs typeface="+mn-cs"/>
              </a:rPr>
              <a:t>sg</a:t>
            </a:r>
            <a:r>
              <a:rPr lang="es-ES" sz="1200" b="0" i="0" kern="1200" dirty="0">
                <a:solidFill>
                  <a:schemeClr val="tx1"/>
                </a:solidFill>
                <a:effectLst/>
                <a:latin typeface="+mn-lt"/>
                <a:ea typeface="+mn-ea"/>
                <a:cs typeface="+mn-cs"/>
              </a:rPr>
              <a:t>}$: “</a:t>
            </a:r>
            <a:r>
              <a:rPr lang="es-ES" sz="1200" b="0" i="0" kern="1200" dirty="0" err="1">
                <a:solidFill>
                  <a:schemeClr val="tx1"/>
                </a:solidFill>
                <a:effectLst/>
                <a:latin typeface="+mn-lt"/>
                <a:ea typeface="+mn-ea"/>
                <a:cs typeface="+mn-cs"/>
              </a:rPr>
              <a:t>cte</a:t>
            </a:r>
            <a:r>
              <a:rPr lang="es-ES" sz="1200" b="0" i="0" kern="1200" dirty="0">
                <a:solidFill>
                  <a:schemeClr val="tx1"/>
                </a:solidFill>
                <a:effectLst/>
                <a:latin typeface="+mn-lt"/>
                <a:ea typeface="+mn-ea"/>
                <a:cs typeface="+mn-cs"/>
              </a:rPr>
              <a:t>” o “infinito”, siguiendo la notación y las igualdades que ya aparecen en tus diapositivas. </a:t>
            </a:r>
            <a:r>
              <a:rPr lang="es-ES" sz="1200" b="0" i="0" u="none" strike="noStrike" kern="1200" dirty="0">
                <a:solidFill>
                  <a:schemeClr val="tx1"/>
                </a:solidFill>
                <a:effectLst/>
                <a:latin typeface="+mn-lt"/>
                <a:ea typeface="+mn-ea"/>
                <a:cs typeface="+mn-cs"/>
                <a:hlinkClick r:id="rId3"/>
              </a:rPr>
              <a:t>[</a:t>
            </a:r>
            <a:r>
              <a:rPr lang="es-ES" sz="1200" b="0" i="0" u="none" strike="noStrike" kern="1200" dirty="0" err="1">
                <a:solidFill>
                  <a:schemeClr val="tx1"/>
                </a:solidFill>
                <a:effectLst/>
                <a:latin typeface="+mn-lt"/>
                <a:ea typeface="+mn-ea"/>
                <a:cs typeface="+mn-cs"/>
                <a:hlinkClick r:id="rId3"/>
              </a:rPr>
              <a:t>sofi</a:t>
            </a:r>
            <a:r>
              <a:rPr lang="es-ES" sz="1200" b="0" i="0" u="none" strike="noStrike" kern="1200" dirty="0">
                <a:solidFill>
                  <a:schemeClr val="tx1"/>
                </a:solidFill>
                <a:effectLst/>
                <a:latin typeface="+mn-lt"/>
                <a:ea typeface="+mn-ea"/>
                <a:cs typeface="+mn-cs"/>
                <a:hlinkClick r:id="rId3"/>
              </a:rPr>
              <a:t> | PowerPoint]</a:t>
            </a:r>
            <a:endParaRPr lang="es-ES" sz="1200" b="0" i="0" kern="1200" dirty="0">
              <a:solidFill>
                <a:schemeClr val="tx1"/>
              </a:solidFill>
              <a:effectLst/>
              <a:latin typeface="+mn-lt"/>
              <a:ea typeface="+mn-ea"/>
              <a:cs typeface="+mn-cs"/>
            </a:endParaRPr>
          </a:p>
          <a:p>
            <a:br>
              <a:rPr lang="es-ES" sz="1200" b="0" i="0" kern="1200" dirty="0">
                <a:solidFill>
                  <a:schemeClr val="tx1"/>
                </a:solidFill>
                <a:effectLst/>
                <a:latin typeface="+mn-lt"/>
                <a:ea typeface="+mn-ea"/>
                <a:cs typeface="+mn-cs"/>
              </a:rPr>
            </a:br>
            <a:endParaRPr lang="es-ES" sz="1200" b="0" i="0" kern="1200" dirty="0">
              <a:solidFill>
                <a:schemeClr val="tx1"/>
              </a:solidFill>
              <a:effectLst/>
              <a:latin typeface="+mn-lt"/>
              <a:ea typeface="+mn-ea"/>
              <a:cs typeface="+mn-cs"/>
            </a:endParaRPr>
          </a:p>
          <a:p>
            <a:r>
              <a:rPr lang="es-ES" sz="1200" b="1" i="0" kern="1200" dirty="0">
                <a:solidFill>
                  <a:schemeClr val="tx1"/>
                </a:solidFill>
                <a:effectLst/>
                <a:latin typeface="+mn-lt"/>
                <a:ea typeface="+mn-ea"/>
                <a:cs typeface="+mn-cs"/>
              </a:rPr>
              <a:t>🎯 Hipótesis de trabajo</a:t>
            </a:r>
          </a:p>
          <a:p>
            <a:r>
              <a:rPr lang="es-ES" sz="1200" b="0" i="0" kern="1200" dirty="0">
                <a:solidFill>
                  <a:schemeClr val="tx1"/>
                </a:solidFill>
                <a:effectLst/>
                <a:latin typeface="+mn-lt"/>
                <a:ea typeface="+mn-ea"/>
                <a:cs typeface="+mn-cs"/>
              </a:rPr>
              <a:t>Sea $L_1={6k-1}$ el universo y consideremos la descomposición:</a:t>
            </a:r>
          </a:p>
          <a:p>
            <a:r>
              <a:rPr lang="es-ES" sz="1200" b="0" i="0" kern="1200" dirty="0">
                <a:solidFill>
                  <a:schemeClr val="tx1"/>
                </a:solidFill>
                <a:effectLst/>
                <a:latin typeface="+mn-lt"/>
                <a:ea typeface="+mn-ea"/>
                <a:cs typeface="+mn-cs"/>
              </a:rPr>
              <a:t>$ L</a:t>
            </a:r>
            <a:r>
              <a:rPr lang="es-ES" sz="1200" b="0" i="1" kern="1200" dirty="0">
                <a:solidFill>
                  <a:schemeClr val="tx1"/>
                </a:solidFill>
                <a:effectLst/>
                <a:latin typeface="+mn-lt"/>
                <a:ea typeface="+mn-ea"/>
                <a:cs typeface="+mn-cs"/>
              </a:rPr>
              <a:t>1 = L</a:t>
            </a:r>
            <a:r>
              <a:rPr lang="es-ES" sz="1200" b="0" i="0" kern="1200" dirty="0">
                <a:solidFill>
                  <a:schemeClr val="tx1"/>
                </a:solidFill>
                <a:effectLst/>
                <a:latin typeface="+mn-lt"/>
                <a:ea typeface="+mn-ea"/>
                <a:cs typeface="+mn-cs"/>
              </a:rPr>
              <a:t>{</a:t>
            </a:r>
            <a:r>
              <a:rPr lang="es-ES" sz="1200" b="0" i="0" kern="1200" dirty="0" err="1">
                <a:solidFill>
                  <a:schemeClr val="tx1"/>
                </a:solidFill>
                <a:effectLst/>
                <a:latin typeface="+mn-lt"/>
                <a:ea typeface="+mn-ea"/>
                <a:cs typeface="+mn-cs"/>
              </a:rPr>
              <a:t>sg</a:t>
            </a:r>
            <a:r>
              <a:rPr lang="es-ES" sz="1200" b="0" i="0" kern="1200" dirty="0">
                <a:solidFill>
                  <a:schemeClr val="tx1"/>
                </a:solidFill>
                <a:effectLst/>
                <a:latin typeface="+mn-lt"/>
                <a:ea typeface="+mn-ea"/>
                <a:cs typeface="+mn-cs"/>
              </a:rPr>
              <a:t>}\;\cup\;L</a:t>
            </a:r>
            <a:r>
              <a:rPr lang="es-ES" sz="1200" b="0" i="1" kern="1200" dirty="0">
                <a:solidFill>
                  <a:schemeClr val="tx1"/>
                </a:solidFill>
                <a:effectLst/>
                <a:latin typeface="+mn-lt"/>
                <a:ea typeface="+mn-ea"/>
                <a:cs typeface="+mn-cs"/>
              </a:rPr>
              <a:t>3\;\cup\;L</a:t>
            </a:r>
            <a:r>
              <a:rPr lang="es-ES" sz="1200" b="0" i="0" kern="1200" dirty="0">
                <a:solidFill>
                  <a:schemeClr val="tx1"/>
                </a:solidFill>
                <a:effectLst/>
                <a:latin typeface="+mn-lt"/>
                <a:ea typeface="+mn-ea"/>
                <a:cs typeface="+mn-cs"/>
              </a:rPr>
              <a:t>4,\</a:t>
            </a:r>
            <a:r>
              <a:rPr lang="es-ES" sz="1200" b="0" i="0" kern="1200" dirty="0" err="1">
                <a:solidFill>
                  <a:schemeClr val="tx1"/>
                </a:solidFill>
                <a:effectLst/>
                <a:latin typeface="+mn-lt"/>
                <a:ea typeface="+mn-ea"/>
                <a:cs typeface="+mn-cs"/>
              </a:rPr>
              <a:t>qquad</a:t>
            </a:r>
            <a:r>
              <a:rPr lang="es-ES" sz="1200" b="0" i="0" kern="1200" dirty="0">
                <a:solidFill>
                  <a:schemeClr val="tx1"/>
                </a:solidFill>
                <a:effectLst/>
                <a:latin typeface="+mn-lt"/>
                <a:ea typeface="+mn-ea"/>
                <a:cs typeface="+mn-cs"/>
              </a:rPr>
              <a:t> L</a:t>
            </a:r>
            <a:r>
              <a:rPr lang="es-ES" sz="1200" b="0" i="1" kern="1200" dirty="0">
                <a:solidFill>
                  <a:schemeClr val="tx1"/>
                </a:solidFill>
                <a:effectLst/>
                <a:latin typeface="+mn-lt"/>
                <a:ea typeface="+mn-ea"/>
                <a:cs typeface="+mn-cs"/>
              </a:rPr>
              <a:t>2=L</a:t>
            </a:r>
            <a:r>
              <a:rPr lang="es-ES" sz="1200" b="0" i="0" kern="1200" dirty="0">
                <a:solidFill>
                  <a:schemeClr val="tx1"/>
                </a:solidFill>
                <a:effectLst/>
                <a:latin typeface="+mn-lt"/>
                <a:ea typeface="+mn-ea"/>
                <a:cs typeface="+mn-cs"/>
              </a:rPr>
              <a:t>3\</a:t>
            </a:r>
            <a:r>
              <a:rPr lang="es-ES" sz="1200" b="0" i="0" kern="1200" dirty="0" err="1">
                <a:solidFill>
                  <a:schemeClr val="tx1"/>
                </a:solidFill>
                <a:effectLst/>
                <a:latin typeface="+mn-lt"/>
                <a:ea typeface="+mn-ea"/>
                <a:cs typeface="+mn-cs"/>
              </a:rPr>
              <a:t>cap</a:t>
            </a:r>
            <a:r>
              <a:rPr lang="es-ES" sz="1200" b="0" i="0" kern="1200" dirty="0">
                <a:solidFill>
                  <a:schemeClr val="tx1"/>
                </a:solidFill>
                <a:effectLst/>
                <a:latin typeface="+mn-lt"/>
                <a:ea typeface="+mn-ea"/>
                <a:cs typeface="+mn-cs"/>
              </a:rPr>
              <a:t> L</a:t>
            </a:r>
            <a:r>
              <a:rPr lang="es-ES" sz="1200" b="0" i="1" kern="1200" dirty="0">
                <a:solidFill>
                  <a:schemeClr val="tx1"/>
                </a:solidFill>
                <a:effectLst/>
                <a:latin typeface="+mn-lt"/>
                <a:ea typeface="+mn-ea"/>
                <a:cs typeface="+mn-cs"/>
              </a:rPr>
              <a:t>4,\</a:t>
            </a:r>
            <a:r>
              <a:rPr lang="es-ES" sz="1200" b="0" i="1" kern="1200" dirty="0" err="1">
                <a:solidFill>
                  <a:schemeClr val="tx1"/>
                </a:solidFill>
                <a:effectLst/>
                <a:latin typeface="+mn-lt"/>
                <a:ea typeface="+mn-ea"/>
                <a:cs typeface="+mn-cs"/>
              </a:rPr>
              <a:t>qquad</a:t>
            </a:r>
            <a:r>
              <a:rPr lang="es-ES" sz="1200" b="0" i="1" kern="1200" dirty="0">
                <a:solidFill>
                  <a:schemeClr val="tx1"/>
                </a:solidFill>
                <a:effectLst/>
                <a:latin typeface="+mn-lt"/>
                <a:ea typeface="+mn-ea"/>
                <a:cs typeface="+mn-cs"/>
              </a:rPr>
              <a:t> L</a:t>
            </a:r>
            <a:r>
              <a:rPr lang="es-ES" sz="1200" b="0" i="0" kern="1200" dirty="0">
                <a:solidFill>
                  <a:schemeClr val="tx1"/>
                </a:solidFill>
                <a:effectLst/>
                <a:latin typeface="+mn-lt"/>
                <a:ea typeface="+mn-ea"/>
                <a:cs typeface="+mn-cs"/>
              </a:rPr>
              <a:t>3\</a:t>
            </a:r>
            <a:r>
              <a:rPr lang="es-ES" sz="1200" b="0" i="0" kern="1200" dirty="0" err="1">
                <a:solidFill>
                  <a:schemeClr val="tx1"/>
                </a:solidFill>
                <a:effectLst/>
                <a:latin typeface="+mn-lt"/>
                <a:ea typeface="+mn-ea"/>
                <a:cs typeface="+mn-cs"/>
              </a:rPr>
              <a:t>setminus</a:t>
            </a:r>
            <a:r>
              <a:rPr lang="es-ES" sz="1200" b="0" i="0" kern="1200" dirty="0">
                <a:solidFill>
                  <a:schemeClr val="tx1"/>
                </a:solidFill>
                <a:effectLst/>
                <a:latin typeface="+mn-lt"/>
                <a:ea typeface="+mn-ea"/>
                <a:cs typeface="+mn-cs"/>
              </a:rPr>
              <a:t> L</a:t>
            </a:r>
            <a:r>
              <a:rPr lang="es-ES" sz="1200" b="0" i="1" kern="1200" dirty="0">
                <a:solidFill>
                  <a:schemeClr val="tx1"/>
                </a:solidFill>
                <a:effectLst/>
                <a:latin typeface="+mn-lt"/>
                <a:ea typeface="+mn-ea"/>
                <a:cs typeface="+mn-cs"/>
              </a:rPr>
              <a:t>4,\; L</a:t>
            </a:r>
            <a:r>
              <a:rPr lang="es-ES" sz="1200" b="0" i="0" kern="1200" dirty="0">
                <a:solidFill>
                  <a:schemeClr val="tx1"/>
                </a:solidFill>
                <a:effectLst/>
                <a:latin typeface="+mn-lt"/>
                <a:ea typeface="+mn-ea"/>
                <a:cs typeface="+mn-cs"/>
              </a:rPr>
              <a:t>4\</a:t>
            </a:r>
            <a:r>
              <a:rPr lang="es-ES" sz="1200" b="0" i="0" kern="1200" dirty="0" err="1">
                <a:solidFill>
                  <a:schemeClr val="tx1"/>
                </a:solidFill>
                <a:effectLst/>
                <a:latin typeface="+mn-lt"/>
                <a:ea typeface="+mn-ea"/>
                <a:cs typeface="+mn-cs"/>
              </a:rPr>
              <a:t>setminus</a:t>
            </a:r>
            <a:r>
              <a:rPr lang="es-ES" sz="1200" b="0" i="0" kern="1200" dirty="0">
                <a:solidFill>
                  <a:schemeClr val="tx1"/>
                </a:solidFill>
                <a:effectLst/>
                <a:latin typeface="+mn-lt"/>
                <a:ea typeface="+mn-ea"/>
                <a:cs typeface="+mn-cs"/>
              </a:rPr>
              <a:t> L_3 \</a:t>
            </a:r>
            <a:r>
              <a:rPr lang="es-ES" sz="1200" b="0" i="0" kern="1200" dirty="0" err="1">
                <a:solidFill>
                  <a:schemeClr val="tx1"/>
                </a:solidFill>
                <a:effectLst/>
                <a:latin typeface="+mn-lt"/>
                <a:ea typeface="+mn-ea"/>
                <a:cs typeface="+mn-cs"/>
              </a:rPr>
              <a:t>text</a:t>
            </a:r>
            <a:r>
              <a:rPr lang="es-ES" sz="1200" b="0" i="0" kern="1200" dirty="0">
                <a:solidFill>
                  <a:schemeClr val="tx1"/>
                </a:solidFill>
                <a:effectLst/>
                <a:latin typeface="+mn-lt"/>
                <a:ea typeface="+mn-ea"/>
                <a:cs typeface="+mn-cs"/>
              </a:rPr>
              <a:t>{ partes exclusivas.} $</a:t>
            </a:r>
          </a:p>
          <a:p>
            <a:r>
              <a:rPr lang="es-ES" sz="1200" b="0" i="0" kern="1200" dirty="0">
                <a:solidFill>
                  <a:schemeClr val="tx1"/>
                </a:solidFill>
                <a:effectLst/>
                <a:latin typeface="+mn-lt"/>
                <a:ea typeface="+mn-ea"/>
                <a:cs typeface="+mn-cs"/>
              </a:rPr>
              <a:t>Entonces, por Inclusión–Exclusión,</a:t>
            </a:r>
          </a:p>
          <a:p>
            <a:r>
              <a:rPr lang="es-ES" sz="1200" b="0" i="0" kern="1200" dirty="0">
                <a:solidFill>
                  <a:schemeClr val="tx1"/>
                </a:solidFill>
                <a:effectLst/>
                <a:latin typeface="+mn-lt"/>
                <a:ea typeface="+mn-ea"/>
                <a:cs typeface="+mn-cs"/>
              </a:rPr>
              <a:t>$ |L</a:t>
            </a:r>
            <a:r>
              <a:rPr lang="es-ES" sz="1200" b="0" i="1" kern="1200" dirty="0">
                <a:solidFill>
                  <a:schemeClr val="tx1"/>
                </a:solidFill>
                <a:effectLst/>
                <a:latin typeface="+mn-lt"/>
                <a:ea typeface="+mn-ea"/>
                <a:cs typeface="+mn-cs"/>
              </a:rPr>
              <a:t>1(N)| \;=\; |L</a:t>
            </a:r>
            <a:r>
              <a:rPr lang="es-ES" sz="1200" b="0" i="0" kern="1200" dirty="0">
                <a:solidFill>
                  <a:schemeClr val="tx1"/>
                </a:solidFill>
                <a:effectLst/>
                <a:latin typeface="+mn-lt"/>
                <a:ea typeface="+mn-ea"/>
                <a:cs typeface="+mn-cs"/>
              </a:rPr>
              <a:t>3(N)|+|L</a:t>
            </a:r>
            <a:r>
              <a:rPr lang="es-ES" sz="1200" b="0" i="1" kern="1200" dirty="0">
                <a:solidFill>
                  <a:schemeClr val="tx1"/>
                </a:solidFill>
                <a:effectLst/>
                <a:latin typeface="+mn-lt"/>
                <a:ea typeface="+mn-ea"/>
                <a:cs typeface="+mn-cs"/>
              </a:rPr>
              <a:t>4(N)|-|L</a:t>
            </a:r>
            <a:r>
              <a:rPr lang="es-ES" sz="1200" b="0" i="0" kern="1200" dirty="0">
                <a:solidFill>
                  <a:schemeClr val="tx1"/>
                </a:solidFill>
                <a:effectLst/>
                <a:latin typeface="+mn-lt"/>
                <a:ea typeface="+mn-ea"/>
                <a:cs typeface="+mn-cs"/>
              </a:rPr>
              <a:t>2(N)|+|L_{</a:t>
            </a:r>
            <a:r>
              <a:rPr lang="es-ES" sz="1200" b="0" i="0" kern="1200" dirty="0" err="1">
                <a:solidFill>
                  <a:schemeClr val="tx1"/>
                </a:solidFill>
                <a:effectLst/>
                <a:latin typeface="+mn-lt"/>
                <a:ea typeface="+mn-ea"/>
                <a:cs typeface="+mn-cs"/>
              </a:rPr>
              <a:t>sg</a:t>
            </a:r>
            <a:r>
              <a:rPr lang="es-ES" sz="1200" b="0" i="0" kern="1200" dirty="0">
                <a:solidFill>
                  <a:schemeClr val="tx1"/>
                </a:solidFill>
                <a:effectLst/>
                <a:latin typeface="+mn-lt"/>
                <a:ea typeface="+mn-ea"/>
                <a:cs typeface="+mn-cs"/>
              </a:rPr>
              <a:t>}(N)|, $</a:t>
            </a:r>
          </a:p>
          <a:p>
            <a:r>
              <a:rPr lang="es-ES" sz="1200" b="0" i="0" kern="1200" dirty="0">
                <a:solidFill>
                  <a:schemeClr val="tx1"/>
                </a:solidFill>
                <a:effectLst/>
                <a:latin typeface="+mn-lt"/>
                <a:ea typeface="+mn-ea"/>
                <a:cs typeface="+mn-cs"/>
              </a:rPr>
              <a:t>i.e., el </a:t>
            </a:r>
            <a:r>
              <a:rPr lang="es-ES" sz="1200" b="0" i="0" kern="1200" dirty="0" err="1">
                <a:solidFill>
                  <a:schemeClr val="tx1"/>
                </a:solidFill>
                <a:effectLst/>
                <a:latin typeface="+mn-lt"/>
                <a:ea typeface="+mn-ea"/>
                <a:cs typeface="+mn-cs"/>
              </a:rPr>
              <a:t>creixement</a:t>
            </a:r>
            <a:r>
              <a:rPr lang="es-ES" sz="1200" b="0" i="0" kern="1200" dirty="0">
                <a:solidFill>
                  <a:schemeClr val="tx1"/>
                </a:solidFill>
                <a:effectLst/>
                <a:latin typeface="+mn-lt"/>
                <a:ea typeface="+mn-ea"/>
                <a:cs typeface="+mn-cs"/>
              </a:rPr>
              <a:t> de $L_1$ es la </a:t>
            </a:r>
            <a:r>
              <a:rPr lang="es-ES" sz="1200" b="1" i="0" kern="1200" dirty="0">
                <a:solidFill>
                  <a:schemeClr val="tx1"/>
                </a:solidFill>
                <a:effectLst/>
                <a:latin typeface="+mn-lt"/>
                <a:ea typeface="+mn-ea"/>
                <a:cs typeface="+mn-cs"/>
              </a:rPr>
              <a:t>suma de les </a:t>
            </a:r>
            <a:r>
              <a:rPr lang="es-ES" sz="1200" b="1" i="0" kern="1200" dirty="0" err="1">
                <a:solidFill>
                  <a:schemeClr val="tx1"/>
                </a:solidFill>
                <a:effectLst/>
                <a:latin typeface="+mn-lt"/>
                <a:ea typeface="+mn-ea"/>
                <a:cs typeface="+mn-cs"/>
              </a:rPr>
              <a:t>parts</a:t>
            </a:r>
            <a:r>
              <a:rPr lang="es-ES" sz="1200" b="1" i="0" kern="1200" dirty="0">
                <a:solidFill>
                  <a:schemeClr val="tx1"/>
                </a:solidFill>
                <a:effectLst/>
                <a:latin typeface="+mn-lt"/>
                <a:ea typeface="+mn-ea"/>
                <a:cs typeface="+mn-cs"/>
              </a:rPr>
              <a:t> exclusives</a:t>
            </a:r>
            <a:r>
              <a:rPr lang="es-ES" sz="1200" b="0" i="0" kern="1200" dirty="0">
                <a:solidFill>
                  <a:schemeClr val="tx1"/>
                </a:solidFill>
                <a:effectLst/>
                <a:latin typeface="+mn-lt"/>
                <a:ea typeface="+mn-ea"/>
                <a:cs typeface="+mn-cs"/>
              </a:rPr>
              <a:t> </a:t>
            </a:r>
            <a:r>
              <a:rPr lang="es-ES" sz="1200" b="0" i="0" kern="1200" dirty="0" err="1">
                <a:solidFill>
                  <a:schemeClr val="tx1"/>
                </a:solidFill>
                <a:effectLst/>
                <a:latin typeface="+mn-lt"/>
                <a:ea typeface="+mn-ea"/>
                <a:cs typeface="+mn-cs"/>
              </a:rPr>
              <a:t>més</a:t>
            </a:r>
            <a:r>
              <a:rPr lang="es-ES" sz="1200" b="0" i="0" kern="1200" dirty="0">
                <a:solidFill>
                  <a:schemeClr val="tx1"/>
                </a:solidFill>
                <a:effectLst/>
                <a:latin typeface="+mn-lt"/>
                <a:ea typeface="+mn-ea"/>
                <a:cs typeface="+mn-cs"/>
              </a:rPr>
              <a:t> </a:t>
            </a:r>
            <a:r>
              <a:rPr lang="es-ES" sz="1200" b="1" i="0" kern="1200" dirty="0">
                <a:solidFill>
                  <a:schemeClr val="tx1"/>
                </a:solidFill>
                <a:effectLst/>
                <a:latin typeface="+mn-lt"/>
                <a:ea typeface="+mn-ea"/>
                <a:cs typeface="+mn-cs"/>
              </a:rPr>
              <a:t>L_{</a:t>
            </a:r>
            <a:r>
              <a:rPr lang="es-ES" sz="1200" b="1" i="0" kern="1200" dirty="0" err="1">
                <a:solidFill>
                  <a:schemeClr val="tx1"/>
                </a:solidFill>
                <a:effectLst/>
                <a:latin typeface="+mn-lt"/>
                <a:ea typeface="+mn-ea"/>
                <a:cs typeface="+mn-cs"/>
              </a:rPr>
              <a:t>sg</a:t>
            </a:r>
            <a:r>
              <a:rPr lang="es-ES" sz="1200" b="1" i="0" kern="1200" dirty="0">
                <a:solidFill>
                  <a:schemeClr val="tx1"/>
                </a:solidFill>
                <a:effectLst/>
                <a:latin typeface="+mn-lt"/>
                <a:ea typeface="+mn-ea"/>
                <a:cs typeface="+mn-cs"/>
              </a:rPr>
              <a:t>}</a:t>
            </a:r>
            <a:r>
              <a:rPr lang="es-ES" sz="1200" b="0" i="0" kern="1200" dirty="0">
                <a:solidFill>
                  <a:schemeClr val="tx1"/>
                </a:solidFill>
                <a:effectLst/>
                <a:latin typeface="+mn-lt"/>
                <a:ea typeface="+mn-ea"/>
                <a:cs typeface="+mn-cs"/>
              </a:rPr>
              <a:t>, </a:t>
            </a:r>
            <a:r>
              <a:rPr lang="es-ES" sz="1200" b="1" i="0" kern="1200" dirty="0" err="1">
                <a:solidFill>
                  <a:schemeClr val="tx1"/>
                </a:solidFill>
                <a:effectLst/>
                <a:latin typeface="+mn-lt"/>
                <a:ea typeface="+mn-ea"/>
                <a:cs typeface="+mn-cs"/>
              </a:rPr>
              <a:t>menys</a:t>
            </a:r>
            <a:r>
              <a:rPr lang="es-ES" sz="1200" b="0" i="0" kern="1200" dirty="0">
                <a:solidFill>
                  <a:schemeClr val="tx1"/>
                </a:solidFill>
                <a:effectLst/>
                <a:latin typeface="+mn-lt"/>
                <a:ea typeface="+mn-ea"/>
                <a:cs typeface="+mn-cs"/>
              </a:rPr>
              <a:t> la </a:t>
            </a:r>
            <a:r>
              <a:rPr lang="es-ES" sz="1200" b="0" i="0" kern="1200" dirty="0" err="1">
                <a:solidFill>
                  <a:schemeClr val="tx1"/>
                </a:solidFill>
                <a:effectLst/>
                <a:latin typeface="+mn-lt"/>
                <a:ea typeface="+mn-ea"/>
                <a:cs typeface="+mn-cs"/>
              </a:rPr>
              <a:t>intersecció</a:t>
            </a:r>
            <a:r>
              <a:rPr lang="es-ES" sz="1200" b="0" i="0" kern="1200" dirty="0">
                <a:solidFill>
                  <a:schemeClr val="tx1"/>
                </a:solidFill>
                <a:effectLst/>
                <a:latin typeface="+mn-lt"/>
                <a:ea typeface="+mn-ea"/>
                <a:cs typeface="+mn-cs"/>
              </a:rPr>
              <a:t>. Esta </a:t>
            </a:r>
            <a:r>
              <a:rPr lang="es-ES" sz="1200" b="0" i="0" kern="1200" dirty="0" err="1">
                <a:solidFill>
                  <a:schemeClr val="tx1"/>
                </a:solidFill>
                <a:effectLst/>
                <a:latin typeface="+mn-lt"/>
                <a:ea typeface="+mn-ea"/>
                <a:cs typeface="+mn-cs"/>
              </a:rPr>
              <a:t>és</a:t>
            </a:r>
            <a:r>
              <a:rPr lang="es-ES" sz="1200" b="0" i="0" kern="1200" dirty="0">
                <a:solidFill>
                  <a:schemeClr val="tx1"/>
                </a:solidFill>
                <a:effectLst/>
                <a:latin typeface="+mn-lt"/>
                <a:ea typeface="+mn-ea"/>
                <a:cs typeface="+mn-cs"/>
              </a:rPr>
              <a:t> la </a:t>
            </a:r>
            <a:r>
              <a:rPr lang="es-ES" sz="1200" b="0" i="0" kern="1200" dirty="0" err="1">
                <a:solidFill>
                  <a:schemeClr val="tx1"/>
                </a:solidFill>
                <a:effectLst/>
                <a:latin typeface="+mn-lt"/>
                <a:ea typeface="+mn-ea"/>
                <a:cs typeface="+mn-cs"/>
              </a:rPr>
              <a:t>identitat</a:t>
            </a:r>
            <a:r>
              <a:rPr lang="es-ES" sz="1200" b="0" i="0" kern="1200" dirty="0">
                <a:solidFill>
                  <a:schemeClr val="tx1"/>
                </a:solidFill>
                <a:effectLst/>
                <a:latin typeface="+mn-lt"/>
                <a:ea typeface="+mn-ea"/>
                <a:cs typeface="+mn-cs"/>
              </a:rPr>
              <a:t> estructural de partida en les </a:t>
            </a:r>
            <a:r>
              <a:rPr lang="es-ES" sz="1200" b="0" i="0" kern="1200" dirty="0" err="1">
                <a:solidFill>
                  <a:schemeClr val="tx1"/>
                </a:solidFill>
                <a:effectLst/>
                <a:latin typeface="+mn-lt"/>
                <a:ea typeface="+mn-ea"/>
                <a:cs typeface="+mn-cs"/>
              </a:rPr>
              <a:t>teues</a:t>
            </a:r>
            <a:r>
              <a:rPr lang="es-ES" sz="1200" b="0" i="0" kern="1200" dirty="0">
                <a:solidFill>
                  <a:schemeClr val="tx1"/>
                </a:solidFill>
                <a:effectLst/>
                <a:latin typeface="+mn-lt"/>
                <a:ea typeface="+mn-ea"/>
                <a:cs typeface="+mn-cs"/>
              </a:rPr>
              <a:t> </a:t>
            </a:r>
            <a:r>
              <a:rPr lang="es-ES" sz="1200" b="0" i="0" kern="1200" dirty="0" err="1">
                <a:solidFill>
                  <a:schemeClr val="tx1"/>
                </a:solidFill>
                <a:effectLst/>
                <a:latin typeface="+mn-lt"/>
                <a:ea typeface="+mn-ea"/>
                <a:cs typeface="+mn-cs"/>
              </a:rPr>
              <a:t>diapositives</a:t>
            </a:r>
            <a:r>
              <a:rPr lang="es-ES" sz="1200" b="0" i="0" kern="1200" dirty="0">
                <a:solidFill>
                  <a:schemeClr val="tx1"/>
                </a:solidFill>
                <a:effectLst/>
                <a:latin typeface="+mn-lt"/>
                <a:ea typeface="+mn-ea"/>
                <a:cs typeface="+mn-cs"/>
              </a:rPr>
              <a:t>. </a:t>
            </a:r>
            <a:r>
              <a:rPr lang="es-ES" sz="1200" b="0" i="0" u="none" strike="noStrike" kern="1200" dirty="0">
                <a:solidFill>
                  <a:schemeClr val="tx1"/>
                </a:solidFill>
                <a:effectLst/>
                <a:latin typeface="+mn-lt"/>
                <a:ea typeface="+mn-ea"/>
                <a:cs typeface="+mn-cs"/>
                <a:hlinkClick r:id="rId3"/>
              </a:rPr>
              <a:t>[</a:t>
            </a:r>
            <a:r>
              <a:rPr lang="es-ES" sz="1200" b="0" i="0" u="none" strike="noStrike" kern="1200" dirty="0" err="1">
                <a:solidFill>
                  <a:schemeClr val="tx1"/>
                </a:solidFill>
                <a:effectLst/>
                <a:latin typeface="+mn-lt"/>
                <a:ea typeface="+mn-ea"/>
                <a:cs typeface="+mn-cs"/>
                <a:hlinkClick r:id="rId3"/>
              </a:rPr>
              <a:t>sofi</a:t>
            </a:r>
            <a:r>
              <a:rPr lang="es-ES" sz="1200" b="0" i="0" u="none" strike="noStrike" kern="1200" dirty="0">
                <a:solidFill>
                  <a:schemeClr val="tx1"/>
                </a:solidFill>
                <a:effectLst/>
                <a:latin typeface="+mn-lt"/>
                <a:ea typeface="+mn-ea"/>
                <a:cs typeface="+mn-cs"/>
                <a:hlinkClick r:id="rId3"/>
              </a:rPr>
              <a:t> | PowerPoint]</a:t>
            </a:r>
            <a:endParaRPr lang="es-ES" sz="1200" b="0" i="0" kern="1200" dirty="0">
              <a:solidFill>
                <a:schemeClr val="tx1"/>
              </a:solidFill>
              <a:effectLst/>
              <a:latin typeface="+mn-lt"/>
              <a:ea typeface="+mn-ea"/>
              <a:cs typeface="+mn-cs"/>
            </a:endParaRPr>
          </a:p>
          <a:p>
            <a:r>
              <a:rPr lang="es-ES" sz="1200" b="0" i="0" kern="1200" dirty="0">
                <a:solidFill>
                  <a:schemeClr val="tx1"/>
                </a:solidFill>
                <a:effectLst/>
                <a:latin typeface="+mn-lt"/>
                <a:ea typeface="+mn-ea"/>
                <a:cs typeface="+mn-cs"/>
              </a:rPr>
              <a:t>A </a:t>
            </a:r>
            <a:r>
              <a:rPr lang="es-ES" sz="1200" b="0" i="0" kern="1200" dirty="0" err="1">
                <a:solidFill>
                  <a:schemeClr val="tx1"/>
                </a:solidFill>
                <a:effectLst/>
                <a:latin typeface="+mn-lt"/>
                <a:ea typeface="+mn-ea"/>
                <a:cs typeface="+mn-cs"/>
              </a:rPr>
              <a:t>més</a:t>
            </a:r>
            <a:r>
              <a:rPr lang="es-ES" sz="1200" b="0" i="0" kern="1200" dirty="0">
                <a:solidFill>
                  <a:schemeClr val="tx1"/>
                </a:solidFill>
                <a:effectLst/>
                <a:latin typeface="+mn-lt"/>
                <a:ea typeface="+mn-ea"/>
                <a:cs typeface="+mn-cs"/>
              </a:rPr>
              <a:t>, </a:t>
            </a:r>
            <a:r>
              <a:rPr lang="es-ES" sz="1200" b="0" i="0" kern="1200" dirty="0" err="1">
                <a:solidFill>
                  <a:schemeClr val="tx1"/>
                </a:solidFill>
                <a:effectLst/>
                <a:latin typeface="+mn-lt"/>
                <a:ea typeface="+mn-ea"/>
                <a:cs typeface="+mn-cs"/>
              </a:rPr>
              <a:t>s’assumeix</a:t>
            </a:r>
            <a:r>
              <a:rPr lang="es-ES" sz="1200" b="0" i="0" kern="1200" dirty="0">
                <a:solidFill>
                  <a:schemeClr val="tx1"/>
                </a:solidFill>
                <a:effectLst/>
                <a:latin typeface="+mn-lt"/>
                <a:ea typeface="+mn-ea"/>
                <a:cs typeface="+mn-cs"/>
              </a:rPr>
              <a:t> el </a:t>
            </a:r>
            <a:r>
              <a:rPr lang="es-ES" sz="1200" b="1" i="0" kern="1200" dirty="0">
                <a:solidFill>
                  <a:schemeClr val="tx1"/>
                </a:solidFill>
                <a:effectLst/>
                <a:latin typeface="+mn-lt"/>
                <a:ea typeface="+mn-ea"/>
                <a:cs typeface="+mn-cs"/>
              </a:rPr>
              <a:t>ritme base</a:t>
            </a:r>
            <a:r>
              <a:rPr lang="es-ES" sz="1200" b="0" i="0" kern="1200" dirty="0">
                <a:solidFill>
                  <a:schemeClr val="tx1"/>
                </a:solidFill>
                <a:effectLst/>
                <a:latin typeface="+mn-lt"/>
                <a:ea typeface="+mn-ea"/>
                <a:cs typeface="+mn-cs"/>
              </a:rPr>
              <a:t>:</a:t>
            </a:r>
          </a:p>
          <a:p>
            <a:r>
              <a:rPr lang="es-ES" sz="1200" b="0" i="0" kern="1200" dirty="0">
                <a:solidFill>
                  <a:schemeClr val="tx1"/>
                </a:solidFill>
                <a:effectLst/>
                <a:latin typeface="+mn-lt"/>
                <a:ea typeface="+mn-ea"/>
                <a:cs typeface="+mn-cs"/>
              </a:rPr>
              <a:t>$ |L_1(N)| \sim \frac{N}{6}\</a:t>
            </a:r>
            <a:r>
              <a:rPr lang="es-ES" sz="1200" b="0" i="0" kern="1200" dirty="0" err="1">
                <a:solidFill>
                  <a:schemeClr val="tx1"/>
                </a:solidFill>
                <a:effectLst/>
                <a:latin typeface="+mn-lt"/>
                <a:ea typeface="+mn-ea"/>
                <a:cs typeface="+mn-cs"/>
              </a:rPr>
              <a:t>quad</a:t>
            </a:r>
            <a:r>
              <a:rPr lang="es-ES" sz="1200" b="0" i="0" kern="1200" dirty="0">
                <a:solidFill>
                  <a:schemeClr val="tx1"/>
                </a:solidFill>
                <a:effectLst/>
                <a:latin typeface="+mn-lt"/>
                <a:ea typeface="+mn-ea"/>
                <a:cs typeface="+mn-cs"/>
              </a:rPr>
              <a:t> (N\</a:t>
            </a:r>
            <a:r>
              <a:rPr lang="es-ES" sz="1200" b="0" i="0" kern="1200" dirty="0" err="1">
                <a:solidFill>
                  <a:schemeClr val="tx1"/>
                </a:solidFill>
                <a:effectLst/>
                <a:latin typeface="+mn-lt"/>
                <a:ea typeface="+mn-ea"/>
                <a:cs typeface="+mn-cs"/>
              </a:rPr>
              <a:t>to</a:t>
            </a:r>
            <a:r>
              <a:rPr lang="es-ES" sz="1200" b="0" i="0" kern="1200" dirty="0">
                <a:solidFill>
                  <a:schemeClr val="tx1"/>
                </a:solidFill>
                <a:effectLst/>
                <a:latin typeface="+mn-lt"/>
                <a:ea typeface="+mn-ea"/>
                <a:cs typeface="+mn-cs"/>
              </a:rPr>
              <a:t>\</a:t>
            </a:r>
            <a:r>
              <a:rPr lang="es-ES" sz="1200" b="0" i="0" kern="1200" dirty="0" err="1">
                <a:solidFill>
                  <a:schemeClr val="tx1"/>
                </a:solidFill>
                <a:effectLst/>
                <a:latin typeface="+mn-lt"/>
                <a:ea typeface="+mn-ea"/>
                <a:cs typeface="+mn-cs"/>
              </a:rPr>
              <a:t>infty</a:t>
            </a:r>
            <a:r>
              <a:rPr lang="es-ES" sz="1200" b="0" i="0" kern="1200" dirty="0">
                <a:solidFill>
                  <a:schemeClr val="tx1"/>
                </a:solidFill>
                <a:effectLst/>
                <a:latin typeface="+mn-lt"/>
                <a:ea typeface="+mn-ea"/>
                <a:cs typeface="+mn-cs"/>
              </a:rPr>
              <a:t>), $</a:t>
            </a:r>
          </a:p>
          <a:p>
            <a:r>
              <a:rPr lang="es-ES" sz="1200" b="0" i="0" kern="1200" dirty="0">
                <a:solidFill>
                  <a:schemeClr val="tx1"/>
                </a:solidFill>
                <a:effectLst/>
                <a:latin typeface="+mn-lt"/>
                <a:ea typeface="+mn-ea"/>
                <a:cs typeface="+mn-cs"/>
              </a:rPr>
              <a:t>de manera que totes les </a:t>
            </a:r>
            <a:r>
              <a:rPr lang="es-ES" sz="1200" b="0" i="0" kern="1200" dirty="0" err="1">
                <a:solidFill>
                  <a:schemeClr val="tx1"/>
                </a:solidFill>
                <a:effectLst/>
                <a:latin typeface="+mn-lt"/>
                <a:ea typeface="+mn-ea"/>
                <a:cs typeface="+mn-cs"/>
              </a:rPr>
              <a:t>famílies</a:t>
            </a:r>
            <a:r>
              <a:rPr lang="es-ES" sz="1200" b="0" i="0" kern="1200" dirty="0">
                <a:solidFill>
                  <a:schemeClr val="tx1"/>
                </a:solidFill>
                <a:effectLst/>
                <a:latin typeface="+mn-lt"/>
                <a:ea typeface="+mn-ea"/>
                <a:cs typeface="+mn-cs"/>
              </a:rPr>
              <a:t> $L</a:t>
            </a:r>
            <a:r>
              <a:rPr lang="es-ES" sz="1200" b="0" i="1" kern="1200" dirty="0">
                <a:solidFill>
                  <a:schemeClr val="tx1"/>
                </a:solidFill>
                <a:effectLst/>
                <a:latin typeface="+mn-lt"/>
                <a:ea typeface="+mn-ea"/>
                <a:cs typeface="+mn-cs"/>
              </a:rPr>
              <a:t>3, L</a:t>
            </a:r>
            <a:r>
              <a:rPr lang="es-ES" sz="1200" b="0" i="0" kern="1200" dirty="0">
                <a:solidFill>
                  <a:schemeClr val="tx1"/>
                </a:solidFill>
                <a:effectLst/>
                <a:latin typeface="+mn-lt"/>
                <a:ea typeface="+mn-ea"/>
                <a:cs typeface="+mn-cs"/>
              </a:rPr>
              <a:t>4, L</a:t>
            </a:r>
            <a:r>
              <a:rPr lang="es-ES" sz="1200" b="0" i="1" kern="1200" dirty="0">
                <a:solidFill>
                  <a:schemeClr val="tx1"/>
                </a:solidFill>
                <a:effectLst/>
                <a:latin typeface="+mn-lt"/>
                <a:ea typeface="+mn-ea"/>
                <a:cs typeface="+mn-cs"/>
              </a:rPr>
              <a:t>2, L</a:t>
            </a:r>
            <a:r>
              <a:rPr lang="es-ES" sz="1200" b="0" i="0" kern="1200" dirty="0">
                <a:solidFill>
                  <a:schemeClr val="tx1"/>
                </a:solidFill>
                <a:effectLst/>
                <a:latin typeface="+mn-lt"/>
                <a:ea typeface="+mn-ea"/>
                <a:cs typeface="+mn-cs"/>
              </a:rPr>
              <a:t>{</a:t>
            </a:r>
            <a:r>
              <a:rPr lang="es-ES" sz="1200" b="0" i="0" kern="1200" dirty="0" err="1">
                <a:solidFill>
                  <a:schemeClr val="tx1"/>
                </a:solidFill>
                <a:effectLst/>
                <a:latin typeface="+mn-lt"/>
                <a:ea typeface="+mn-ea"/>
                <a:cs typeface="+mn-cs"/>
              </a:rPr>
              <a:t>sg</a:t>
            </a:r>
            <a:r>
              <a:rPr lang="es-ES" sz="1200" b="0" i="0" kern="1200" dirty="0">
                <a:solidFill>
                  <a:schemeClr val="tx1"/>
                </a:solidFill>
                <a:effectLst/>
                <a:latin typeface="+mn-lt"/>
                <a:ea typeface="+mn-ea"/>
                <a:cs typeface="+mn-cs"/>
              </a:rPr>
              <a:t>}$ </a:t>
            </a:r>
            <a:r>
              <a:rPr lang="es-ES" sz="1200" b="0" i="0" kern="1200" dirty="0" err="1">
                <a:solidFill>
                  <a:schemeClr val="tx1"/>
                </a:solidFill>
                <a:effectLst/>
                <a:latin typeface="+mn-lt"/>
                <a:ea typeface="+mn-ea"/>
                <a:cs typeface="+mn-cs"/>
              </a:rPr>
              <a:t>tenen</a:t>
            </a:r>
            <a:r>
              <a:rPr lang="es-ES" sz="1200" b="0" i="0" kern="1200" dirty="0">
                <a:solidFill>
                  <a:schemeClr val="tx1"/>
                </a:solidFill>
                <a:effectLst/>
                <a:latin typeface="+mn-lt"/>
                <a:ea typeface="+mn-ea"/>
                <a:cs typeface="+mn-cs"/>
              </a:rPr>
              <a:t> </a:t>
            </a:r>
            <a:r>
              <a:rPr lang="es-ES" sz="1200" b="0" i="0" kern="1200" dirty="0" err="1">
                <a:solidFill>
                  <a:schemeClr val="tx1"/>
                </a:solidFill>
                <a:effectLst/>
                <a:latin typeface="+mn-lt"/>
                <a:ea typeface="+mn-ea"/>
                <a:cs typeface="+mn-cs"/>
              </a:rPr>
              <a:t>densitats</a:t>
            </a:r>
            <a:r>
              <a:rPr lang="es-ES" sz="1200" b="0" i="0" kern="1200" dirty="0">
                <a:solidFill>
                  <a:schemeClr val="tx1"/>
                </a:solidFill>
                <a:effectLst/>
                <a:latin typeface="+mn-lt"/>
                <a:ea typeface="+mn-ea"/>
                <a:cs typeface="+mn-cs"/>
              </a:rPr>
              <a:t> relatives </a:t>
            </a:r>
            <a:r>
              <a:rPr lang="es-ES" sz="1200" b="0" i="0" kern="1200" dirty="0" err="1">
                <a:solidFill>
                  <a:schemeClr val="tx1"/>
                </a:solidFill>
                <a:effectLst/>
                <a:latin typeface="+mn-lt"/>
                <a:ea typeface="+mn-ea"/>
                <a:cs typeface="+mn-cs"/>
              </a:rPr>
              <a:t>dins</a:t>
            </a:r>
            <a:r>
              <a:rPr lang="es-ES" sz="1200" b="0" i="0" kern="1200" dirty="0">
                <a:solidFill>
                  <a:schemeClr val="tx1"/>
                </a:solidFill>
                <a:effectLst/>
                <a:latin typeface="+mn-lt"/>
                <a:ea typeface="+mn-ea"/>
                <a:cs typeface="+mn-cs"/>
              </a:rPr>
              <a:t> </a:t>
            </a:r>
            <a:r>
              <a:rPr lang="es-ES" sz="1200" b="0" i="0" kern="1200" dirty="0" err="1">
                <a:solidFill>
                  <a:schemeClr val="tx1"/>
                </a:solidFill>
                <a:effectLst/>
                <a:latin typeface="+mn-lt"/>
                <a:ea typeface="+mn-ea"/>
                <a:cs typeface="+mn-cs"/>
              </a:rPr>
              <a:t>d’este</a:t>
            </a:r>
            <a:r>
              <a:rPr lang="es-ES" sz="1200" b="0" i="0" kern="1200" dirty="0">
                <a:solidFill>
                  <a:schemeClr val="tx1"/>
                </a:solidFill>
                <a:effectLst/>
                <a:latin typeface="+mn-lt"/>
                <a:ea typeface="+mn-ea"/>
                <a:cs typeface="+mn-cs"/>
              </a:rPr>
              <a:t> </a:t>
            </a:r>
            <a:r>
              <a:rPr lang="es-ES" sz="1200" b="0" i="0" kern="1200" dirty="0" err="1">
                <a:solidFill>
                  <a:schemeClr val="tx1"/>
                </a:solidFill>
                <a:effectLst/>
                <a:latin typeface="+mn-lt"/>
                <a:ea typeface="+mn-ea"/>
                <a:cs typeface="+mn-cs"/>
              </a:rPr>
              <a:t>univers</a:t>
            </a:r>
            <a:r>
              <a:rPr lang="es-ES" sz="1200" b="0" i="0" kern="1200" dirty="0">
                <a:solidFill>
                  <a:schemeClr val="tx1"/>
                </a:solidFill>
                <a:effectLst/>
                <a:latin typeface="+mn-lt"/>
                <a:ea typeface="+mn-ea"/>
                <a:cs typeface="+mn-cs"/>
              </a:rPr>
              <a:t>. Esta idea —“</a:t>
            </a:r>
            <a:r>
              <a:rPr lang="es-ES" sz="1200" b="1" i="0" kern="1200" dirty="0">
                <a:solidFill>
                  <a:schemeClr val="tx1"/>
                </a:solidFill>
                <a:effectLst/>
                <a:latin typeface="+mn-lt"/>
                <a:ea typeface="+mn-ea"/>
                <a:cs typeface="+mn-cs"/>
              </a:rPr>
              <a:t>L1 crece 1/6 positivos</a:t>
            </a:r>
            <a:r>
              <a:rPr lang="es-ES" sz="1200" b="0" i="0" kern="1200" dirty="0">
                <a:solidFill>
                  <a:schemeClr val="tx1"/>
                </a:solidFill>
                <a:effectLst/>
                <a:latin typeface="+mn-lt"/>
                <a:ea typeface="+mn-ea"/>
                <a:cs typeface="+mn-cs"/>
              </a:rPr>
              <a:t>” i el </a:t>
            </a:r>
            <a:r>
              <a:rPr lang="es-ES" sz="1200" b="0" i="0" kern="1200" dirty="0" err="1">
                <a:solidFill>
                  <a:schemeClr val="tx1"/>
                </a:solidFill>
                <a:effectLst/>
                <a:latin typeface="+mn-lt"/>
                <a:ea typeface="+mn-ea"/>
                <a:cs typeface="+mn-cs"/>
              </a:rPr>
              <a:t>repartiment</a:t>
            </a:r>
            <a:r>
              <a:rPr lang="es-ES" sz="1200" b="0" i="0" kern="1200" dirty="0">
                <a:solidFill>
                  <a:schemeClr val="tx1"/>
                </a:solidFill>
                <a:effectLst/>
                <a:latin typeface="+mn-lt"/>
                <a:ea typeface="+mn-ea"/>
                <a:cs typeface="+mn-cs"/>
              </a:rPr>
              <a:t> en </a:t>
            </a:r>
            <a:r>
              <a:rPr lang="es-ES" sz="1200" b="0" i="0" kern="1200" dirty="0" err="1">
                <a:solidFill>
                  <a:schemeClr val="tx1"/>
                </a:solidFill>
                <a:effectLst/>
                <a:latin typeface="+mn-lt"/>
                <a:ea typeface="+mn-ea"/>
                <a:cs typeface="+mn-cs"/>
              </a:rPr>
              <a:t>coeficients</a:t>
            </a:r>
            <a:r>
              <a:rPr lang="es-ES" sz="1200" b="0" i="0" kern="1200" dirty="0">
                <a:solidFill>
                  <a:schemeClr val="tx1"/>
                </a:solidFill>
                <a:effectLst/>
                <a:latin typeface="+mn-lt"/>
                <a:ea typeface="+mn-ea"/>
                <a:cs typeface="+mn-cs"/>
              </a:rPr>
              <a:t> $A,B,C,D$ sobre $</a:t>
            </a:r>
            <a:r>
              <a:rPr lang="es-ES" sz="1200" b="0" i="0" kern="1200" dirty="0" err="1">
                <a:solidFill>
                  <a:schemeClr val="tx1"/>
                </a:solidFill>
                <a:effectLst/>
                <a:latin typeface="+mn-lt"/>
                <a:ea typeface="+mn-ea"/>
                <a:cs typeface="+mn-cs"/>
              </a:rPr>
              <a:t>a,b,c,d,e</a:t>
            </a:r>
            <a:r>
              <a:rPr lang="es-ES" sz="1200" b="0" i="0" kern="1200" dirty="0">
                <a:solidFill>
                  <a:schemeClr val="tx1"/>
                </a:solidFill>
                <a:effectLst/>
                <a:latin typeface="+mn-lt"/>
                <a:ea typeface="+mn-ea"/>
                <a:cs typeface="+mn-cs"/>
              </a:rPr>
              <a:t>$— </a:t>
            </a:r>
            <a:r>
              <a:rPr lang="es-ES" sz="1200" b="0" i="0" kern="1200" dirty="0" err="1">
                <a:solidFill>
                  <a:schemeClr val="tx1"/>
                </a:solidFill>
                <a:effectLst/>
                <a:latin typeface="+mn-lt"/>
                <a:ea typeface="+mn-ea"/>
                <a:cs typeface="+mn-cs"/>
              </a:rPr>
              <a:t>està</a:t>
            </a:r>
            <a:r>
              <a:rPr lang="es-ES" sz="1200" b="0" i="0" kern="1200" dirty="0">
                <a:solidFill>
                  <a:schemeClr val="tx1"/>
                </a:solidFill>
                <a:effectLst/>
                <a:latin typeface="+mn-lt"/>
                <a:ea typeface="+mn-ea"/>
                <a:cs typeface="+mn-cs"/>
              </a:rPr>
              <a:t> explicitada en les </a:t>
            </a:r>
            <a:r>
              <a:rPr lang="es-ES" sz="1200" b="0" i="0" kern="1200" dirty="0" err="1">
                <a:solidFill>
                  <a:schemeClr val="tx1"/>
                </a:solidFill>
                <a:effectLst/>
                <a:latin typeface="+mn-lt"/>
                <a:ea typeface="+mn-ea"/>
                <a:cs typeface="+mn-cs"/>
              </a:rPr>
              <a:t>teues</a:t>
            </a:r>
            <a:r>
              <a:rPr lang="es-ES" sz="1200" b="0" i="0" kern="1200" dirty="0">
                <a:solidFill>
                  <a:schemeClr val="tx1"/>
                </a:solidFill>
                <a:effectLst/>
                <a:latin typeface="+mn-lt"/>
                <a:ea typeface="+mn-ea"/>
                <a:cs typeface="+mn-cs"/>
              </a:rPr>
              <a:t> </a:t>
            </a:r>
            <a:r>
              <a:rPr lang="es-ES" sz="1200" b="0" i="0" kern="1200" dirty="0" err="1">
                <a:solidFill>
                  <a:schemeClr val="tx1"/>
                </a:solidFill>
                <a:effectLst/>
                <a:latin typeface="+mn-lt"/>
                <a:ea typeface="+mn-ea"/>
                <a:cs typeface="+mn-cs"/>
              </a:rPr>
              <a:t>diapositives</a:t>
            </a:r>
            <a:r>
              <a:rPr lang="es-ES" sz="1200" b="0" i="0" kern="1200" dirty="0">
                <a:solidFill>
                  <a:schemeClr val="tx1"/>
                </a:solidFill>
                <a:effectLst/>
                <a:latin typeface="+mn-lt"/>
                <a:ea typeface="+mn-ea"/>
                <a:cs typeface="+mn-cs"/>
              </a:rPr>
              <a:t> de </a:t>
            </a:r>
            <a:r>
              <a:rPr lang="es-ES" sz="1200" b="0" i="0" kern="1200" dirty="0" err="1">
                <a:solidFill>
                  <a:schemeClr val="tx1"/>
                </a:solidFill>
                <a:effectLst/>
                <a:latin typeface="+mn-lt"/>
                <a:ea typeface="+mn-ea"/>
                <a:cs typeface="+mn-cs"/>
              </a:rPr>
              <a:t>creixement</a:t>
            </a:r>
            <a:r>
              <a:rPr lang="es-ES" sz="1200" b="0" i="0" kern="1200" dirty="0">
                <a:solidFill>
                  <a:schemeClr val="tx1"/>
                </a:solidFill>
                <a:effectLst/>
                <a:latin typeface="+mn-lt"/>
                <a:ea typeface="+mn-ea"/>
                <a:cs typeface="+mn-cs"/>
              </a:rPr>
              <a:t>. </a:t>
            </a:r>
            <a:r>
              <a:rPr lang="es-ES" sz="1200" b="0" i="0" u="none" strike="noStrike" kern="1200" dirty="0">
                <a:solidFill>
                  <a:schemeClr val="tx1"/>
                </a:solidFill>
                <a:effectLst/>
                <a:latin typeface="+mn-lt"/>
                <a:ea typeface="+mn-ea"/>
                <a:cs typeface="+mn-cs"/>
                <a:hlinkClick r:id="rId3"/>
              </a:rPr>
              <a:t>[</a:t>
            </a:r>
            <a:r>
              <a:rPr lang="es-ES" sz="1200" b="0" i="0" u="none" strike="noStrike" kern="1200" dirty="0" err="1">
                <a:solidFill>
                  <a:schemeClr val="tx1"/>
                </a:solidFill>
                <a:effectLst/>
                <a:latin typeface="+mn-lt"/>
                <a:ea typeface="+mn-ea"/>
                <a:cs typeface="+mn-cs"/>
                <a:hlinkClick r:id="rId3"/>
              </a:rPr>
              <a:t>sofi</a:t>
            </a:r>
            <a:r>
              <a:rPr lang="es-ES" sz="1200" b="0" i="0" u="none" strike="noStrike" kern="1200" dirty="0">
                <a:solidFill>
                  <a:schemeClr val="tx1"/>
                </a:solidFill>
                <a:effectLst/>
                <a:latin typeface="+mn-lt"/>
                <a:ea typeface="+mn-ea"/>
                <a:cs typeface="+mn-cs"/>
                <a:hlinkClick r:id="rId3"/>
              </a:rPr>
              <a:t> | PowerPoint]</a:t>
            </a:r>
            <a:endParaRPr lang="es-ES" sz="1200" b="0" i="0" kern="1200" dirty="0">
              <a:solidFill>
                <a:schemeClr val="tx1"/>
              </a:solidFill>
              <a:effectLst/>
              <a:latin typeface="+mn-lt"/>
              <a:ea typeface="+mn-ea"/>
              <a:cs typeface="+mn-cs"/>
            </a:endParaRPr>
          </a:p>
          <a:p>
            <a:br>
              <a:rPr lang="es-ES" sz="1200" b="0" i="0" kern="1200" dirty="0">
                <a:solidFill>
                  <a:schemeClr val="tx1"/>
                </a:solidFill>
                <a:effectLst/>
                <a:latin typeface="+mn-lt"/>
                <a:ea typeface="+mn-ea"/>
                <a:cs typeface="+mn-cs"/>
              </a:rPr>
            </a:br>
            <a:endParaRPr lang="es-ES" sz="1200" b="0" i="0" kern="1200" dirty="0">
              <a:solidFill>
                <a:schemeClr val="tx1"/>
              </a:solidFill>
              <a:effectLst/>
              <a:latin typeface="+mn-lt"/>
              <a:ea typeface="+mn-ea"/>
              <a:cs typeface="+mn-cs"/>
            </a:endParaRPr>
          </a:p>
          <a:p>
            <a:r>
              <a:rPr lang="es-ES" sz="1200" b="1" i="0" kern="1200" dirty="0">
                <a:solidFill>
                  <a:schemeClr val="tx1"/>
                </a:solidFill>
                <a:effectLst/>
                <a:latin typeface="+mn-lt"/>
                <a:ea typeface="+mn-ea"/>
                <a:cs typeface="+mn-cs"/>
              </a:rPr>
              <a:t>🔀 Dos formulaciones excluyentes para $L_{</a:t>
            </a:r>
            <a:r>
              <a:rPr lang="es-ES" sz="1200" b="1" i="0" kern="1200" dirty="0" err="1">
                <a:solidFill>
                  <a:schemeClr val="tx1"/>
                </a:solidFill>
                <a:effectLst/>
                <a:latin typeface="+mn-lt"/>
                <a:ea typeface="+mn-ea"/>
                <a:cs typeface="+mn-cs"/>
              </a:rPr>
              <a:t>sg</a:t>
            </a:r>
            <a:r>
              <a:rPr lang="es-ES" sz="1200" b="1" i="0" kern="1200" dirty="0">
                <a:solidFill>
                  <a:schemeClr val="tx1"/>
                </a:solidFill>
                <a:effectLst/>
                <a:latin typeface="+mn-lt"/>
                <a:ea typeface="+mn-ea"/>
                <a:cs typeface="+mn-cs"/>
              </a:rPr>
              <a:t>}$</a:t>
            </a:r>
          </a:p>
          <a:p>
            <a:r>
              <a:rPr lang="es-ES" sz="1200" b="0" i="0" kern="1200" dirty="0">
                <a:solidFill>
                  <a:schemeClr val="tx1"/>
                </a:solidFill>
                <a:effectLst/>
                <a:latin typeface="+mn-lt"/>
                <a:ea typeface="+mn-ea"/>
                <a:cs typeface="+mn-cs"/>
              </a:rPr>
              <a:t>Planteamos el dilema asintótico:</a:t>
            </a:r>
          </a:p>
          <a:p>
            <a:r>
              <a:rPr lang="es-ES" sz="1200" b="1" i="0" kern="1200" dirty="0">
                <a:solidFill>
                  <a:schemeClr val="tx1"/>
                </a:solidFill>
                <a:effectLst/>
                <a:latin typeface="+mn-lt"/>
                <a:ea typeface="+mn-ea"/>
                <a:cs typeface="+mn-cs"/>
              </a:rPr>
              <a:t>(F1)</a:t>
            </a:r>
            <a:r>
              <a:rPr lang="es-ES" sz="1200" b="0" i="0" kern="1200" dirty="0">
                <a:solidFill>
                  <a:schemeClr val="tx1"/>
                </a:solidFill>
                <a:effectLst/>
                <a:latin typeface="+mn-lt"/>
                <a:ea typeface="+mn-ea"/>
                <a:cs typeface="+mn-cs"/>
              </a:rPr>
              <a:t> $L</a:t>
            </a:r>
            <a:r>
              <a:rPr lang="es-ES" sz="1200" b="0" i="1" kern="1200" dirty="0">
                <a:solidFill>
                  <a:schemeClr val="tx1"/>
                </a:solidFill>
                <a:effectLst/>
                <a:latin typeface="+mn-lt"/>
                <a:ea typeface="+mn-ea"/>
                <a:cs typeface="+mn-cs"/>
              </a:rPr>
              <a:t>{</a:t>
            </a:r>
            <a:r>
              <a:rPr lang="es-ES" sz="1200" b="0" i="1" kern="1200" dirty="0" err="1">
                <a:solidFill>
                  <a:schemeClr val="tx1"/>
                </a:solidFill>
                <a:effectLst/>
                <a:latin typeface="+mn-lt"/>
                <a:ea typeface="+mn-ea"/>
                <a:cs typeface="+mn-cs"/>
              </a:rPr>
              <a:t>sg</a:t>
            </a:r>
            <a:r>
              <a:rPr lang="es-ES" sz="1200" b="0" i="1" kern="1200" dirty="0">
                <a:solidFill>
                  <a:schemeClr val="tx1"/>
                </a:solidFill>
                <a:effectLst/>
                <a:latin typeface="+mn-lt"/>
                <a:ea typeface="+mn-ea"/>
                <a:cs typeface="+mn-cs"/>
              </a:rPr>
              <a:t>}$ </a:t>
            </a:r>
            <a:r>
              <a:rPr lang="es-ES" sz="1200" b="1" i="1" kern="1200" dirty="0" err="1">
                <a:solidFill>
                  <a:schemeClr val="tx1"/>
                </a:solidFill>
                <a:effectLst/>
                <a:latin typeface="+mn-lt"/>
                <a:ea typeface="+mn-ea"/>
                <a:cs typeface="+mn-cs"/>
              </a:rPr>
              <a:t>cte</a:t>
            </a:r>
            <a:r>
              <a:rPr lang="es-ES" sz="1200" b="0" i="1" kern="1200" dirty="0">
                <a:solidFill>
                  <a:schemeClr val="tx1"/>
                </a:solidFill>
                <a:effectLst/>
                <a:latin typeface="+mn-lt"/>
                <a:ea typeface="+mn-ea"/>
                <a:cs typeface="+mn-cs"/>
              </a:rPr>
              <a:t>: $\;|L</a:t>
            </a:r>
            <a:r>
              <a:rPr lang="es-ES" sz="1200" b="0" i="0" kern="1200" dirty="0">
                <a:solidFill>
                  <a:schemeClr val="tx1"/>
                </a:solidFill>
                <a:effectLst/>
                <a:latin typeface="+mn-lt"/>
                <a:ea typeface="+mn-ea"/>
                <a:cs typeface="+mn-cs"/>
              </a:rPr>
              <a:t>{</a:t>
            </a:r>
            <a:r>
              <a:rPr lang="es-ES" sz="1200" b="0" i="0" kern="1200" dirty="0" err="1">
                <a:solidFill>
                  <a:schemeClr val="tx1"/>
                </a:solidFill>
                <a:effectLst/>
                <a:latin typeface="+mn-lt"/>
                <a:ea typeface="+mn-ea"/>
                <a:cs typeface="+mn-cs"/>
              </a:rPr>
              <a:t>sg</a:t>
            </a:r>
            <a:r>
              <a:rPr lang="es-ES" sz="1200" b="0" i="0" kern="1200" dirty="0">
                <a:solidFill>
                  <a:schemeClr val="tx1"/>
                </a:solidFill>
                <a:effectLst/>
                <a:latin typeface="+mn-lt"/>
                <a:ea typeface="+mn-ea"/>
                <a:cs typeface="+mn-cs"/>
              </a:rPr>
              <a:t>}(N)| = O(1)$ (no crece con $N$).</a:t>
            </a:r>
          </a:p>
          <a:p>
            <a:r>
              <a:rPr lang="es-ES" sz="1200" b="1" i="0" kern="1200" dirty="0">
                <a:solidFill>
                  <a:schemeClr val="tx1"/>
                </a:solidFill>
                <a:effectLst/>
                <a:latin typeface="+mn-lt"/>
                <a:ea typeface="+mn-ea"/>
                <a:cs typeface="+mn-cs"/>
              </a:rPr>
              <a:t>(F2)</a:t>
            </a:r>
            <a:r>
              <a:rPr lang="es-ES" sz="1200" b="0" i="0" kern="1200" dirty="0">
                <a:solidFill>
                  <a:schemeClr val="tx1"/>
                </a:solidFill>
                <a:effectLst/>
                <a:latin typeface="+mn-lt"/>
                <a:ea typeface="+mn-ea"/>
                <a:cs typeface="+mn-cs"/>
              </a:rPr>
              <a:t> $L</a:t>
            </a:r>
            <a:r>
              <a:rPr lang="es-ES" sz="1200" b="0" i="1" kern="1200" dirty="0">
                <a:solidFill>
                  <a:schemeClr val="tx1"/>
                </a:solidFill>
                <a:effectLst/>
                <a:latin typeface="+mn-lt"/>
                <a:ea typeface="+mn-ea"/>
                <a:cs typeface="+mn-cs"/>
              </a:rPr>
              <a:t>{</a:t>
            </a:r>
            <a:r>
              <a:rPr lang="es-ES" sz="1200" b="0" i="1" kern="1200" dirty="0" err="1">
                <a:solidFill>
                  <a:schemeClr val="tx1"/>
                </a:solidFill>
                <a:effectLst/>
                <a:latin typeface="+mn-lt"/>
                <a:ea typeface="+mn-ea"/>
                <a:cs typeface="+mn-cs"/>
              </a:rPr>
              <a:t>sg</a:t>
            </a:r>
            <a:r>
              <a:rPr lang="es-ES" sz="1200" b="0" i="1" kern="1200" dirty="0">
                <a:solidFill>
                  <a:schemeClr val="tx1"/>
                </a:solidFill>
                <a:effectLst/>
                <a:latin typeface="+mn-lt"/>
                <a:ea typeface="+mn-ea"/>
                <a:cs typeface="+mn-cs"/>
              </a:rPr>
              <a:t>}$ </a:t>
            </a:r>
            <a:r>
              <a:rPr lang="es-ES" sz="1200" b="1" i="1" kern="1200" dirty="0">
                <a:solidFill>
                  <a:schemeClr val="tx1"/>
                </a:solidFill>
                <a:effectLst/>
                <a:latin typeface="+mn-lt"/>
                <a:ea typeface="+mn-ea"/>
                <a:cs typeface="+mn-cs"/>
              </a:rPr>
              <a:t>infinito</a:t>
            </a:r>
            <a:r>
              <a:rPr lang="es-ES" sz="1200" b="0" i="1" kern="1200" dirty="0">
                <a:solidFill>
                  <a:schemeClr val="tx1"/>
                </a:solidFill>
                <a:effectLst/>
                <a:latin typeface="+mn-lt"/>
                <a:ea typeface="+mn-ea"/>
                <a:cs typeface="+mn-cs"/>
              </a:rPr>
              <a:t>: $\;|L</a:t>
            </a:r>
            <a:r>
              <a:rPr lang="es-ES" sz="1200" b="0" i="0" kern="1200" dirty="0">
                <a:solidFill>
                  <a:schemeClr val="tx1"/>
                </a:solidFill>
                <a:effectLst/>
                <a:latin typeface="+mn-lt"/>
                <a:ea typeface="+mn-ea"/>
                <a:cs typeface="+mn-cs"/>
              </a:rPr>
              <a:t>{</a:t>
            </a:r>
            <a:r>
              <a:rPr lang="es-ES" sz="1200" b="0" i="0" kern="1200" dirty="0" err="1">
                <a:solidFill>
                  <a:schemeClr val="tx1"/>
                </a:solidFill>
                <a:effectLst/>
                <a:latin typeface="+mn-lt"/>
                <a:ea typeface="+mn-ea"/>
                <a:cs typeface="+mn-cs"/>
              </a:rPr>
              <a:t>sg</a:t>
            </a:r>
            <a:r>
              <a:rPr lang="es-ES" sz="1200" b="0" i="0" kern="1200" dirty="0">
                <a:solidFill>
                  <a:schemeClr val="tx1"/>
                </a:solidFill>
                <a:effectLst/>
                <a:latin typeface="+mn-lt"/>
                <a:ea typeface="+mn-ea"/>
                <a:cs typeface="+mn-cs"/>
              </a:rPr>
              <a:t>}(N)| \</a:t>
            </a:r>
            <a:r>
              <a:rPr lang="es-ES" sz="1200" b="0" i="0" kern="1200" dirty="0" err="1">
                <a:solidFill>
                  <a:schemeClr val="tx1"/>
                </a:solidFill>
                <a:effectLst/>
                <a:latin typeface="+mn-lt"/>
                <a:ea typeface="+mn-ea"/>
                <a:cs typeface="+mn-cs"/>
              </a:rPr>
              <a:t>to</a:t>
            </a:r>
            <a:r>
              <a:rPr lang="es-ES" sz="1200" b="0" i="0" kern="1200" dirty="0">
                <a:solidFill>
                  <a:schemeClr val="tx1"/>
                </a:solidFill>
                <a:effectLst/>
                <a:latin typeface="+mn-lt"/>
                <a:ea typeface="+mn-ea"/>
                <a:cs typeface="+mn-cs"/>
              </a:rPr>
              <a:t> \</a:t>
            </a:r>
            <a:r>
              <a:rPr lang="es-ES" sz="1200" b="0" i="0" kern="1200" dirty="0" err="1">
                <a:solidFill>
                  <a:schemeClr val="tx1"/>
                </a:solidFill>
                <a:effectLst/>
                <a:latin typeface="+mn-lt"/>
                <a:ea typeface="+mn-ea"/>
                <a:cs typeface="+mn-cs"/>
              </a:rPr>
              <a:t>infty</a:t>
            </a:r>
            <a:r>
              <a:rPr lang="es-ES" sz="1200" b="0" i="0" kern="1200" dirty="0">
                <a:solidFill>
                  <a:schemeClr val="tx1"/>
                </a:solidFill>
                <a:effectLst/>
                <a:latin typeface="+mn-lt"/>
                <a:ea typeface="+mn-ea"/>
                <a:cs typeface="+mn-cs"/>
              </a:rPr>
              <a:t>$.</a:t>
            </a:r>
          </a:p>
          <a:p>
            <a:r>
              <a:rPr lang="es-ES" sz="1200" b="0" i="0" kern="1200" dirty="0">
                <a:solidFill>
                  <a:schemeClr val="tx1"/>
                </a:solidFill>
                <a:effectLst/>
                <a:latin typeface="+mn-lt"/>
                <a:ea typeface="+mn-ea"/>
                <a:cs typeface="+mn-cs"/>
              </a:rPr>
              <a:t>Son </a:t>
            </a:r>
            <a:r>
              <a:rPr lang="es-ES" sz="1200" b="1" i="0" kern="1200" dirty="0">
                <a:solidFill>
                  <a:schemeClr val="tx1"/>
                </a:solidFill>
                <a:effectLst/>
                <a:latin typeface="+mn-lt"/>
                <a:ea typeface="+mn-ea"/>
                <a:cs typeface="+mn-cs"/>
              </a:rPr>
              <a:t>mutuamente excluyentes</a:t>
            </a:r>
            <a:r>
              <a:rPr lang="es-ES" sz="1200" b="0" i="0" kern="1200" dirty="0">
                <a:solidFill>
                  <a:schemeClr val="tx1"/>
                </a:solidFill>
                <a:effectLst/>
                <a:latin typeface="+mn-lt"/>
                <a:ea typeface="+mn-ea"/>
                <a:cs typeface="+mn-cs"/>
              </a:rPr>
              <a:t> y agotan las posibilidades asintóticas relevantes para la presentación. </a:t>
            </a:r>
            <a:r>
              <a:rPr lang="es-ES" sz="1200" b="0" i="0" u="none" strike="noStrike" kern="1200" dirty="0">
                <a:solidFill>
                  <a:schemeClr val="tx1"/>
                </a:solidFill>
                <a:effectLst/>
                <a:latin typeface="+mn-lt"/>
                <a:ea typeface="+mn-ea"/>
                <a:cs typeface="+mn-cs"/>
                <a:hlinkClick r:id="rId3"/>
              </a:rPr>
              <a:t>[</a:t>
            </a:r>
            <a:r>
              <a:rPr lang="es-ES" sz="1200" b="0" i="0" u="none" strike="noStrike" kern="1200" dirty="0" err="1">
                <a:solidFill>
                  <a:schemeClr val="tx1"/>
                </a:solidFill>
                <a:effectLst/>
                <a:latin typeface="+mn-lt"/>
                <a:ea typeface="+mn-ea"/>
                <a:cs typeface="+mn-cs"/>
                <a:hlinkClick r:id="rId3"/>
              </a:rPr>
              <a:t>sofi</a:t>
            </a:r>
            <a:r>
              <a:rPr lang="es-ES" sz="1200" b="0" i="0" u="none" strike="noStrike" kern="1200" dirty="0">
                <a:solidFill>
                  <a:schemeClr val="tx1"/>
                </a:solidFill>
                <a:effectLst/>
                <a:latin typeface="+mn-lt"/>
                <a:ea typeface="+mn-ea"/>
                <a:cs typeface="+mn-cs"/>
                <a:hlinkClick r:id="rId3"/>
              </a:rPr>
              <a:t> | PowerPoint]</a:t>
            </a:r>
            <a:endParaRPr lang="es-ES" sz="1200" b="0" i="0" kern="1200" dirty="0">
              <a:solidFill>
                <a:schemeClr val="tx1"/>
              </a:solidFill>
              <a:effectLst/>
              <a:latin typeface="+mn-lt"/>
              <a:ea typeface="+mn-ea"/>
              <a:cs typeface="+mn-cs"/>
            </a:endParaRPr>
          </a:p>
          <a:p>
            <a:br>
              <a:rPr lang="es-ES" sz="1200" b="0" i="0" kern="1200" dirty="0">
                <a:solidFill>
                  <a:schemeClr val="tx1"/>
                </a:solidFill>
                <a:effectLst/>
                <a:latin typeface="+mn-lt"/>
                <a:ea typeface="+mn-ea"/>
                <a:cs typeface="+mn-cs"/>
              </a:rPr>
            </a:br>
            <a:endParaRPr lang="es-ES" sz="1200" b="0" i="0" kern="1200" dirty="0">
              <a:solidFill>
                <a:schemeClr val="tx1"/>
              </a:solidFill>
              <a:effectLst/>
              <a:latin typeface="+mn-lt"/>
              <a:ea typeface="+mn-ea"/>
              <a:cs typeface="+mn-cs"/>
            </a:endParaRPr>
          </a:p>
          <a:p>
            <a:r>
              <a:rPr lang="es-ES" sz="1200" b="1" i="0" kern="1200" dirty="0">
                <a:solidFill>
                  <a:schemeClr val="tx1"/>
                </a:solidFill>
                <a:effectLst/>
                <a:latin typeface="+mn-lt"/>
                <a:ea typeface="+mn-ea"/>
                <a:cs typeface="+mn-cs"/>
              </a:rPr>
              <a:t>🧩 Análisis asintótico (balance de densidades)</a:t>
            </a:r>
          </a:p>
          <a:p>
            <a:r>
              <a:rPr lang="es-ES" sz="1200" b="0" i="0" kern="1200" dirty="0">
                <a:solidFill>
                  <a:schemeClr val="tx1"/>
                </a:solidFill>
                <a:effectLst/>
                <a:latin typeface="+mn-lt"/>
                <a:ea typeface="+mn-ea"/>
                <a:cs typeface="+mn-cs"/>
              </a:rPr>
              <a:t>En tus diapositivas se factoriza el crecimiento como</a:t>
            </a:r>
          </a:p>
          <a:p>
            <a:r>
              <a:rPr lang="es-ES" sz="1200" b="0" i="0" kern="1200" dirty="0">
                <a:solidFill>
                  <a:schemeClr val="tx1"/>
                </a:solidFill>
                <a:effectLst/>
                <a:latin typeface="+mn-lt"/>
                <a:ea typeface="+mn-ea"/>
                <a:cs typeface="+mn-cs"/>
              </a:rPr>
              <a:t>$ A\</a:t>
            </a:r>
            <a:r>
              <a:rPr lang="es-ES" sz="1200" b="0" i="0" kern="1200" dirty="0" err="1">
                <a:solidFill>
                  <a:schemeClr val="tx1"/>
                </a:solidFill>
                <a:effectLst/>
                <a:latin typeface="+mn-lt"/>
                <a:ea typeface="+mn-ea"/>
                <a:cs typeface="+mn-cs"/>
              </a:rPr>
              <a:t>cdot</a:t>
            </a:r>
            <a:r>
              <a:rPr lang="es-ES" sz="1200" b="0" i="0" kern="1200" dirty="0">
                <a:solidFill>
                  <a:schemeClr val="tx1"/>
                </a:solidFill>
                <a:effectLst/>
                <a:latin typeface="+mn-lt"/>
                <a:ea typeface="+mn-ea"/>
                <a:cs typeface="+mn-cs"/>
              </a:rPr>
              <a:t> a</a:t>
            </a:r>
            <a:r>
              <a:rPr lang="es-ES" sz="1200" b="0" i="1" kern="1200" dirty="0">
                <a:solidFill>
                  <a:schemeClr val="tx1"/>
                </a:solidFill>
                <a:effectLst/>
                <a:latin typeface="+mn-lt"/>
                <a:ea typeface="+mn-ea"/>
                <a:cs typeface="+mn-cs"/>
              </a:rPr>
              <a:t>{L</a:t>
            </a:r>
            <a:r>
              <a:rPr lang="es-ES" sz="1200" b="0" i="0" kern="1200" dirty="0">
                <a:solidFill>
                  <a:schemeClr val="tx1"/>
                </a:solidFill>
                <a:effectLst/>
                <a:latin typeface="+mn-lt"/>
                <a:ea typeface="+mn-ea"/>
                <a:cs typeface="+mn-cs"/>
              </a:rPr>
              <a:t>1}\;=\;B\</a:t>
            </a:r>
            <a:r>
              <a:rPr lang="es-ES" sz="1200" b="0" i="0" kern="1200" dirty="0" err="1">
                <a:solidFill>
                  <a:schemeClr val="tx1"/>
                </a:solidFill>
                <a:effectLst/>
                <a:latin typeface="+mn-lt"/>
                <a:ea typeface="+mn-ea"/>
                <a:cs typeface="+mn-cs"/>
              </a:rPr>
              <a:t>cdot</a:t>
            </a:r>
            <a:r>
              <a:rPr lang="es-ES" sz="1200" b="0" i="0" kern="1200" dirty="0">
                <a:solidFill>
                  <a:schemeClr val="tx1"/>
                </a:solidFill>
                <a:effectLst/>
                <a:latin typeface="+mn-lt"/>
                <a:ea typeface="+mn-ea"/>
                <a:cs typeface="+mn-cs"/>
              </a:rPr>
              <a:t>(</a:t>
            </a:r>
            <a:r>
              <a:rPr lang="es-ES" sz="1200" b="0" i="0" kern="1200" dirty="0" err="1">
                <a:solidFill>
                  <a:schemeClr val="tx1"/>
                </a:solidFill>
                <a:effectLst/>
                <a:latin typeface="+mn-lt"/>
                <a:ea typeface="+mn-ea"/>
                <a:cs typeface="+mn-cs"/>
              </a:rPr>
              <a:t>b+c+d</a:t>
            </a:r>
            <a:r>
              <a:rPr lang="es-ES" sz="1200" b="0" i="0" kern="1200" dirty="0">
                <a:solidFill>
                  <a:schemeClr val="tx1"/>
                </a:solidFill>
                <a:effectLst/>
                <a:latin typeface="+mn-lt"/>
                <a:ea typeface="+mn-ea"/>
                <a:cs typeface="+mn-cs"/>
              </a:rPr>
              <a:t>)\;-\;C\</a:t>
            </a:r>
            <a:r>
              <a:rPr lang="es-ES" sz="1200" b="0" i="0" kern="1200" dirty="0" err="1">
                <a:solidFill>
                  <a:schemeClr val="tx1"/>
                </a:solidFill>
                <a:effectLst/>
                <a:latin typeface="+mn-lt"/>
                <a:ea typeface="+mn-ea"/>
                <a:cs typeface="+mn-cs"/>
              </a:rPr>
              <a:t>cdot</a:t>
            </a:r>
            <a:r>
              <a:rPr lang="es-ES" sz="1200" b="0" i="0" kern="1200" dirty="0">
                <a:solidFill>
                  <a:schemeClr val="tx1"/>
                </a:solidFill>
                <a:effectLst/>
                <a:latin typeface="+mn-lt"/>
                <a:ea typeface="+mn-ea"/>
                <a:cs typeface="+mn-cs"/>
              </a:rPr>
              <a:t> d\;+\;D\</a:t>
            </a:r>
            <a:r>
              <a:rPr lang="es-ES" sz="1200" b="0" i="0" kern="1200" dirty="0" err="1">
                <a:solidFill>
                  <a:schemeClr val="tx1"/>
                </a:solidFill>
                <a:effectLst/>
                <a:latin typeface="+mn-lt"/>
                <a:ea typeface="+mn-ea"/>
                <a:cs typeface="+mn-cs"/>
              </a:rPr>
              <a:t>cdot</a:t>
            </a:r>
            <a:r>
              <a:rPr lang="es-ES" sz="1200" b="0" i="0" kern="1200" dirty="0">
                <a:solidFill>
                  <a:schemeClr val="tx1"/>
                </a:solidFill>
                <a:effectLst/>
                <a:latin typeface="+mn-lt"/>
                <a:ea typeface="+mn-ea"/>
                <a:cs typeface="+mn-cs"/>
              </a:rPr>
              <a:t> e, $</a:t>
            </a:r>
          </a:p>
          <a:p>
            <a:r>
              <a:rPr lang="es-ES" sz="1200" b="0" i="0" kern="1200" dirty="0">
                <a:solidFill>
                  <a:schemeClr val="tx1"/>
                </a:solidFill>
                <a:effectLst/>
                <a:latin typeface="+mn-lt"/>
                <a:ea typeface="+mn-ea"/>
                <a:cs typeface="+mn-cs"/>
              </a:rPr>
              <a:t>donde $a</a:t>
            </a:r>
            <a:r>
              <a:rPr lang="es-ES" sz="1200" b="0" i="1" kern="1200" dirty="0">
                <a:solidFill>
                  <a:schemeClr val="tx1"/>
                </a:solidFill>
                <a:effectLst/>
                <a:latin typeface="+mn-lt"/>
                <a:ea typeface="+mn-ea"/>
                <a:cs typeface="+mn-cs"/>
              </a:rPr>
              <a:t>{L</a:t>
            </a:r>
            <a:r>
              <a:rPr lang="es-ES" sz="1200" b="0" i="0" kern="1200" dirty="0">
                <a:solidFill>
                  <a:schemeClr val="tx1"/>
                </a:solidFill>
                <a:effectLst/>
                <a:latin typeface="+mn-lt"/>
                <a:ea typeface="+mn-ea"/>
                <a:cs typeface="+mn-cs"/>
              </a:rPr>
              <a:t>1}$ recoge el ritmo base de $L</a:t>
            </a:r>
            <a:r>
              <a:rPr lang="es-ES" sz="1200" b="0" i="1" kern="1200" dirty="0">
                <a:solidFill>
                  <a:schemeClr val="tx1"/>
                </a:solidFill>
                <a:effectLst/>
                <a:latin typeface="+mn-lt"/>
                <a:ea typeface="+mn-ea"/>
                <a:cs typeface="+mn-cs"/>
              </a:rPr>
              <a:t>1$ (1/6) y $</a:t>
            </a:r>
            <a:r>
              <a:rPr lang="es-ES" sz="1200" b="0" i="1" kern="1200" dirty="0" err="1">
                <a:solidFill>
                  <a:schemeClr val="tx1"/>
                </a:solidFill>
                <a:effectLst/>
                <a:latin typeface="+mn-lt"/>
                <a:ea typeface="+mn-ea"/>
                <a:cs typeface="+mn-cs"/>
              </a:rPr>
              <a:t>b,c,d,e</a:t>
            </a:r>
            <a:r>
              <a:rPr lang="es-ES" sz="1200" b="0" i="1" kern="1200" dirty="0">
                <a:solidFill>
                  <a:schemeClr val="tx1"/>
                </a:solidFill>
                <a:effectLst/>
                <a:latin typeface="+mn-lt"/>
                <a:ea typeface="+mn-ea"/>
                <a:cs typeface="+mn-cs"/>
              </a:rPr>
              <a:t>$ distribuyen el peso de $L</a:t>
            </a:r>
            <a:r>
              <a:rPr lang="es-ES" sz="1200" b="0" i="0" kern="1200" dirty="0">
                <a:solidFill>
                  <a:schemeClr val="tx1"/>
                </a:solidFill>
                <a:effectLst/>
                <a:latin typeface="+mn-lt"/>
                <a:ea typeface="+mn-ea"/>
                <a:cs typeface="+mn-cs"/>
              </a:rPr>
              <a:t>3$, $L</a:t>
            </a:r>
            <a:r>
              <a:rPr lang="es-ES" sz="1200" b="0" i="1" kern="1200" dirty="0">
                <a:solidFill>
                  <a:schemeClr val="tx1"/>
                </a:solidFill>
                <a:effectLst/>
                <a:latin typeface="+mn-lt"/>
                <a:ea typeface="+mn-ea"/>
                <a:cs typeface="+mn-cs"/>
              </a:rPr>
              <a:t>4$, $L</a:t>
            </a:r>
            <a:r>
              <a:rPr lang="es-ES" sz="1200" b="0" i="0" kern="1200" dirty="0">
                <a:solidFill>
                  <a:schemeClr val="tx1"/>
                </a:solidFill>
                <a:effectLst/>
                <a:latin typeface="+mn-lt"/>
                <a:ea typeface="+mn-ea"/>
                <a:cs typeface="+mn-cs"/>
              </a:rPr>
              <a:t>2$ y $L</a:t>
            </a:r>
            <a:r>
              <a:rPr lang="es-ES" sz="1200" b="0" i="1" kern="1200" dirty="0">
                <a:solidFill>
                  <a:schemeClr val="tx1"/>
                </a:solidFill>
                <a:effectLst/>
                <a:latin typeface="+mn-lt"/>
                <a:ea typeface="+mn-ea"/>
                <a:cs typeface="+mn-cs"/>
              </a:rPr>
              <a:t>{</a:t>
            </a:r>
            <a:r>
              <a:rPr lang="es-ES" sz="1200" b="0" i="1" kern="1200" dirty="0" err="1">
                <a:solidFill>
                  <a:schemeClr val="tx1"/>
                </a:solidFill>
                <a:effectLst/>
                <a:latin typeface="+mn-lt"/>
                <a:ea typeface="+mn-ea"/>
                <a:cs typeface="+mn-cs"/>
              </a:rPr>
              <a:t>sg</a:t>
            </a:r>
            <a:r>
              <a:rPr lang="es-ES" sz="1200" b="0" i="1" kern="1200" dirty="0">
                <a:solidFill>
                  <a:schemeClr val="tx1"/>
                </a:solidFill>
                <a:effectLst/>
                <a:latin typeface="+mn-lt"/>
                <a:ea typeface="+mn-ea"/>
                <a:cs typeface="+mn-cs"/>
              </a:rPr>
              <a:t>}$ dentro del universo; es una </a:t>
            </a:r>
            <a:r>
              <a:rPr lang="es-ES" sz="1200" b="1" i="1" kern="1200" dirty="0">
                <a:solidFill>
                  <a:schemeClr val="tx1"/>
                </a:solidFill>
                <a:effectLst/>
                <a:latin typeface="+mn-lt"/>
                <a:ea typeface="+mn-ea"/>
                <a:cs typeface="+mn-cs"/>
              </a:rPr>
              <a:t>ecuación de balance</a:t>
            </a:r>
            <a:r>
              <a:rPr lang="es-ES" sz="1200" b="0" i="1" kern="1200" dirty="0">
                <a:solidFill>
                  <a:schemeClr val="tx1"/>
                </a:solidFill>
                <a:effectLst/>
                <a:latin typeface="+mn-lt"/>
                <a:ea typeface="+mn-ea"/>
                <a:cs typeface="+mn-cs"/>
              </a:rPr>
              <a:t> entre partes exclusivas, intersección y la contribución $L</a:t>
            </a:r>
            <a:r>
              <a:rPr lang="es-ES" sz="1200" b="0" i="0" kern="1200" dirty="0">
                <a:solidFill>
                  <a:schemeClr val="tx1"/>
                </a:solidFill>
                <a:effectLst/>
                <a:latin typeface="+mn-lt"/>
                <a:ea typeface="+mn-ea"/>
                <a:cs typeface="+mn-cs"/>
              </a:rPr>
              <a:t>{</a:t>
            </a:r>
            <a:r>
              <a:rPr lang="es-ES" sz="1200" b="0" i="0" kern="1200" dirty="0" err="1">
                <a:solidFill>
                  <a:schemeClr val="tx1"/>
                </a:solidFill>
                <a:effectLst/>
                <a:latin typeface="+mn-lt"/>
                <a:ea typeface="+mn-ea"/>
                <a:cs typeface="+mn-cs"/>
              </a:rPr>
              <a:t>sg</a:t>
            </a:r>
            <a:r>
              <a:rPr lang="es-ES" sz="1200" b="0" i="0" kern="1200" dirty="0">
                <a:solidFill>
                  <a:schemeClr val="tx1"/>
                </a:solidFill>
                <a:effectLst/>
                <a:latin typeface="+mn-lt"/>
                <a:ea typeface="+mn-ea"/>
                <a:cs typeface="+mn-cs"/>
              </a:rPr>
              <a:t>}$. Esta formalización aparece, con tu notación, en los bloques de “Dividimos el crecimiento como constante en $L_1$ y le multiplicamos cardinalmente los elementos” y en la lámina de implicaciones $(1-ç), (1-s), (1-z), (1-€)$. </a:t>
            </a:r>
            <a:r>
              <a:rPr lang="es-ES" sz="1200" b="0" i="0" u="none" strike="noStrike" kern="1200" dirty="0">
                <a:solidFill>
                  <a:schemeClr val="tx1"/>
                </a:solidFill>
                <a:effectLst/>
                <a:latin typeface="+mn-lt"/>
                <a:ea typeface="+mn-ea"/>
                <a:cs typeface="+mn-cs"/>
                <a:hlinkClick r:id="rId3"/>
              </a:rPr>
              <a:t>[</a:t>
            </a:r>
            <a:r>
              <a:rPr lang="es-ES" sz="1200" b="0" i="0" u="none" strike="noStrike" kern="1200" dirty="0" err="1">
                <a:solidFill>
                  <a:schemeClr val="tx1"/>
                </a:solidFill>
                <a:effectLst/>
                <a:latin typeface="+mn-lt"/>
                <a:ea typeface="+mn-ea"/>
                <a:cs typeface="+mn-cs"/>
                <a:hlinkClick r:id="rId3"/>
              </a:rPr>
              <a:t>sofi</a:t>
            </a:r>
            <a:r>
              <a:rPr lang="es-ES" sz="1200" b="0" i="0" u="none" strike="noStrike" kern="1200" dirty="0">
                <a:solidFill>
                  <a:schemeClr val="tx1"/>
                </a:solidFill>
                <a:effectLst/>
                <a:latin typeface="+mn-lt"/>
                <a:ea typeface="+mn-ea"/>
                <a:cs typeface="+mn-cs"/>
                <a:hlinkClick r:id="rId3"/>
              </a:rPr>
              <a:t> | PowerPoint]</a:t>
            </a:r>
            <a:endParaRPr lang="es-ES" sz="1200" b="0" i="0" kern="1200" dirty="0">
              <a:solidFill>
                <a:schemeClr val="tx1"/>
              </a:solidFill>
              <a:effectLst/>
              <a:latin typeface="+mn-lt"/>
              <a:ea typeface="+mn-ea"/>
              <a:cs typeface="+mn-cs"/>
            </a:endParaRPr>
          </a:p>
          <a:p>
            <a:br>
              <a:rPr lang="es-ES" sz="1200" b="0" i="0" kern="1200" dirty="0">
                <a:solidFill>
                  <a:schemeClr val="tx1"/>
                </a:solidFill>
                <a:effectLst/>
                <a:latin typeface="+mn-lt"/>
                <a:ea typeface="+mn-ea"/>
                <a:cs typeface="+mn-cs"/>
              </a:rPr>
            </a:br>
            <a:endParaRPr lang="es-ES" sz="1200" b="0" i="0" kern="1200" dirty="0">
              <a:solidFill>
                <a:schemeClr val="tx1"/>
              </a:solidFill>
              <a:effectLst/>
              <a:latin typeface="+mn-lt"/>
              <a:ea typeface="+mn-ea"/>
              <a:cs typeface="+mn-cs"/>
            </a:endParaRPr>
          </a:p>
          <a:p>
            <a:r>
              <a:rPr lang="es-ES" sz="1200" b="1" i="0" kern="1200" dirty="0">
                <a:solidFill>
                  <a:schemeClr val="tx1"/>
                </a:solidFill>
                <a:effectLst/>
                <a:latin typeface="+mn-lt"/>
                <a:ea typeface="+mn-ea"/>
                <a:cs typeface="+mn-cs"/>
              </a:rPr>
              <a:t>❌ Caso (F1): $L_{</a:t>
            </a:r>
            <a:r>
              <a:rPr lang="es-ES" sz="1200" b="1" i="0" kern="1200" dirty="0" err="1">
                <a:solidFill>
                  <a:schemeClr val="tx1"/>
                </a:solidFill>
                <a:effectLst/>
                <a:latin typeface="+mn-lt"/>
                <a:ea typeface="+mn-ea"/>
                <a:cs typeface="+mn-cs"/>
              </a:rPr>
              <a:t>sg</a:t>
            </a:r>
            <a:r>
              <a:rPr lang="es-ES" sz="1200" b="1" i="0" kern="1200" dirty="0">
                <a:solidFill>
                  <a:schemeClr val="tx1"/>
                </a:solidFill>
                <a:effectLst/>
                <a:latin typeface="+mn-lt"/>
                <a:ea typeface="+mn-ea"/>
                <a:cs typeface="+mn-cs"/>
              </a:rPr>
              <a:t>}$ </a:t>
            </a:r>
            <a:r>
              <a:rPr lang="es-ES" sz="1200" b="1" i="0" kern="1200" dirty="0" err="1">
                <a:solidFill>
                  <a:schemeClr val="tx1"/>
                </a:solidFill>
                <a:effectLst/>
                <a:latin typeface="+mn-lt"/>
                <a:ea typeface="+mn-ea"/>
                <a:cs typeface="+mn-cs"/>
              </a:rPr>
              <a:t>cte</a:t>
            </a:r>
            <a:r>
              <a:rPr lang="es-ES" sz="1200" b="1" i="0" kern="1200" dirty="0">
                <a:solidFill>
                  <a:schemeClr val="tx1"/>
                </a:solidFill>
                <a:effectLst/>
                <a:latin typeface="+mn-lt"/>
                <a:ea typeface="+mn-ea"/>
                <a:cs typeface="+mn-cs"/>
              </a:rPr>
              <a:t> $\</a:t>
            </a:r>
            <a:r>
              <a:rPr lang="es-ES" sz="1200" b="1" i="0" kern="1200" dirty="0" err="1">
                <a:solidFill>
                  <a:schemeClr val="tx1"/>
                </a:solidFill>
                <a:effectLst/>
                <a:latin typeface="+mn-lt"/>
                <a:ea typeface="+mn-ea"/>
                <a:cs typeface="+mn-cs"/>
              </a:rPr>
              <a:t>Rightarrow</a:t>
            </a:r>
            <a:r>
              <a:rPr lang="es-ES" sz="1200" b="1" i="0" kern="1200" dirty="0">
                <a:solidFill>
                  <a:schemeClr val="tx1"/>
                </a:solidFill>
                <a:effectLst/>
                <a:latin typeface="+mn-lt"/>
                <a:ea typeface="+mn-ea"/>
                <a:cs typeface="+mn-cs"/>
              </a:rPr>
              <a:t>$ contradicción</a:t>
            </a:r>
          </a:p>
          <a:p>
            <a:r>
              <a:rPr lang="es-ES" sz="1200" b="0" i="0" kern="1200" dirty="0">
                <a:solidFill>
                  <a:schemeClr val="tx1"/>
                </a:solidFill>
                <a:effectLst/>
                <a:latin typeface="+mn-lt"/>
                <a:ea typeface="+mn-ea"/>
                <a:cs typeface="+mn-cs"/>
              </a:rPr>
              <a:t>Si $|L</a:t>
            </a:r>
            <a:r>
              <a:rPr lang="es-ES" sz="1200" b="0" i="1" kern="1200" dirty="0">
                <a:solidFill>
                  <a:schemeClr val="tx1"/>
                </a:solidFill>
                <a:effectLst/>
                <a:latin typeface="+mn-lt"/>
                <a:ea typeface="+mn-ea"/>
                <a:cs typeface="+mn-cs"/>
              </a:rPr>
              <a:t>{</a:t>
            </a:r>
            <a:r>
              <a:rPr lang="es-ES" sz="1200" b="0" i="1" kern="1200" dirty="0" err="1">
                <a:solidFill>
                  <a:schemeClr val="tx1"/>
                </a:solidFill>
                <a:effectLst/>
                <a:latin typeface="+mn-lt"/>
                <a:ea typeface="+mn-ea"/>
                <a:cs typeface="+mn-cs"/>
              </a:rPr>
              <a:t>sg</a:t>
            </a:r>
            <a:r>
              <a:rPr lang="es-ES" sz="1200" b="0" i="1" kern="1200" dirty="0">
                <a:solidFill>
                  <a:schemeClr val="tx1"/>
                </a:solidFill>
                <a:effectLst/>
                <a:latin typeface="+mn-lt"/>
                <a:ea typeface="+mn-ea"/>
                <a:cs typeface="+mn-cs"/>
              </a:rPr>
              <a:t>}(N)|=O(1)$, su </a:t>
            </a:r>
            <a:r>
              <a:rPr lang="es-ES" sz="1200" b="1" i="1" kern="1200" dirty="0">
                <a:solidFill>
                  <a:schemeClr val="tx1"/>
                </a:solidFill>
                <a:effectLst/>
                <a:latin typeface="+mn-lt"/>
                <a:ea typeface="+mn-ea"/>
                <a:cs typeface="+mn-cs"/>
              </a:rPr>
              <a:t>densidad relativa</a:t>
            </a:r>
            <a:r>
              <a:rPr lang="es-ES" sz="1200" b="0" i="1" kern="1200" dirty="0">
                <a:solidFill>
                  <a:schemeClr val="tx1"/>
                </a:solidFill>
                <a:effectLst/>
                <a:latin typeface="+mn-lt"/>
                <a:ea typeface="+mn-ea"/>
                <a:cs typeface="+mn-cs"/>
              </a:rPr>
              <a:t> dentro de $L</a:t>
            </a:r>
            <a:r>
              <a:rPr lang="es-ES" sz="1200" b="0" i="0" kern="1200" dirty="0">
                <a:solidFill>
                  <a:schemeClr val="tx1"/>
                </a:solidFill>
                <a:effectLst/>
                <a:latin typeface="+mn-lt"/>
                <a:ea typeface="+mn-ea"/>
                <a:cs typeface="+mn-cs"/>
              </a:rPr>
              <a:t>1$ es $e(N)=|L</a:t>
            </a:r>
            <a:r>
              <a:rPr lang="es-ES" sz="1200" b="0" i="1" kern="1200" dirty="0">
                <a:solidFill>
                  <a:schemeClr val="tx1"/>
                </a:solidFill>
                <a:effectLst/>
                <a:latin typeface="+mn-lt"/>
                <a:ea typeface="+mn-ea"/>
                <a:cs typeface="+mn-cs"/>
              </a:rPr>
              <a:t>{</a:t>
            </a:r>
            <a:r>
              <a:rPr lang="es-ES" sz="1200" b="0" i="1" kern="1200" dirty="0" err="1">
                <a:solidFill>
                  <a:schemeClr val="tx1"/>
                </a:solidFill>
                <a:effectLst/>
                <a:latin typeface="+mn-lt"/>
                <a:ea typeface="+mn-ea"/>
                <a:cs typeface="+mn-cs"/>
              </a:rPr>
              <a:t>sg</a:t>
            </a:r>
            <a:r>
              <a:rPr lang="es-ES" sz="1200" b="0" i="1" kern="1200" dirty="0">
                <a:solidFill>
                  <a:schemeClr val="tx1"/>
                </a:solidFill>
                <a:effectLst/>
                <a:latin typeface="+mn-lt"/>
                <a:ea typeface="+mn-ea"/>
                <a:cs typeface="+mn-cs"/>
              </a:rPr>
              <a:t>}(N)|/|L</a:t>
            </a:r>
            <a:r>
              <a:rPr lang="es-ES" sz="1200" b="0" i="0" kern="1200" dirty="0">
                <a:solidFill>
                  <a:schemeClr val="tx1"/>
                </a:solidFill>
                <a:effectLst/>
                <a:latin typeface="+mn-lt"/>
                <a:ea typeface="+mn-ea"/>
                <a:cs typeface="+mn-cs"/>
              </a:rPr>
              <a:t>1(N)|\</a:t>
            </a:r>
            <a:r>
              <a:rPr lang="es-ES" sz="1200" b="0" i="0" kern="1200" dirty="0" err="1">
                <a:solidFill>
                  <a:schemeClr val="tx1"/>
                </a:solidFill>
                <a:effectLst/>
                <a:latin typeface="+mn-lt"/>
                <a:ea typeface="+mn-ea"/>
                <a:cs typeface="+mn-cs"/>
              </a:rPr>
              <a:t>to</a:t>
            </a:r>
            <a:r>
              <a:rPr lang="es-ES" sz="1200" b="0" i="0" kern="1200" dirty="0">
                <a:solidFill>
                  <a:schemeClr val="tx1"/>
                </a:solidFill>
                <a:effectLst/>
                <a:latin typeface="+mn-lt"/>
                <a:ea typeface="+mn-ea"/>
                <a:cs typeface="+mn-cs"/>
              </a:rPr>
              <a:t> 0$.</a:t>
            </a:r>
            <a:br>
              <a:rPr lang="es-ES" sz="1200" b="0" i="0" kern="1200" dirty="0">
                <a:solidFill>
                  <a:schemeClr val="tx1"/>
                </a:solidFill>
                <a:effectLst/>
                <a:latin typeface="+mn-lt"/>
                <a:ea typeface="+mn-ea"/>
                <a:cs typeface="+mn-cs"/>
              </a:rPr>
            </a:br>
            <a:r>
              <a:rPr lang="es-ES" sz="1200" b="0" i="0" kern="1200" dirty="0">
                <a:solidFill>
                  <a:schemeClr val="tx1"/>
                </a:solidFill>
                <a:effectLst/>
                <a:latin typeface="+mn-lt"/>
                <a:ea typeface="+mn-ea"/>
                <a:cs typeface="+mn-cs"/>
              </a:rPr>
              <a:t>Sustituyendo en el balance: la </a:t>
            </a:r>
            <a:r>
              <a:rPr lang="es-ES" sz="1200" b="1" i="0" kern="1200" dirty="0">
                <a:solidFill>
                  <a:schemeClr val="tx1"/>
                </a:solidFill>
                <a:effectLst/>
                <a:latin typeface="+mn-lt"/>
                <a:ea typeface="+mn-ea"/>
                <a:cs typeface="+mn-cs"/>
              </a:rPr>
              <a:t>parte que crece como $|L</a:t>
            </a:r>
            <a:r>
              <a:rPr lang="es-ES" sz="1200" b="1" i="1" kern="1200" dirty="0">
                <a:solidFill>
                  <a:schemeClr val="tx1"/>
                </a:solidFill>
                <a:effectLst/>
                <a:latin typeface="+mn-lt"/>
                <a:ea typeface="+mn-ea"/>
                <a:cs typeface="+mn-cs"/>
              </a:rPr>
              <a:t>1(N)|$</a:t>
            </a:r>
            <a:r>
              <a:rPr lang="es-ES" sz="1200" b="0" i="1" kern="1200" dirty="0">
                <a:solidFill>
                  <a:schemeClr val="tx1"/>
                </a:solidFill>
                <a:effectLst/>
                <a:latin typeface="+mn-lt"/>
                <a:ea typeface="+mn-ea"/>
                <a:cs typeface="+mn-cs"/>
              </a:rPr>
              <a:t> debe ser explicada </a:t>
            </a:r>
            <a:r>
              <a:rPr lang="es-ES" sz="1200" b="1" i="1" kern="1200" dirty="0">
                <a:solidFill>
                  <a:schemeClr val="tx1"/>
                </a:solidFill>
                <a:effectLst/>
                <a:latin typeface="+mn-lt"/>
                <a:ea typeface="+mn-ea"/>
                <a:cs typeface="+mn-cs"/>
              </a:rPr>
              <a:t>solo</a:t>
            </a:r>
            <a:r>
              <a:rPr lang="es-ES" sz="1200" b="0" i="1" kern="1200" dirty="0">
                <a:solidFill>
                  <a:schemeClr val="tx1"/>
                </a:solidFill>
                <a:effectLst/>
                <a:latin typeface="+mn-lt"/>
                <a:ea typeface="+mn-ea"/>
                <a:cs typeface="+mn-cs"/>
              </a:rPr>
              <a:t> por las piezas $L</a:t>
            </a:r>
            <a:r>
              <a:rPr lang="es-ES" sz="1200" b="0" i="0" kern="1200" dirty="0">
                <a:solidFill>
                  <a:schemeClr val="tx1"/>
                </a:solidFill>
                <a:effectLst/>
                <a:latin typeface="+mn-lt"/>
                <a:ea typeface="+mn-ea"/>
                <a:cs typeface="+mn-cs"/>
              </a:rPr>
              <a:t>3$, $L</a:t>
            </a:r>
            <a:r>
              <a:rPr lang="es-ES" sz="1200" b="0" i="1" kern="1200" dirty="0">
                <a:solidFill>
                  <a:schemeClr val="tx1"/>
                </a:solidFill>
                <a:effectLst/>
                <a:latin typeface="+mn-lt"/>
                <a:ea typeface="+mn-ea"/>
                <a:cs typeface="+mn-cs"/>
              </a:rPr>
              <a:t>4$ y su intersección $L</a:t>
            </a:r>
            <a:r>
              <a:rPr lang="es-ES" sz="1200" b="0" i="0" kern="1200" dirty="0">
                <a:solidFill>
                  <a:schemeClr val="tx1"/>
                </a:solidFill>
                <a:effectLst/>
                <a:latin typeface="+mn-lt"/>
                <a:ea typeface="+mn-ea"/>
                <a:cs typeface="+mn-cs"/>
              </a:rPr>
              <a:t>2$. Pero tus láminas muestran que, al pasar a la forma de “</a:t>
            </a:r>
            <a:r>
              <a:rPr lang="es-ES" sz="1200" b="1" i="0" kern="1200" dirty="0">
                <a:solidFill>
                  <a:schemeClr val="tx1"/>
                </a:solidFill>
                <a:effectLst/>
                <a:latin typeface="+mn-lt"/>
                <a:ea typeface="+mn-ea"/>
                <a:cs typeface="+mn-cs"/>
              </a:rPr>
              <a:t>implicación de crecimiento</a:t>
            </a:r>
            <a:r>
              <a:rPr lang="es-ES" sz="1200" b="0" i="0" kern="1200" dirty="0">
                <a:solidFill>
                  <a:schemeClr val="tx1"/>
                </a:solidFill>
                <a:effectLst/>
                <a:latin typeface="+mn-lt"/>
                <a:ea typeface="+mn-ea"/>
                <a:cs typeface="+mn-cs"/>
              </a:rPr>
              <a:t>” ($(1-ç)-(1-s)=(1-z)-(1-€)$) y tomar el límite $N\</a:t>
            </a:r>
            <a:r>
              <a:rPr lang="es-ES" sz="1200" b="0" i="0" kern="1200" dirty="0" err="1">
                <a:solidFill>
                  <a:schemeClr val="tx1"/>
                </a:solidFill>
                <a:effectLst/>
                <a:latin typeface="+mn-lt"/>
                <a:ea typeface="+mn-ea"/>
                <a:cs typeface="+mn-cs"/>
              </a:rPr>
              <a:t>to</a:t>
            </a:r>
            <a:r>
              <a:rPr lang="es-ES" sz="1200" b="0" i="0" kern="1200" dirty="0">
                <a:solidFill>
                  <a:schemeClr val="tx1"/>
                </a:solidFill>
                <a:effectLst/>
                <a:latin typeface="+mn-lt"/>
                <a:ea typeface="+mn-ea"/>
                <a:cs typeface="+mn-cs"/>
              </a:rPr>
              <a:t>\</a:t>
            </a:r>
            <a:r>
              <a:rPr lang="es-ES" sz="1200" b="0" i="0" kern="1200" dirty="0" err="1">
                <a:solidFill>
                  <a:schemeClr val="tx1"/>
                </a:solidFill>
                <a:effectLst/>
                <a:latin typeface="+mn-lt"/>
                <a:ea typeface="+mn-ea"/>
                <a:cs typeface="+mn-cs"/>
              </a:rPr>
              <a:t>infty</a:t>
            </a:r>
            <a:r>
              <a:rPr lang="es-ES" sz="1200" b="0" i="0" kern="1200" dirty="0">
                <a:solidFill>
                  <a:schemeClr val="tx1"/>
                </a:solidFill>
                <a:effectLst/>
                <a:latin typeface="+mn-lt"/>
                <a:ea typeface="+mn-ea"/>
                <a:cs typeface="+mn-cs"/>
              </a:rPr>
              <a:t>$, los términos necesarios para compensar el crecimiento total de $L</a:t>
            </a:r>
            <a:r>
              <a:rPr lang="es-ES" sz="1200" b="0" i="1" kern="1200" dirty="0">
                <a:solidFill>
                  <a:schemeClr val="tx1"/>
                </a:solidFill>
                <a:effectLst/>
                <a:latin typeface="+mn-lt"/>
                <a:ea typeface="+mn-ea"/>
                <a:cs typeface="+mn-cs"/>
              </a:rPr>
              <a:t>1$ </a:t>
            </a:r>
            <a:r>
              <a:rPr lang="es-ES" sz="1200" b="1" i="1" kern="1200" dirty="0">
                <a:solidFill>
                  <a:schemeClr val="tx1"/>
                </a:solidFill>
                <a:effectLst/>
                <a:latin typeface="+mn-lt"/>
                <a:ea typeface="+mn-ea"/>
                <a:cs typeface="+mn-cs"/>
              </a:rPr>
              <a:t>no cierran</a:t>
            </a:r>
            <a:r>
              <a:rPr lang="es-ES" sz="1200" b="0" i="1" kern="1200" dirty="0">
                <a:solidFill>
                  <a:schemeClr val="tx1"/>
                </a:solidFill>
                <a:effectLst/>
                <a:latin typeface="+mn-lt"/>
                <a:ea typeface="+mn-ea"/>
                <a:cs typeface="+mn-cs"/>
              </a:rPr>
              <a:t> si la contribución de $L</a:t>
            </a:r>
            <a:r>
              <a:rPr lang="es-ES" sz="1200" b="0" i="0" kern="1200" dirty="0">
                <a:solidFill>
                  <a:schemeClr val="tx1"/>
                </a:solidFill>
                <a:effectLst/>
                <a:latin typeface="+mn-lt"/>
                <a:ea typeface="+mn-ea"/>
                <a:cs typeface="+mn-cs"/>
              </a:rPr>
              <a:t>{</a:t>
            </a:r>
            <a:r>
              <a:rPr lang="es-ES" sz="1200" b="0" i="0" kern="1200" dirty="0" err="1">
                <a:solidFill>
                  <a:schemeClr val="tx1"/>
                </a:solidFill>
                <a:effectLst/>
                <a:latin typeface="+mn-lt"/>
                <a:ea typeface="+mn-ea"/>
                <a:cs typeface="+mn-cs"/>
              </a:rPr>
              <a:t>sg</a:t>
            </a:r>
            <a:r>
              <a:rPr lang="es-ES" sz="1200" b="0" i="0" kern="1200" dirty="0">
                <a:solidFill>
                  <a:schemeClr val="tx1"/>
                </a:solidFill>
                <a:effectLst/>
                <a:latin typeface="+mn-lt"/>
                <a:ea typeface="+mn-ea"/>
                <a:cs typeface="+mn-cs"/>
              </a:rPr>
              <a:t>}$ se hace nula (o meramente constante), generando la </a:t>
            </a:r>
            <a:r>
              <a:rPr lang="es-ES" sz="1200" b="1" i="0" kern="1200" dirty="0">
                <a:solidFill>
                  <a:schemeClr val="tx1"/>
                </a:solidFill>
                <a:effectLst/>
                <a:latin typeface="+mn-lt"/>
                <a:ea typeface="+mn-ea"/>
                <a:cs typeface="+mn-cs"/>
              </a:rPr>
              <a:t>contradicción 2: </a:t>
            </a:r>
            <a:r>
              <a:rPr lang="es-ES" sz="1200" b="1" i="0" kern="1200" dirty="0" err="1">
                <a:solidFill>
                  <a:schemeClr val="tx1"/>
                </a:solidFill>
                <a:effectLst/>
                <a:latin typeface="+mn-lt"/>
                <a:ea typeface="+mn-ea"/>
                <a:cs typeface="+mn-cs"/>
              </a:rPr>
              <a:t>cte</a:t>
            </a:r>
            <a:r>
              <a:rPr lang="es-ES" sz="1200" b="1" i="0" kern="1200" dirty="0">
                <a:solidFill>
                  <a:schemeClr val="tx1"/>
                </a:solidFill>
                <a:effectLst/>
                <a:latin typeface="+mn-lt"/>
                <a:ea typeface="+mn-ea"/>
                <a:cs typeface="+mn-cs"/>
              </a:rPr>
              <a:t> – ∞</a:t>
            </a:r>
            <a:r>
              <a:rPr lang="es-ES" sz="1200" b="0" i="0" kern="1200" dirty="0">
                <a:solidFill>
                  <a:schemeClr val="tx1"/>
                </a:solidFill>
                <a:effectLst/>
                <a:latin typeface="+mn-lt"/>
                <a:ea typeface="+mn-ea"/>
                <a:cs typeface="+mn-cs"/>
              </a:rPr>
              <a:t> en tu esquema. En otras palabras: </a:t>
            </a:r>
            <a:r>
              <a:rPr lang="es-ES" sz="1200" b="1" i="0" kern="1200" dirty="0">
                <a:solidFill>
                  <a:schemeClr val="tx1"/>
                </a:solidFill>
                <a:effectLst/>
                <a:latin typeface="+mn-lt"/>
                <a:ea typeface="+mn-ea"/>
                <a:cs typeface="+mn-cs"/>
              </a:rPr>
              <a:t>las partes conocidas no “llenan” el crecimiento de $L</a:t>
            </a:r>
            <a:r>
              <a:rPr lang="es-ES" sz="1200" b="1" i="1" kern="1200" dirty="0">
                <a:solidFill>
                  <a:schemeClr val="tx1"/>
                </a:solidFill>
                <a:effectLst/>
                <a:latin typeface="+mn-lt"/>
                <a:ea typeface="+mn-ea"/>
                <a:cs typeface="+mn-cs"/>
              </a:rPr>
              <a:t>1$</a:t>
            </a:r>
            <a:r>
              <a:rPr lang="es-ES" sz="1200" b="0" i="1" kern="1200" dirty="0">
                <a:solidFill>
                  <a:schemeClr val="tx1"/>
                </a:solidFill>
                <a:effectLst/>
                <a:latin typeface="+mn-lt"/>
                <a:ea typeface="+mn-ea"/>
                <a:cs typeface="+mn-cs"/>
              </a:rPr>
              <a:t> sin la pieza $L</a:t>
            </a:r>
            <a:r>
              <a:rPr lang="es-ES" sz="1200" b="0" i="0" kern="1200" dirty="0">
                <a:solidFill>
                  <a:schemeClr val="tx1"/>
                </a:solidFill>
                <a:effectLst/>
                <a:latin typeface="+mn-lt"/>
                <a:ea typeface="+mn-ea"/>
                <a:cs typeface="+mn-cs"/>
              </a:rPr>
              <a:t>{</a:t>
            </a:r>
            <a:r>
              <a:rPr lang="es-ES" sz="1200" b="0" i="0" kern="1200" dirty="0" err="1">
                <a:solidFill>
                  <a:schemeClr val="tx1"/>
                </a:solidFill>
                <a:effectLst/>
                <a:latin typeface="+mn-lt"/>
                <a:ea typeface="+mn-ea"/>
                <a:cs typeface="+mn-cs"/>
              </a:rPr>
              <a:t>sg</a:t>
            </a:r>
            <a:r>
              <a:rPr lang="es-ES" sz="1200" b="0" i="0" kern="1200" dirty="0">
                <a:solidFill>
                  <a:schemeClr val="tx1"/>
                </a:solidFill>
                <a:effectLst/>
                <a:latin typeface="+mn-lt"/>
                <a:ea typeface="+mn-ea"/>
                <a:cs typeface="+mn-cs"/>
              </a:rPr>
              <a:t>}$. </a:t>
            </a:r>
            <a:r>
              <a:rPr lang="es-ES" sz="1200" b="0" i="0" u="none" strike="noStrike" kern="1200" dirty="0">
                <a:solidFill>
                  <a:schemeClr val="tx1"/>
                </a:solidFill>
                <a:effectLst/>
                <a:latin typeface="+mn-lt"/>
                <a:ea typeface="+mn-ea"/>
                <a:cs typeface="+mn-cs"/>
                <a:hlinkClick r:id="rId3"/>
              </a:rPr>
              <a:t>[</a:t>
            </a:r>
            <a:r>
              <a:rPr lang="es-ES" sz="1200" b="0" i="0" u="none" strike="noStrike" kern="1200" dirty="0" err="1">
                <a:solidFill>
                  <a:schemeClr val="tx1"/>
                </a:solidFill>
                <a:effectLst/>
                <a:latin typeface="+mn-lt"/>
                <a:ea typeface="+mn-ea"/>
                <a:cs typeface="+mn-cs"/>
                <a:hlinkClick r:id="rId3"/>
              </a:rPr>
              <a:t>sofi</a:t>
            </a:r>
            <a:r>
              <a:rPr lang="es-ES" sz="1200" b="0" i="0" u="none" strike="noStrike" kern="1200" dirty="0">
                <a:solidFill>
                  <a:schemeClr val="tx1"/>
                </a:solidFill>
                <a:effectLst/>
                <a:latin typeface="+mn-lt"/>
                <a:ea typeface="+mn-ea"/>
                <a:cs typeface="+mn-cs"/>
                <a:hlinkClick r:id="rId3"/>
              </a:rPr>
              <a:t> | PowerPoint]</a:t>
            </a:r>
            <a:endParaRPr lang="es-ES" sz="1200" b="0" i="0" kern="1200" dirty="0">
              <a:solidFill>
                <a:schemeClr val="tx1"/>
              </a:solidFill>
              <a:effectLst/>
              <a:latin typeface="+mn-lt"/>
              <a:ea typeface="+mn-ea"/>
              <a:cs typeface="+mn-cs"/>
            </a:endParaRPr>
          </a:p>
          <a:p>
            <a:r>
              <a:rPr lang="es-ES" sz="1200" b="1" i="0" kern="1200" dirty="0">
                <a:solidFill>
                  <a:schemeClr val="tx1"/>
                </a:solidFill>
                <a:effectLst/>
                <a:latin typeface="+mn-lt"/>
                <a:ea typeface="+mn-ea"/>
                <a:cs typeface="+mn-cs"/>
              </a:rPr>
              <a:t>Conclusión del caso (F1):</a:t>
            </a:r>
            <a:r>
              <a:rPr lang="es-ES" sz="1200" b="0" i="0" kern="1200" dirty="0">
                <a:solidFill>
                  <a:schemeClr val="tx1"/>
                </a:solidFill>
                <a:effectLst/>
                <a:latin typeface="+mn-lt"/>
                <a:ea typeface="+mn-ea"/>
                <a:cs typeface="+mn-cs"/>
              </a:rPr>
              <a:t> no es consistente con las identidades de crecimiento de las diapositivas; </a:t>
            </a:r>
            <a:r>
              <a:rPr lang="es-ES" sz="1200" b="1" i="0" kern="1200" dirty="0">
                <a:solidFill>
                  <a:schemeClr val="tx1"/>
                </a:solidFill>
                <a:effectLst/>
                <a:latin typeface="+mn-lt"/>
                <a:ea typeface="+mn-ea"/>
                <a:cs typeface="+mn-cs"/>
              </a:rPr>
              <a:t>se descarta</a:t>
            </a:r>
            <a:r>
              <a:rPr lang="es-ES" sz="1200" b="0" i="0" kern="1200" dirty="0">
                <a:solidFill>
                  <a:schemeClr val="tx1"/>
                </a:solidFill>
                <a:effectLst/>
                <a:latin typeface="+mn-lt"/>
                <a:ea typeface="+mn-ea"/>
                <a:cs typeface="+mn-cs"/>
              </a:rPr>
              <a:t>. </a:t>
            </a:r>
            <a:r>
              <a:rPr lang="es-ES" sz="1200" b="0" i="0" u="none" strike="noStrike" kern="1200" dirty="0">
                <a:solidFill>
                  <a:schemeClr val="tx1"/>
                </a:solidFill>
                <a:effectLst/>
                <a:latin typeface="+mn-lt"/>
                <a:ea typeface="+mn-ea"/>
                <a:cs typeface="+mn-cs"/>
                <a:hlinkClick r:id="rId3"/>
              </a:rPr>
              <a:t>[</a:t>
            </a:r>
            <a:r>
              <a:rPr lang="es-ES" sz="1200" b="0" i="0" u="none" strike="noStrike" kern="1200" dirty="0" err="1">
                <a:solidFill>
                  <a:schemeClr val="tx1"/>
                </a:solidFill>
                <a:effectLst/>
                <a:latin typeface="+mn-lt"/>
                <a:ea typeface="+mn-ea"/>
                <a:cs typeface="+mn-cs"/>
                <a:hlinkClick r:id="rId3"/>
              </a:rPr>
              <a:t>sofi</a:t>
            </a:r>
            <a:r>
              <a:rPr lang="es-ES" sz="1200" b="0" i="0" u="none" strike="noStrike" kern="1200" dirty="0">
                <a:solidFill>
                  <a:schemeClr val="tx1"/>
                </a:solidFill>
                <a:effectLst/>
                <a:latin typeface="+mn-lt"/>
                <a:ea typeface="+mn-ea"/>
                <a:cs typeface="+mn-cs"/>
                <a:hlinkClick r:id="rId3"/>
              </a:rPr>
              <a:t> | PowerPoint]</a:t>
            </a:r>
            <a:endParaRPr lang="es-ES" sz="1200" b="0" i="0" kern="1200" dirty="0">
              <a:solidFill>
                <a:schemeClr val="tx1"/>
              </a:solidFill>
              <a:effectLst/>
              <a:latin typeface="+mn-lt"/>
              <a:ea typeface="+mn-ea"/>
              <a:cs typeface="+mn-cs"/>
            </a:endParaRPr>
          </a:p>
          <a:p>
            <a:br>
              <a:rPr lang="es-ES" sz="1200" b="0" i="0" kern="1200" dirty="0">
                <a:solidFill>
                  <a:schemeClr val="tx1"/>
                </a:solidFill>
                <a:effectLst/>
                <a:latin typeface="+mn-lt"/>
                <a:ea typeface="+mn-ea"/>
                <a:cs typeface="+mn-cs"/>
              </a:rPr>
            </a:br>
            <a:endParaRPr lang="es-ES" sz="1200" b="0" i="0" kern="1200" dirty="0">
              <a:solidFill>
                <a:schemeClr val="tx1"/>
              </a:solidFill>
              <a:effectLst/>
              <a:latin typeface="+mn-lt"/>
              <a:ea typeface="+mn-ea"/>
              <a:cs typeface="+mn-cs"/>
            </a:endParaRPr>
          </a:p>
          <a:p>
            <a:r>
              <a:rPr lang="es-ES" sz="1200" b="1" i="0" kern="1200" dirty="0">
                <a:solidFill>
                  <a:schemeClr val="tx1"/>
                </a:solidFill>
                <a:effectLst/>
                <a:latin typeface="+mn-lt"/>
                <a:ea typeface="+mn-ea"/>
                <a:cs typeface="+mn-cs"/>
              </a:rPr>
              <a:t>✅ Caso (F2): $L_{</a:t>
            </a:r>
            <a:r>
              <a:rPr lang="es-ES" sz="1200" b="1" i="0" kern="1200" dirty="0" err="1">
                <a:solidFill>
                  <a:schemeClr val="tx1"/>
                </a:solidFill>
                <a:effectLst/>
                <a:latin typeface="+mn-lt"/>
                <a:ea typeface="+mn-ea"/>
                <a:cs typeface="+mn-cs"/>
              </a:rPr>
              <a:t>sg</a:t>
            </a:r>
            <a:r>
              <a:rPr lang="es-ES" sz="1200" b="1" i="0" kern="1200" dirty="0">
                <a:solidFill>
                  <a:schemeClr val="tx1"/>
                </a:solidFill>
                <a:effectLst/>
                <a:latin typeface="+mn-lt"/>
                <a:ea typeface="+mn-ea"/>
                <a:cs typeface="+mn-cs"/>
              </a:rPr>
              <a:t>}$ infinito $\</a:t>
            </a:r>
            <a:r>
              <a:rPr lang="es-ES" sz="1200" b="1" i="0" kern="1200" dirty="0" err="1">
                <a:solidFill>
                  <a:schemeClr val="tx1"/>
                </a:solidFill>
                <a:effectLst/>
                <a:latin typeface="+mn-lt"/>
                <a:ea typeface="+mn-ea"/>
                <a:cs typeface="+mn-cs"/>
              </a:rPr>
              <a:t>Rightarrow</a:t>
            </a:r>
            <a:r>
              <a:rPr lang="es-ES" sz="1200" b="1" i="0" kern="1200" dirty="0">
                <a:solidFill>
                  <a:schemeClr val="tx1"/>
                </a:solidFill>
                <a:effectLst/>
                <a:latin typeface="+mn-lt"/>
                <a:ea typeface="+mn-ea"/>
                <a:cs typeface="+mn-cs"/>
              </a:rPr>
              <a:t>$ coherente</a:t>
            </a:r>
          </a:p>
          <a:p>
            <a:r>
              <a:rPr lang="es-ES" sz="1200" b="0" i="0" kern="1200" dirty="0">
                <a:solidFill>
                  <a:schemeClr val="tx1"/>
                </a:solidFill>
                <a:effectLst/>
                <a:latin typeface="+mn-lt"/>
                <a:ea typeface="+mn-ea"/>
                <a:cs typeface="+mn-cs"/>
              </a:rPr>
              <a:t>Si $|L</a:t>
            </a:r>
            <a:r>
              <a:rPr lang="es-ES" sz="1200" b="0" i="1" kern="1200" dirty="0">
                <a:solidFill>
                  <a:schemeClr val="tx1"/>
                </a:solidFill>
                <a:effectLst/>
                <a:latin typeface="+mn-lt"/>
                <a:ea typeface="+mn-ea"/>
                <a:cs typeface="+mn-cs"/>
              </a:rPr>
              <a:t>{</a:t>
            </a:r>
            <a:r>
              <a:rPr lang="es-ES" sz="1200" b="0" i="1" kern="1200" dirty="0" err="1">
                <a:solidFill>
                  <a:schemeClr val="tx1"/>
                </a:solidFill>
                <a:effectLst/>
                <a:latin typeface="+mn-lt"/>
                <a:ea typeface="+mn-ea"/>
                <a:cs typeface="+mn-cs"/>
              </a:rPr>
              <a:t>sg</a:t>
            </a:r>
            <a:r>
              <a:rPr lang="es-ES" sz="1200" b="0" i="1" kern="1200" dirty="0">
                <a:solidFill>
                  <a:schemeClr val="tx1"/>
                </a:solidFill>
                <a:effectLst/>
                <a:latin typeface="+mn-lt"/>
                <a:ea typeface="+mn-ea"/>
                <a:cs typeface="+mn-cs"/>
              </a:rPr>
              <a:t>}(N)|\</a:t>
            </a:r>
            <a:r>
              <a:rPr lang="es-ES" sz="1200" b="0" i="1" kern="1200" dirty="0" err="1">
                <a:solidFill>
                  <a:schemeClr val="tx1"/>
                </a:solidFill>
                <a:effectLst/>
                <a:latin typeface="+mn-lt"/>
                <a:ea typeface="+mn-ea"/>
                <a:cs typeface="+mn-cs"/>
              </a:rPr>
              <a:t>to</a:t>
            </a:r>
            <a:r>
              <a:rPr lang="es-ES" sz="1200" b="0" i="1" kern="1200" dirty="0">
                <a:solidFill>
                  <a:schemeClr val="tx1"/>
                </a:solidFill>
                <a:effectLst/>
                <a:latin typeface="+mn-lt"/>
                <a:ea typeface="+mn-ea"/>
                <a:cs typeface="+mn-cs"/>
              </a:rPr>
              <a:t>\</a:t>
            </a:r>
            <a:r>
              <a:rPr lang="es-ES" sz="1200" b="0" i="1" kern="1200" dirty="0" err="1">
                <a:solidFill>
                  <a:schemeClr val="tx1"/>
                </a:solidFill>
                <a:effectLst/>
                <a:latin typeface="+mn-lt"/>
                <a:ea typeface="+mn-ea"/>
                <a:cs typeface="+mn-cs"/>
              </a:rPr>
              <a:t>infty</a:t>
            </a:r>
            <a:r>
              <a:rPr lang="es-ES" sz="1200" b="0" i="1" kern="1200" dirty="0">
                <a:solidFill>
                  <a:schemeClr val="tx1"/>
                </a:solidFill>
                <a:effectLst/>
                <a:latin typeface="+mn-lt"/>
                <a:ea typeface="+mn-ea"/>
                <a:cs typeface="+mn-cs"/>
              </a:rPr>
              <a:t>$, entonces $e(N)$ no colapsa a 0 y el término $D\</a:t>
            </a:r>
            <a:r>
              <a:rPr lang="es-ES" sz="1200" b="0" i="1" kern="1200" dirty="0" err="1">
                <a:solidFill>
                  <a:schemeClr val="tx1"/>
                </a:solidFill>
                <a:effectLst/>
                <a:latin typeface="+mn-lt"/>
                <a:ea typeface="+mn-ea"/>
                <a:cs typeface="+mn-cs"/>
              </a:rPr>
              <a:t>cdot</a:t>
            </a:r>
            <a:r>
              <a:rPr lang="es-ES" sz="1200" b="0" i="1" kern="1200" dirty="0">
                <a:solidFill>
                  <a:schemeClr val="tx1"/>
                </a:solidFill>
                <a:effectLst/>
                <a:latin typeface="+mn-lt"/>
                <a:ea typeface="+mn-ea"/>
                <a:cs typeface="+mn-cs"/>
              </a:rPr>
              <a:t> e$ </a:t>
            </a:r>
            <a:r>
              <a:rPr lang="es-ES" sz="1200" b="1" i="1" kern="1200" dirty="0">
                <a:solidFill>
                  <a:schemeClr val="tx1"/>
                </a:solidFill>
                <a:effectLst/>
                <a:latin typeface="+mn-lt"/>
                <a:ea typeface="+mn-ea"/>
                <a:cs typeface="+mn-cs"/>
              </a:rPr>
              <a:t>aporta masa asintótica</a:t>
            </a:r>
            <a:r>
              <a:rPr lang="es-ES" sz="1200" b="0" i="1" kern="1200" dirty="0">
                <a:solidFill>
                  <a:schemeClr val="tx1"/>
                </a:solidFill>
                <a:effectLst/>
                <a:latin typeface="+mn-lt"/>
                <a:ea typeface="+mn-ea"/>
                <a:cs typeface="+mn-cs"/>
              </a:rPr>
              <a:t> al balance, cerrando la cuenta con el ritmo base de $L</a:t>
            </a:r>
            <a:r>
              <a:rPr lang="es-ES" sz="1200" b="0" i="0" kern="1200" dirty="0">
                <a:solidFill>
                  <a:schemeClr val="tx1"/>
                </a:solidFill>
                <a:effectLst/>
                <a:latin typeface="+mn-lt"/>
                <a:ea typeface="+mn-ea"/>
                <a:cs typeface="+mn-cs"/>
              </a:rPr>
              <a:t>1$. Esta es precisamente la “</a:t>
            </a:r>
            <a:r>
              <a:rPr lang="es-ES" sz="1200" b="1" i="0" kern="1200" dirty="0">
                <a:solidFill>
                  <a:schemeClr val="tx1"/>
                </a:solidFill>
                <a:effectLst/>
                <a:latin typeface="+mn-lt"/>
                <a:ea typeface="+mn-ea"/>
                <a:cs typeface="+mn-cs"/>
              </a:rPr>
              <a:t>opción 1: infinito(1−z) − infinito(1−€)</a:t>
            </a:r>
            <a:r>
              <a:rPr lang="es-ES" sz="1200" b="0" i="0" kern="1200" dirty="0">
                <a:solidFill>
                  <a:schemeClr val="tx1"/>
                </a:solidFill>
                <a:effectLst/>
                <a:latin typeface="+mn-lt"/>
                <a:ea typeface="+mn-ea"/>
                <a:cs typeface="+mn-cs"/>
              </a:rPr>
              <a:t>” de tu última lámina, que </a:t>
            </a:r>
            <a:r>
              <a:rPr lang="es-ES" sz="1200" b="1" i="0" kern="1200" dirty="0">
                <a:solidFill>
                  <a:schemeClr val="tx1"/>
                </a:solidFill>
                <a:effectLst/>
                <a:latin typeface="+mn-lt"/>
                <a:ea typeface="+mn-ea"/>
                <a:cs typeface="+mn-cs"/>
              </a:rPr>
              <a:t>no entra en contradicción</a:t>
            </a:r>
            <a:r>
              <a:rPr lang="es-ES" sz="1200" b="0" i="0" kern="1200" dirty="0">
                <a:solidFill>
                  <a:schemeClr val="tx1"/>
                </a:solidFill>
                <a:effectLst/>
                <a:latin typeface="+mn-lt"/>
                <a:ea typeface="+mn-ea"/>
                <a:cs typeface="+mn-cs"/>
              </a:rPr>
              <a:t> con el reparto de densidades: el crecimiento de $L</a:t>
            </a:r>
            <a:r>
              <a:rPr lang="es-ES" sz="1200" b="0" i="1" kern="1200" dirty="0">
                <a:solidFill>
                  <a:schemeClr val="tx1"/>
                </a:solidFill>
                <a:effectLst/>
                <a:latin typeface="+mn-lt"/>
                <a:ea typeface="+mn-ea"/>
                <a:cs typeface="+mn-cs"/>
              </a:rPr>
              <a:t>1$ se reparte entre exclusivas $(L</a:t>
            </a:r>
            <a:r>
              <a:rPr lang="es-ES" sz="1200" b="0" i="0" kern="1200" dirty="0">
                <a:solidFill>
                  <a:schemeClr val="tx1"/>
                </a:solidFill>
                <a:effectLst/>
                <a:latin typeface="+mn-lt"/>
                <a:ea typeface="+mn-ea"/>
                <a:cs typeface="+mn-cs"/>
              </a:rPr>
              <a:t>3\</a:t>
            </a:r>
            <a:r>
              <a:rPr lang="es-ES" sz="1200" b="0" i="0" kern="1200" dirty="0" err="1">
                <a:solidFill>
                  <a:schemeClr val="tx1"/>
                </a:solidFill>
                <a:effectLst/>
                <a:latin typeface="+mn-lt"/>
                <a:ea typeface="+mn-ea"/>
                <a:cs typeface="+mn-cs"/>
              </a:rPr>
              <a:t>setminus</a:t>
            </a:r>
            <a:r>
              <a:rPr lang="es-ES" sz="1200" b="0" i="0" kern="1200" dirty="0">
                <a:solidFill>
                  <a:schemeClr val="tx1"/>
                </a:solidFill>
                <a:effectLst/>
                <a:latin typeface="+mn-lt"/>
                <a:ea typeface="+mn-ea"/>
                <a:cs typeface="+mn-cs"/>
              </a:rPr>
              <a:t> L</a:t>
            </a:r>
            <a:r>
              <a:rPr lang="es-ES" sz="1200" b="0" i="1" kern="1200" dirty="0">
                <a:solidFill>
                  <a:schemeClr val="tx1"/>
                </a:solidFill>
                <a:effectLst/>
                <a:latin typeface="+mn-lt"/>
                <a:ea typeface="+mn-ea"/>
                <a:cs typeface="+mn-cs"/>
              </a:rPr>
              <a:t>4,\;L</a:t>
            </a:r>
            <a:r>
              <a:rPr lang="es-ES" sz="1200" b="0" i="0" kern="1200" dirty="0">
                <a:solidFill>
                  <a:schemeClr val="tx1"/>
                </a:solidFill>
                <a:effectLst/>
                <a:latin typeface="+mn-lt"/>
                <a:ea typeface="+mn-ea"/>
                <a:cs typeface="+mn-cs"/>
              </a:rPr>
              <a:t>4\</a:t>
            </a:r>
            <a:r>
              <a:rPr lang="es-ES" sz="1200" b="0" i="0" kern="1200" dirty="0" err="1">
                <a:solidFill>
                  <a:schemeClr val="tx1"/>
                </a:solidFill>
                <a:effectLst/>
                <a:latin typeface="+mn-lt"/>
                <a:ea typeface="+mn-ea"/>
                <a:cs typeface="+mn-cs"/>
              </a:rPr>
              <a:t>setminus</a:t>
            </a:r>
            <a:r>
              <a:rPr lang="es-ES" sz="1200" b="0" i="0" kern="1200" dirty="0">
                <a:solidFill>
                  <a:schemeClr val="tx1"/>
                </a:solidFill>
                <a:effectLst/>
                <a:latin typeface="+mn-lt"/>
                <a:ea typeface="+mn-ea"/>
                <a:cs typeface="+mn-cs"/>
              </a:rPr>
              <a:t> L</a:t>
            </a:r>
            <a:r>
              <a:rPr lang="es-ES" sz="1200" b="0" i="1" kern="1200" dirty="0">
                <a:solidFill>
                  <a:schemeClr val="tx1"/>
                </a:solidFill>
                <a:effectLst/>
                <a:latin typeface="+mn-lt"/>
                <a:ea typeface="+mn-ea"/>
                <a:cs typeface="+mn-cs"/>
              </a:rPr>
              <a:t>3)$, la intersección $L</a:t>
            </a:r>
            <a:r>
              <a:rPr lang="es-ES" sz="1200" b="0" i="0" kern="1200" dirty="0">
                <a:solidFill>
                  <a:schemeClr val="tx1"/>
                </a:solidFill>
                <a:effectLst/>
                <a:latin typeface="+mn-lt"/>
                <a:ea typeface="+mn-ea"/>
                <a:cs typeface="+mn-cs"/>
              </a:rPr>
              <a:t>2$ y una parte </a:t>
            </a:r>
            <a:r>
              <a:rPr lang="es-ES" sz="1200" b="1" i="0" kern="1200" dirty="0">
                <a:solidFill>
                  <a:schemeClr val="tx1"/>
                </a:solidFill>
                <a:effectLst/>
                <a:latin typeface="+mn-lt"/>
                <a:ea typeface="+mn-ea"/>
                <a:cs typeface="+mn-cs"/>
              </a:rPr>
              <a:t>no despreciable</a:t>
            </a:r>
            <a:r>
              <a:rPr lang="es-ES" sz="1200" b="0" i="0" kern="1200" dirty="0">
                <a:solidFill>
                  <a:schemeClr val="tx1"/>
                </a:solidFill>
                <a:effectLst/>
                <a:latin typeface="+mn-lt"/>
                <a:ea typeface="+mn-ea"/>
                <a:cs typeface="+mn-cs"/>
              </a:rPr>
              <a:t> correspondiente a $L_{</a:t>
            </a:r>
            <a:r>
              <a:rPr lang="es-ES" sz="1200" b="0" i="0" kern="1200" dirty="0" err="1">
                <a:solidFill>
                  <a:schemeClr val="tx1"/>
                </a:solidFill>
                <a:effectLst/>
                <a:latin typeface="+mn-lt"/>
                <a:ea typeface="+mn-ea"/>
                <a:cs typeface="+mn-cs"/>
              </a:rPr>
              <a:t>sg</a:t>
            </a:r>
            <a:r>
              <a:rPr lang="es-ES" sz="1200" b="0" i="0" kern="1200" dirty="0">
                <a:solidFill>
                  <a:schemeClr val="tx1"/>
                </a:solidFill>
                <a:effectLst/>
                <a:latin typeface="+mn-lt"/>
                <a:ea typeface="+mn-ea"/>
                <a:cs typeface="+mn-cs"/>
              </a:rPr>
              <a:t>}$. </a:t>
            </a:r>
            <a:r>
              <a:rPr lang="es-ES" sz="1200" b="0" i="0" u="none" strike="noStrike" kern="1200" dirty="0">
                <a:solidFill>
                  <a:schemeClr val="tx1"/>
                </a:solidFill>
                <a:effectLst/>
                <a:latin typeface="+mn-lt"/>
                <a:ea typeface="+mn-ea"/>
                <a:cs typeface="+mn-cs"/>
                <a:hlinkClick r:id="rId3"/>
              </a:rPr>
              <a:t>[</a:t>
            </a:r>
            <a:r>
              <a:rPr lang="es-ES" sz="1200" b="0" i="0" u="none" strike="noStrike" kern="1200" dirty="0" err="1">
                <a:solidFill>
                  <a:schemeClr val="tx1"/>
                </a:solidFill>
                <a:effectLst/>
                <a:latin typeface="+mn-lt"/>
                <a:ea typeface="+mn-ea"/>
                <a:cs typeface="+mn-cs"/>
                <a:hlinkClick r:id="rId3"/>
              </a:rPr>
              <a:t>sofi</a:t>
            </a:r>
            <a:r>
              <a:rPr lang="es-ES" sz="1200" b="0" i="0" u="none" strike="noStrike" kern="1200" dirty="0">
                <a:solidFill>
                  <a:schemeClr val="tx1"/>
                </a:solidFill>
                <a:effectLst/>
                <a:latin typeface="+mn-lt"/>
                <a:ea typeface="+mn-ea"/>
                <a:cs typeface="+mn-cs"/>
                <a:hlinkClick r:id="rId3"/>
              </a:rPr>
              <a:t> | PowerPoint]</a:t>
            </a:r>
            <a:endParaRPr lang="es-ES" sz="1200" b="0" i="0" kern="1200" dirty="0">
              <a:solidFill>
                <a:schemeClr val="tx1"/>
              </a:solidFill>
              <a:effectLst/>
              <a:latin typeface="+mn-lt"/>
              <a:ea typeface="+mn-ea"/>
              <a:cs typeface="+mn-cs"/>
            </a:endParaRPr>
          </a:p>
          <a:p>
            <a:r>
              <a:rPr lang="es-ES" sz="1200" b="1" i="0" kern="1200" dirty="0">
                <a:solidFill>
                  <a:schemeClr val="tx1"/>
                </a:solidFill>
                <a:effectLst/>
                <a:latin typeface="+mn-lt"/>
                <a:ea typeface="+mn-ea"/>
                <a:cs typeface="+mn-cs"/>
              </a:rPr>
              <a:t>Conclusión del caso (F2):</a:t>
            </a:r>
            <a:r>
              <a:rPr lang="es-ES" sz="1200" b="0" i="0" kern="1200" dirty="0">
                <a:solidFill>
                  <a:schemeClr val="tx1"/>
                </a:solidFill>
                <a:effectLst/>
                <a:latin typeface="+mn-lt"/>
                <a:ea typeface="+mn-ea"/>
                <a:cs typeface="+mn-cs"/>
              </a:rPr>
              <a:t> el balance se mantiene y es compatible con la hipótesis $ |L</a:t>
            </a:r>
            <a:r>
              <a:rPr lang="es-ES" sz="1200" b="0" i="1" kern="1200" dirty="0">
                <a:solidFill>
                  <a:schemeClr val="tx1"/>
                </a:solidFill>
                <a:effectLst/>
                <a:latin typeface="+mn-lt"/>
                <a:ea typeface="+mn-ea"/>
                <a:cs typeface="+mn-cs"/>
              </a:rPr>
              <a:t>1(N)|\sim N/6$. Por tanto, </a:t>
            </a:r>
            <a:r>
              <a:rPr lang="es-ES" sz="1200" b="1" i="1" kern="1200" dirty="0">
                <a:solidFill>
                  <a:schemeClr val="tx1"/>
                </a:solidFill>
                <a:effectLst/>
                <a:latin typeface="+mn-lt"/>
                <a:ea typeface="+mn-ea"/>
                <a:cs typeface="+mn-cs"/>
              </a:rPr>
              <a:t>$L</a:t>
            </a:r>
            <a:r>
              <a:rPr lang="es-ES" sz="1200" b="1" i="0" kern="1200" dirty="0">
                <a:solidFill>
                  <a:schemeClr val="tx1"/>
                </a:solidFill>
                <a:effectLst/>
                <a:latin typeface="+mn-lt"/>
                <a:ea typeface="+mn-ea"/>
                <a:cs typeface="+mn-cs"/>
              </a:rPr>
              <a:t>{</a:t>
            </a:r>
            <a:r>
              <a:rPr lang="es-ES" sz="1200" b="1" i="0" kern="1200" dirty="0" err="1">
                <a:solidFill>
                  <a:schemeClr val="tx1"/>
                </a:solidFill>
                <a:effectLst/>
                <a:latin typeface="+mn-lt"/>
                <a:ea typeface="+mn-ea"/>
                <a:cs typeface="+mn-cs"/>
              </a:rPr>
              <a:t>sg</a:t>
            </a:r>
            <a:r>
              <a:rPr lang="es-ES" sz="1200" b="1" i="0" kern="1200" dirty="0">
                <a:solidFill>
                  <a:schemeClr val="tx1"/>
                </a:solidFill>
                <a:effectLst/>
                <a:latin typeface="+mn-lt"/>
                <a:ea typeface="+mn-ea"/>
                <a:cs typeface="+mn-cs"/>
              </a:rPr>
              <a:t>}$ debe ser infinito</a:t>
            </a:r>
            <a:r>
              <a:rPr lang="es-ES" sz="1200" b="0" i="0" kern="1200" dirty="0">
                <a:solidFill>
                  <a:schemeClr val="tx1"/>
                </a:solidFill>
                <a:effectLst/>
                <a:latin typeface="+mn-lt"/>
                <a:ea typeface="+mn-ea"/>
                <a:cs typeface="+mn-cs"/>
              </a:rPr>
              <a:t>. </a:t>
            </a:r>
            <a:r>
              <a:rPr lang="es-ES" sz="1200" b="0" i="0" u="none" strike="noStrike" kern="1200" dirty="0">
                <a:solidFill>
                  <a:schemeClr val="tx1"/>
                </a:solidFill>
                <a:effectLst/>
                <a:latin typeface="+mn-lt"/>
                <a:ea typeface="+mn-ea"/>
                <a:cs typeface="+mn-cs"/>
                <a:hlinkClick r:id="rId3"/>
              </a:rPr>
              <a:t>[</a:t>
            </a:r>
            <a:r>
              <a:rPr lang="es-ES" sz="1200" b="0" i="0" u="none" strike="noStrike" kern="1200" dirty="0" err="1">
                <a:solidFill>
                  <a:schemeClr val="tx1"/>
                </a:solidFill>
                <a:effectLst/>
                <a:latin typeface="+mn-lt"/>
                <a:ea typeface="+mn-ea"/>
                <a:cs typeface="+mn-cs"/>
                <a:hlinkClick r:id="rId3"/>
              </a:rPr>
              <a:t>sofi</a:t>
            </a:r>
            <a:r>
              <a:rPr lang="es-ES" sz="1200" b="0" i="0" u="none" strike="noStrike" kern="1200" dirty="0">
                <a:solidFill>
                  <a:schemeClr val="tx1"/>
                </a:solidFill>
                <a:effectLst/>
                <a:latin typeface="+mn-lt"/>
                <a:ea typeface="+mn-ea"/>
                <a:cs typeface="+mn-cs"/>
                <a:hlinkClick r:id="rId3"/>
              </a:rPr>
              <a:t> | PowerPoint]</a:t>
            </a:r>
            <a:endParaRPr lang="es-ES" sz="1200" b="0" i="0" kern="1200" dirty="0">
              <a:solidFill>
                <a:schemeClr val="tx1"/>
              </a:solidFill>
              <a:effectLst/>
              <a:latin typeface="+mn-lt"/>
              <a:ea typeface="+mn-ea"/>
              <a:cs typeface="+mn-cs"/>
            </a:endParaRPr>
          </a:p>
          <a:p>
            <a:br>
              <a:rPr lang="es-ES" sz="1200" b="0" i="0" kern="1200" dirty="0">
                <a:solidFill>
                  <a:schemeClr val="tx1"/>
                </a:solidFill>
                <a:effectLst/>
                <a:latin typeface="+mn-lt"/>
                <a:ea typeface="+mn-ea"/>
                <a:cs typeface="+mn-cs"/>
              </a:rPr>
            </a:br>
            <a:endParaRPr lang="es-ES" sz="1200" b="0" i="0" kern="1200" dirty="0">
              <a:solidFill>
                <a:schemeClr val="tx1"/>
              </a:solidFill>
              <a:effectLst/>
              <a:latin typeface="+mn-lt"/>
              <a:ea typeface="+mn-ea"/>
              <a:cs typeface="+mn-cs"/>
            </a:endParaRPr>
          </a:p>
          <a:p>
            <a:r>
              <a:rPr lang="es-ES" sz="1200" b="1" i="0" kern="1200" dirty="0">
                <a:solidFill>
                  <a:schemeClr val="tx1"/>
                </a:solidFill>
                <a:effectLst/>
                <a:latin typeface="+mn-lt"/>
                <a:ea typeface="+mn-ea"/>
                <a:cs typeface="+mn-cs"/>
              </a:rPr>
              <a:t>🧾 Versión corta para una diapositiva (texto directo)</a:t>
            </a:r>
          </a:p>
          <a:p>
            <a:r>
              <a:rPr lang="es-ES" sz="1200" b="1" i="0" kern="1200" dirty="0">
                <a:solidFill>
                  <a:schemeClr val="tx1"/>
                </a:solidFill>
                <a:effectLst/>
                <a:latin typeface="+mn-lt"/>
                <a:ea typeface="+mn-ea"/>
                <a:cs typeface="+mn-cs"/>
              </a:rPr>
              <a:t>Hipótesis y formulaciones:</a:t>
            </a:r>
            <a:br>
              <a:rPr lang="es-ES" sz="1200" b="0" i="0" kern="1200" dirty="0">
                <a:solidFill>
                  <a:schemeClr val="tx1"/>
                </a:solidFill>
                <a:effectLst/>
                <a:latin typeface="+mn-lt"/>
                <a:ea typeface="+mn-ea"/>
                <a:cs typeface="+mn-cs"/>
              </a:rPr>
            </a:br>
            <a:r>
              <a:rPr lang="es-ES" sz="1200" b="0" i="0" kern="1200" dirty="0">
                <a:solidFill>
                  <a:schemeClr val="tx1"/>
                </a:solidFill>
                <a:effectLst/>
                <a:latin typeface="+mn-lt"/>
                <a:ea typeface="+mn-ea"/>
                <a:cs typeface="+mn-cs"/>
              </a:rPr>
              <a:t>Sean $L</a:t>
            </a:r>
            <a:r>
              <a:rPr lang="es-ES" sz="1200" b="0" i="1" kern="1200" dirty="0">
                <a:solidFill>
                  <a:schemeClr val="tx1"/>
                </a:solidFill>
                <a:effectLst/>
                <a:latin typeface="+mn-lt"/>
                <a:ea typeface="+mn-ea"/>
                <a:cs typeface="+mn-cs"/>
              </a:rPr>
              <a:t>1=6k-1$, $L</a:t>
            </a:r>
            <a:r>
              <a:rPr lang="es-ES" sz="1200" b="0" i="0" kern="1200" dirty="0">
                <a:solidFill>
                  <a:schemeClr val="tx1"/>
                </a:solidFill>
                <a:effectLst/>
                <a:latin typeface="+mn-lt"/>
                <a:ea typeface="+mn-ea"/>
                <a:cs typeface="+mn-cs"/>
              </a:rPr>
              <a:t>2=L</a:t>
            </a:r>
            <a:r>
              <a:rPr lang="es-ES" sz="1200" b="0" i="1" kern="1200" dirty="0">
                <a:solidFill>
                  <a:schemeClr val="tx1"/>
                </a:solidFill>
                <a:effectLst/>
                <a:latin typeface="+mn-lt"/>
                <a:ea typeface="+mn-ea"/>
                <a:cs typeface="+mn-cs"/>
              </a:rPr>
              <a:t>3\</a:t>
            </a:r>
            <a:r>
              <a:rPr lang="es-ES" sz="1200" b="0" i="1" kern="1200" dirty="0" err="1">
                <a:solidFill>
                  <a:schemeClr val="tx1"/>
                </a:solidFill>
                <a:effectLst/>
                <a:latin typeface="+mn-lt"/>
                <a:ea typeface="+mn-ea"/>
                <a:cs typeface="+mn-cs"/>
              </a:rPr>
              <a:t>cap</a:t>
            </a:r>
            <a:r>
              <a:rPr lang="es-ES" sz="1200" b="0" i="1" kern="1200" dirty="0">
                <a:solidFill>
                  <a:schemeClr val="tx1"/>
                </a:solidFill>
                <a:effectLst/>
                <a:latin typeface="+mn-lt"/>
                <a:ea typeface="+mn-ea"/>
                <a:cs typeface="+mn-cs"/>
              </a:rPr>
              <a:t> L</a:t>
            </a:r>
            <a:r>
              <a:rPr lang="es-ES" sz="1200" b="0" i="0" kern="1200" dirty="0">
                <a:solidFill>
                  <a:schemeClr val="tx1"/>
                </a:solidFill>
                <a:effectLst/>
                <a:latin typeface="+mn-lt"/>
                <a:ea typeface="+mn-ea"/>
                <a:cs typeface="+mn-cs"/>
              </a:rPr>
              <a:t>4$ y $L</a:t>
            </a:r>
            <a:r>
              <a:rPr lang="es-ES" sz="1200" b="0" i="1" kern="1200" dirty="0">
                <a:solidFill>
                  <a:schemeClr val="tx1"/>
                </a:solidFill>
                <a:effectLst/>
                <a:latin typeface="+mn-lt"/>
                <a:ea typeface="+mn-ea"/>
                <a:cs typeface="+mn-cs"/>
              </a:rPr>
              <a:t>1=L</a:t>
            </a:r>
            <a:r>
              <a:rPr lang="es-ES" sz="1200" b="0" i="0" kern="1200" dirty="0">
                <a:solidFill>
                  <a:schemeClr val="tx1"/>
                </a:solidFill>
                <a:effectLst/>
                <a:latin typeface="+mn-lt"/>
                <a:ea typeface="+mn-ea"/>
                <a:cs typeface="+mn-cs"/>
              </a:rPr>
              <a:t>{</a:t>
            </a:r>
            <a:r>
              <a:rPr lang="es-ES" sz="1200" b="0" i="0" kern="1200" dirty="0" err="1">
                <a:solidFill>
                  <a:schemeClr val="tx1"/>
                </a:solidFill>
                <a:effectLst/>
                <a:latin typeface="+mn-lt"/>
                <a:ea typeface="+mn-ea"/>
                <a:cs typeface="+mn-cs"/>
              </a:rPr>
              <a:t>sg</a:t>
            </a:r>
            <a:r>
              <a:rPr lang="es-ES" sz="1200" b="0" i="0" kern="1200" dirty="0">
                <a:solidFill>
                  <a:schemeClr val="tx1"/>
                </a:solidFill>
                <a:effectLst/>
                <a:latin typeface="+mn-lt"/>
                <a:ea typeface="+mn-ea"/>
                <a:cs typeface="+mn-cs"/>
              </a:rPr>
              <a:t>}\cup L</a:t>
            </a:r>
            <a:r>
              <a:rPr lang="es-ES" sz="1200" b="0" i="1" kern="1200" dirty="0">
                <a:solidFill>
                  <a:schemeClr val="tx1"/>
                </a:solidFill>
                <a:effectLst/>
                <a:latin typeface="+mn-lt"/>
                <a:ea typeface="+mn-ea"/>
                <a:cs typeface="+mn-cs"/>
              </a:rPr>
              <a:t>3\cup L</a:t>
            </a:r>
            <a:r>
              <a:rPr lang="es-ES" sz="1200" b="0" i="0" kern="1200" dirty="0">
                <a:solidFill>
                  <a:schemeClr val="tx1"/>
                </a:solidFill>
                <a:effectLst/>
                <a:latin typeface="+mn-lt"/>
                <a:ea typeface="+mn-ea"/>
                <a:cs typeface="+mn-cs"/>
              </a:rPr>
              <a:t>4$. Por I–E:</a:t>
            </a:r>
          </a:p>
          <a:p>
            <a:r>
              <a:rPr lang="es-ES" sz="1200" b="0" i="0" kern="1200" dirty="0">
                <a:solidFill>
                  <a:schemeClr val="tx1"/>
                </a:solidFill>
                <a:effectLst/>
                <a:latin typeface="+mn-lt"/>
                <a:ea typeface="+mn-ea"/>
                <a:cs typeface="+mn-cs"/>
              </a:rPr>
              <a:t>$ |L</a:t>
            </a:r>
            <a:r>
              <a:rPr lang="es-ES" sz="1200" b="0" i="1" kern="1200" dirty="0">
                <a:solidFill>
                  <a:schemeClr val="tx1"/>
                </a:solidFill>
                <a:effectLst/>
                <a:latin typeface="+mn-lt"/>
                <a:ea typeface="+mn-ea"/>
                <a:cs typeface="+mn-cs"/>
              </a:rPr>
              <a:t>1|=|L</a:t>
            </a:r>
            <a:r>
              <a:rPr lang="es-ES" sz="1200" b="0" i="0" kern="1200" dirty="0">
                <a:solidFill>
                  <a:schemeClr val="tx1"/>
                </a:solidFill>
                <a:effectLst/>
                <a:latin typeface="+mn-lt"/>
                <a:ea typeface="+mn-ea"/>
                <a:cs typeface="+mn-cs"/>
              </a:rPr>
              <a:t>3|+|L</a:t>
            </a:r>
            <a:r>
              <a:rPr lang="es-ES" sz="1200" b="0" i="1" kern="1200" dirty="0">
                <a:solidFill>
                  <a:schemeClr val="tx1"/>
                </a:solidFill>
                <a:effectLst/>
                <a:latin typeface="+mn-lt"/>
                <a:ea typeface="+mn-ea"/>
                <a:cs typeface="+mn-cs"/>
              </a:rPr>
              <a:t>4|-|L</a:t>
            </a:r>
            <a:r>
              <a:rPr lang="es-ES" sz="1200" b="0" i="0" kern="1200" dirty="0">
                <a:solidFill>
                  <a:schemeClr val="tx1"/>
                </a:solidFill>
                <a:effectLst/>
                <a:latin typeface="+mn-lt"/>
                <a:ea typeface="+mn-ea"/>
                <a:cs typeface="+mn-cs"/>
              </a:rPr>
              <a:t>2|+|L_{</a:t>
            </a:r>
            <a:r>
              <a:rPr lang="es-ES" sz="1200" b="0" i="0" kern="1200" dirty="0" err="1">
                <a:solidFill>
                  <a:schemeClr val="tx1"/>
                </a:solidFill>
                <a:effectLst/>
                <a:latin typeface="+mn-lt"/>
                <a:ea typeface="+mn-ea"/>
                <a:cs typeface="+mn-cs"/>
              </a:rPr>
              <a:t>sg</a:t>
            </a:r>
            <a:r>
              <a:rPr lang="es-ES" sz="1200" b="0" i="0" kern="1200" dirty="0">
                <a:solidFill>
                  <a:schemeClr val="tx1"/>
                </a:solidFill>
                <a:effectLst/>
                <a:latin typeface="+mn-lt"/>
                <a:ea typeface="+mn-ea"/>
                <a:cs typeface="+mn-cs"/>
              </a:rPr>
              <a:t>}|. $</a:t>
            </a:r>
          </a:p>
          <a:p>
            <a:r>
              <a:rPr lang="es-ES" sz="1200" b="0" i="0" kern="1200" dirty="0">
                <a:solidFill>
                  <a:schemeClr val="tx1"/>
                </a:solidFill>
                <a:effectLst/>
                <a:latin typeface="+mn-lt"/>
                <a:ea typeface="+mn-ea"/>
                <a:cs typeface="+mn-cs"/>
              </a:rPr>
              <a:t>Como $|L</a:t>
            </a:r>
            <a:r>
              <a:rPr lang="es-ES" sz="1200" b="0" i="1" kern="1200" dirty="0">
                <a:solidFill>
                  <a:schemeClr val="tx1"/>
                </a:solidFill>
                <a:effectLst/>
                <a:latin typeface="+mn-lt"/>
                <a:ea typeface="+mn-ea"/>
                <a:cs typeface="+mn-cs"/>
              </a:rPr>
              <a:t>1(N)|\sim N/6$, el crecimiento ha de repartirse entre exclusivas, intersección y $L</a:t>
            </a:r>
            <a:r>
              <a:rPr lang="es-ES" sz="1200" b="0" i="0" kern="1200" dirty="0">
                <a:solidFill>
                  <a:schemeClr val="tx1"/>
                </a:solidFill>
                <a:effectLst/>
                <a:latin typeface="+mn-lt"/>
                <a:ea typeface="+mn-ea"/>
                <a:cs typeface="+mn-cs"/>
              </a:rPr>
              <a:t>{</a:t>
            </a:r>
            <a:r>
              <a:rPr lang="es-ES" sz="1200" b="0" i="0" kern="1200" dirty="0" err="1">
                <a:solidFill>
                  <a:schemeClr val="tx1"/>
                </a:solidFill>
                <a:effectLst/>
                <a:latin typeface="+mn-lt"/>
                <a:ea typeface="+mn-ea"/>
                <a:cs typeface="+mn-cs"/>
              </a:rPr>
              <a:t>sg</a:t>
            </a:r>
            <a:r>
              <a:rPr lang="es-ES" sz="1200" b="0" i="0" kern="1200" dirty="0">
                <a:solidFill>
                  <a:schemeClr val="tx1"/>
                </a:solidFill>
                <a:effectLst/>
                <a:latin typeface="+mn-lt"/>
                <a:ea typeface="+mn-ea"/>
                <a:cs typeface="+mn-cs"/>
              </a:rPr>
              <a:t>}$.</a:t>
            </a:r>
            <a:br>
              <a:rPr lang="es-ES" sz="1200" b="0" i="0" kern="1200" dirty="0">
                <a:solidFill>
                  <a:schemeClr val="tx1"/>
                </a:solidFill>
                <a:effectLst/>
                <a:latin typeface="+mn-lt"/>
                <a:ea typeface="+mn-ea"/>
                <a:cs typeface="+mn-cs"/>
              </a:rPr>
            </a:br>
            <a:r>
              <a:rPr lang="es-ES" sz="1200" b="1" i="0" kern="1200" dirty="0">
                <a:solidFill>
                  <a:schemeClr val="tx1"/>
                </a:solidFill>
                <a:effectLst/>
                <a:latin typeface="+mn-lt"/>
                <a:ea typeface="+mn-ea"/>
                <a:cs typeface="+mn-cs"/>
              </a:rPr>
              <a:t>Dilema:</a:t>
            </a:r>
            <a:r>
              <a:rPr lang="es-ES" sz="1200" b="0" i="0" kern="1200" dirty="0">
                <a:solidFill>
                  <a:schemeClr val="tx1"/>
                </a:solidFill>
                <a:effectLst/>
                <a:latin typeface="+mn-lt"/>
                <a:ea typeface="+mn-ea"/>
                <a:cs typeface="+mn-cs"/>
              </a:rPr>
              <a:t> (F1) $L</a:t>
            </a:r>
            <a:r>
              <a:rPr lang="es-ES" sz="1200" b="0" i="1" kern="1200" dirty="0">
                <a:solidFill>
                  <a:schemeClr val="tx1"/>
                </a:solidFill>
                <a:effectLst/>
                <a:latin typeface="+mn-lt"/>
                <a:ea typeface="+mn-ea"/>
                <a:cs typeface="+mn-cs"/>
              </a:rPr>
              <a:t>{</a:t>
            </a:r>
            <a:r>
              <a:rPr lang="es-ES" sz="1200" b="0" i="1" kern="1200" dirty="0" err="1">
                <a:solidFill>
                  <a:schemeClr val="tx1"/>
                </a:solidFill>
                <a:effectLst/>
                <a:latin typeface="+mn-lt"/>
                <a:ea typeface="+mn-ea"/>
                <a:cs typeface="+mn-cs"/>
              </a:rPr>
              <a:t>sg</a:t>
            </a:r>
            <a:r>
              <a:rPr lang="es-ES" sz="1200" b="0" i="1" kern="1200" dirty="0">
                <a:solidFill>
                  <a:schemeClr val="tx1"/>
                </a:solidFill>
                <a:effectLst/>
                <a:latin typeface="+mn-lt"/>
                <a:ea typeface="+mn-ea"/>
                <a:cs typeface="+mn-cs"/>
              </a:rPr>
              <a:t>}$ </a:t>
            </a:r>
            <a:r>
              <a:rPr lang="es-ES" sz="1200" b="0" i="1" kern="1200" dirty="0" err="1">
                <a:solidFill>
                  <a:schemeClr val="tx1"/>
                </a:solidFill>
                <a:effectLst/>
                <a:latin typeface="+mn-lt"/>
                <a:ea typeface="+mn-ea"/>
                <a:cs typeface="+mn-cs"/>
              </a:rPr>
              <a:t>cte</a:t>
            </a:r>
            <a:r>
              <a:rPr lang="es-ES" sz="1200" b="0" i="1" kern="1200" dirty="0">
                <a:solidFill>
                  <a:schemeClr val="tx1"/>
                </a:solidFill>
                <a:effectLst/>
                <a:latin typeface="+mn-lt"/>
                <a:ea typeface="+mn-ea"/>
                <a:cs typeface="+mn-cs"/>
              </a:rPr>
              <a:t> (densidad 0) </a:t>
            </a:r>
            <a:r>
              <a:rPr lang="es-ES" sz="1200" b="1" i="1" kern="1200" dirty="0">
                <a:solidFill>
                  <a:schemeClr val="tx1"/>
                </a:solidFill>
                <a:effectLst/>
                <a:latin typeface="+mn-lt"/>
                <a:ea typeface="+mn-ea"/>
                <a:cs typeface="+mn-cs"/>
              </a:rPr>
              <a:t>vs</a:t>
            </a:r>
            <a:r>
              <a:rPr lang="es-ES" sz="1200" b="0" i="1" kern="1200" dirty="0">
                <a:solidFill>
                  <a:schemeClr val="tx1"/>
                </a:solidFill>
                <a:effectLst/>
                <a:latin typeface="+mn-lt"/>
                <a:ea typeface="+mn-ea"/>
                <a:cs typeface="+mn-cs"/>
              </a:rPr>
              <a:t> (F2) $L</a:t>
            </a:r>
            <a:r>
              <a:rPr lang="es-ES" sz="1200" b="0" i="0" kern="1200" dirty="0">
                <a:solidFill>
                  <a:schemeClr val="tx1"/>
                </a:solidFill>
                <a:effectLst/>
                <a:latin typeface="+mn-lt"/>
                <a:ea typeface="+mn-ea"/>
                <a:cs typeface="+mn-cs"/>
              </a:rPr>
              <a:t>{</a:t>
            </a:r>
            <a:r>
              <a:rPr lang="es-ES" sz="1200" b="0" i="0" kern="1200" dirty="0" err="1">
                <a:solidFill>
                  <a:schemeClr val="tx1"/>
                </a:solidFill>
                <a:effectLst/>
                <a:latin typeface="+mn-lt"/>
                <a:ea typeface="+mn-ea"/>
                <a:cs typeface="+mn-cs"/>
              </a:rPr>
              <a:t>sg</a:t>
            </a:r>
            <a:r>
              <a:rPr lang="es-ES" sz="1200" b="0" i="0" kern="1200" dirty="0">
                <a:solidFill>
                  <a:schemeClr val="tx1"/>
                </a:solidFill>
                <a:effectLst/>
                <a:latin typeface="+mn-lt"/>
                <a:ea typeface="+mn-ea"/>
                <a:cs typeface="+mn-cs"/>
              </a:rPr>
              <a:t>}\</a:t>
            </a:r>
            <a:r>
              <a:rPr lang="es-ES" sz="1200" b="0" i="0" kern="1200" dirty="0" err="1">
                <a:solidFill>
                  <a:schemeClr val="tx1"/>
                </a:solidFill>
                <a:effectLst/>
                <a:latin typeface="+mn-lt"/>
                <a:ea typeface="+mn-ea"/>
                <a:cs typeface="+mn-cs"/>
              </a:rPr>
              <a:t>to</a:t>
            </a:r>
            <a:r>
              <a:rPr lang="es-ES" sz="1200" b="0" i="0" kern="1200" dirty="0">
                <a:solidFill>
                  <a:schemeClr val="tx1"/>
                </a:solidFill>
                <a:effectLst/>
                <a:latin typeface="+mn-lt"/>
                <a:ea typeface="+mn-ea"/>
                <a:cs typeface="+mn-cs"/>
              </a:rPr>
              <a:t>\</a:t>
            </a:r>
            <a:r>
              <a:rPr lang="es-ES" sz="1200" b="0" i="0" kern="1200" dirty="0" err="1">
                <a:solidFill>
                  <a:schemeClr val="tx1"/>
                </a:solidFill>
                <a:effectLst/>
                <a:latin typeface="+mn-lt"/>
                <a:ea typeface="+mn-ea"/>
                <a:cs typeface="+mn-cs"/>
              </a:rPr>
              <a:t>infty</a:t>
            </a:r>
            <a:r>
              <a:rPr lang="es-ES" sz="1200" b="0" i="0" kern="1200" dirty="0">
                <a:solidFill>
                  <a:schemeClr val="tx1"/>
                </a:solidFill>
                <a:effectLst/>
                <a:latin typeface="+mn-lt"/>
                <a:ea typeface="+mn-ea"/>
                <a:cs typeface="+mn-cs"/>
              </a:rPr>
              <a:t>$.</a:t>
            </a:r>
            <a:br>
              <a:rPr lang="es-ES" sz="1200" b="0" i="0" kern="1200" dirty="0">
                <a:solidFill>
                  <a:schemeClr val="tx1"/>
                </a:solidFill>
                <a:effectLst/>
                <a:latin typeface="+mn-lt"/>
                <a:ea typeface="+mn-ea"/>
                <a:cs typeface="+mn-cs"/>
              </a:rPr>
            </a:br>
            <a:r>
              <a:rPr lang="es-ES" sz="1200" b="1" i="0" kern="1200" dirty="0">
                <a:solidFill>
                  <a:schemeClr val="tx1"/>
                </a:solidFill>
                <a:effectLst/>
                <a:latin typeface="+mn-lt"/>
                <a:ea typeface="+mn-ea"/>
                <a:cs typeface="+mn-cs"/>
              </a:rPr>
              <a:t>Resultado:</a:t>
            </a:r>
            <a:r>
              <a:rPr lang="es-ES" sz="1200" b="0" i="0" kern="1200" dirty="0">
                <a:solidFill>
                  <a:schemeClr val="tx1"/>
                </a:solidFill>
                <a:effectLst/>
                <a:latin typeface="+mn-lt"/>
                <a:ea typeface="+mn-ea"/>
                <a:cs typeface="+mn-cs"/>
              </a:rPr>
              <a:t> (F1) entra en </a:t>
            </a:r>
            <a:r>
              <a:rPr lang="es-ES" sz="1200" b="1" i="0" kern="1200" dirty="0">
                <a:solidFill>
                  <a:schemeClr val="tx1"/>
                </a:solidFill>
                <a:effectLst/>
                <a:latin typeface="+mn-lt"/>
                <a:ea typeface="+mn-ea"/>
                <a:cs typeface="+mn-cs"/>
              </a:rPr>
              <a:t>contradicción</a:t>
            </a:r>
            <a:r>
              <a:rPr lang="es-ES" sz="1200" b="0" i="0" kern="1200" dirty="0">
                <a:solidFill>
                  <a:schemeClr val="tx1"/>
                </a:solidFill>
                <a:effectLst/>
                <a:latin typeface="+mn-lt"/>
                <a:ea typeface="+mn-ea"/>
                <a:cs typeface="+mn-cs"/>
              </a:rPr>
              <a:t> con el balance (las partes conocidas no llenan $L</a:t>
            </a:r>
            <a:r>
              <a:rPr lang="es-ES" sz="1200" b="0" i="1" kern="1200" dirty="0">
                <a:solidFill>
                  <a:schemeClr val="tx1"/>
                </a:solidFill>
                <a:effectLst/>
                <a:latin typeface="+mn-lt"/>
                <a:ea typeface="+mn-ea"/>
                <a:cs typeface="+mn-cs"/>
              </a:rPr>
              <a:t>1$); (F2) </a:t>
            </a:r>
            <a:r>
              <a:rPr lang="es-ES" sz="1200" b="1" i="1" kern="1200" dirty="0">
                <a:solidFill>
                  <a:schemeClr val="tx1"/>
                </a:solidFill>
                <a:effectLst/>
                <a:latin typeface="+mn-lt"/>
                <a:ea typeface="+mn-ea"/>
                <a:cs typeface="+mn-cs"/>
              </a:rPr>
              <a:t>cierra</a:t>
            </a:r>
            <a:r>
              <a:rPr lang="es-ES" sz="1200" b="0" i="1" kern="1200" dirty="0">
                <a:solidFill>
                  <a:schemeClr val="tx1"/>
                </a:solidFill>
                <a:effectLst/>
                <a:latin typeface="+mn-lt"/>
                <a:ea typeface="+mn-ea"/>
                <a:cs typeface="+mn-cs"/>
              </a:rPr>
              <a:t> el crecimiento ⇒ </a:t>
            </a:r>
            <a:r>
              <a:rPr lang="es-ES" sz="1200" b="1" i="1" kern="1200" dirty="0">
                <a:solidFill>
                  <a:schemeClr val="tx1"/>
                </a:solidFill>
                <a:effectLst/>
                <a:latin typeface="+mn-lt"/>
                <a:ea typeface="+mn-ea"/>
                <a:cs typeface="+mn-cs"/>
              </a:rPr>
              <a:t>$L</a:t>
            </a:r>
            <a:r>
              <a:rPr lang="es-ES" sz="1200" b="1" i="0" kern="1200" dirty="0">
                <a:solidFill>
                  <a:schemeClr val="tx1"/>
                </a:solidFill>
                <a:effectLst/>
                <a:latin typeface="+mn-lt"/>
                <a:ea typeface="+mn-ea"/>
                <a:cs typeface="+mn-cs"/>
              </a:rPr>
              <a:t>{</a:t>
            </a:r>
            <a:r>
              <a:rPr lang="es-ES" sz="1200" b="1" i="0" kern="1200" dirty="0" err="1">
                <a:solidFill>
                  <a:schemeClr val="tx1"/>
                </a:solidFill>
                <a:effectLst/>
                <a:latin typeface="+mn-lt"/>
                <a:ea typeface="+mn-ea"/>
                <a:cs typeface="+mn-cs"/>
              </a:rPr>
              <a:t>sg</a:t>
            </a:r>
            <a:r>
              <a:rPr lang="es-ES" sz="1200" b="1" i="0" kern="1200" dirty="0">
                <a:solidFill>
                  <a:schemeClr val="tx1"/>
                </a:solidFill>
                <a:effectLst/>
                <a:latin typeface="+mn-lt"/>
                <a:ea typeface="+mn-ea"/>
                <a:cs typeface="+mn-cs"/>
              </a:rPr>
              <a:t>}$ es infinito</a:t>
            </a:r>
            <a:r>
              <a:rPr lang="es-ES" sz="1200" b="0" i="0" kern="1200" dirty="0">
                <a:solidFill>
                  <a:schemeClr val="tx1"/>
                </a:solidFill>
                <a:effectLst/>
                <a:latin typeface="+mn-lt"/>
                <a:ea typeface="+mn-ea"/>
                <a:cs typeface="+mn-cs"/>
              </a:rPr>
              <a:t>. </a:t>
            </a:r>
            <a:r>
              <a:rPr lang="es-ES" sz="1200" b="0" i="0" u="none" strike="noStrike" kern="1200" dirty="0">
                <a:solidFill>
                  <a:schemeClr val="tx1"/>
                </a:solidFill>
                <a:effectLst/>
                <a:latin typeface="+mn-lt"/>
                <a:ea typeface="+mn-ea"/>
                <a:cs typeface="+mn-cs"/>
                <a:hlinkClick r:id="rId3"/>
              </a:rPr>
              <a:t>[</a:t>
            </a:r>
            <a:r>
              <a:rPr lang="es-ES" sz="1200" b="0" i="0" u="none" strike="noStrike" kern="1200" dirty="0" err="1">
                <a:solidFill>
                  <a:schemeClr val="tx1"/>
                </a:solidFill>
                <a:effectLst/>
                <a:latin typeface="+mn-lt"/>
                <a:ea typeface="+mn-ea"/>
                <a:cs typeface="+mn-cs"/>
                <a:hlinkClick r:id="rId3"/>
              </a:rPr>
              <a:t>sofi</a:t>
            </a:r>
            <a:r>
              <a:rPr lang="es-ES" sz="1200" b="0" i="0" u="none" strike="noStrike" kern="1200" dirty="0">
                <a:solidFill>
                  <a:schemeClr val="tx1"/>
                </a:solidFill>
                <a:effectLst/>
                <a:latin typeface="+mn-lt"/>
                <a:ea typeface="+mn-ea"/>
                <a:cs typeface="+mn-cs"/>
                <a:hlinkClick r:id="rId3"/>
              </a:rPr>
              <a:t> | PowerPoint]</a:t>
            </a:r>
            <a:endParaRPr lang="es-ES" sz="1200" b="0" i="0" kern="1200" dirty="0">
              <a:solidFill>
                <a:schemeClr val="tx1"/>
              </a:solidFill>
              <a:effectLst/>
              <a:latin typeface="+mn-lt"/>
              <a:ea typeface="+mn-ea"/>
              <a:cs typeface="+mn-cs"/>
            </a:endParaRPr>
          </a:p>
          <a:p>
            <a:br>
              <a:rPr lang="es-ES" sz="1200" b="0" i="0" kern="1200" dirty="0">
                <a:solidFill>
                  <a:schemeClr val="tx1"/>
                </a:solidFill>
                <a:effectLst/>
                <a:latin typeface="+mn-lt"/>
                <a:ea typeface="+mn-ea"/>
                <a:cs typeface="+mn-cs"/>
              </a:rPr>
            </a:br>
            <a:endParaRPr lang="es-ES" sz="1200" b="0" i="0" kern="1200" dirty="0">
              <a:solidFill>
                <a:schemeClr val="tx1"/>
              </a:solidFill>
              <a:effectLst/>
              <a:latin typeface="+mn-lt"/>
              <a:ea typeface="+mn-ea"/>
              <a:cs typeface="+mn-cs"/>
            </a:endParaRPr>
          </a:p>
          <a:p>
            <a:r>
              <a:rPr lang="es-ES" sz="1200" b="1" i="0" kern="1200" dirty="0">
                <a:solidFill>
                  <a:schemeClr val="tx1"/>
                </a:solidFill>
                <a:effectLst/>
                <a:latin typeface="+mn-lt"/>
                <a:ea typeface="+mn-ea"/>
                <a:cs typeface="+mn-cs"/>
              </a:rPr>
              <a:t>🎙️ Notas del ponente (muy breves)</a:t>
            </a:r>
          </a:p>
          <a:p>
            <a:r>
              <a:rPr lang="es-ES" sz="1200" b="0" i="0" kern="1200" dirty="0">
                <a:solidFill>
                  <a:schemeClr val="tx1"/>
                </a:solidFill>
                <a:effectLst/>
                <a:latin typeface="+mn-lt"/>
                <a:ea typeface="+mn-ea"/>
                <a:cs typeface="+mn-cs"/>
              </a:rPr>
              <a:t>Recordar al público que $L_1$ crece como $N/6$.</a:t>
            </a:r>
          </a:p>
          <a:p>
            <a:r>
              <a:rPr lang="es-ES" sz="1200" b="0" i="0" kern="1200" dirty="0">
                <a:solidFill>
                  <a:schemeClr val="tx1"/>
                </a:solidFill>
                <a:effectLst/>
                <a:latin typeface="+mn-lt"/>
                <a:ea typeface="+mn-ea"/>
                <a:cs typeface="+mn-cs"/>
              </a:rPr>
              <a:t>Mostrar la ecuación de balance y señalar $L_{</a:t>
            </a:r>
            <a:r>
              <a:rPr lang="es-ES" sz="1200" b="0" i="0" kern="1200" dirty="0" err="1">
                <a:solidFill>
                  <a:schemeClr val="tx1"/>
                </a:solidFill>
                <a:effectLst/>
                <a:latin typeface="+mn-lt"/>
                <a:ea typeface="+mn-ea"/>
                <a:cs typeface="+mn-cs"/>
              </a:rPr>
              <a:t>sg</a:t>
            </a:r>
            <a:r>
              <a:rPr lang="es-ES" sz="1200" b="0" i="0" kern="1200" dirty="0">
                <a:solidFill>
                  <a:schemeClr val="tx1"/>
                </a:solidFill>
                <a:effectLst/>
                <a:latin typeface="+mn-lt"/>
                <a:ea typeface="+mn-ea"/>
                <a:cs typeface="+mn-cs"/>
              </a:rPr>
              <a:t>}$ como “pieza que falta”.</a:t>
            </a:r>
          </a:p>
          <a:p>
            <a:r>
              <a:rPr lang="es-ES" sz="1200" b="0" i="0" kern="1200" dirty="0">
                <a:solidFill>
                  <a:schemeClr val="tx1"/>
                </a:solidFill>
                <a:effectLst/>
                <a:latin typeface="+mn-lt"/>
                <a:ea typeface="+mn-ea"/>
                <a:cs typeface="+mn-cs"/>
              </a:rPr>
              <a:t>Caso </a:t>
            </a:r>
            <a:r>
              <a:rPr lang="es-ES" sz="1200" b="0" i="0" kern="1200" dirty="0" err="1">
                <a:solidFill>
                  <a:schemeClr val="tx1"/>
                </a:solidFill>
                <a:effectLst/>
                <a:latin typeface="+mn-lt"/>
                <a:ea typeface="+mn-ea"/>
                <a:cs typeface="+mn-cs"/>
              </a:rPr>
              <a:t>cte</a:t>
            </a:r>
            <a:r>
              <a:rPr lang="es-ES" sz="1200" b="0" i="0" kern="1200" dirty="0">
                <a:solidFill>
                  <a:schemeClr val="tx1"/>
                </a:solidFill>
                <a:effectLst/>
                <a:latin typeface="+mn-lt"/>
                <a:ea typeface="+mn-ea"/>
                <a:cs typeface="+mn-cs"/>
              </a:rPr>
              <a:t>: la densidad de $L_{</a:t>
            </a:r>
            <a:r>
              <a:rPr lang="es-ES" sz="1200" b="0" i="0" kern="1200" dirty="0" err="1">
                <a:solidFill>
                  <a:schemeClr val="tx1"/>
                </a:solidFill>
                <a:effectLst/>
                <a:latin typeface="+mn-lt"/>
                <a:ea typeface="+mn-ea"/>
                <a:cs typeface="+mn-cs"/>
              </a:rPr>
              <a:t>sg</a:t>
            </a:r>
            <a:r>
              <a:rPr lang="es-ES" sz="1200" b="0" i="0" kern="1200" dirty="0">
                <a:solidFill>
                  <a:schemeClr val="tx1"/>
                </a:solidFill>
                <a:effectLst/>
                <a:latin typeface="+mn-lt"/>
                <a:ea typeface="+mn-ea"/>
                <a:cs typeface="+mn-cs"/>
              </a:rPr>
              <a:t>}$ se anula ⇒ </a:t>
            </a:r>
            <a:r>
              <a:rPr lang="es-ES" sz="1200" b="1" i="0" kern="1200" dirty="0">
                <a:solidFill>
                  <a:schemeClr val="tx1"/>
                </a:solidFill>
                <a:effectLst/>
                <a:latin typeface="+mn-lt"/>
                <a:ea typeface="+mn-ea"/>
                <a:cs typeface="+mn-cs"/>
              </a:rPr>
              <a:t>no cierra</a:t>
            </a:r>
            <a:r>
              <a:rPr lang="es-ES" sz="1200" b="0" i="0" kern="1200" dirty="0">
                <a:solidFill>
                  <a:schemeClr val="tx1"/>
                </a:solidFill>
                <a:effectLst/>
                <a:latin typeface="+mn-lt"/>
                <a:ea typeface="+mn-ea"/>
                <a:cs typeface="+mn-cs"/>
              </a:rPr>
              <a:t> el balance.</a:t>
            </a:r>
          </a:p>
          <a:p>
            <a:r>
              <a:rPr lang="es-ES" sz="1200" b="0" i="0" kern="1200" dirty="0">
                <a:solidFill>
                  <a:schemeClr val="tx1"/>
                </a:solidFill>
                <a:effectLst/>
                <a:latin typeface="+mn-lt"/>
                <a:ea typeface="+mn-ea"/>
                <a:cs typeface="+mn-cs"/>
              </a:rPr>
              <a:t>Caso infinito: el término $L_{</a:t>
            </a:r>
            <a:r>
              <a:rPr lang="es-ES" sz="1200" b="0" i="0" kern="1200" dirty="0" err="1">
                <a:solidFill>
                  <a:schemeClr val="tx1"/>
                </a:solidFill>
                <a:effectLst/>
                <a:latin typeface="+mn-lt"/>
                <a:ea typeface="+mn-ea"/>
                <a:cs typeface="+mn-cs"/>
              </a:rPr>
              <a:t>sg</a:t>
            </a:r>
            <a:r>
              <a:rPr lang="es-ES" sz="1200" b="0" i="0" kern="1200" dirty="0">
                <a:solidFill>
                  <a:schemeClr val="tx1"/>
                </a:solidFill>
                <a:effectLst/>
                <a:latin typeface="+mn-lt"/>
                <a:ea typeface="+mn-ea"/>
                <a:cs typeface="+mn-cs"/>
              </a:rPr>
              <a:t>}$ aporta el crecimiento que falta ⇒ </a:t>
            </a:r>
            <a:r>
              <a:rPr lang="es-ES" sz="1200" b="1" i="0" kern="1200" dirty="0">
                <a:solidFill>
                  <a:schemeClr val="tx1"/>
                </a:solidFill>
                <a:effectLst/>
                <a:latin typeface="+mn-lt"/>
                <a:ea typeface="+mn-ea"/>
                <a:cs typeface="+mn-cs"/>
              </a:rPr>
              <a:t>coherente</a:t>
            </a:r>
            <a:r>
              <a:rPr lang="es-ES" sz="1200" b="0" i="0" kern="1200" dirty="0">
                <a:solidFill>
                  <a:schemeClr val="tx1"/>
                </a:solidFill>
                <a:effectLst/>
                <a:latin typeface="+mn-lt"/>
                <a:ea typeface="+mn-ea"/>
                <a:cs typeface="+mn-cs"/>
              </a:rPr>
              <a:t>. </a:t>
            </a:r>
            <a:r>
              <a:rPr lang="es-ES" sz="1200" b="0" i="0" u="none" strike="noStrike" kern="1200" dirty="0">
                <a:solidFill>
                  <a:schemeClr val="tx1"/>
                </a:solidFill>
                <a:effectLst/>
                <a:latin typeface="+mn-lt"/>
                <a:ea typeface="+mn-ea"/>
                <a:cs typeface="+mn-cs"/>
                <a:hlinkClick r:id="rId3"/>
              </a:rPr>
              <a:t>[</a:t>
            </a:r>
            <a:r>
              <a:rPr lang="es-ES" sz="1200" b="0" i="0" u="none" strike="noStrike" kern="1200" dirty="0" err="1">
                <a:solidFill>
                  <a:schemeClr val="tx1"/>
                </a:solidFill>
                <a:effectLst/>
                <a:latin typeface="+mn-lt"/>
                <a:ea typeface="+mn-ea"/>
                <a:cs typeface="+mn-cs"/>
                <a:hlinkClick r:id="rId3"/>
              </a:rPr>
              <a:t>sofi</a:t>
            </a:r>
            <a:r>
              <a:rPr lang="es-ES" sz="1200" b="0" i="0" u="none" strike="noStrike" kern="1200" dirty="0">
                <a:solidFill>
                  <a:schemeClr val="tx1"/>
                </a:solidFill>
                <a:effectLst/>
                <a:latin typeface="+mn-lt"/>
                <a:ea typeface="+mn-ea"/>
                <a:cs typeface="+mn-cs"/>
                <a:hlinkClick r:id="rId3"/>
              </a:rPr>
              <a:t> | PowerPoint]</a:t>
            </a:r>
            <a:endParaRPr lang="es-ES" sz="1200" b="0" i="0" kern="1200" dirty="0">
              <a:solidFill>
                <a:schemeClr val="tx1"/>
              </a:solidFill>
              <a:effectLst/>
              <a:latin typeface="+mn-lt"/>
              <a:ea typeface="+mn-ea"/>
              <a:cs typeface="+mn-cs"/>
            </a:endParaRPr>
          </a:p>
          <a:p>
            <a:br>
              <a:rPr lang="es-ES" sz="1200" b="0" i="0" kern="1200" dirty="0">
                <a:solidFill>
                  <a:schemeClr val="tx1"/>
                </a:solidFill>
                <a:effectLst/>
                <a:latin typeface="+mn-lt"/>
                <a:ea typeface="+mn-ea"/>
                <a:cs typeface="+mn-cs"/>
              </a:rPr>
            </a:br>
            <a:endParaRPr lang="es-ES" sz="1200" b="0" i="0" kern="1200" dirty="0">
              <a:solidFill>
                <a:schemeClr val="tx1"/>
              </a:solidFill>
              <a:effectLst/>
              <a:latin typeface="+mn-lt"/>
              <a:ea typeface="+mn-ea"/>
              <a:cs typeface="+mn-cs"/>
            </a:endParaRPr>
          </a:p>
          <a:p>
            <a:r>
              <a:rPr lang="es-ES" sz="1200" b="0" i="0" kern="1200" dirty="0">
                <a:solidFill>
                  <a:schemeClr val="tx1"/>
                </a:solidFill>
                <a:effectLst/>
                <a:latin typeface="+mn-lt"/>
                <a:ea typeface="+mn-ea"/>
                <a:cs typeface="+mn-cs"/>
              </a:rPr>
              <a:t>Si quieres, te lo </a:t>
            </a:r>
            <a:r>
              <a:rPr lang="es-ES" sz="1200" b="1" i="0" kern="1200" dirty="0">
                <a:solidFill>
                  <a:schemeClr val="tx1"/>
                </a:solidFill>
                <a:effectLst/>
                <a:latin typeface="+mn-lt"/>
                <a:ea typeface="+mn-ea"/>
                <a:cs typeface="+mn-cs"/>
              </a:rPr>
              <a:t>integro yo mismo en la PPT</a:t>
            </a:r>
            <a:r>
              <a:rPr lang="es-ES" sz="1200" b="0" i="0" kern="1200" dirty="0">
                <a:solidFill>
                  <a:schemeClr val="tx1"/>
                </a:solidFill>
                <a:effectLst/>
                <a:latin typeface="+mn-lt"/>
                <a:ea typeface="+mn-ea"/>
                <a:cs typeface="+mn-cs"/>
              </a:rPr>
              <a:t>: una </a:t>
            </a:r>
            <a:r>
              <a:rPr lang="es-ES" sz="1200" b="0" i="0" kern="1200" dirty="0" err="1">
                <a:solidFill>
                  <a:schemeClr val="tx1"/>
                </a:solidFill>
                <a:effectLst/>
                <a:latin typeface="+mn-lt"/>
                <a:ea typeface="+mn-ea"/>
                <a:cs typeface="+mn-cs"/>
              </a:rPr>
              <a:t>slide</a:t>
            </a:r>
            <a:r>
              <a:rPr lang="es-ES" sz="1200" b="0" i="0" kern="1200" dirty="0">
                <a:solidFill>
                  <a:schemeClr val="tx1"/>
                </a:solidFill>
                <a:effectLst/>
                <a:latin typeface="+mn-lt"/>
                <a:ea typeface="+mn-ea"/>
                <a:cs typeface="+mn-cs"/>
              </a:rPr>
              <a:t> “Hipótesis”, otra “(F1) </a:t>
            </a:r>
            <a:r>
              <a:rPr lang="es-ES" sz="1200" b="0" i="0" kern="1200" dirty="0" err="1">
                <a:solidFill>
                  <a:schemeClr val="tx1"/>
                </a:solidFill>
                <a:effectLst/>
                <a:latin typeface="+mn-lt"/>
                <a:ea typeface="+mn-ea"/>
                <a:cs typeface="+mn-cs"/>
              </a:rPr>
              <a:t>cte</a:t>
            </a:r>
            <a:r>
              <a:rPr lang="es-ES" sz="1200" b="0" i="0" kern="1200" dirty="0">
                <a:solidFill>
                  <a:schemeClr val="tx1"/>
                </a:solidFill>
                <a:effectLst/>
                <a:latin typeface="+mn-lt"/>
                <a:ea typeface="+mn-ea"/>
                <a:cs typeface="+mn-cs"/>
              </a:rPr>
              <a:t> ⇒ contradicción”, otra “(F2) infinito ⇒ coherente”, y una final “Conclusión”. ¿Lo hago ya?</a:t>
            </a:r>
          </a:p>
          <a:p>
            <a:endParaRPr lang="es-ES" dirty="0"/>
          </a:p>
        </p:txBody>
      </p:sp>
      <p:sp>
        <p:nvSpPr>
          <p:cNvPr id="4" name="Marcador de número de diapositiva 3"/>
          <p:cNvSpPr>
            <a:spLocks noGrp="1"/>
          </p:cNvSpPr>
          <p:nvPr>
            <p:ph type="sldNum" sz="quarter" idx="5"/>
          </p:nvPr>
        </p:nvSpPr>
        <p:spPr/>
        <p:txBody>
          <a:bodyPr/>
          <a:lstStyle/>
          <a:p>
            <a:fld id="{98D70127-EE0F-4E6E-BC66-ABB9CC793D37}" type="slidenum">
              <a:rPr lang="es-ES" smtClean="0"/>
              <a:t>5</a:t>
            </a:fld>
            <a:endParaRPr lang="es-ES"/>
          </a:p>
        </p:txBody>
      </p:sp>
    </p:spTree>
    <p:extLst>
      <p:ext uri="{BB962C8B-B14F-4D97-AF65-F5344CB8AC3E}">
        <p14:creationId xmlns:p14="http://schemas.microsoft.com/office/powerpoint/2010/main" val="28093911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lgn="ctr">
              <a:defRPr sz="3800">
                <a:solidFill>
                  <a:srgbClr val="262626"/>
                </a:solidFill>
              </a:defRPr>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2695194" y="4352544"/>
            <a:ext cx="6801612" cy="1239894"/>
          </a:xfrm>
          <a:noFill/>
        </p:spPr>
        <p:txBody>
          <a:bodyPr>
            <a:normAutofit/>
          </a:bodyPr>
          <a:lstStyle>
            <a:lvl1pPr marL="0" indent="0" algn="ctr">
              <a:buNone/>
              <a:defRPr sz="20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n-US" dirty="0"/>
          </a:p>
        </p:txBody>
      </p:sp>
      <p:sp>
        <p:nvSpPr>
          <p:cNvPr id="7" name="Date Placeholder 6"/>
          <p:cNvSpPr>
            <a:spLocks noGrp="1"/>
          </p:cNvSpPr>
          <p:nvPr>
            <p:ph type="dt" sz="half" idx="10"/>
          </p:nvPr>
        </p:nvSpPr>
        <p:spPr/>
        <p:txBody>
          <a:bodyPr/>
          <a:lstStyle/>
          <a:p>
            <a:fld id="{1160EA64-D806-43AC-9DF2-F8C432F32B4C}" type="datetimeFigureOut">
              <a:rPr lang="en-US" dirty="0"/>
              <a:t>1/24/2026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pPr/>
              <a:t>‹Nº›</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F070A7B3-6521-4DCA-87E5-044747A908C1}" type="datetimeFigureOut">
              <a:rPr lang="en-US" dirty="0"/>
              <a:t>1/24/2026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pPr/>
              <a:t>‹Nº›</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defRPr sz="3800">
                <a:solidFill>
                  <a:srgbClr val="262626"/>
                </a:solidFill>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2695194" y="4352465"/>
            <a:ext cx="6801612" cy="1265082"/>
          </a:xfrm>
        </p:spPr>
        <p:txBody>
          <a:bodyPr anchor="t" anchorCtr="1">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7" name="Date Placeholder 6"/>
          <p:cNvSpPr>
            <a:spLocks noGrp="1"/>
          </p:cNvSpPr>
          <p:nvPr>
            <p:ph type="dt" sz="half" idx="10"/>
          </p:nvPr>
        </p:nvSpPr>
        <p:spPr/>
        <p:txBody>
          <a:bodyPr/>
          <a:lstStyle/>
          <a:p>
            <a:fld id="{1160EA64-D806-43AC-9DF2-F8C432F32B4C}" type="datetimeFigureOut">
              <a:rPr lang="en-US" dirty="0"/>
              <a:t>1/24/2026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pPr/>
              <a:t>‹Nº›</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1581912" y="2638044"/>
            <a:ext cx="4271771" cy="3101982"/>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6338315" y="2638044"/>
            <a:ext cx="4270247" cy="3101982"/>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8" name="Date Placeholder 7"/>
          <p:cNvSpPr>
            <a:spLocks noGrp="1"/>
          </p:cNvSpPr>
          <p:nvPr>
            <p:ph type="dt" sz="half" idx="10"/>
          </p:nvPr>
        </p:nvSpPr>
        <p:spPr/>
        <p:txBody>
          <a:bodyPr/>
          <a:lstStyle/>
          <a:p>
            <a:fld id="{AB134690-1557-4C89-A502-4959FE7FAD70}" type="datetimeFigureOut">
              <a:rPr lang="en-US" dirty="0"/>
              <a:t>1/24/2026</a:t>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8A7A6979-0714-4377-B894-6BE4C2D6E202}" type="slidenum">
              <a:rPr lang="en-US" dirty="0"/>
              <a:t>‹Nº›</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8343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1583436" y="3143250"/>
            <a:ext cx="4270248" cy="2596776"/>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6" name="Content Placeholder 5"/>
          <p:cNvSpPr>
            <a:spLocks noGrp="1"/>
          </p:cNvSpPr>
          <p:nvPr>
            <p:ph sz="quarter" idx="4"/>
          </p:nvPr>
        </p:nvSpPr>
        <p:spPr>
          <a:xfrm>
            <a:off x="6338316" y="3143250"/>
            <a:ext cx="4253484" cy="2596776"/>
          </a:xfrm>
        </p:spPr>
        <p:txBody>
          <a:bodyPr/>
          <a:lstStyle>
            <a:lvl5pPr>
              <a:defRPr/>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11" name="Text Placeholder 4"/>
          <p:cNvSpPr>
            <a:spLocks noGrp="1"/>
          </p:cNvSpPr>
          <p:nvPr>
            <p:ph type="body" sz="quarter" idx="13"/>
          </p:nvPr>
        </p:nvSpPr>
        <p:spPr>
          <a:xfrm>
            <a:off x="633831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7" name="Date Placeholder 6"/>
          <p:cNvSpPr>
            <a:spLocks noGrp="1"/>
          </p:cNvSpPr>
          <p:nvPr>
            <p:ph type="dt" sz="half" idx="10"/>
          </p:nvPr>
        </p:nvSpPr>
        <p:spPr/>
        <p:txBody>
          <a:bodyPr/>
          <a:lstStyle/>
          <a:p>
            <a:fld id="{4F7D4976-E339-4826-83B7-FBD03F55ECF8}" type="datetimeFigureOut">
              <a:rPr lang="en-US" dirty="0"/>
              <a:t>1/24/2026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t>‹Nº›</a:t>
            </a:fld>
            <a:endParaRPr lang="en-US" dirty="0"/>
          </a:p>
        </p:txBody>
      </p:sp>
      <p:sp>
        <p:nvSpPr>
          <p:cNvPr id="10" name="Title 9"/>
          <p:cNvSpPr>
            <a:spLocks noGrp="1"/>
          </p:cNvSpPr>
          <p:nvPr>
            <p:ph type="title"/>
          </p:nvPr>
        </p:nvSpPr>
        <p:spPr/>
        <p:txBody>
          <a:bodyPr/>
          <a:lstStyle/>
          <a:p>
            <a:r>
              <a:rPr lang="es-ES"/>
              <a:t>Haga clic para modificar el estilo de título del patrón</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E1037C31-9E7A-4F99-8774-A0E530DE1A42}" type="datetimeFigureOut">
              <a:rPr lang="en-US" dirty="0"/>
              <a:t>1/24/2026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8A7A6979-0714-4377-B894-6BE4C2D6E202}" type="slidenum">
              <a:rPr lang="en-US" dirty="0"/>
              <a:t>‹Nº›</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278504F-A551-4DE0-9316-4DCD1D8CC752}" type="datetimeFigureOut">
              <a:rPr lang="en-US" dirty="0"/>
              <a:t>1/24/2026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8A7A6979-0714-4377-B894-6BE4C2D6E202}" type="slidenum">
              <a:rPr lang="en-US" dirty="0"/>
              <a:t>‹Nº›</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6" name="Rectangle 25"/>
          <p:cNvSpPr/>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4672" y="2243828"/>
            <a:ext cx="4486656" cy="1141497"/>
          </a:xfrm>
          <a:solidFill>
            <a:srgbClr val="FFFFFF"/>
          </a:solidFill>
          <a:ln>
            <a:solidFill>
              <a:srgbClr val="404040"/>
            </a:solidFill>
          </a:ln>
        </p:spPr>
        <p:txBody>
          <a:bodyPr anchor="ctr" anchorCtr="1">
            <a:normAutofit/>
          </a:bodyPr>
          <a:lstStyle>
            <a:lvl1pPr>
              <a:defRPr sz="2200">
                <a:solidFill>
                  <a:srgbClr val="262626"/>
                </a:solidFill>
              </a:defRPr>
            </a:lvl1pPr>
          </a:lstStyle>
          <a:p>
            <a:r>
              <a:rPr lang="es-ES"/>
              <a:t>Haga clic para modificar el estilo de título del patrón</a:t>
            </a:r>
            <a:endParaRPr lang="en-US" dirty="0"/>
          </a:p>
        </p:txBody>
      </p:sp>
      <p:sp>
        <p:nvSpPr>
          <p:cNvPr id="3" name="Content Placeholder 2"/>
          <p:cNvSpPr>
            <a:spLocks noGrp="1"/>
          </p:cNvSpPr>
          <p:nvPr>
            <p:ph idx="1"/>
          </p:nvPr>
        </p:nvSpPr>
        <p:spPr>
          <a:xfrm>
            <a:off x="6736080" y="804672"/>
            <a:ext cx="481584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1115568" y="3549918"/>
            <a:ext cx="3794760" cy="2194036"/>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9" name="Date Placeholder 8"/>
          <p:cNvSpPr>
            <a:spLocks noGrp="1"/>
          </p:cNvSpPr>
          <p:nvPr>
            <p:ph type="dt" sz="half" idx="10"/>
          </p:nvPr>
        </p:nvSpPr>
        <p:spPr/>
        <p:txBody>
          <a:bodyPr/>
          <a:lstStyle/>
          <a:p>
            <a:fld id="{D1BE4249-C0D0-4B06-8692-E8BB871AF643}" type="datetimeFigureOut">
              <a:rPr lang="en-US" dirty="0"/>
              <a:t>1/24/2026</a:t>
            </a:fld>
            <a:endParaRPr lang="en-US" dirty="0"/>
          </a:p>
        </p:txBody>
      </p:sp>
      <p:sp>
        <p:nvSpPr>
          <p:cNvPr id="10" name="Footer Placeholder 9"/>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dirty="0"/>
          </a:p>
        </p:txBody>
      </p:sp>
      <p:sp>
        <p:nvSpPr>
          <p:cNvPr id="11" name="Slide Number Placeholder 10"/>
          <p:cNvSpPr>
            <a:spLocks noGrp="1"/>
          </p:cNvSpPr>
          <p:nvPr>
            <p:ph type="sldNum" sz="quarter" idx="12"/>
          </p:nvPr>
        </p:nvSpPr>
        <p:spPr/>
        <p:txBody>
          <a:bodyPr/>
          <a:lstStyle/>
          <a:p>
            <a:fld id="{8A7A6979-0714-4377-B894-6BE4C2D6E202}" type="slidenum">
              <a:rPr lang="en-US" dirty="0"/>
              <a:t>‹Nº›</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18" name="Rectangle 17"/>
          <p:cNvSpPr/>
          <p:nvPr/>
        </p:nvSpPr>
        <p:spPr>
          <a:xfrm>
            <a:off x="0" y="0"/>
            <a:ext cx="60959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8523" y="2243828"/>
            <a:ext cx="4494998" cy="1134640"/>
          </a:xfrm>
          <a:solidFill>
            <a:srgbClr val="FFFFFF"/>
          </a:solidFill>
          <a:ln>
            <a:solidFill>
              <a:srgbClr val="404040"/>
            </a:solidFill>
          </a:ln>
        </p:spPr>
        <p:txBody>
          <a:bodyPr anchor="ctr" anchorCtr="1">
            <a:noAutofit/>
          </a:bodyPr>
          <a:lstStyle>
            <a:lvl1pPr>
              <a:defRPr sz="2200">
                <a:solidFill>
                  <a:srgbClr val="262626"/>
                </a:solidFill>
              </a:defRPr>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6095999" y="0"/>
            <a:ext cx="6102097" cy="6858000"/>
          </a:xfrm>
          <a:solidFill>
            <a:schemeClr val="bg1">
              <a:lumMod val="75000"/>
            </a:schemeClr>
          </a:solidFill>
        </p:spPr>
        <p:txBody>
          <a:bodyPr anchor="t"/>
          <a:lstStyle>
            <a:lvl1pPr marL="0" indent="0">
              <a:buNone/>
              <a:defRPr sz="3200">
                <a:solidFill>
                  <a:schemeClr val="bg1">
                    <a:lumMod val="85000"/>
                    <a:lumOff val="1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1115568" y="3549918"/>
            <a:ext cx="3794760" cy="2194037"/>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042B0DB6-F5C7-45FB-8CF3-31B45F9C2DAC}" type="datetimeFigureOut">
              <a:rPr lang="en-US" dirty="0"/>
              <a:t>1/24/2026</a:t>
            </a:fld>
            <a:endParaRPr lang="en-US" dirty="0"/>
          </a:p>
        </p:txBody>
      </p:sp>
      <p:sp>
        <p:nvSpPr>
          <p:cNvPr id="9" name="Footer Placeholder 8"/>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dirty="0"/>
          </a:p>
        </p:txBody>
      </p:sp>
      <p:sp>
        <p:nvSpPr>
          <p:cNvPr id="10" name="Slide Number Placeholder 9"/>
          <p:cNvSpPr>
            <a:spLocks noGrp="1"/>
          </p:cNvSpPr>
          <p:nvPr>
            <p:ph type="sldNum" sz="quarter" idx="12"/>
          </p:nvPr>
        </p:nvSpPr>
        <p:spPr/>
        <p:txBody>
          <a:bodyPr/>
          <a:lstStyle/>
          <a:p>
            <a:fld id="{8A7A6979-0714-4377-B894-6BE4C2D6E202}" type="slidenum">
              <a:rPr lang="en-US" dirty="0"/>
              <a:t>‹Nº›</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E9F9C37B-1D36-470B-8223-D6C91242EC14}" type="datetimeFigureOut">
              <a:rPr lang="en-US" dirty="0"/>
              <a:t>1/24/2026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dirty="0"/>
              <a:t>‹Nº›</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53112" y="937260"/>
            <a:ext cx="1298608" cy="4983480"/>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2231136" y="937260"/>
            <a:ext cx="6198489" cy="4983480"/>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67C6F52A-A82B-47A2-A83A-8C4C91F2D59F}" type="datetimeFigureOut">
              <a:rPr lang="en-US" dirty="0"/>
              <a:t>1/24/2026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dirty="0"/>
              <a:t>‹Nº›</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2231136" y="964692"/>
            <a:ext cx="7729728"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2231136" y="2638044"/>
            <a:ext cx="7729728" cy="3101983"/>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7821429" y="6238816"/>
            <a:ext cx="2753746" cy="323968"/>
          </a:xfrm>
          <a:prstGeom prst="rect">
            <a:avLst/>
          </a:prstGeom>
        </p:spPr>
        <p:txBody>
          <a:bodyPr vert="horz" lIns="91440" tIns="45720" rIns="91440" bIns="45720" rtlCol="0" anchor="ctr"/>
          <a:lstStyle>
            <a:lvl1pPr algn="r">
              <a:defRPr sz="1050">
                <a:solidFill>
                  <a:schemeClr val="tx1">
                    <a:alpha val="70000"/>
                  </a:schemeClr>
                </a:solidFill>
              </a:defRPr>
            </a:lvl1pPr>
          </a:lstStyle>
          <a:p>
            <a:fld id="{1160EA64-D806-43AC-9DF2-F8C432F32B4C}" type="datetimeFigureOut">
              <a:rPr lang="en-US" dirty="0"/>
              <a:t>1/24/2026</a:t>
            </a:fld>
            <a:endParaRPr lang="en-US" dirty="0"/>
          </a:p>
        </p:txBody>
      </p:sp>
      <p:sp>
        <p:nvSpPr>
          <p:cNvPr id="5" name="Footer Placeholder 4"/>
          <p:cNvSpPr>
            <a:spLocks noGrp="1"/>
          </p:cNvSpPr>
          <p:nvPr>
            <p:ph type="ftr" sz="quarter" idx="3"/>
          </p:nvPr>
        </p:nvSpPr>
        <p:spPr>
          <a:xfrm>
            <a:off x="1600200" y="6236208"/>
            <a:ext cx="5901189" cy="320040"/>
          </a:xfrm>
          <a:prstGeom prst="rect">
            <a:avLst/>
          </a:prstGeom>
        </p:spPr>
        <p:txBody>
          <a:bodyPr vert="horz" lIns="91440" tIns="45720" rIns="91440" bIns="45720" rtlCol="0" anchor="ctr"/>
          <a:lstStyle>
            <a:lvl1pPr algn="l">
              <a:defRPr sz="1050">
                <a:solidFill>
                  <a:schemeClr val="tx1">
                    <a:alpha val="70000"/>
                  </a:schemeClr>
                </a:solidFill>
              </a:defRPr>
            </a:lvl1pPr>
          </a:lstStyle>
          <a:p>
            <a:endParaRPr lang="en-US" dirty="0"/>
          </a:p>
        </p:txBody>
      </p:sp>
      <p:sp>
        <p:nvSpPr>
          <p:cNvPr id="6" name="Slide Number Placeholder 5"/>
          <p:cNvSpPr>
            <a:spLocks noGrp="1"/>
          </p:cNvSpPr>
          <p:nvPr>
            <p:ph type="sldNum" sz="quarter" idx="4"/>
          </p:nvPr>
        </p:nvSpPr>
        <p:spPr>
          <a:xfrm>
            <a:off x="10758922" y="6217920"/>
            <a:ext cx="365760" cy="365760"/>
          </a:xfrm>
          <a:prstGeom prst="ellipse">
            <a:avLst/>
          </a:prstGeom>
          <a:solidFill>
            <a:srgbClr val="1D1D1D">
              <a:alpha val="70000"/>
            </a:srgbClr>
          </a:solidFill>
        </p:spPr>
        <p:txBody>
          <a:bodyPr vert="horz" lIns="18288" tIns="45720" rIns="18288" bIns="45720" rtlCol="0" anchor="ctr">
            <a:noAutofit/>
          </a:bodyPr>
          <a:lstStyle>
            <a:lvl1pPr algn="ctr">
              <a:defRPr sz="1100" spc="0" baseline="0">
                <a:solidFill>
                  <a:srgbClr val="FFFFFF"/>
                </a:solidFill>
              </a:defRPr>
            </a:lvl1pPr>
          </a:lstStyle>
          <a:p>
            <a:fld id="{8A7A6979-0714-4377-B894-6BE4C2D6E202}" type="slidenum">
              <a:rPr lang="en-US" dirty="0"/>
              <a:pPr/>
              <a:t>‹Nº›</a:t>
            </a:fld>
            <a:endParaRPr lang="en-US" dirty="0"/>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hf sldNum="0" hdr="0" ftr="0" dt="0"/>
  <p:txStyles>
    <p:title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oleObject" Target="file:///C:\Users\cuent\Desktop\DRive\Libros%20de%20vma\Libro4\l4%20Api&#241;onr%20recuperado.pdf"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hyperlink" Target="https://lnkd.in/eKrzDmNA" TargetMode="External"/><Relationship Id="rId4" Type="http://schemas.openxmlformats.org/officeDocument/2006/relationships/image" Target="../media/image1.emf"/></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370E6EE-5335-FF1F-98BF-5C7DE5E8B31D}"/>
              </a:ext>
            </a:extLst>
          </p:cNvPr>
          <p:cNvSpPr>
            <a:spLocks noGrp="1"/>
          </p:cNvSpPr>
          <p:nvPr>
            <p:ph type="ctrTitle"/>
          </p:nvPr>
        </p:nvSpPr>
        <p:spPr>
          <a:xfrm>
            <a:off x="0" y="107370"/>
            <a:ext cx="7288696" cy="2026230"/>
          </a:xfrm>
        </p:spPr>
        <p:txBody>
          <a:bodyPr/>
          <a:lstStyle/>
          <a:p>
            <a:r>
              <a:rPr lang="es-ES" dirty="0"/>
              <a:t>Sophie German</a:t>
            </a:r>
          </a:p>
        </p:txBody>
      </p:sp>
      <p:sp>
        <p:nvSpPr>
          <p:cNvPr id="3" name="Subtítulo 2">
            <a:extLst>
              <a:ext uri="{FF2B5EF4-FFF2-40B4-BE49-F238E27FC236}">
                <a16:creationId xmlns:a16="http://schemas.microsoft.com/office/drawing/2014/main" id="{51645082-828E-F008-A3A7-98C850C378D7}"/>
              </a:ext>
            </a:extLst>
          </p:cNvPr>
          <p:cNvSpPr>
            <a:spLocks noGrp="1"/>
          </p:cNvSpPr>
          <p:nvPr>
            <p:ph type="subTitle" idx="1"/>
          </p:nvPr>
        </p:nvSpPr>
        <p:spPr>
          <a:xfrm>
            <a:off x="6949142" y="721448"/>
            <a:ext cx="6801612" cy="1239894"/>
          </a:xfrm>
        </p:spPr>
        <p:txBody>
          <a:bodyPr>
            <a:normAutofit fontScale="92500" lnSpcReduction="10000"/>
          </a:bodyPr>
          <a:lstStyle/>
          <a:p>
            <a:r>
              <a:rPr lang="es-ES" sz="4400" dirty="0" err="1"/>
              <a:t>GoW</a:t>
            </a:r>
            <a:r>
              <a:rPr lang="es-ES" sz="4400" dirty="0"/>
              <a:t> </a:t>
            </a:r>
            <a:r>
              <a:rPr lang="es-ES" sz="4400" dirty="0" err="1"/>
              <a:t>TaX</a:t>
            </a:r>
            <a:br>
              <a:rPr lang="es-ES" dirty="0"/>
            </a:br>
            <a:br>
              <a:rPr lang="es-ES" dirty="0"/>
            </a:br>
            <a:endParaRPr lang="es-ES" dirty="0"/>
          </a:p>
        </p:txBody>
      </p:sp>
      <p:graphicFrame>
        <p:nvGraphicFramePr>
          <p:cNvPr id="8" name="Objeto 7">
            <a:extLst>
              <a:ext uri="{FF2B5EF4-FFF2-40B4-BE49-F238E27FC236}">
                <a16:creationId xmlns:a16="http://schemas.microsoft.com/office/drawing/2014/main" id="{57F07B18-422A-CB62-BBF6-19AF45748A8C}"/>
              </a:ext>
            </a:extLst>
          </p:cNvPr>
          <p:cNvGraphicFramePr>
            <a:graphicFrameLocks noChangeAspect="1"/>
          </p:cNvGraphicFramePr>
          <p:nvPr>
            <p:extLst>
              <p:ext uri="{D42A27DB-BD31-4B8C-83A1-F6EECF244321}">
                <p14:modId xmlns:p14="http://schemas.microsoft.com/office/powerpoint/2010/main" val="751040393"/>
              </p:ext>
            </p:extLst>
          </p:nvPr>
        </p:nvGraphicFramePr>
        <p:xfrm>
          <a:off x="7288696" y="149087"/>
          <a:ext cx="1404800" cy="1984513"/>
        </p:xfrm>
        <a:graphic>
          <a:graphicData uri="http://schemas.openxmlformats.org/presentationml/2006/ole">
            <mc:AlternateContent xmlns:mc="http://schemas.openxmlformats.org/markup-compatibility/2006">
              <mc:Choice xmlns:v="urn:schemas-microsoft-com:vml" Requires="v">
                <p:oleObj name="Acrobat Document" r:id="rId3" imgW="5676382" imgH="8019698" progId="Acrobat.Document.DC">
                  <p:link updateAutomatic="1"/>
                </p:oleObj>
              </mc:Choice>
              <mc:Fallback>
                <p:oleObj name="Acrobat Document" r:id="rId3" imgW="5676382" imgH="8019698" progId="Acrobat.Document.DC">
                  <p:link updateAutomatic="1"/>
                  <p:pic>
                    <p:nvPicPr>
                      <p:cNvPr id="8" name="Objeto 7">
                        <a:extLst>
                          <a:ext uri="{FF2B5EF4-FFF2-40B4-BE49-F238E27FC236}">
                            <a16:creationId xmlns:a16="http://schemas.microsoft.com/office/drawing/2014/main" id="{57F07B18-422A-CB62-BBF6-19AF45748A8C}"/>
                          </a:ext>
                        </a:extLst>
                      </p:cNvPr>
                      <p:cNvPicPr/>
                      <p:nvPr/>
                    </p:nvPicPr>
                    <p:blipFill>
                      <a:blip r:embed="rId4"/>
                      <a:stretch>
                        <a:fillRect/>
                      </a:stretch>
                    </p:blipFill>
                    <p:spPr>
                      <a:xfrm>
                        <a:off x="7288696" y="149087"/>
                        <a:ext cx="1404800" cy="1984513"/>
                      </a:xfrm>
                      <a:prstGeom prst="rect">
                        <a:avLst/>
                      </a:prstGeom>
                    </p:spPr>
                  </p:pic>
                </p:oleObj>
              </mc:Fallback>
            </mc:AlternateContent>
          </a:graphicData>
        </a:graphic>
      </p:graphicFrame>
      <p:sp>
        <p:nvSpPr>
          <p:cNvPr id="4" name="Título 1">
            <a:extLst>
              <a:ext uri="{FF2B5EF4-FFF2-40B4-BE49-F238E27FC236}">
                <a16:creationId xmlns:a16="http://schemas.microsoft.com/office/drawing/2014/main" id="{8C79644A-E93F-0AD1-53D7-8DB1E42512A4}"/>
              </a:ext>
            </a:extLst>
          </p:cNvPr>
          <p:cNvSpPr txBox="1">
            <a:spLocks/>
          </p:cNvSpPr>
          <p:nvPr/>
        </p:nvSpPr>
        <p:spPr bwMode="blackWhite">
          <a:xfrm>
            <a:off x="7288696" y="4873487"/>
            <a:ext cx="4903304" cy="1984513"/>
          </a:xfrm>
          <a:prstGeom prst="rect">
            <a:avLst/>
          </a:prstGeom>
          <a:solidFill>
            <a:srgbClr val="FFFFFF"/>
          </a:solidFill>
          <a:ln w="38100" cap="sq">
            <a:solidFill>
              <a:srgbClr val="404040"/>
            </a:solidFill>
            <a:miter lim="800000"/>
          </a:ln>
        </p:spPr>
        <p:txBody>
          <a:bodyPr vert="horz" lIns="274320" tIns="182880" rIns="274320" bIns="182880" rtlCol="0" anchor="ctr" anchorCtr="1">
            <a:normAutofit/>
          </a:bodyPr>
          <a:lstStyle>
            <a:lvl1pPr algn="ctr" defTabSz="914400" rtl="0" eaLnBrk="1" latinLnBrk="0" hangingPunct="1">
              <a:lnSpc>
                <a:spcPct val="90000"/>
              </a:lnSpc>
              <a:spcBef>
                <a:spcPct val="0"/>
              </a:spcBef>
              <a:buNone/>
              <a:defRPr sz="3800" kern="1200" cap="all" spc="200" baseline="0">
                <a:solidFill>
                  <a:srgbClr val="262626"/>
                </a:solidFill>
                <a:latin typeface="+mj-lt"/>
                <a:ea typeface="+mj-ea"/>
                <a:cs typeface="+mj-cs"/>
              </a:defRPr>
            </a:lvl1pPr>
          </a:lstStyle>
          <a:p>
            <a:r>
              <a:rPr lang="es-ES" sz="1400" dirty="0"/>
              <a:t>Víctor Manzanares Alberola </a:t>
            </a:r>
            <a:br>
              <a:rPr lang="es-ES" sz="1400" dirty="0"/>
            </a:br>
            <a:r>
              <a:rPr lang="es-ES" sz="1400" dirty="0"/>
              <a:t>exalumne </a:t>
            </a:r>
            <a:r>
              <a:rPr lang="es-ES" sz="1400" dirty="0" err="1"/>
              <a:t>Epsa</a:t>
            </a:r>
            <a:r>
              <a:rPr lang="es-ES" sz="1400" dirty="0"/>
              <a:t> </a:t>
            </a:r>
            <a:r>
              <a:rPr lang="es-ES" sz="1400" dirty="0" err="1"/>
              <a:t>upv</a:t>
            </a:r>
            <a:r>
              <a:rPr lang="es-ES" sz="1400" dirty="0"/>
              <a:t> (Alcoy)</a:t>
            </a:r>
            <a:br>
              <a:rPr lang="es-ES" sz="1400" dirty="0"/>
            </a:br>
            <a:br>
              <a:rPr lang="es-ES" sz="1400" dirty="0"/>
            </a:br>
            <a:r>
              <a:rPr lang="es-ES" sz="1000" dirty="0"/>
              <a:t>Argumento sacado del </a:t>
            </a:r>
            <a:r>
              <a:rPr lang="es-ES" sz="1000" dirty="0" err="1"/>
              <a:t>pdf</a:t>
            </a:r>
            <a:r>
              <a:rPr lang="es-ES" sz="1000" dirty="0"/>
              <a:t> adjuntado</a:t>
            </a:r>
          </a:p>
        </p:txBody>
      </p:sp>
      <p:sp>
        <p:nvSpPr>
          <p:cNvPr id="9" name="Flecha: hacia abajo 8">
            <a:extLst>
              <a:ext uri="{FF2B5EF4-FFF2-40B4-BE49-F238E27FC236}">
                <a16:creationId xmlns:a16="http://schemas.microsoft.com/office/drawing/2014/main" id="{23A73592-12DE-9327-F5ED-AA0BB6BE8F7C}"/>
              </a:ext>
            </a:extLst>
          </p:cNvPr>
          <p:cNvSpPr/>
          <p:nvPr/>
        </p:nvSpPr>
        <p:spPr>
          <a:xfrm rot="-9240000">
            <a:off x="6843562" y="2348564"/>
            <a:ext cx="1001027" cy="1212783"/>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 name="Rectángulo: esquinas redondeadas 9">
            <a:extLst>
              <a:ext uri="{FF2B5EF4-FFF2-40B4-BE49-F238E27FC236}">
                <a16:creationId xmlns:a16="http://schemas.microsoft.com/office/drawing/2014/main" id="{F3AA5CB8-6BA2-2ED3-5AF1-EF6F8750AE11}"/>
              </a:ext>
            </a:extLst>
          </p:cNvPr>
          <p:cNvSpPr/>
          <p:nvPr/>
        </p:nvSpPr>
        <p:spPr>
          <a:xfrm>
            <a:off x="5684007" y="3719388"/>
            <a:ext cx="1431367" cy="76412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dirty="0" err="1">
                <a:ln w="0"/>
                <a:solidFill>
                  <a:schemeClr val="tx1"/>
                </a:solidFill>
                <a:effectLst>
                  <a:outerShdw blurRad="38100" dist="19050" dir="2700000" algn="tl" rotWithShape="0">
                    <a:schemeClr val="dk1">
                      <a:alpha val="40000"/>
                    </a:schemeClr>
                  </a:outerShdw>
                </a:effectLst>
              </a:rPr>
              <a:t>pdf</a:t>
            </a:r>
            <a:endParaRPr lang="es-ES" dirty="0">
              <a:ln w="0"/>
              <a:solidFill>
                <a:schemeClr val="tx1"/>
              </a:solidFill>
              <a:effectLst>
                <a:outerShdw blurRad="38100" dist="19050" dir="2700000" algn="tl" rotWithShape="0">
                  <a:schemeClr val="dk1">
                    <a:alpha val="40000"/>
                  </a:schemeClr>
                </a:outerShdw>
              </a:effectLst>
            </a:endParaRPr>
          </a:p>
        </p:txBody>
      </p:sp>
      <p:sp>
        <p:nvSpPr>
          <p:cNvPr id="5" name="Elipse 4">
            <a:extLst>
              <a:ext uri="{FF2B5EF4-FFF2-40B4-BE49-F238E27FC236}">
                <a16:creationId xmlns:a16="http://schemas.microsoft.com/office/drawing/2014/main" id="{6A4D2D83-B154-2BE2-05C0-599E7DBDD80E}"/>
              </a:ext>
            </a:extLst>
          </p:cNvPr>
          <p:cNvSpPr/>
          <p:nvPr/>
        </p:nvSpPr>
        <p:spPr>
          <a:xfrm>
            <a:off x="556591" y="3429000"/>
            <a:ext cx="3737113" cy="2951922"/>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s-ES" sz="2800" b="1" u="sng">
                <a:hlinkClick r:id="rId5"/>
              </a:rPr>
              <a:t>https://lnkd.in/eKrzDmNA</a:t>
            </a:r>
            <a:endParaRPr lang="es-ES" sz="2800" dirty="0">
              <a:ln w="0"/>
              <a:solidFill>
                <a:schemeClr val="tx1"/>
              </a:solidFill>
              <a:effectLst>
                <a:outerShdw blurRad="38100" dist="19050" dir="2700000" algn="tl" rotWithShape="0">
                  <a:schemeClr val="dk1">
                    <a:alpha val="40000"/>
                  </a:schemeClr>
                </a:outerShdw>
              </a:effectLst>
            </a:endParaRPr>
          </a:p>
        </p:txBody>
      </p:sp>
      <p:sp>
        <p:nvSpPr>
          <p:cNvPr id="7" name="CuadroTexto 6">
            <a:extLst>
              <a:ext uri="{FF2B5EF4-FFF2-40B4-BE49-F238E27FC236}">
                <a16:creationId xmlns:a16="http://schemas.microsoft.com/office/drawing/2014/main" id="{E6833EC6-1CE1-EED3-B66F-D3593A4E1F1F}"/>
              </a:ext>
            </a:extLst>
          </p:cNvPr>
          <p:cNvSpPr txBox="1"/>
          <p:nvPr/>
        </p:nvSpPr>
        <p:spPr>
          <a:xfrm>
            <a:off x="-1198839" y="3916783"/>
            <a:ext cx="6882846" cy="369332"/>
          </a:xfrm>
          <a:prstGeom prst="rect">
            <a:avLst/>
          </a:prstGeom>
          <a:noFill/>
        </p:spPr>
        <p:txBody>
          <a:bodyPr wrap="square">
            <a:spAutoFit/>
          </a:bodyPr>
          <a:lstStyle/>
          <a:p>
            <a:pPr algn="ctr"/>
            <a:r>
              <a:rPr lang="es-ES" dirty="0">
                <a:ln w="0"/>
                <a:effectLst>
                  <a:outerShdw blurRad="38100" dist="19050" dir="2700000" algn="tl" rotWithShape="0">
                    <a:schemeClr val="dk1">
                      <a:alpha val="40000"/>
                    </a:schemeClr>
                  </a:outerShdw>
                </a:effectLst>
              </a:rPr>
              <a:t>Esta presentación</a:t>
            </a:r>
            <a:endParaRPr lang="es-ES"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3051401569"/>
      </p:ext>
    </p:extLst>
  </p:cSld>
  <p:clrMapOvr>
    <a:masterClrMapping/>
  </p:clrMapOvr>
  <mc:AlternateContent xmlns:mc="http://schemas.openxmlformats.org/markup-compatibility/2006" xmlns:p14="http://schemas.microsoft.com/office/powerpoint/2010/main">
    <mc:Choice Requires="p14">
      <p:transition spd="slow" p14:dur="2000" advTm="78302"/>
    </mc:Choice>
    <mc:Fallback xmlns="">
      <p:transition spd="slow" advTm="78302"/>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7D671C4-92D6-4B03-68FD-49581077E930}"/>
              </a:ext>
            </a:extLst>
          </p:cNvPr>
          <p:cNvSpPr>
            <a:spLocks noGrp="1"/>
          </p:cNvSpPr>
          <p:nvPr>
            <p:ph type="title"/>
          </p:nvPr>
        </p:nvSpPr>
        <p:spPr/>
        <p:txBody>
          <a:bodyPr/>
          <a:lstStyle/>
          <a:p>
            <a:r>
              <a:rPr lang="es-ES" dirty="0"/>
              <a:t>Sophie Germain .tasa de crecimiento</a:t>
            </a:r>
          </a:p>
        </p:txBody>
      </p:sp>
      <p:sp>
        <p:nvSpPr>
          <p:cNvPr id="3" name="Marcador de contenido 2">
            <a:extLst>
              <a:ext uri="{FF2B5EF4-FFF2-40B4-BE49-F238E27FC236}">
                <a16:creationId xmlns:a16="http://schemas.microsoft.com/office/drawing/2014/main" id="{7286A203-8FF6-B6BD-8976-FC45D7E51F41}"/>
              </a:ext>
            </a:extLst>
          </p:cNvPr>
          <p:cNvSpPr>
            <a:spLocks noGrp="1"/>
          </p:cNvSpPr>
          <p:nvPr>
            <p:ph idx="1"/>
          </p:nvPr>
        </p:nvSpPr>
        <p:spPr/>
        <p:txBody>
          <a:bodyPr>
            <a:normAutofit/>
          </a:bodyPr>
          <a:lstStyle/>
          <a:p>
            <a:pPr marL="0" indent="0">
              <a:buNone/>
            </a:pPr>
            <a:r>
              <a:rPr lang="es-ES" dirty="0"/>
              <a:t>Se proponen cuatro lenguajes: </a:t>
            </a:r>
            <a:br>
              <a:rPr lang="es-ES" dirty="0"/>
            </a:br>
            <a:r>
              <a:rPr lang="es-ES" sz="2800" dirty="0"/>
              <a:t>L1 </a:t>
            </a:r>
            <a:r>
              <a:rPr lang="es-ES" dirty="0"/>
              <a:t>como universo p=(6k-1):q,2p+1 </a:t>
            </a:r>
            <a:br>
              <a:rPr lang="es-ES" dirty="0"/>
            </a:br>
            <a:r>
              <a:rPr lang="es-ES" sz="2800" dirty="0" err="1"/>
              <a:t>Lsg</a:t>
            </a:r>
            <a:r>
              <a:rPr lang="es-ES" sz="2800" dirty="0"/>
              <a:t> </a:t>
            </a:r>
            <a:r>
              <a:rPr lang="es-ES" dirty="0"/>
              <a:t>como primos de </a:t>
            </a:r>
            <a:r>
              <a:rPr lang="es-ES" dirty="0" err="1"/>
              <a:t>Shopie</a:t>
            </a:r>
            <a:r>
              <a:rPr lang="es-ES" dirty="0"/>
              <a:t> </a:t>
            </a:r>
            <a:br>
              <a:rPr lang="es-ES" dirty="0"/>
            </a:br>
            <a:r>
              <a:rPr lang="es-ES" sz="2800" dirty="0"/>
              <a:t>L3</a:t>
            </a:r>
            <a:r>
              <a:rPr lang="es-ES" dirty="0"/>
              <a:t> como compuestos bajos de </a:t>
            </a:r>
            <a:r>
              <a:rPr lang="es-ES" dirty="0" err="1"/>
              <a:t>sophi</a:t>
            </a:r>
            <a:r>
              <a:rPr lang="es-ES" dirty="0"/>
              <a:t>. p=(6k-1)=(6j-1)(6l+1) </a:t>
            </a:r>
            <a:br>
              <a:rPr lang="es-ES" dirty="0"/>
            </a:br>
            <a:r>
              <a:rPr lang="es-ES" sz="2800" dirty="0"/>
              <a:t>L4 </a:t>
            </a:r>
            <a:r>
              <a:rPr lang="es-ES" dirty="0"/>
              <a:t>como compuestos altos de </a:t>
            </a:r>
            <a:r>
              <a:rPr lang="es-ES" dirty="0" err="1"/>
              <a:t>sophi</a:t>
            </a:r>
            <a:r>
              <a:rPr lang="es-ES" dirty="0"/>
              <a:t> 2p+1=(6k-1)=(6j-1)(6l+1) </a:t>
            </a:r>
            <a:br>
              <a:rPr lang="es-ES" dirty="0"/>
            </a:br>
            <a:r>
              <a:rPr lang="es-ES" sz="2800" dirty="0"/>
              <a:t>L2 </a:t>
            </a:r>
            <a:r>
              <a:rPr lang="es-ES" dirty="0"/>
              <a:t>como intersección de L4 y L3 L3\L4</a:t>
            </a:r>
          </a:p>
        </p:txBody>
      </p:sp>
      <p:pic>
        <p:nvPicPr>
          <p:cNvPr id="5" name="Imagen 4" descr="Imagen que contiene Icono&#10;&#10;El contenido generado por IA puede ser incorrecto.">
            <a:extLst>
              <a:ext uri="{FF2B5EF4-FFF2-40B4-BE49-F238E27FC236}">
                <a16:creationId xmlns:a16="http://schemas.microsoft.com/office/drawing/2014/main" id="{C1A45B43-83A3-EF20-81D4-757E4C76F4A9}"/>
              </a:ext>
            </a:extLst>
          </p:cNvPr>
          <p:cNvPicPr>
            <a:picLocks noChangeAspect="1"/>
          </p:cNvPicPr>
          <p:nvPr/>
        </p:nvPicPr>
        <p:blipFill>
          <a:blip r:embed="rId3"/>
          <a:stretch>
            <a:fillRect/>
          </a:stretch>
        </p:blipFill>
        <p:spPr>
          <a:xfrm>
            <a:off x="8303981" y="2153411"/>
            <a:ext cx="3313765" cy="3101983"/>
          </a:xfrm>
          <a:prstGeom prst="rect">
            <a:avLst/>
          </a:prstGeom>
        </p:spPr>
      </p:pic>
      <p:sp>
        <p:nvSpPr>
          <p:cNvPr id="6" name="Rectángulo 5">
            <a:extLst>
              <a:ext uri="{FF2B5EF4-FFF2-40B4-BE49-F238E27FC236}">
                <a16:creationId xmlns:a16="http://schemas.microsoft.com/office/drawing/2014/main" id="{096A02B9-213A-4D5D-086B-4FDCEBEB96EB}"/>
              </a:ext>
            </a:extLst>
          </p:cNvPr>
          <p:cNvSpPr/>
          <p:nvPr/>
        </p:nvSpPr>
        <p:spPr>
          <a:xfrm>
            <a:off x="3081179" y="5705663"/>
            <a:ext cx="4987455" cy="830997"/>
          </a:xfrm>
          <a:prstGeom prst="rect">
            <a:avLst/>
          </a:prstGeom>
          <a:noFill/>
        </p:spPr>
        <p:txBody>
          <a:bodyPr wrap="none" lIns="91440" tIns="45720" rIns="91440" bIns="45720">
            <a:spAutoFit/>
          </a:bodyPr>
          <a:lstStyle/>
          <a:p>
            <a:pPr algn="ctr"/>
            <a:r>
              <a:rPr lang="es-ES" sz="2400" b="0" cap="none" spc="0" dirty="0">
                <a:ln w="0"/>
                <a:solidFill>
                  <a:schemeClr val="tx1"/>
                </a:solidFill>
                <a:effectLst>
                  <a:outerShdw blurRad="38100" dist="19050" dir="2700000" algn="tl" rotWithShape="0">
                    <a:schemeClr val="dk1">
                      <a:alpha val="40000"/>
                    </a:schemeClr>
                  </a:outerShdw>
                </a:effectLst>
              </a:rPr>
              <a:t>Explicar bien los conjuntos luego toca </a:t>
            </a:r>
            <a:br>
              <a:rPr lang="es-ES" sz="2400" b="0" cap="none" spc="0" dirty="0">
                <a:ln w="0"/>
                <a:solidFill>
                  <a:schemeClr val="tx1"/>
                </a:solidFill>
                <a:effectLst>
                  <a:outerShdw blurRad="38100" dist="19050" dir="2700000" algn="tl" rotWithShape="0">
                    <a:schemeClr val="dk1">
                      <a:alpha val="40000"/>
                    </a:schemeClr>
                  </a:outerShdw>
                </a:effectLst>
              </a:rPr>
            </a:br>
            <a:r>
              <a:rPr lang="es-ES" sz="2400" b="0" cap="none" spc="0" dirty="0">
                <a:ln w="0"/>
                <a:solidFill>
                  <a:schemeClr val="tx1"/>
                </a:solidFill>
                <a:effectLst>
                  <a:outerShdw blurRad="38100" dist="19050" dir="2700000" algn="tl" rotWithShape="0">
                    <a:schemeClr val="dk1">
                      <a:alpha val="40000"/>
                    </a:schemeClr>
                  </a:outerShdw>
                </a:effectLst>
              </a:rPr>
              <a:t>principio inclusión exclusión</a:t>
            </a:r>
          </a:p>
        </p:txBody>
      </p:sp>
    </p:spTree>
    <p:extLst>
      <p:ext uri="{BB962C8B-B14F-4D97-AF65-F5344CB8AC3E}">
        <p14:creationId xmlns:p14="http://schemas.microsoft.com/office/powerpoint/2010/main" val="1433124972"/>
      </p:ext>
    </p:extLst>
  </p:cSld>
  <p:clrMapOvr>
    <a:masterClrMapping/>
  </p:clrMapOvr>
  <mc:AlternateContent xmlns:mc="http://schemas.openxmlformats.org/markup-compatibility/2006" xmlns:p14="http://schemas.microsoft.com/office/powerpoint/2010/main">
    <mc:Choice Requires="p14">
      <p:transition spd="slow" p14:dur="2000" advTm="79817"/>
    </mc:Choice>
    <mc:Fallback xmlns="">
      <p:transition spd="slow" advTm="79817"/>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941CE18-A30C-1872-0EEB-8A6561C50260}"/>
              </a:ext>
            </a:extLst>
          </p:cNvPr>
          <p:cNvSpPr>
            <a:spLocks noGrp="1"/>
          </p:cNvSpPr>
          <p:nvPr>
            <p:ph type="title"/>
          </p:nvPr>
        </p:nvSpPr>
        <p:spPr/>
        <p:txBody>
          <a:bodyPr/>
          <a:lstStyle/>
          <a:p>
            <a:r>
              <a:rPr lang="es-ES" dirty="0"/>
              <a:t>Sophie Germain</a:t>
            </a:r>
          </a:p>
        </p:txBody>
      </p:sp>
      <p:sp>
        <p:nvSpPr>
          <p:cNvPr id="3" name="Marcador de contenido 2">
            <a:extLst>
              <a:ext uri="{FF2B5EF4-FFF2-40B4-BE49-F238E27FC236}">
                <a16:creationId xmlns:a16="http://schemas.microsoft.com/office/drawing/2014/main" id="{1B7C9024-33CE-A441-69F9-6FA00DB396CF}"/>
              </a:ext>
            </a:extLst>
          </p:cNvPr>
          <p:cNvSpPr>
            <a:spLocks noGrp="1"/>
          </p:cNvSpPr>
          <p:nvPr>
            <p:ph idx="1"/>
          </p:nvPr>
        </p:nvSpPr>
        <p:spPr/>
        <p:txBody>
          <a:bodyPr>
            <a:normAutofit/>
          </a:bodyPr>
          <a:lstStyle/>
          <a:p>
            <a:pPr marL="0" indent="0">
              <a:buNone/>
            </a:pPr>
            <a:r>
              <a:rPr lang="es-ES" dirty="0" err="1"/>
              <a:t>Lsg</a:t>
            </a:r>
            <a:r>
              <a:rPr lang="es-ES" dirty="0"/>
              <a:t> U L3 U L4 = L1 </a:t>
            </a:r>
            <a:br>
              <a:rPr lang="es-ES" dirty="0"/>
            </a:br>
            <a:r>
              <a:rPr lang="es-ES" dirty="0"/>
              <a:t>L3/ L4=L2 </a:t>
            </a:r>
            <a:br>
              <a:rPr lang="es-ES" dirty="0"/>
            </a:br>
            <a:r>
              <a:rPr lang="es-ES" dirty="0" err="1"/>
              <a:t>Lsg</a:t>
            </a:r>
            <a:r>
              <a:rPr lang="es-ES" dirty="0"/>
              <a:t> U (L3/ L4 )={0}</a:t>
            </a:r>
            <a:br>
              <a:rPr lang="es-ES" dirty="0"/>
            </a:br>
            <a:r>
              <a:rPr lang="es-ES" dirty="0"/>
              <a:t> </a:t>
            </a:r>
            <a:br>
              <a:rPr lang="es-ES" dirty="0"/>
            </a:br>
            <a:r>
              <a:rPr lang="es-ES" sz="2800" dirty="0"/>
              <a:t>|L1|+|L2|-|L3|-|L4|=|</a:t>
            </a:r>
            <a:r>
              <a:rPr lang="es-ES" sz="2800" dirty="0" err="1"/>
              <a:t>Lsg</a:t>
            </a:r>
            <a:r>
              <a:rPr lang="es-ES" sz="2800" dirty="0"/>
              <a:t>| </a:t>
            </a:r>
            <a:br>
              <a:rPr lang="es-ES" dirty="0"/>
            </a:br>
            <a:r>
              <a:rPr lang="es-ES" dirty="0"/>
              <a:t>|L3 U L4|-|L3/ L4|+|</a:t>
            </a:r>
            <a:r>
              <a:rPr lang="es-ES" dirty="0" err="1"/>
              <a:t>Lsg</a:t>
            </a:r>
            <a:r>
              <a:rPr lang="es-ES" dirty="0"/>
              <a:t>|=|L1|</a:t>
            </a:r>
            <a:br>
              <a:rPr lang="es-ES" dirty="0"/>
            </a:br>
            <a:r>
              <a:rPr lang="es-ES" dirty="0"/>
              <a:t>|L4 U L3|-|L4/ L3|+|</a:t>
            </a:r>
            <a:r>
              <a:rPr lang="es-ES" dirty="0" err="1"/>
              <a:t>Lsg</a:t>
            </a:r>
            <a:r>
              <a:rPr lang="es-ES" dirty="0"/>
              <a:t>|=|L1| </a:t>
            </a:r>
            <a:br>
              <a:rPr lang="es-ES" dirty="0"/>
            </a:br>
            <a:endParaRPr lang="es-ES" dirty="0"/>
          </a:p>
        </p:txBody>
      </p:sp>
      <p:sp>
        <p:nvSpPr>
          <p:cNvPr id="4" name="Rectángulo 3">
            <a:extLst>
              <a:ext uri="{FF2B5EF4-FFF2-40B4-BE49-F238E27FC236}">
                <a16:creationId xmlns:a16="http://schemas.microsoft.com/office/drawing/2014/main" id="{87F2D805-BC5C-3539-B4A6-2B515D7FEF78}"/>
              </a:ext>
            </a:extLst>
          </p:cNvPr>
          <p:cNvSpPr/>
          <p:nvPr/>
        </p:nvSpPr>
        <p:spPr>
          <a:xfrm>
            <a:off x="3124112" y="5809160"/>
            <a:ext cx="5019580" cy="830997"/>
          </a:xfrm>
          <a:prstGeom prst="rect">
            <a:avLst/>
          </a:prstGeom>
          <a:noFill/>
        </p:spPr>
        <p:txBody>
          <a:bodyPr wrap="none" lIns="91440" tIns="45720" rIns="91440" bIns="45720">
            <a:spAutoFit/>
          </a:bodyPr>
          <a:lstStyle/>
          <a:p>
            <a:pPr algn="ctr"/>
            <a:r>
              <a:rPr lang="es-ES" sz="2400" dirty="0">
                <a:ln w="0"/>
                <a:effectLst>
                  <a:outerShdw blurRad="38100" dist="19050" dir="2700000" algn="tl" rotWithShape="0">
                    <a:schemeClr val="dk1">
                      <a:alpha val="40000"/>
                    </a:schemeClr>
                  </a:outerShdw>
                </a:effectLst>
              </a:rPr>
              <a:t>Explicar L2 disjunto </a:t>
            </a:r>
            <a:r>
              <a:rPr lang="es-ES" sz="2400" dirty="0" err="1">
                <a:ln w="0"/>
                <a:effectLst>
                  <a:outerShdw blurRad="38100" dist="19050" dir="2700000" algn="tl" rotWithShape="0">
                    <a:schemeClr val="dk1">
                      <a:alpha val="40000"/>
                    </a:schemeClr>
                  </a:outerShdw>
                </a:effectLst>
              </a:rPr>
              <a:t>Lsg</a:t>
            </a:r>
            <a:r>
              <a:rPr lang="es-ES" sz="2400" dirty="0">
                <a:ln w="0"/>
                <a:effectLst>
                  <a:outerShdw blurRad="38100" dist="19050" dir="2700000" algn="tl" rotWithShape="0">
                    <a:schemeClr val="dk1">
                      <a:alpha val="40000"/>
                    </a:schemeClr>
                  </a:outerShdw>
                </a:effectLst>
              </a:rPr>
              <a:t> </a:t>
            </a:r>
            <a:r>
              <a:rPr lang="es-ES" sz="2400" b="0" cap="none" spc="0" dirty="0">
                <a:ln w="0"/>
                <a:solidFill>
                  <a:schemeClr val="tx1"/>
                </a:solidFill>
                <a:effectLst>
                  <a:outerShdw blurRad="38100" dist="19050" dir="2700000" algn="tl" rotWithShape="0">
                    <a:schemeClr val="dk1">
                      <a:alpha val="40000"/>
                    </a:schemeClr>
                  </a:outerShdw>
                </a:effectLst>
              </a:rPr>
              <a:t>luego toca </a:t>
            </a:r>
            <a:br>
              <a:rPr lang="es-ES" sz="2400" b="0" cap="none" spc="0" dirty="0">
                <a:ln w="0"/>
                <a:solidFill>
                  <a:schemeClr val="tx1"/>
                </a:solidFill>
                <a:effectLst>
                  <a:outerShdw blurRad="38100" dist="19050" dir="2700000" algn="tl" rotWithShape="0">
                    <a:schemeClr val="dk1">
                      <a:alpha val="40000"/>
                    </a:schemeClr>
                  </a:outerShdw>
                </a:effectLst>
              </a:rPr>
            </a:br>
            <a:r>
              <a:rPr lang="es-ES" sz="2400" b="0" cap="none" spc="0" dirty="0">
                <a:ln w="0"/>
                <a:solidFill>
                  <a:schemeClr val="tx1"/>
                </a:solidFill>
                <a:effectLst>
                  <a:outerShdw blurRad="38100" dist="19050" dir="2700000" algn="tl" rotWithShape="0">
                    <a:schemeClr val="dk1">
                      <a:alpha val="40000"/>
                    </a:schemeClr>
                  </a:outerShdw>
                </a:effectLst>
              </a:rPr>
              <a:t>hacer crecer los conjuntos linealmente</a:t>
            </a:r>
          </a:p>
        </p:txBody>
      </p:sp>
      <p:pic>
        <p:nvPicPr>
          <p:cNvPr id="7" name="Imagen 6">
            <a:extLst>
              <a:ext uri="{FF2B5EF4-FFF2-40B4-BE49-F238E27FC236}">
                <a16:creationId xmlns:a16="http://schemas.microsoft.com/office/drawing/2014/main" id="{32C4BE5D-E7D5-EEE2-3821-E3AE1342137A}"/>
              </a:ext>
            </a:extLst>
          </p:cNvPr>
          <p:cNvPicPr>
            <a:picLocks noChangeAspect="1"/>
          </p:cNvPicPr>
          <p:nvPr/>
        </p:nvPicPr>
        <p:blipFill>
          <a:blip r:embed="rId3"/>
          <a:stretch>
            <a:fillRect/>
          </a:stretch>
        </p:blipFill>
        <p:spPr>
          <a:xfrm>
            <a:off x="8320894" y="2350208"/>
            <a:ext cx="3279939" cy="2967563"/>
          </a:xfrm>
          <a:prstGeom prst="rect">
            <a:avLst/>
          </a:prstGeom>
        </p:spPr>
      </p:pic>
    </p:spTree>
    <p:extLst>
      <p:ext uri="{BB962C8B-B14F-4D97-AF65-F5344CB8AC3E}">
        <p14:creationId xmlns:p14="http://schemas.microsoft.com/office/powerpoint/2010/main" val="2581979306"/>
      </p:ext>
    </p:extLst>
  </p:cSld>
  <p:clrMapOvr>
    <a:masterClrMapping/>
  </p:clrMapOvr>
  <mc:AlternateContent xmlns:mc="http://schemas.openxmlformats.org/markup-compatibility/2006" xmlns:p14="http://schemas.microsoft.com/office/powerpoint/2010/main">
    <mc:Choice Requires="p14">
      <p:transition spd="slow" p14:dur="2000" advTm="63665"/>
    </mc:Choice>
    <mc:Fallback xmlns="">
      <p:transition spd="slow" advTm="63665"/>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80A39C2-74AB-E976-EE1F-57C00845F169}"/>
              </a:ext>
            </a:extLst>
          </p:cNvPr>
          <p:cNvSpPr>
            <a:spLocks noGrp="1"/>
          </p:cNvSpPr>
          <p:nvPr>
            <p:ph type="title"/>
          </p:nvPr>
        </p:nvSpPr>
        <p:spPr/>
        <p:txBody>
          <a:bodyPr/>
          <a:lstStyle/>
          <a:p>
            <a:r>
              <a:rPr lang="es-ES" dirty="0"/>
              <a:t>Sophie Germain</a:t>
            </a:r>
          </a:p>
        </p:txBody>
      </p:sp>
      <p:sp>
        <p:nvSpPr>
          <p:cNvPr id="3" name="Marcador de contenido 2">
            <a:extLst>
              <a:ext uri="{FF2B5EF4-FFF2-40B4-BE49-F238E27FC236}">
                <a16:creationId xmlns:a16="http://schemas.microsoft.com/office/drawing/2014/main" id="{54441817-EE4B-4997-51ED-A0098B9ECD92}"/>
              </a:ext>
            </a:extLst>
          </p:cNvPr>
          <p:cNvSpPr>
            <a:spLocks noGrp="1"/>
          </p:cNvSpPr>
          <p:nvPr>
            <p:ph idx="1"/>
          </p:nvPr>
        </p:nvSpPr>
        <p:spPr/>
        <p:txBody>
          <a:bodyPr>
            <a:normAutofit/>
          </a:bodyPr>
          <a:lstStyle/>
          <a:p>
            <a:pPr marL="0" indent="0">
              <a:buNone/>
            </a:pPr>
            <a:r>
              <a:rPr lang="es-ES" dirty="0"/>
              <a:t>L1 crece 1/6 Positivos </a:t>
            </a:r>
            <a:br>
              <a:rPr lang="es-ES" dirty="0"/>
            </a:br>
            <a:r>
              <a:rPr lang="es-ES" dirty="0"/>
              <a:t>a|L1|=(</a:t>
            </a:r>
            <a:r>
              <a:rPr lang="es-ES" dirty="0" err="1"/>
              <a:t>b+c+d</a:t>
            </a:r>
            <a:r>
              <a:rPr lang="es-ES" dirty="0"/>
              <a:t>)|L3 U L4|-d |L3/ L4| + </a:t>
            </a:r>
            <a:r>
              <a:rPr lang="es-ES" dirty="0" err="1"/>
              <a:t>e|Lsg</a:t>
            </a:r>
            <a:r>
              <a:rPr lang="es-ES" dirty="0"/>
              <a:t>| </a:t>
            </a:r>
            <a:br>
              <a:rPr lang="es-ES" dirty="0"/>
            </a:br>
            <a:r>
              <a:rPr lang="es-ES" dirty="0"/>
              <a:t>A*a|L1|=B*(</a:t>
            </a:r>
            <a:r>
              <a:rPr lang="es-ES" dirty="0" err="1"/>
              <a:t>b+c+d</a:t>
            </a:r>
            <a:r>
              <a:rPr lang="es-ES" dirty="0"/>
              <a:t>)|L3 U L4|-C*d |L3/L4| + D*</a:t>
            </a:r>
            <a:r>
              <a:rPr lang="es-ES" dirty="0" err="1"/>
              <a:t>e|Lsg</a:t>
            </a:r>
            <a:r>
              <a:rPr lang="es-ES" dirty="0"/>
              <a:t>| </a:t>
            </a:r>
            <a:br>
              <a:rPr lang="es-ES" dirty="0"/>
            </a:br>
            <a:br>
              <a:rPr lang="es-ES" dirty="0"/>
            </a:br>
            <a:r>
              <a:rPr lang="es-ES" dirty="0"/>
              <a:t>Dividimos el crecimiento como Constante en universo L1</a:t>
            </a:r>
            <a:br>
              <a:rPr lang="es-ES" dirty="0"/>
            </a:br>
            <a:r>
              <a:rPr lang="es-ES" dirty="0"/>
              <a:t>Y le multiplicamos cardinalmente los elementos </a:t>
            </a:r>
            <a:br>
              <a:rPr lang="es-ES" dirty="0"/>
            </a:br>
            <a:br>
              <a:rPr lang="es-ES" dirty="0"/>
            </a:br>
            <a:r>
              <a:rPr lang="es-ES" dirty="0"/>
              <a:t>A*a 		B*(</a:t>
            </a:r>
            <a:r>
              <a:rPr lang="es-ES" dirty="0" err="1"/>
              <a:t>b+c+d</a:t>
            </a:r>
            <a:r>
              <a:rPr lang="es-ES" dirty="0"/>
              <a:t>)	 C*d	 	D*e</a:t>
            </a:r>
          </a:p>
        </p:txBody>
      </p:sp>
      <p:sp>
        <p:nvSpPr>
          <p:cNvPr id="4" name="Rectángulo 3">
            <a:extLst>
              <a:ext uri="{FF2B5EF4-FFF2-40B4-BE49-F238E27FC236}">
                <a16:creationId xmlns:a16="http://schemas.microsoft.com/office/drawing/2014/main" id="{29A78C41-A1C7-8EE5-14C6-4CFC92CF4940}"/>
              </a:ext>
            </a:extLst>
          </p:cNvPr>
          <p:cNvSpPr/>
          <p:nvPr/>
        </p:nvSpPr>
        <p:spPr>
          <a:xfrm>
            <a:off x="2985419" y="5809160"/>
            <a:ext cx="5296964" cy="830997"/>
          </a:xfrm>
          <a:prstGeom prst="rect">
            <a:avLst/>
          </a:prstGeom>
          <a:noFill/>
        </p:spPr>
        <p:txBody>
          <a:bodyPr wrap="none" lIns="91440" tIns="45720" rIns="91440" bIns="45720">
            <a:spAutoFit/>
          </a:bodyPr>
          <a:lstStyle/>
          <a:p>
            <a:pPr algn="ctr"/>
            <a:r>
              <a:rPr lang="es-ES" sz="2400" b="0" cap="none" spc="0" dirty="0">
                <a:ln w="0"/>
                <a:solidFill>
                  <a:schemeClr val="tx1"/>
                </a:solidFill>
                <a:effectLst>
                  <a:outerShdw blurRad="38100" dist="19050" dir="2700000" algn="tl" rotWithShape="0">
                    <a:schemeClr val="dk1">
                      <a:alpha val="40000"/>
                    </a:schemeClr>
                  </a:outerShdw>
                </a:effectLst>
              </a:rPr>
              <a:t>Entender los aumentos cardinales luego  </a:t>
            </a:r>
            <a:br>
              <a:rPr lang="es-ES" sz="2400" b="0" cap="none" spc="0" dirty="0">
                <a:ln w="0"/>
                <a:solidFill>
                  <a:schemeClr val="tx1"/>
                </a:solidFill>
                <a:effectLst>
                  <a:outerShdw blurRad="38100" dist="19050" dir="2700000" algn="tl" rotWithShape="0">
                    <a:schemeClr val="dk1">
                      <a:alpha val="40000"/>
                    </a:schemeClr>
                  </a:outerShdw>
                </a:effectLst>
              </a:rPr>
            </a:br>
            <a:r>
              <a:rPr lang="es-ES" sz="2400" b="0" cap="none" spc="0" dirty="0">
                <a:ln w="0"/>
                <a:solidFill>
                  <a:schemeClr val="tx1"/>
                </a:solidFill>
                <a:effectLst>
                  <a:outerShdw blurRad="38100" dist="19050" dir="2700000" algn="tl" rotWithShape="0">
                    <a:schemeClr val="dk1">
                      <a:alpha val="40000"/>
                    </a:schemeClr>
                  </a:outerShdw>
                </a:effectLst>
              </a:rPr>
              <a:t>es parecido pero más difícil</a:t>
            </a:r>
          </a:p>
        </p:txBody>
      </p:sp>
      <p:pic>
        <p:nvPicPr>
          <p:cNvPr id="7" name="Imagen 6" descr="Una caricatura de una persona&#10;&#10;El contenido generado por IA puede ser incorrecto.">
            <a:extLst>
              <a:ext uri="{FF2B5EF4-FFF2-40B4-BE49-F238E27FC236}">
                <a16:creationId xmlns:a16="http://schemas.microsoft.com/office/drawing/2014/main" id="{272BE436-55C8-5DA1-634D-F4AEA33BECB1}"/>
              </a:ext>
            </a:extLst>
          </p:cNvPr>
          <p:cNvPicPr>
            <a:picLocks noChangeAspect="1"/>
          </p:cNvPicPr>
          <p:nvPr/>
        </p:nvPicPr>
        <p:blipFill>
          <a:blip r:embed="rId3"/>
          <a:stretch>
            <a:fillRect/>
          </a:stretch>
        </p:blipFill>
        <p:spPr>
          <a:xfrm>
            <a:off x="8369967" y="2059325"/>
            <a:ext cx="3181794" cy="2476846"/>
          </a:xfrm>
          <a:prstGeom prst="rect">
            <a:avLst/>
          </a:prstGeom>
        </p:spPr>
      </p:pic>
    </p:spTree>
    <p:extLst>
      <p:ext uri="{BB962C8B-B14F-4D97-AF65-F5344CB8AC3E}">
        <p14:creationId xmlns:p14="http://schemas.microsoft.com/office/powerpoint/2010/main" val="871364682"/>
      </p:ext>
    </p:extLst>
  </p:cSld>
  <p:clrMapOvr>
    <a:masterClrMapping/>
  </p:clrMapOvr>
  <mc:AlternateContent xmlns:mc="http://schemas.openxmlformats.org/markup-compatibility/2006" xmlns:p14="http://schemas.microsoft.com/office/powerpoint/2010/main">
    <mc:Choice Requires="p14">
      <p:transition spd="slow" p14:dur="2000" advTm="58745"/>
    </mc:Choice>
    <mc:Fallback xmlns="">
      <p:transition spd="slow" advTm="58745"/>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5C5D51E-7228-F066-6502-DFD28C9805F5}"/>
              </a:ext>
            </a:extLst>
          </p:cNvPr>
          <p:cNvSpPr>
            <a:spLocks noGrp="1"/>
          </p:cNvSpPr>
          <p:nvPr>
            <p:ph type="title"/>
          </p:nvPr>
        </p:nvSpPr>
        <p:spPr/>
        <p:txBody>
          <a:bodyPr/>
          <a:lstStyle/>
          <a:p>
            <a:r>
              <a:rPr lang="es-ES" dirty="0"/>
              <a:t>Sophie </a:t>
            </a:r>
            <a:r>
              <a:rPr lang="es-ES" dirty="0" err="1"/>
              <a:t>germain</a:t>
            </a:r>
            <a:endParaRPr lang="es-ES" dirty="0"/>
          </a:p>
        </p:txBody>
      </p:sp>
      <p:sp>
        <p:nvSpPr>
          <p:cNvPr id="3" name="Marcador de contenido 2">
            <a:extLst>
              <a:ext uri="{FF2B5EF4-FFF2-40B4-BE49-F238E27FC236}">
                <a16:creationId xmlns:a16="http://schemas.microsoft.com/office/drawing/2014/main" id="{EF5456E0-D72C-1F74-4EA6-D08157AF2480}"/>
              </a:ext>
            </a:extLst>
          </p:cNvPr>
          <p:cNvSpPr>
            <a:spLocks noGrp="1"/>
          </p:cNvSpPr>
          <p:nvPr>
            <p:ph idx="1"/>
          </p:nvPr>
        </p:nvSpPr>
        <p:spPr/>
        <p:txBody>
          <a:bodyPr>
            <a:normAutofit fontScale="85000" lnSpcReduction="20000"/>
          </a:bodyPr>
          <a:lstStyle/>
          <a:p>
            <a:pPr marL="0" indent="0">
              <a:buNone/>
            </a:pPr>
            <a:r>
              <a:rPr lang="es-ES" dirty="0"/>
              <a:t>(A-ç)a|L1|=(B-s)((</a:t>
            </a:r>
            <a:r>
              <a:rPr lang="es-ES" dirty="0" err="1"/>
              <a:t>b+c+d</a:t>
            </a:r>
            <a:r>
              <a:rPr lang="es-ES" dirty="0"/>
              <a:t>)|L3 U L4|-(C-ñ)d |L3/ L4|) + (D-z)</a:t>
            </a:r>
            <a:r>
              <a:rPr lang="es-ES" dirty="0" err="1"/>
              <a:t>e|Lsg</a:t>
            </a:r>
            <a:r>
              <a:rPr lang="es-ES" dirty="0"/>
              <a:t>| </a:t>
            </a:r>
            <a:br>
              <a:rPr lang="es-ES" dirty="0"/>
            </a:br>
            <a:r>
              <a:rPr lang="es-ES" dirty="0"/>
              <a:t>Si os paramos a mirar las cantidades de los elementos un poco antes. </a:t>
            </a:r>
            <a:br>
              <a:rPr lang="es-ES" dirty="0"/>
            </a:br>
            <a:r>
              <a:rPr lang="es-ES" dirty="0"/>
              <a:t>implicación de crecimiento</a:t>
            </a:r>
            <a:br>
              <a:rPr lang="es-ES" dirty="0"/>
            </a:br>
            <a:r>
              <a:rPr lang="es-ES" dirty="0" err="1"/>
              <a:t>ç→z</a:t>
            </a:r>
            <a:r>
              <a:rPr lang="es-ES" dirty="0"/>
              <a:t>, ñ, s </a:t>
            </a:r>
            <a:br>
              <a:rPr lang="es-ES" dirty="0"/>
            </a:br>
            <a:br>
              <a:rPr lang="es-ES" dirty="0"/>
            </a:br>
            <a:r>
              <a:rPr lang="es-ES" dirty="0"/>
              <a:t>Visto de una forma equivalente </a:t>
            </a:r>
            <a:br>
              <a:rPr lang="es-ES" dirty="0"/>
            </a:br>
            <a:r>
              <a:rPr lang="es-ES" dirty="0"/>
              <a:t>(A-ç)|L1| - (B-s)|L3 U L4| = (D-z)|</a:t>
            </a:r>
            <a:r>
              <a:rPr lang="es-ES" dirty="0" err="1"/>
              <a:t>Lsg</a:t>
            </a:r>
            <a:r>
              <a:rPr lang="es-ES" dirty="0"/>
              <a:t>| - (C-€)|L3/ L4|</a:t>
            </a:r>
            <a:br>
              <a:rPr lang="es-ES" dirty="0"/>
            </a:br>
            <a:r>
              <a:rPr lang="es-ES" dirty="0"/>
              <a:t>implicación de crecimiento </a:t>
            </a:r>
            <a:br>
              <a:rPr lang="es-ES" dirty="0"/>
            </a:br>
            <a:r>
              <a:rPr lang="es-ES" dirty="0"/>
              <a:t>s, ñ→€ </a:t>
            </a:r>
            <a:br>
              <a:rPr lang="es-ES" dirty="0"/>
            </a:br>
            <a:r>
              <a:rPr lang="es-ES" dirty="0" err="1"/>
              <a:t>ç→z</a:t>
            </a:r>
            <a:r>
              <a:rPr lang="es-ES" dirty="0"/>
              <a:t>, € </a:t>
            </a:r>
            <a:br>
              <a:rPr lang="es-ES" dirty="0"/>
            </a:br>
            <a:br>
              <a:rPr lang="es-ES" dirty="0"/>
            </a:br>
            <a:r>
              <a:rPr lang="es-ES" dirty="0" err="1"/>
              <a:t>Hipotesis</a:t>
            </a:r>
            <a:r>
              <a:rPr lang="es-ES" dirty="0"/>
              <a:t> cierta L1 tiende a infinito.</a:t>
            </a:r>
            <a:br>
              <a:rPr lang="es-ES" dirty="0"/>
            </a:br>
            <a:r>
              <a:rPr lang="es-ES" dirty="0"/>
              <a:t>infinito(A-ç) -(B-s)→ </a:t>
            </a:r>
            <a:br>
              <a:rPr lang="es-ES" dirty="0"/>
            </a:br>
            <a:r>
              <a:rPr lang="es-ES" dirty="0"/>
              <a:t>opción 1 </a:t>
            </a:r>
            <a:r>
              <a:rPr lang="es-ES" dirty="0" err="1"/>
              <a:t>lsg</a:t>
            </a:r>
            <a:r>
              <a:rPr lang="es-ES" dirty="0"/>
              <a:t> es infinito			1. Infinito(D-z)-infinito(C-€) </a:t>
            </a:r>
            <a:br>
              <a:rPr lang="es-ES" dirty="0"/>
            </a:br>
            <a:r>
              <a:rPr lang="es-ES" dirty="0"/>
              <a:t>opción 2 </a:t>
            </a:r>
            <a:r>
              <a:rPr lang="es-ES" dirty="0" err="1"/>
              <a:t>lsg</a:t>
            </a:r>
            <a:r>
              <a:rPr lang="es-ES" dirty="0"/>
              <a:t> tiende a una constante		2. </a:t>
            </a:r>
            <a:r>
              <a:rPr lang="es-ES" dirty="0" err="1"/>
              <a:t>cte</a:t>
            </a:r>
            <a:r>
              <a:rPr lang="es-ES" dirty="0"/>
              <a:t>-infinito(C-€)</a:t>
            </a:r>
          </a:p>
        </p:txBody>
      </p:sp>
      <p:sp>
        <p:nvSpPr>
          <p:cNvPr id="4" name="Rectángulo 3">
            <a:extLst>
              <a:ext uri="{FF2B5EF4-FFF2-40B4-BE49-F238E27FC236}">
                <a16:creationId xmlns:a16="http://schemas.microsoft.com/office/drawing/2014/main" id="{9B5C503F-A00D-8C58-32BA-B54DEC994B51}"/>
              </a:ext>
            </a:extLst>
          </p:cNvPr>
          <p:cNvSpPr/>
          <p:nvPr/>
        </p:nvSpPr>
        <p:spPr>
          <a:xfrm>
            <a:off x="2460476" y="5809160"/>
            <a:ext cx="6346866" cy="830997"/>
          </a:xfrm>
          <a:prstGeom prst="rect">
            <a:avLst/>
          </a:prstGeom>
          <a:noFill/>
        </p:spPr>
        <p:txBody>
          <a:bodyPr wrap="none" lIns="91440" tIns="45720" rIns="91440" bIns="45720">
            <a:spAutoFit/>
          </a:bodyPr>
          <a:lstStyle/>
          <a:p>
            <a:pPr algn="ctr"/>
            <a:r>
              <a:rPr lang="es-ES" sz="2400" b="0" cap="none" spc="0" dirty="0">
                <a:ln w="0"/>
                <a:solidFill>
                  <a:schemeClr val="tx1"/>
                </a:solidFill>
                <a:effectLst>
                  <a:outerShdw blurRad="38100" dist="19050" dir="2700000" algn="tl" rotWithShape="0">
                    <a:schemeClr val="dk1">
                      <a:alpha val="40000"/>
                    </a:schemeClr>
                  </a:outerShdw>
                </a:effectLst>
              </a:rPr>
              <a:t>Una vez entendidos los aumentos e implicaciones</a:t>
            </a:r>
            <a:br>
              <a:rPr lang="es-ES" sz="2400" b="0" cap="none" spc="0" dirty="0">
                <a:ln w="0"/>
                <a:solidFill>
                  <a:schemeClr val="tx1"/>
                </a:solidFill>
                <a:effectLst>
                  <a:outerShdw blurRad="38100" dist="19050" dir="2700000" algn="tl" rotWithShape="0">
                    <a:schemeClr val="dk1">
                      <a:alpha val="40000"/>
                    </a:schemeClr>
                  </a:outerShdw>
                </a:effectLst>
              </a:rPr>
            </a:br>
            <a:r>
              <a:rPr lang="es-ES" sz="2400" b="0" cap="none" spc="0" dirty="0">
                <a:ln w="0"/>
                <a:solidFill>
                  <a:schemeClr val="tx1"/>
                </a:solidFill>
                <a:effectLst>
                  <a:outerShdw blurRad="38100" dist="19050" dir="2700000" algn="tl" rotWithShape="0">
                    <a:schemeClr val="dk1">
                      <a:alpha val="40000"/>
                    </a:schemeClr>
                  </a:outerShdw>
                </a:effectLst>
              </a:rPr>
              <a:t>asimilar la hipótesis y las dos suposiciones. Elegid.</a:t>
            </a:r>
          </a:p>
        </p:txBody>
      </p:sp>
      <p:pic>
        <p:nvPicPr>
          <p:cNvPr id="7" name="Imagen 6" descr="Imagen que contiene objeto, reloj&#10;&#10;El contenido generado por IA puede ser incorrecto.">
            <a:extLst>
              <a:ext uri="{FF2B5EF4-FFF2-40B4-BE49-F238E27FC236}">
                <a16:creationId xmlns:a16="http://schemas.microsoft.com/office/drawing/2014/main" id="{E260C41C-0B69-62DF-6CEE-428F0B869AE7}"/>
              </a:ext>
            </a:extLst>
          </p:cNvPr>
          <p:cNvPicPr>
            <a:picLocks noChangeAspect="1"/>
          </p:cNvPicPr>
          <p:nvPr/>
        </p:nvPicPr>
        <p:blipFill>
          <a:blip r:embed="rId3"/>
          <a:stretch>
            <a:fillRect/>
          </a:stretch>
        </p:blipFill>
        <p:spPr>
          <a:xfrm>
            <a:off x="7811925" y="2354207"/>
            <a:ext cx="3286584" cy="2476846"/>
          </a:xfrm>
          <a:prstGeom prst="rect">
            <a:avLst/>
          </a:prstGeom>
        </p:spPr>
      </p:pic>
    </p:spTree>
    <p:extLst>
      <p:ext uri="{BB962C8B-B14F-4D97-AF65-F5344CB8AC3E}">
        <p14:creationId xmlns:p14="http://schemas.microsoft.com/office/powerpoint/2010/main" val="306075857"/>
      </p:ext>
    </p:extLst>
  </p:cSld>
  <p:clrMapOvr>
    <a:masterClrMapping/>
  </p:clrMapOvr>
  <mc:AlternateContent xmlns:mc="http://schemas.openxmlformats.org/markup-compatibility/2006" xmlns:p14="http://schemas.microsoft.com/office/powerpoint/2010/main">
    <mc:Choice Requires="p14">
      <p:transition spd="slow" p14:dur="2000" advTm="40921"/>
    </mc:Choice>
    <mc:Fallback xmlns="">
      <p:transition spd="slow" advTm="40921"/>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C98A145-457E-5936-24E0-478899B7D473}"/>
              </a:ext>
            </a:extLst>
          </p:cNvPr>
          <p:cNvSpPr>
            <a:spLocks noGrp="1"/>
          </p:cNvSpPr>
          <p:nvPr>
            <p:ph type="title"/>
          </p:nvPr>
        </p:nvSpPr>
        <p:spPr/>
        <p:txBody>
          <a:bodyPr/>
          <a:lstStyle/>
          <a:p>
            <a:r>
              <a:rPr lang="es-ES" dirty="0"/>
              <a:t>Sophie </a:t>
            </a:r>
            <a:r>
              <a:rPr lang="es-ES" dirty="0" err="1"/>
              <a:t>germain</a:t>
            </a:r>
            <a:endParaRPr lang="es-ES" dirty="0"/>
          </a:p>
        </p:txBody>
      </p:sp>
      <p:sp>
        <p:nvSpPr>
          <p:cNvPr id="3" name="Marcador de contenido 2">
            <a:extLst>
              <a:ext uri="{FF2B5EF4-FFF2-40B4-BE49-F238E27FC236}">
                <a16:creationId xmlns:a16="http://schemas.microsoft.com/office/drawing/2014/main" id="{8C4847CA-BA10-3CD0-F8D5-2A2AC9BE3A08}"/>
              </a:ext>
            </a:extLst>
          </p:cNvPr>
          <p:cNvSpPr>
            <a:spLocks noGrp="1"/>
          </p:cNvSpPr>
          <p:nvPr>
            <p:ph idx="1"/>
          </p:nvPr>
        </p:nvSpPr>
        <p:spPr>
          <a:xfrm>
            <a:off x="2473693" y="3166712"/>
            <a:ext cx="7419794" cy="3088868"/>
          </a:xfrm>
        </p:spPr>
        <p:txBody>
          <a:bodyPr/>
          <a:lstStyle/>
          <a:p>
            <a:pPr marL="0" indent="0">
              <a:buNone/>
            </a:pPr>
            <a:r>
              <a:rPr lang="es-ES" dirty="0"/>
              <a:t>	</a:t>
            </a:r>
            <a:br>
              <a:rPr lang="es-ES" dirty="0"/>
            </a:br>
            <a:br>
              <a:rPr lang="es-ES" dirty="0"/>
            </a:br>
            <a:r>
              <a:rPr lang="es-ES" dirty="0" err="1"/>
              <a:t>Hipotesis</a:t>
            </a:r>
            <a:r>
              <a:rPr lang="es-ES" dirty="0"/>
              <a:t> cierta L1 tiende a infinito.</a:t>
            </a:r>
            <a:br>
              <a:rPr lang="es-ES" dirty="0"/>
            </a:br>
            <a:r>
              <a:rPr lang="es-ES" dirty="0"/>
              <a:t>infinito(1-ç) -(1-s)→ </a:t>
            </a:r>
            <a:br>
              <a:rPr lang="es-ES" dirty="0"/>
            </a:br>
            <a:r>
              <a:rPr lang="es-ES" dirty="0"/>
              <a:t>opción 1 </a:t>
            </a:r>
            <a:r>
              <a:rPr lang="es-ES" dirty="0" err="1"/>
              <a:t>lsg</a:t>
            </a:r>
            <a:r>
              <a:rPr lang="es-ES" dirty="0"/>
              <a:t> es infinito			1. Infinito(1-z)-infinito(1-€) </a:t>
            </a:r>
            <a:br>
              <a:rPr lang="es-ES" dirty="0"/>
            </a:br>
            <a:r>
              <a:rPr lang="es-ES" dirty="0"/>
              <a:t>opción 2 </a:t>
            </a:r>
            <a:r>
              <a:rPr lang="es-ES" dirty="0" err="1"/>
              <a:t>lsg</a:t>
            </a:r>
            <a:r>
              <a:rPr lang="es-ES" dirty="0"/>
              <a:t> tiende a una constante		2. </a:t>
            </a:r>
            <a:r>
              <a:rPr lang="es-ES" dirty="0" err="1"/>
              <a:t>cte</a:t>
            </a:r>
            <a:r>
              <a:rPr lang="es-ES" dirty="0"/>
              <a:t>-infinito(1-€) </a:t>
            </a:r>
            <a:br>
              <a:rPr lang="es-ES" dirty="0"/>
            </a:br>
            <a:br>
              <a:rPr lang="es-ES" dirty="0"/>
            </a:br>
            <a:r>
              <a:rPr lang="es-ES" sz="800" dirty="0"/>
              <a:t>dado que “2.” Es una contradicción, la talla de </a:t>
            </a:r>
            <a:r>
              <a:rPr lang="es-ES" sz="800" dirty="0" err="1"/>
              <a:t>Lsg</a:t>
            </a:r>
            <a:r>
              <a:rPr lang="es-ES" sz="800" dirty="0"/>
              <a:t> se relaciona con la de L1 que tiende a infinito.</a:t>
            </a:r>
          </a:p>
        </p:txBody>
      </p:sp>
      <p:sp>
        <p:nvSpPr>
          <p:cNvPr id="6" name="Rectángulo 5">
            <a:extLst>
              <a:ext uri="{FF2B5EF4-FFF2-40B4-BE49-F238E27FC236}">
                <a16:creationId xmlns:a16="http://schemas.microsoft.com/office/drawing/2014/main" id="{1DD98A6B-2BF2-3825-F09B-A8E19C2F4D57}"/>
              </a:ext>
            </a:extLst>
          </p:cNvPr>
          <p:cNvSpPr/>
          <p:nvPr/>
        </p:nvSpPr>
        <p:spPr>
          <a:xfrm>
            <a:off x="3267390" y="5431643"/>
            <a:ext cx="4867807" cy="461665"/>
          </a:xfrm>
          <a:prstGeom prst="rect">
            <a:avLst/>
          </a:prstGeom>
          <a:noFill/>
        </p:spPr>
        <p:txBody>
          <a:bodyPr wrap="none" lIns="91440" tIns="45720" rIns="91440" bIns="45720">
            <a:spAutoFit/>
          </a:bodyPr>
          <a:lstStyle/>
          <a:p>
            <a:pPr algn="ctr"/>
            <a:r>
              <a:rPr lang="es-ES" sz="2400" b="0" cap="none" spc="0" dirty="0">
                <a:ln w="0"/>
                <a:solidFill>
                  <a:schemeClr val="tx1"/>
                </a:solidFill>
                <a:effectLst>
                  <a:outerShdw blurRad="38100" dist="19050" dir="2700000" algn="tl" rotWithShape="0">
                    <a:schemeClr val="dk1">
                      <a:alpha val="40000"/>
                    </a:schemeClr>
                  </a:outerShdw>
                </a:effectLst>
              </a:rPr>
              <a:t>¿Cuál y porqué es la opción correcta?</a:t>
            </a:r>
          </a:p>
        </p:txBody>
      </p:sp>
      <p:pic>
        <p:nvPicPr>
          <p:cNvPr id="8" name="Imagen 7" descr="Forma, Flecha&#10;&#10;El contenido generado por IA puede ser incorrecto.">
            <a:extLst>
              <a:ext uri="{FF2B5EF4-FFF2-40B4-BE49-F238E27FC236}">
                <a16:creationId xmlns:a16="http://schemas.microsoft.com/office/drawing/2014/main" id="{C1C17489-A68D-9685-83FA-16239E5B7CA6}"/>
              </a:ext>
            </a:extLst>
          </p:cNvPr>
          <p:cNvPicPr>
            <a:picLocks noChangeAspect="1"/>
          </p:cNvPicPr>
          <p:nvPr/>
        </p:nvPicPr>
        <p:blipFill>
          <a:blip r:embed="rId2"/>
          <a:stretch>
            <a:fillRect/>
          </a:stretch>
        </p:blipFill>
        <p:spPr>
          <a:xfrm>
            <a:off x="2298513" y="2153412"/>
            <a:ext cx="2981741" cy="1648055"/>
          </a:xfrm>
          <a:prstGeom prst="rect">
            <a:avLst/>
          </a:prstGeom>
        </p:spPr>
      </p:pic>
      <p:pic>
        <p:nvPicPr>
          <p:cNvPr id="12" name="Imagen 11">
            <a:extLst>
              <a:ext uri="{FF2B5EF4-FFF2-40B4-BE49-F238E27FC236}">
                <a16:creationId xmlns:a16="http://schemas.microsoft.com/office/drawing/2014/main" id="{54A57CAF-9356-E4EA-8B96-495FD6702917}"/>
              </a:ext>
            </a:extLst>
          </p:cNvPr>
          <p:cNvPicPr>
            <a:picLocks noChangeAspect="1"/>
          </p:cNvPicPr>
          <p:nvPr/>
        </p:nvPicPr>
        <p:blipFill>
          <a:blip r:embed="rId3"/>
          <a:stretch>
            <a:fillRect/>
          </a:stretch>
        </p:blipFill>
        <p:spPr>
          <a:xfrm>
            <a:off x="9787570" y="4783756"/>
            <a:ext cx="2404430" cy="2074244"/>
          </a:xfrm>
          <a:prstGeom prst="rect">
            <a:avLst/>
          </a:prstGeom>
        </p:spPr>
      </p:pic>
    </p:spTree>
    <p:extLst>
      <p:ext uri="{BB962C8B-B14F-4D97-AF65-F5344CB8AC3E}">
        <p14:creationId xmlns:p14="http://schemas.microsoft.com/office/powerpoint/2010/main" val="4273638322"/>
      </p:ext>
    </p:extLst>
  </p:cSld>
  <p:clrMapOvr>
    <a:masterClrMapping/>
  </p:clrMapOvr>
</p:sld>
</file>

<file path=ppt/theme/theme1.xml><?xml version="1.0" encoding="utf-8"?>
<a:theme xmlns:a="http://schemas.openxmlformats.org/drawingml/2006/main" name="Paquete">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rcel">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4DB32801-28C0-48B0-8C1D-A9A58613615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activity xmlns="a46a7445-82ee-40df-a83c-62f273469f7c"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o" ma:contentTypeID="0x0101009B309ACFEB4D034DA5EB55AE6F8DA97C" ma:contentTypeVersion="18" ma:contentTypeDescription="Crear nuevo documento." ma:contentTypeScope="" ma:versionID="021d8f49a25c76b95056eab90e275cef">
  <xsd:schema xmlns:xsd="http://www.w3.org/2001/XMLSchema" xmlns:xs="http://www.w3.org/2001/XMLSchema" xmlns:p="http://schemas.microsoft.com/office/2006/metadata/properties" xmlns:ns3="a46a7445-82ee-40df-a83c-62f273469f7c" xmlns:ns4="17d02ba8-f281-4b49-9601-a0164d4f73dc" targetNamespace="http://schemas.microsoft.com/office/2006/metadata/properties" ma:root="true" ma:fieldsID="68135f6234de9fa7ef78ebcf0ddc59eb" ns3:_="" ns4:_="">
    <xsd:import namespace="a46a7445-82ee-40df-a83c-62f273469f7c"/>
    <xsd:import namespace="17d02ba8-f281-4b49-9601-a0164d4f73dc"/>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OCR" minOccurs="0"/>
                <xsd:element ref="ns3:MediaServiceGenerationTime" minOccurs="0"/>
                <xsd:element ref="ns3:MediaServiceEventHashCode" minOccurs="0"/>
                <xsd:element ref="ns3:MediaServiceDateTaken" minOccurs="0"/>
                <xsd:element ref="ns3:MediaServiceLocation" minOccurs="0"/>
                <xsd:element ref="ns4:SharedWithUsers" minOccurs="0"/>
                <xsd:element ref="ns4:SharedWithDetails" minOccurs="0"/>
                <xsd:element ref="ns4:SharingHintHash" minOccurs="0"/>
                <xsd:element ref="ns3:MediaServiceAutoKeyPoints" minOccurs="0"/>
                <xsd:element ref="ns3:MediaServiceKeyPoints" minOccurs="0"/>
                <xsd:element ref="ns3:MediaLengthInSeconds" minOccurs="0"/>
                <xsd:element ref="ns3:MediaServiceSearchProperties" minOccurs="0"/>
                <xsd:element ref="ns3:_activity" minOccurs="0"/>
                <xsd:element ref="ns3:MediaServiceObjectDetectorVersions" minOccurs="0"/>
                <xsd:element ref="ns3: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46a7445-82ee-40df-a83c-62f273469f7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DateTaken" ma:index="14" nillable="true" ma:displayName="MediaServiceDateTaken" ma:description="" ma:hidden="true" ma:indexed="true" ma:internalName="MediaServiceDateTaken" ma:readOnly="true">
      <xsd:simpleType>
        <xsd:restriction base="dms:Text"/>
      </xsd:simpleType>
    </xsd:element>
    <xsd:element name="MediaServiceLocation" ma:index="15" nillable="true" ma:displayName="Location" ma:description="" ma:indexed="true" ma:internalName="MediaServiceLocation" ma:readOnly="true">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LengthInSeconds" ma:index="21" nillable="true" ma:displayName="Length (seconds)" ma:internalName="MediaLengthInSeconds" ma:readOnly="true">
      <xsd:simpleType>
        <xsd:restriction base="dms:Unknown"/>
      </xsd:simpleType>
    </xsd:element>
    <xsd:element name="MediaServiceSearchProperties" ma:index="22" nillable="true" ma:displayName="MediaServiceSearchProperties" ma:hidden="true" ma:internalName="MediaServiceSearchProperties" ma:readOnly="true">
      <xsd:simpleType>
        <xsd:restriction base="dms:Note"/>
      </xsd:simpleType>
    </xsd:element>
    <xsd:element name="_activity" ma:index="23" nillable="true" ma:displayName="_activity" ma:hidden="true" ma:internalName="_activity">
      <xsd:simpleType>
        <xsd:restriction base="dms:Note"/>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ystemTags" ma:index="25"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7d02ba8-f281-4b49-9601-a0164d4f73dc" elementFormDefault="qualified">
    <xsd:import namespace="http://schemas.microsoft.com/office/2006/documentManagement/types"/>
    <xsd:import namespace="http://schemas.microsoft.com/office/infopath/2007/PartnerControls"/>
    <xsd:element name="SharedWithUsers" ma:index="16" nillable="true" ma:displayName="Compartido c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Detalles de uso compartido" ma:internalName="SharedWithDetails" ma:readOnly="true">
      <xsd:simpleType>
        <xsd:restriction base="dms:Note">
          <xsd:maxLength value="255"/>
        </xsd:restriction>
      </xsd:simpleType>
    </xsd:element>
    <xsd:element name="SharingHintHash" ma:index="18" nillable="true" ma:displayName="Hash de la sugerencia para compartir"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3F44DD3-42F3-404C-B384-DA67C9D015FB}">
  <ds:schemaRefs>
    <ds:schemaRef ds:uri="http://schemas.microsoft.com/sharepoint/v3/contenttype/forms"/>
  </ds:schemaRefs>
</ds:datastoreItem>
</file>

<file path=customXml/itemProps2.xml><?xml version="1.0" encoding="utf-8"?>
<ds:datastoreItem xmlns:ds="http://schemas.openxmlformats.org/officeDocument/2006/customXml" ds:itemID="{AB540913-1AC5-46EF-9048-817213AA2D2D}">
  <ds:schemaRefs>
    <ds:schemaRef ds:uri="http://schemas.microsoft.com/office/infopath/2007/PartnerControls"/>
    <ds:schemaRef ds:uri="http://www.w3.org/XML/1998/namespace"/>
    <ds:schemaRef ds:uri="http://schemas.microsoft.com/office/2006/metadata/properties"/>
    <ds:schemaRef ds:uri="http://schemas.openxmlformats.org/package/2006/metadata/core-properties"/>
    <ds:schemaRef ds:uri="http://schemas.microsoft.com/office/2006/documentManagement/types"/>
    <ds:schemaRef ds:uri="http://purl.org/dc/dcmitype/"/>
    <ds:schemaRef ds:uri="http://purl.org/dc/elements/1.1/"/>
    <ds:schemaRef ds:uri="http://purl.org/dc/terms/"/>
    <ds:schemaRef ds:uri="17d02ba8-f281-4b49-9601-a0164d4f73dc"/>
    <ds:schemaRef ds:uri="a46a7445-82ee-40df-a83c-62f273469f7c"/>
  </ds:schemaRefs>
</ds:datastoreItem>
</file>

<file path=customXml/itemProps3.xml><?xml version="1.0" encoding="utf-8"?>
<ds:datastoreItem xmlns:ds="http://schemas.openxmlformats.org/officeDocument/2006/customXml" ds:itemID="{B2D13385-3386-4D46-A706-36D24ED57B2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46a7445-82ee-40df-a83c-62f273469f7c"/>
    <ds:schemaRef ds:uri="17d02ba8-f281-4b49-9601-a0164d4f73d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{656B1191-5261-4EA3-8B03-A14F8DEAF7B5}TFfb9a325e-b4a8-473d-b025-df086f5ae49338eece30-bcbfd3f0f3e8</Template>
  <TotalTime>75</TotalTime>
  <Words>5864</Words>
  <Application>Microsoft Office PowerPoint</Application>
  <PresentationFormat>Panorámica</PresentationFormat>
  <Paragraphs>393</Paragraphs>
  <Slides>6</Slides>
  <Notes>5</Notes>
  <HiddenSlides>0</HiddenSlides>
  <MMClips>0</MMClips>
  <ScaleCrop>false</ScaleCrop>
  <HeadingPairs>
    <vt:vector size="8" baseType="variant">
      <vt:variant>
        <vt:lpstr>Fuentes usadas</vt:lpstr>
      </vt:variant>
      <vt:variant>
        <vt:i4>3</vt:i4>
      </vt:variant>
      <vt:variant>
        <vt:lpstr>Tema</vt:lpstr>
      </vt:variant>
      <vt:variant>
        <vt:i4>1</vt:i4>
      </vt:variant>
      <vt:variant>
        <vt:lpstr>Vínculos</vt:lpstr>
      </vt:variant>
      <vt:variant>
        <vt:i4>1</vt:i4>
      </vt:variant>
      <vt:variant>
        <vt:lpstr>Títulos de diapositiva</vt:lpstr>
      </vt:variant>
      <vt:variant>
        <vt:i4>6</vt:i4>
      </vt:variant>
    </vt:vector>
  </HeadingPairs>
  <TitlesOfParts>
    <vt:vector size="11" baseType="lpstr">
      <vt:lpstr>Aptos</vt:lpstr>
      <vt:lpstr>Arial</vt:lpstr>
      <vt:lpstr>Gill Sans MT</vt:lpstr>
      <vt:lpstr>Paquete</vt:lpstr>
      <vt:lpstr>C:\Users\cuent\Desktop\DRive\Libros de vma\Libro4\l4 Apiñonr recuperado.pdf</vt:lpstr>
      <vt:lpstr>Sophie German</vt:lpstr>
      <vt:lpstr>Sophie Germain .tasa de crecimiento</vt:lpstr>
      <vt:lpstr>Sophie Germain</vt:lpstr>
      <vt:lpstr>Sophie Germain</vt:lpstr>
      <vt:lpstr>Sophie germain</vt:lpstr>
      <vt:lpstr>Sophie germain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Víctor Manzanares Alberola</dc:creator>
  <cp:lastModifiedBy>Víctor Manzanares Alberola</cp:lastModifiedBy>
  <cp:revision>3</cp:revision>
  <dcterms:created xsi:type="dcterms:W3CDTF">2026-01-23T17:45:51Z</dcterms:created>
  <dcterms:modified xsi:type="dcterms:W3CDTF">2026-01-24T12:04:18Z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0x0101009B309ACFEB4D034DA5EB55AE6F8DA97C</vt:lpwstr>
  </property>
</Properties>
</file>