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457200"/>
            <a:ext cx="5943600" cy="5943600"/>
          </a:xfrm>
          <a:prstGeom prst="ellipse">
            <a:avLst/>
          </a:prstGeom>
          <a:solidFill>
            <a:srgbClr val="00D4B8">
              <a:alpha val="6000"/>
            </a:srgbClr>
          </a:solidFill>
          <a:ln w="12700">
            <a:solidFill>
              <a:srgbClr val="00D4B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82880"/>
            <a:ext cx="4572000" cy="4572000"/>
          </a:xfrm>
          <a:prstGeom prst="ellipse">
            <a:avLst/>
          </a:prstGeom>
          <a:solidFill>
            <a:srgbClr val="1B8FE8">
              <a:alpha val="8000"/>
            </a:srgbClr>
          </a:solidFill>
          <a:ln w="12700">
            <a:solidFill>
              <a:srgbClr val="1B8FE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822960"/>
            <a:ext cx="3200400" cy="3200400"/>
          </a:xfrm>
          <a:prstGeom prst="ellipse">
            <a:avLst/>
          </a:prstGeom>
          <a:solidFill>
            <a:srgbClr val="27C96A">
              <a:alpha val="10000"/>
            </a:srgbClr>
          </a:solidFill>
          <a:ln w="12700">
            <a:solidFill>
              <a:srgbClr val="27C96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ZYPYZAPE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 cinética inteligente para la red eléctrica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2606040" cy="868680"/>
          </a:xfrm>
          <a:prstGeom prst="rect">
            <a:avLst/>
          </a:prstGeom>
          <a:solidFill>
            <a:srgbClr val="F5A623">
              <a:alpha val="22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30815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CARGA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2648" y="34564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→ Módulo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3063240"/>
            <a:ext cx="2606040" cy="868680"/>
          </a:xfrm>
          <a:prstGeom prst="rect">
            <a:avLst/>
          </a:prstGeom>
          <a:solidFill>
            <a:srgbClr val="27C96A">
              <a:alpha val="22000"/>
            </a:srgbClr>
          </a:solidFill>
          <a:ln w="19050">
            <a:solidFill>
              <a:srgbClr val="27C9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30815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C9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INERCIA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47288" y="34564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interna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2606040" cy="868680"/>
          </a:xfrm>
          <a:prstGeom prst="rect">
            <a:avLst/>
          </a:prstGeom>
          <a:solidFill>
            <a:srgbClr val="E84040">
              <a:alpha val="22000"/>
            </a:srgbClr>
          </a:solidFill>
          <a:ln w="19050">
            <a:solidFill>
              <a:srgbClr val="E8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30815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DESCARGA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81928" y="34564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→ 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0D4B8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00D4B8"/>
                </a:solidFill>
              </a:rPr>
              <a:t>LA ENERGÍA SE TRANSFORMA · DALE USO MIENTRAS LA TENGAS  ·  victorman zaresalberola@gmail.com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ZypyZapear?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977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B8"/>
                </a:solidFill>
              </a:rPr>
              <a:t>El concepto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ZypyZapear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transferir energía entre los ejes de dos motores eléctricos, creando una </a:t>
            </a:r>
            <a:pPr indent="0" marL="0">
              <a:buNone/>
            </a:pPr>
            <a:r>
              <a:rPr lang="en-US" sz="13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 cinética virtual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buNone/>
            </a:pPr>
            <a:r>
              <a:rPr lang="en-US" sz="1300" b="1" dirty="0">
                <a:solidFill>
                  <a:srgbClr val="27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eólica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los aerogeneradores intercambian energía. Al aumentar la velocidad media del sistema, su resistencia al viento crece (</a:t>
            </a:r>
            <a:pPr indent="0" marL="0">
              <a:buNone/>
            </a:pPr>
            <a:r>
              <a:rPr lang="en-US" sz="1300" b="1" dirty="0">
                <a:solidFill>
                  <a:srgbClr val="27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Lenz activa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el viento capta más energía de la que costó acelerar.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corre a 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× 50 Hz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sincronía con la red. La electricidad pasa por el filtro del motor → </a:t>
            </a:r>
            <a:pPr indent="0" marL="0">
              <a:buNone/>
            </a:pPr>
            <a:r>
              <a:rPr lang="en-US" sz="13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sinusoidal limpia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garantizada.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114800" cy="3977640"/>
          </a:xfrm>
          <a:prstGeom prst="rect">
            <a:avLst/>
          </a:prstGeom>
          <a:solidFill>
            <a:srgbClr val="0F2040"/>
          </a:solidFill>
          <a:ln w="12700">
            <a:solidFill>
              <a:srgbClr val="1B8F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FE8"/>
                </a:solidFill>
              </a:rPr>
              <a:t>Principio básico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7760" y="1554480"/>
            <a:ext cx="1554480" cy="1005840"/>
          </a:xfrm>
          <a:prstGeom prst="ellipse">
            <a:avLst/>
          </a:prstGeom>
          <a:solidFill>
            <a:srgbClr val="1B8FE8">
              <a:alpha val="70000"/>
            </a:srgbClr>
          </a:solidFill>
          <a:ln w="31750">
            <a:solidFill>
              <a:srgbClr val="1B8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MOTOR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240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D4B8"/>
                </a:solidFill>
              </a:rPr>
              <a:t>Central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2011680"/>
            <a:ext cx="77724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55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A623"/>
                </a:solidFill>
              </a:rPr>
              <a:t>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240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ZypyZapeo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69480" y="1554480"/>
            <a:ext cx="1554480" cy="1005840"/>
          </a:xfrm>
          <a:prstGeom prst="ellipse">
            <a:avLst/>
          </a:prstGeom>
          <a:solidFill>
            <a:srgbClr val="00D4B8">
              <a:alpha val="70000"/>
            </a:srgbClr>
          </a:solidFill>
          <a:ln w="31750">
            <a:solidFill>
              <a:srgbClr val="00D4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MOTOR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69480" y="2240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D4B8"/>
                </a:solidFill>
              </a:rPr>
              <a:t>Central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834640"/>
            <a:ext cx="3749040" cy="749808"/>
          </a:xfrm>
          <a:prstGeom prst="rect">
            <a:avLst/>
          </a:prstGeom>
          <a:solidFill>
            <a:srgbClr val="0A2A18"/>
          </a:solidFill>
          <a:ln w="12700">
            <a:solidFill>
              <a:srgbClr val="27C9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880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7C96A"/>
                </a:solidFill>
              </a:rPr>
              <a:t>Ley de Lenz activa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Mayor velocidad → mayor opacidad → más captación eólica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3703320"/>
            <a:ext cx="3749040" cy="749808"/>
          </a:xfrm>
          <a:prstGeom prst="rect">
            <a:avLst/>
          </a:prstGeom>
          <a:solidFill>
            <a:srgbClr val="0A1830"/>
          </a:solidFill>
          <a:ln w="12700">
            <a:solidFill>
              <a:srgbClr val="1B8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749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8FE8"/>
                </a:solidFill>
              </a:rPr>
              <a:t>Inercia sintética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Batería cinética virtual · sin electroquímica · respuesta instantánea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1  ·  CARGA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9AB8"/>
                </a:solidFill>
              </a:rPr>
              <a:t>La red inyecta energía a los motores centrales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463040" cy="914400"/>
          </a:xfrm>
          <a:prstGeom prst="rect">
            <a:avLst/>
          </a:prstGeom>
          <a:solidFill>
            <a:srgbClr val="F5A623">
              <a:alpha val="85000"/>
            </a:srgbClr>
          </a:solidFill>
          <a:ln w="317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Hz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37360" y="1645920"/>
            <a:ext cx="82296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1417320"/>
            <a:ext cx="0" cy="45720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carga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051560"/>
            <a:ext cx="1737360" cy="1143000"/>
          </a:xfrm>
          <a:prstGeom prst="ellipse">
            <a:avLst/>
          </a:prstGeom>
          <a:solidFill>
            <a:srgbClr val="1B8FE8">
              <a:alpha val="75000"/>
            </a:srgbClr>
          </a:solidFill>
          <a:ln w="38100">
            <a:solidFill>
              <a:srgbClr val="1B8F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MOTOR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Central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623060"/>
            <a:ext cx="640080" cy="0"/>
          </a:xfrm>
          <a:prstGeom prst="line">
            <a:avLst/>
          </a:prstGeom>
          <a:noFill/>
          <a:ln w="31750">
            <a:solidFill>
              <a:srgbClr val="00D4B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160520" y="1371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B8"/>
                </a:solidFill>
              </a:rPr>
              <a:t>⟷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0" y="1865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B8"/>
                </a:solidFill>
              </a:rPr>
              <a:t>ZypyZapeo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1051560"/>
            <a:ext cx="1737360" cy="1143000"/>
          </a:xfrm>
          <a:prstGeom prst="ellipse">
            <a:avLst/>
          </a:prstGeom>
          <a:solidFill>
            <a:srgbClr val="00D4B8">
              <a:alpha val="75000"/>
            </a:srgbClr>
          </a:solidFill>
          <a:ln w="38100">
            <a:solidFill>
              <a:srgbClr val="00D4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MOTOR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Central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2194560"/>
            <a:ext cx="0" cy="685800"/>
          </a:xfrm>
          <a:prstGeom prst="line">
            <a:avLst/>
          </a:prstGeom>
          <a:noFill/>
          <a:ln w="25400">
            <a:solidFill>
              <a:srgbClr val="1B8FE8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5760720" y="2194560"/>
            <a:ext cx="0" cy="685800"/>
          </a:xfrm>
          <a:prstGeom prst="line">
            <a:avLst/>
          </a:prstGeom>
          <a:noFill/>
          <a:ln w="25400">
            <a:solidFill>
              <a:srgbClr val="00D4B8"/>
            </a:solidFill>
            <a:prstDash val="sysDash"/>
          </a:ln>
        </p:spPr>
      </p:sp>
      <p:sp>
        <p:nvSpPr>
          <p:cNvPr id="19" name="Text 17"/>
          <p:cNvSpPr/>
          <p:nvPr/>
        </p:nvSpPr>
        <p:spPr>
          <a:xfrm>
            <a:off x="3255264" y="2724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8FE8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32704" y="2724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B8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2999232"/>
            <a:ext cx="4206240" cy="1417320"/>
          </a:xfrm>
          <a:prstGeom prst="ellipse">
            <a:avLst/>
          </a:prstGeom>
          <a:solidFill>
            <a:srgbClr val="0B2C18">
              <a:alpha val="95000"/>
            </a:srgbClr>
          </a:solidFill>
          <a:ln w="38100">
            <a:solidFill>
              <a:srgbClr val="27C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14600" y="3383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C96A"/>
                </a:solidFill>
              </a:rPr>
              <a:t>ANILLO  ·  3 Motores en serie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71800" y="3493008"/>
            <a:ext cx="594360" cy="438912"/>
          </a:xfrm>
          <a:prstGeom prst="ellipse">
            <a:avLst/>
          </a:prstGeom>
          <a:solidFill>
            <a:srgbClr val="27C96A">
              <a:alpha val="55000"/>
            </a:srgbClr>
          </a:solidFill>
          <a:ln w="19050">
            <a:solidFill>
              <a:srgbClr val="27C9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3493008"/>
            <a:ext cx="594360" cy="438912"/>
          </a:xfrm>
          <a:prstGeom prst="ellipse">
            <a:avLst/>
          </a:prstGeom>
          <a:solidFill>
            <a:srgbClr val="27C96A">
              <a:alpha val="55000"/>
            </a:srgbClr>
          </a:solidFill>
          <a:ln w="19050">
            <a:solidFill>
              <a:srgbClr val="27C9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50992" y="3493008"/>
            <a:ext cx="594360" cy="438912"/>
          </a:xfrm>
          <a:prstGeom prst="ellipse">
            <a:avLst/>
          </a:prstGeom>
          <a:solidFill>
            <a:srgbClr val="27C96A">
              <a:alpha val="55000"/>
            </a:srgbClr>
          </a:solidFill>
          <a:ln w="19050">
            <a:solidFill>
              <a:srgbClr val="27C9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2999232"/>
            <a:ext cx="-274320" cy="-594360"/>
          </a:xfrm>
          <a:prstGeom prst="line">
            <a:avLst/>
          </a:prstGeom>
          <a:noFill/>
          <a:ln w="19050">
            <a:solidFill>
              <a:srgbClr val="27C96A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5486400" y="2999232"/>
            <a:ext cx="274320" cy="-594360"/>
          </a:xfrm>
          <a:prstGeom prst="line">
            <a:avLst/>
          </a:prstGeom>
          <a:noFill/>
          <a:ln w="19050">
            <a:solidFill>
              <a:srgbClr val="27C96A"/>
            </a:solidFill>
            <a:prstDash val="sysDash"/>
          </a:ln>
        </p:spPr>
      </p:sp>
      <p:sp>
        <p:nvSpPr>
          <p:cNvPr id="28" name="Text 26"/>
          <p:cNvSpPr/>
          <p:nvPr/>
        </p:nvSpPr>
        <p:spPr>
          <a:xfrm>
            <a:off x="1828800" y="2606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7C96A"/>
                </a:solidFill>
              </a:rPr>
              <a:t>magnetismo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2606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7C96A"/>
                </a:solidFill>
              </a:rPr>
              <a:t>magnetismo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9440" y="1005840"/>
            <a:ext cx="2011680" cy="3429000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1097280"/>
            <a:ext cx="1828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ocurre?
</a:t>
            </a:r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carga los
   motores centrales
</a:t>
            </a:r>
            <a:pPr indent="0" marL="0">
              <a:buNone/>
            </a:pPr>
            <a:r>
              <a:rPr lang="en-US" sz="1200" b="1" dirty="0">
                <a:solidFill>
                  <a:srgbClr val="1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⟷ M2 se
   ZypyZapean
</a:t>
            </a:r>
            <a:pPr indent="0" marL="0">
              <a:buNone/>
            </a:pPr>
            <a:r>
              <a:rPr lang="en-US" sz="1200" b="1" dirty="0">
                <a:solidFill>
                  <a:srgbClr val="27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va al anillo
   → más inercia
</a:t>
            </a:r>
            <a:pPr indent="0" marL="0">
              <a:buNone/>
            </a:pPr>
            <a:r>
              <a:rPr lang="en-US" sz="12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gana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velocidad media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+ opacidad 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viento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C9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DISTRIBUCIÓN INTERNA  ·  Módulo de 5 Molinos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AB8"/>
                </a:solidFill>
              </a:rPr>
              <a:t>La energía se reparte entre los 5 ejes para maximizar la inercia almacenada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94560" y="1124712"/>
            <a:ext cx="4754880" cy="3145536"/>
          </a:xfrm>
          <a:prstGeom prst="ellipse">
            <a:avLst/>
          </a:prstGeom>
          <a:solidFill>
            <a:srgbClr val="27C96A">
              <a:alpha val="9000"/>
            </a:srgbClr>
          </a:solidFill>
          <a:ln w="31750">
            <a:solidFill>
              <a:srgbClr val="27C96A"/>
            </a:solidFill>
            <a:prstDash val="sysDash"/>
          </a:ln>
        </p:spPr>
      </p:sp>
      <p:sp>
        <p:nvSpPr>
          <p:cNvPr id="6" name="Text 4"/>
          <p:cNvSpPr/>
          <p:nvPr/>
        </p:nvSpPr>
        <p:spPr>
          <a:xfrm>
            <a:off x="2286000" y="3959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7C96A"/>
                </a:solidFill>
              </a:rPr>
              <a:t>ANILLO · 3 Motores en serie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0" y="914400"/>
            <a:ext cx="1097280" cy="731520"/>
          </a:xfrm>
          <a:prstGeom prst="ellipse">
            <a:avLst/>
          </a:prstGeom>
          <a:solidFill>
            <a:srgbClr val="27C96A">
              <a:alpha val="70000"/>
            </a:srgbClr>
          </a:solidFill>
          <a:ln w="25400">
            <a:solidFill>
              <a:srgbClr val="27C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23360" y="914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Anillo 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0" cy="-685800"/>
          </a:xfrm>
          <a:prstGeom prst="line">
            <a:avLst/>
          </a:prstGeom>
          <a:noFill/>
          <a:ln w="15240">
            <a:solidFill>
              <a:srgbClr val="27C96A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2795925" y="3040380"/>
            <a:ext cx="1097280" cy="731520"/>
          </a:xfrm>
          <a:prstGeom prst="ellipse">
            <a:avLst/>
          </a:prstGeom>
          <a:solidFill>
            <a:srgbClr val="27C96A">
              <a:alpha val="70000"/>
            </a:srgbClr>
          </a:solidFill>
          <a:ln w="25400">
            <a:solidFill>
              <a:srgbClr val="27C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95925" y="30403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Anillo 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61322" y="3223260"/>
            <a:ext cx="-593920" cy="342900"/>
          </a:xfrm>
          <a:prstGeom prst="line">
            <a:avLst/>
          </a:prstGeom>
          <a:noFill/>
          <a:ln w="15240">
            <a:solidFill>
              <a:srgbClr val="27C96A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5250795" y="3040380"/>
            <a:ext cx="1097280" cy="731520"/>
          </a:xfrm>
          <a:prstGeom prst="ellipse">
            <a:avLst/>
          </a:prstGeom>
          <a:solidFill>
            <a:srgbClr val="27C96A">
              <a:alpha val="70000"/>
            </a:srgbClr>
          </a:solidFill>
          <a:ln w="25400">
            <a:solidFill>
              <a:srgbClr val="27C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50795" y="30403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Anillo 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2678" y="3223260"/>
            <a:ext cx="593920" cy="342900"/>
          </a:xfrm>
          <a:prstGeom prst="line">
            <a:avLst/>
          </a:prstGeom>
          <a:noFill/>
          <a:ln w="15240">
            <a:solidFill>
              <a:srgbClr val="27C96A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2971800" y="2194560"/>
            <a:ext cx="1463040" cy="1005840"/>
          </a:xfrm>
          <a:prstGeom prst="ellipse">
            <a:avLst/>
          </a:prstGeom>
          <a:solidFill>
            <a:srgbClr val="1B8FE8">
              <a:alpha val="82000"/>
            </a:srgbClr>
          </a:solidFill>
          <a:ln w="38100">
            <a:solidFill>
              <a:srgbClr val="1B8F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71800" y="23774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MOTOR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Central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2697480"/>
            <a:ext cx="27432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16052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A623"/>
                </a:solidFill>
              </a:rPr>
              <a:t>⟷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09160" y="2194560"/>
            <a:ext cx="1463040" cy="1005840"/>
          </a:xfrm>
          <a:prstGeom prst="ellipse">
            <a:avLst/>
          </a:prstGeom>
          <a:solidFill>
            <a:srgbClr val="00D4B8">
              <a:alpha val="82000"/>
            </a:srgbClr>
          </a:solidFill>
          <a:ln w="38100">
            <a:solidFill>
              <a:srgbClr val="00D4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23774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MOTOR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Central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960120"/>
            <a:ext cx="1920240" cy="3474720"/>
          </a:xfrm>
          <a:prstGeom prst="rect">
            <a:avLst/>
          </a:prstGeom>
          <a:solidFill>
            <a:srgbClr val="0F2040"/>
          </a:solidFill>
          <a:ln w="12700">
            <a:solidFill>
              <a:srgbClr val="7A9A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105156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Flujo de energía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92608" y="1508760"/>
            <a:ext cx="201168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14904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Red → M1, M2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" y="2167128"/>
            <a:ext cx="201168" cy="201168"/>
          </a:xfrm>
          <a:prstGeom prst="rect">
            <a:avLst/>
          </a:prstGeom>
          <a:solidFill>
            <a:srgbClr val="1B8FE8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21488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M1 ↔ M2 (ZypyZapeo)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2608" y="2825496"/>
            <a:ext cx="201168" cy="201168"/>
          </a:xfrm>
          <a:prstGeom prst="rect">
            <a:avLst/>
          </a:prstGeom>
          <a:solidFill>
            <a:srgbClr val="27C96A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28072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Centrales → Anillo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2608" y="3483864"/>
            <a:ext cx="201168" cy="201168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4655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Anillo ↔ Centrales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(magnetismo)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59168" y="960120"/>
            <a:ext cx="1920240" cy="3474720"/>
          </a:xfrm>
          <a:prstGeom prst="rect">
            <a:avLst/>
          </a:prstGeom>
          <a:solidFill>
            <a:srgbClr val="0F2040"/>
          </a:solidFill>
          <a:ln w="12700">
            <a:solidFill>
              <a:srgbClr val="27C9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68896" y="105156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C96A"/>
                </a:solidFill>
              </a:rPr>
              <a:t>Resultado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68896" y="1508760"/>
            <a:ext cx="201168" cy="201168"/>
          </a:xfrm>
          <a:prstGeom prst="rect">
            <a:avLst/>
          </a:prstGeom>
          <a:solidFill>
            <a:srgbClr val="27C96A"/>
          </a:solidFill>
          <a:ln/>
        </p:spPr>
      </p:sp>
      <p:sp>
        <p:nvSpPr>
          <p:cNvPr id="35" name="Text 33"/>
          <p:cNvSpPr/>
          <p:nvPr/>
        </p:nvSpPr>
        <p:spPr>
          <a:xfrm>
            <a:off x="7443216" y="14904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 molinos = 1 máquina inteligente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68896" y="2167128"/>
            <a:ext cx="201168" cy="201168"/>
          </a:xfrm>
          <a:prstGeom prst="rect">
            <a:avLst/>
          </a:prstGeom>
          <a:solidFill>
            <a:srgbClr val="1B8FE8"/>
          </a:solidFill>
          <a:ln/>
        </p:spPr>
      </p:sp>
      <p:sp>
        <p:nvSpPr>
          <p:cNvPr id="37" name="Text 35"/>
          <p:cNvSpPr/>
          <p:nvPr/>
        </p:nvSpPr>
        <p:spPr>
          <a:xfrm>
            <a:off x="7443216" y="21488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Inercia acumulada máxima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68896" y="2825496"/>
            <a:ext cx="201168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7443216" y="28072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Anillo: respaldo magnético automático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68896" y="3483864"/>
            <a:ext cx="201168" cy="201168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41" name="Text 39"/>
          <p:cNvSpPr/>
          <p:nvPr/>
        </p:nvSpPr>
        <p:spPr>
          <a:xfrm>
            <a:off x="7443216" y="34655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 líneas + 2 neutros de inyección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2  ·  DESCARGA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AB8"/>
                </a:solidFill>
              </a:rPr>
              <a:t>Cuando el central cede energía a la red, el anillo lo apoya magnéticamente para mantener la velocidad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960120"/>
            <a:ext cx="4572000" cy="1234440"/>
          </a:xfrm>
          <a:prstGeom prst="ellipse">
            <a:avLst/>
          </a:prstGeom>
          <a:solidFill>
            <a:srgbClr val="0B2C18"/>
          </a:solidFill>
          <a:ln w="38100">
            <a:solidFill>
              <a:srgbClr val="27C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331720" y="1298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C96A"/>
                </a:solidFill>
              </a:rPr>
              <a:t>ANILLO  ·  Reserva magnética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1389888"/>
            <a:ext cx="594360" cy="438912"/>
          </a:xfrm>
          <a:prstGeom prst="ellipse">
            <a:avLst/>
          </a:prstGeom>
          <a:solidFill>
            <a:srgbClr val="27C96A">
              <a:alpha val="60000"/>
            </a:srgbClr>
          </a:solidFill>
          <a:ln w="19050">
            <a:solidFill>
              <a:srgbClr val="27C9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389888"/>
            <a:ext cx="594360" cy="438912"/>
          </a:xfrm>
          <a:prstGeom prst="ellipse">
            <a:avLst/>
          </a:prstGeom>
          <a:solidFill>
            <a:srgbClr val="27C96A">
              <a:alpha val="60000"/>
            </a:srgbClr>
          </a:solidFill>
          <a:ln w="19050">
            <a:solidFill>
              <a:srgbClr val="27C9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1389888"/>
            <a:ext cx="594360" cy="438912"/>
          </a:xfrm>
          <a:prstGeom prst="ellipse">
            <a:avLst/>
          </a:prstGeom>
          <a:solidFill>
            <a:srgbClr val="27C96A">
              <a:alpha val="60000"/>
            </a:srgbClr>
          </a:solidFill>
          <a:ln w="19050">
            <a:solidFill>
              <a:srgbClr val="27C9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194560"/>
            <a:ext cx="0" cy="594360"/>
          </a:xfrm>
          <a:prstGeom prst="line">
            <a:avLst/>
          </a:prstGeom>
          <a:noFill/>
          <a:ln w="31750">
            <a:solidFill>
              <a:srgbClr val="27C96A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5669280" y="2194560"/>
            <a:ext cx="0" cy="594360"/>
          </a:xfrm>
          <a:prstGeom prst="line">
            <a:avLst/>
          </a:prstGeom>
          <a:noFill/>
          <a:ln w="31750">
            <a:solidFill>
              <a:srgbClr val="27C96A"/>
            </a:solidFill>
            <a:prstDash val="sysDash"/>
          </a:ln>
        </p:spPr>
      </p:sp>
      <p:sp>
        <p:nvSpPr>
          <p:cNvPr id="12" name="Text 10"/>
          <p:cNvSpPr/>
          <p:nvPr/>
        </p:nvSpPr>
        <p:spPr>
          <a:xfrm>
            <a:off x="3346704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C96A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41264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C96A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331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7C96A"/>
                </a:solidFill>
              </a:rPr>
              <a:t>apoya 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2331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7C96A"/>
                </a:solidFill>
              </a:rPr>
              <a:t>← apoya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2788920"/>
            <a:ext cx="1737360" cy="1097280"/>
          </a:xfrm>
          <a:prstGeom prst="ellipse">
            <a:avLst/>
          </a:prstGeom>
          <a:solidFill>
            <a:srgbClr val="1B8FE8">
              <a:alpha val="80000"/>
            </a:srgbClr>
          </a:solidFill>
          <a:ln w="38100">
            <a:solidFill>
              <a:srgbClr val="1B8F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77440" y="3154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MOTOR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Central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0" y="3337560"/>
            <a:ext cx="9144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114800" y="30906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A623"/>
                </a:solidFill>
              </a:rPr>
              <a:t>⟷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029200" y="2788920"/>
            <a:ext cx="1737360" cy="1097280"/>
          </a:xfrm>
          <a:prstGeom prst="ellipse">
            <a:avLst/>
          </a:prstGeom>
          <a:solidFill>
            <a:srgbClr val="00D4B8">
              <a:alpha val="80000"/>
            </a:srgbClr>
          </a:solidFill>
          <a:ln w="38100">
            <a:solidFill>
              <a:srgbClr val="00D4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3154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MOTOR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Central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3886200"/>
            <a:ext cx="0" cy="502920"/>
          </a:xfrm>
          <a:prstGeom prst="line">
            <a:avLst/>
          </a:prstGeom>
          <a:noFill/>
          <a:ln w="38100">
            <a:solidFill>
              <a:srgbClr val="E84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886200"/>
            <a:ext cx="0" cy="502920"/>
          </a:xfrm>
          <a:prstGeom prst="line">
            <a:avLst/>
          </a:prstGeom>
          <a:noFill/>
          <a:ln w="38100">
            <a:solidFill>
              <a:srgbClr val="E84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18104" y="42519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4040"/>
                </a:solidFill>
              </a:rPr>
              <a:t>▼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69864" y="42519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4040"/>
                </a:solidFill>
              </a:rPr>
              <a:t>▼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651760" y="3950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4040"/>
                </a:solidFill>
              </a:rPr>
              <a:t>descarga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3950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4040"/>
                </a:solidFill>
              </a:rPr>
              <a:t>descarga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17520" y="4526280"/>
            <a:ext cx="3108960" cy="731520"/>
          </a:xfrm>
          <a:prstGeom prst="rect">
            <a:avLst/>
          </a:prstGeom>
          <a:solidFill>
            <a:srgbClr val="F5A623">
              <a:alpha val="85000"/>
            </a:srgbClr>
          </a:solidFill>
          <a:ln w="317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17520" y="4526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 · 50 Hz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82880" y="914400"/>
            <a:ext cx="2011680" cy="3931920"/>
          </a:xfrm>
          <a:prstGeom prst="rect">
            <a:avLst/>
          </a:prstGeom>
          <a:solidFill>
            <a:srgbClr val="0F2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1005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040"/>
                </a:solidFill>
              </a:rPr>
              <a:t>Mecanismo: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040" y="1481328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040"/>
                </a:solidFill>
              </a:rPr>
              <a:t>1.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" y="148132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cede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→ red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" y="2139696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040"/>
                </a:solidFill>
              </a:rPr>
              <a:t>2.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2139696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tiende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2798064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C96A"/>
                </a:solidFill>
              </a:rPr>
              <a:t>3.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" y="279806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Anillo detecta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→ induce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magnetismo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3456432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C96A"/>
                </a:solidFill>
              </a:rPr>
              <a:t>4.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" y="34564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sostiene → onda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 a red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49440" y="914400"/>
            <a:ext cx="2011680" cy="3931920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9168" y="1005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Resultado: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059168" y="1481328"/>
            <a:ext cx="18288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0" y="1463040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sinusoidal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 a red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59168" y="2139696"/>
            <a:ext cx="182880" cy="164592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0" y="2121408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059168" y="2798064"/>
            <a:ext cx="182880" cy="164592"/>
          </a:xfrm>
          <a:prstGeom prst="rect">
            <a:avLst/>
          </a:prstGeom>
          <a:solidFill>
            <a:srgbClr val="27C96A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0" y="2779776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físicamente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instantánea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059168" y="3456432"/>
            <a:ext cx="182880" cy="164592"/>
          </a:xfrm>
          <a:prstGeom prst="rect">
            <a:avLst/>
          </a:prstGeom>
          <a:solidFill>
            <a:srgbClr val="1B8FE8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0" y="3438144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baterías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electroquímicas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Escalabilidad  ·  Aplicaciones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3657600"/>
          </a:xfrm>
          <a:prstGeom prst="rect">
            <a:avLst/>
          </a:prstGeom>
          <a:solidFill>
            <a:srgbClr val="0F2040"/>
          </a:solidFill>
          <a:ln w="25400">
            <a:solidFill>
              <a:srgbClr val="1B8F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548640"/>
          </a:xfrm>
          <a:prstGeom prst="rect">
            <a:avLst/>
          </a:prstGeom>
          <a:solidFill>
            <a:srgbClr val="1B8FE8">
              <a:alpha val="7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86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Módulo local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molinos → 1 máquina inteligente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 cinética local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existente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36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instantánea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743200" cy="3657600"/>
          </a:xfrm>
          <a:prstGeom prst="rect">
            <a:avLst/>
          </a:prstGeom>
          <a:solidFill>
            <a:srgbClr val="0F2040"/>
          </a:solidFill>
          <a:ln w="25400">
            <a:solidFill>
              <a:srgbClr val="00D4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868680"/>
            <a:ext cx="2743200" cy="548640"/>
          </a:xfrm>
          <a:prstGeom prst="rect">
            <a:avLst/>
          </a:prstGeom>
          <a:solidFill>
            <a:srgbClr val="00D4B8">
              <a:alpha val="7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886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Red nacional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15361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 eólica → regula red completa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interconectados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670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crece con instalaciones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236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baterías electroquímicas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868680"/>
            <a:ext cx="2743200" cy="3657600"/>
          </a:xfrm>
          <a:prstGeom prst="rect">
            <a:avLst/>
          </a:prstGeom>
          <a:solidFill>
            <a:srgbClr val="0F2040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868680"/>
            <a:ext cx="2743200" cy="548640"/>
          </a:xfrm>
          <a:prstGeom prst="rect">
            <a:avLst/>
          </a:prstGeom>
          <a:solidFill>
            <a:srgbClr val="F5A623">
              <a:alpha val="7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886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Exportación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15361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ZypyZapeo entre países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Tormentas → energía exportable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2670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integrada sin viento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236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eléctrica existente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" y="4663440"/>
            <a:ext cx="8778240" cy="384048"/>
          </a:xfrm>
          <a:prstGeom prst="rect">
            <a:avLst/>
          </a:prstGeom>
          <a:solidFill>
            <a:srgbClr val="0B2C18"/>
          </a:solidFill>
          <a:ln w="12700">
            <a:solidFill>
              <a:srgbClr val="27C9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908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C96A"/>
                </a:solidFill>
              </a:rPr>
              <a:t>✔  Hardware existente    ·    ✔  Sin electroquímica    ·    ✔  Autorregulable    ·    ✔  Solar integrada    ·    ✔  Respuesta instantánea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ZypyZape</dc:title>
  <dc:subject>PptxGenJS Presentation</dc:subject>
  <dc:creator>Victor Manzanares Alberola</dc:creator>
  <cp:lastModifiedBy>Victor Manzanares Alberola</cp:lastModifiedBy>
  <cp:revision>1</cp:revision>
  <dcterms:created xsi:type="dcterms:W3CDTF">2026-02-28T13:53:24Z</dcterms:created>
  <dcterms:modified xsi:type="dcterms:W3CDTF">2026-02-28T13:53:24Z</dcterms:modified>
</cp:coreProperties>
</file>