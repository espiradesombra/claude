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B84F2-3E0D-4322-B2BD-48106A74AA3F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A5F1-B15B-4C68-801E-0FCEB1077EA3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885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B84F2-3E0D-4322-B2BD-48106A74AA3F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A5F1-B15B-4C68-801E-0FCEB1077EA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181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B84F2-3E0D-4322-B2BD-48106A74AA3F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A5F1-B15B-4C68-801E-0FCEB1077EA3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01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B84F2-3E0D-4322-B2BD-48106A74AA3F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A5F1-B15B-4C68-801E-0FCEB1077EA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0326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B84F2-3E0D-4322-B2BD-48106A74AA3F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A5F1-B15B-4C68-801E-0FCEB1077EA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7575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B84F2-3E0D-4322-B2BD-48106A74AA3F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A5F1-B15B-4C68-801E-0FCEB1077EA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0060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B84F2-3E0D-4322-B2BD-48106A74AA3F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A5F1-B15B-4C68-801E-0FCEB1077EA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6037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4B84F2-3E0D-4322-B2BD-48106A74AA3F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F5A5F1-B15B-4C68-801E-0FCEB1077EA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172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B84F2-3E0D-4322-B2BD-48106A74AA3F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A5F1-B15B-4C68-801E-0FCEB1077EA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4531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B84F2-3E0D-4322-B2BD-48106A74AA3F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A5F1-B15B-4C68-801E-0FCEB1077EA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1155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B84F2-3E0D-4322-B2BD-48106A74AA3F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A5F1-B15B-4C68-801E-0FCEB1077EA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6794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94B84F2-3E0D-4322-B2BD-48106A74AA3F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9F5A5F1-B15B-4C68-801E-0FCEB1077EA3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79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601DF9-5F3E-DB41-977B-0843003D93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90B09F0-4EE8-F8A8-731E-D5D26A1C0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s-ES" sz="6200" dirty="0" err="1">
                <a:solidFill>
                  <a:srgbClr val="FFFFFF"/>
                </a:solidFill>
              </a:rPr>
              <a:t>SaltoMáximo</a:t>
            </a:r>
            <a:r>
              <a:rPr lang="es-ES" sz="6200" dirty="0">
                <a:solidFill>
                  <a:srgbClr val="FFFFFF"/>
                </a:solidFill>
              </a:rPr>
              <a:t> en n </a:t>
            </a:r>
            <a:br>
              <a:rPr lang="es-ES" sz="6200" dirty="0">
                <a:solidFill>
                  <a:srgbClr val="FFFFFF"/>
                </a:solidFill>
              </a:rPr>
            </a:br>
            <a:r>
              <a:rPr lang="es-ES" sz="6200" dirty="0">
                <a:solidFill>
                  <a:srgbClr val="FFFFFF"/>
                </a:solidFill>
              </a:rPr>
              <a:t>desde </a:t>
            </a:r>
            <a:br>
              <a:rPr lang="es-ES" sz="6200" dirty="0">
                <a:solidFill>
                  <a:srgbClr val="FFFFFF"/>
                </a:solidFill>
              </a:rPr>
            </a:br>
            <a:r>
              <a:rPr lang="es-ES" sz="6200" dirty="0">
                <a:solidFill>
                  <a:srgbClr val="FFFFFF"/>
                </a:solidFill>
              </a:rPr>
              <a:t>n+3 hasta</a:t>
            </a:r>
            <a:br>
              <a:rPr lang="es-ES" sz="6200" dirty="0">
                <a:solidFill>
                  <a:srgbClr val="FFFFFF"/>
                </a:solidFill>
              </a:rPr>
            </a:br>
            <a:r>
              <a:rPr lang="es-ES" sz="6200" dirty="0">
                <a:solidFill>
                  <a:srgbClr val="FFFFFF"/>
                </a:solidFill>
              </a:rPr>
              <a:t>n - redondeo(raíz(n+3))-3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41A733-CB39-A027-37C8-FAEEF2D49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Hay </a:t>
            </a:r>
            <a:r>
              <a:rPr lang="es-ES" dirty="0">
                <a:solidFill>
                  <a:srgbClr val="FFFF00"/>
                </a:solidFill>
              </a:rPr>
              <a:t>al menos </a:t>
            </a:r>
            <a:r>
              <a:rPr lang="es-ES" dirty="0">
                <a:solidFill>
                  <a:srgbClr val="FF0000"/>
                </a:solidFill>
              </a:rPr>
              <a:t>dos primos.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71767D-5FF7-4508-B8B7-BB60FF3AB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4E89C94-E462-4566-A15A-32835FD68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5F4A20-71FB-4A26-92E2-89DED492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681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7826"/>
    </mc:Choice>
    <mc:Fallback>
      <p:transition spd="slow" advTm="78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DD82D3-D002-45B0-B16A-82B3DA4EF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7183E7-44B1-30FB-925F-FEBCAB11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7" y="643466"/>
            <a:ext cx="2771273" cy="5225627"/>
          </a:xfrm>
        </p:spPr>
        <p:txBody>
          <a:bodyPr anchor="ctr">
            <a:normAutofit/>
          </a:bodyPr>
          <a:lstStyle/>
          <a:p>
            <a:r>
              <a:rPr lang="es-ES" sz="3600" dirty="0"/>
              <a:t>Hay formas de contar los primos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09C252-16FE-4557-AD6D-BB5CA773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42053" y="1570271"/>
            <a:ext cx="0" cy="3200400"/>
          </a:xfrm>
          <a:prstGeom prst="line">
            <a:avLst/>
          </a:prstGeom>
          <a:ln w="31750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5A5C50-5B1D-CFCF-1F4B-2265B3179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1019" y="643466"/>
            <a:ext cx="6895973" cy="5225628"/>
          </a:xfrm>
        </p:spPr>
        <p:txBody>
          <a:bodyPr anchor="ctr">
            <a:normAutofit/>
          </a:bodyPr>
          <a:lstStyle/>
          <a:p>
            <a:r>
              <a:rPr lang="es-ES" sz="2800" dirty="0"/>
              <a:t>Desde 2 hasta redondeo( raíz (n+3))</a:t>
            </a:r>
            <a:br>
              <a:rPr lang="es-ES" sz="2800" dirty="0"/>
            </a:br>
            <a:r>
              <a:rPr lang="es-ES" sz="2800" dirty="0"/>
              <a:t>si es primo </a:t>
            </a:r>
            <a:br>
              <a:rPr lang="es-ES" sz="2800" dirty="0"/>
            </a:br>
            <a:r>
              <a:rPr lang="es-ES" sz="2800" dirty="0"/>
              <a:t>acumulo+=1/</a:t>
            </a:r>
            <a:r>
              <a:rPr lang="es-ES" sz="2800" dirty="0" err="1"/>
              <a:t>primorial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r>
              <a:rPr lang="es-ES" sz="2800" dirty="0"/>
              <a:t>Pero esto tiene dejes como conocimiento previo que imposibilitan el calculo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15B19B-E7BB-4060-B12F-3CDA8EF16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336792"/>
            <a:ext cx="12188825" cy="52120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4261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3790"/>
    </mc:Choice>
    <mc:Fallback>
      <p:transition spd="slow" advTm="379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DD82D3-D002-45B0-B16A-82B3DA4EF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4DA57C-90B2-2885-83E6-B0E9428D3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7" y="643466"/>
            <a:ext cx="2771273" cy="5225627"/>
          </a:xfrm>
        </p:spPr>
        <p:txBody>
          <a:bodyPr anchor="ctr">
            <a:normAutofit/>
          </a:bodyPr>
          <a:lstStyle/>
          <a:p>
            <a:r>
              <a:rPr lang="es-ES" sz="3600" dirty="0"/>
              <a:t>Para poder calcular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09C252-16FE-4557-AD6D-BB5CA773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42053" y="1570271"/>
            <a:ext cx="0" cy="3200400"/>
          </a:xfrm>
          <a:prstGeom prst="line">
            <a:avLst/>
          </a:prstGeom>
          <a:ln w="31750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3BF938-E6A7-DA01-0446-A375B67EF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1019" y="643466"/>
            <a:ext cx="6895973" cy="5225628"/>
          </a:xfrm>
        </p:spPr>
        <p:txBody>
          <a:bodyPr anchor="ctr">
            <a:normAutofit/>
          </a:bodyPr>
          <a:lstStyle/>
          <a:p>
            <a:r>
              <a:rPr lang="es-ES" sz="2800" dirty="0"/>
              <a:t>Desde 2 hasta redondeo(raíz (n+3) * (9/24))</a:t>
            </a:r>
            <a:br>
              <a:rPr lang="es-ES" sz="2800" dirty="0"/>
            </a:br>
            <a:r>
              <a:rPr lang="es-ES" sz="2800" dirty="0"/>
              <a:t>acumulo+=1/factorial</a:t>
            </a:r>
            <a:br>
              <a:rPr lang="es-ES" dirty="0"/>
            </a:br>
            <a:br>
              <a:rPr lang="es-ES" dirty="0"/>
            </a:br>
            <a:r>
              <a:rPr lang="es-ES" sz="2400" dirty="0"/>
              <a:t>Este acumulador es matemáticamente </a:t>
            </a:r>
            <a:r>
              <a:rPr lang="es-ES" sz="2400" dirty="0" err="1"/>
              <a:t>graficable</a:t>
            </a:r>
            <a:r>
              <a:rPr lang="es-ES" sz="2400" dirty="0"/>
              <a:t> y tiene dos fallos conservadores. </a:t>
            </a:r>
            <a:br>
              <a:rPr lang="es-ES" sz="2400" dirty="0"/>
            </a:br>
            <a:r>
              <a:rPr lang="es-ES" sz="2400" dirty="0"/>
              <a:t>Factorial crece tantas veces como si es primo o mas por (9/24)</a:t>
            </a:r>
            <a:br>
              <a:rPr lang="es-ES" sz="2400" dirty="0"/>
            </a:br>
            <a:r>
              <a:rPr lang="es-ES" sz="2400" dirty="0"/>
              <a:t>Las veces que Factorial acumula el denominador es comparativamente mas pequeño y se acumula más.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15B19B-E7BB-4060-B12F-3CDA8EF16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336792"/>
            <a:ext cx="12188825" cy="52120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2773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3816"/>
    </mc:Choice>
    <mc:Fallback>
      <p:transition spd="slow" advTm="381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DD82D3-D002-45B0-B16A-82B3DA4EF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871F5C-A3FD-2251-30F9-472FB680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7" y="643466"/>
            <a:ext cx="2771273" cy="5225627"/>
          </a:xfrm>
        </p:spPr>
        <p:txBody>
          <a:bodyPr anchor="ctr">
            <a:normAutofit/>
          </a:bodyPr>
          <a:lstStyle/>
          <a:p>
            <a:r>
              <a:rPr lang="es-ES" sz="3600"/>
              <a:t>El resultado debido a la aportación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09C252-16FE-4557-AD6D-BB5CA773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42053" y="1570271"/>
            <a:ext cx="0" cy="3200400"/>
          </a:xfrm>
          <a:prstGeom prst="line">
            <a:avLst/>
          </a:prstGeom>
          <a:ln w="31750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99A163-0B9F-8D0F-4515-1099D7255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1019" y="643466"/>
            <a:ext cx="6895973" cy="5225628"/>
          </a:xfrm>
        </p:spPr>
        <p:txBody>
          <a:bodyPr anchor="ctr">
            <a:normAutofit/>
          </a:bodyPr>
          <a:lstStyle/>
          <a:p>
            <a:r>
              <a:rPr lang="es-ES" sz="2800" dirty="0"/>
              <a:t>El resultado es una convergencia menor a la talla raíz n+3</a:t>
            </a:r>
            <a:br>
              <a:rPr lang="es-ES" sz="2800" dirty="0"/>
            </a:br>
            <a:br>
              <a:rPr lang="es-ES" sz="2800" dirty="0"/>
            </a:br>
            <a:r>
              <a:rPr lang="es-ES" sz="2800" dirty="0"/>
              <a:t>Esta converge a (e-2) para asegurar la talla de compuestos. </a:t>
            </a:r>
            <a:br>
              <a:rPr lang="es-ES" sz="2800" dirty="0"/>
            </a:br>
            <a:br>
              <a:rPr lang="es-ES" sz="2800" dirty="0"/>
            </a:br>
            <a:r>
              <a:rPr lang="es-ES" sz="2800" dirty="0"/>
              <a:t>Por lo que </a:t>
            </a:r>
            <a:br>
              <a:rPr lang="es-ES" sz="2800" dirty="0"/>
            </a:br>
            <a:br>
              <a:rPr lang="es-ES" sz="2800" dirty="0"/>
            </a:br>
            <a:r>
              <a:rPr lang="es-ES" sz="2800" dirty="0"/>
              <a:t>(1-(e-2))raíz( n+3)=cantidad mínima segura de cuantos primos hay en raíz(n+3)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15B19B-E7BB-4060-B12F-3CDA8EF16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336792"/>
            <a:ext cx="12188825" cy="52120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106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4105"/>
    </mc:Choice>
    <mc:Fallback>
      <p:transition spd="slow" advTm="410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DD82D3-D002-45B0-B16A-82B3DA4EF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99B018-B926-E9D4-BC34-993A4F96F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7" y="643466"/>
            <a:ext cx="2771273" cy="5225627"/>
          </a:xfrm>
        </p:spPr>
        <p:txBody>
          <a:bodyPr anchor="ctr">
            <a:normAutofit/>
          </a:bodyPr>
          <a:lstStyle/>
          <a:p>
            <a:r>
              <a:rPr lang="es-ES" sz="3600"/>
              <a:t>Donde son validos estos cálculos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09C252-16FE-4557-AD6D-BB5CA773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42053" y="1570271"/>
            <a:ext cx="0" cy="3200400"/>
          </a:xfrm>
          <a:prstGeom prst="line">
            <a:avLst/>
          </a:prstGeom>
          <a:ln w="31750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A8C28F-5D03-98CE-92D5-17E78B805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1019" y="643466"/>
            <a:ext cx="6895973" cy="5225628"/>
          </a:xfrm>
        </p:spPr>
        <p:txBody>
          <a:bodyPr anchor="ctr">
            <a:normAutofit/>
          </a:bodyPr>
          <a:lstStyle/>
          <a:p>
            <a:r>
              <a:rPr lang="es-ES" sz="3200" dirty="0"/>
              <a:t>(1-(e-2))*x&gt;=2</a:t>
            </a:r>
            <a:br>
              <a:rPr lang="es-ES" sz="3200" dirty="0"/>
            </a:br>
            <a:br>
              <a:rPr lang="es-ES" sz="3200" dirty="0"/>
            </a:br>
            <a:r>
              <a:rPr lang="es-ES" sz="3200" dirty="0"/>
              <a:t>(1-(e-2)+-=0.2</a:t>
            </a:r>
            <a:br>
              <a:rPr lang="es-ES" sz="3200" dirty="0"/>
            </a:br>
            <a:r>
              <a:rPr lang="es-ES" sz="3200" dirty="0"/>
              <a:t>x&gt;+-10</a:t>
            </a:r>
            <a:br>
              <a:rPr lang="es-ES" sz="3200" dirty="0"/>
            </a:br>
            <a:r>
              <a:rPr lang="es-ES" sz="3200" dirty="0"/>
              <a:t>para n&gt;+-100 la conjetura es teorema </a:t>
            </a:r>
            <a:br>
              <a:rPr lang="es-ES" sz="3200" dirty="0"/>
            </a:br>
            <a:r>
              <a:rPr lang="es-ES" sz="3200" dirty="0"/>
              <a:t>y hacia abajo alguien la contará.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15B19B-E7BB-4060-B12F-3CDA8EF16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336792"/>
            <a:ext cx="12188825" cy="52120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9312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4145"/>
    </mc:Choice>
    <mc:Fallback>
      <p:transition spd="slow" advTm="414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71D420-C671-9597-5A01-463A98F7E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>
                <a:solidFill>
                  <a:schemeClr val="tx1">
                    <a:lumMod val="85000"/>
                    <a:lumOff val="15000"/>
                  </a:schemeClr>
                </a:solidFill>
              </a:rPr>
              <a:t>Víctor Manzanares Alberola</a:t>
            </a:r>
            <a:br>
              <a:rPr lang="en-US" sz="56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56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5600">
                <a:solidFill>
                  <a:schemeClr val="tx1">
                    <a:lumMod val="85000"/>
                    <a:lumOff val="15000"/>
                  </a:schemeClr>
                </a:solidFill>
              </a:rPr>
              <a:t>Conjetura propuesta a teorema por cota robusta y contéo viable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365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78"/>
    </mc:Choice>
    <mc:Fallback>
      <p:transition spd="slow" advTm="4678"/>
    </mc:Fallback>
  </mc:AlternateContent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</TotalTime>
  <Words>261</Words>
  <Application>Microsoft Office PowerPoint</Application>
  <PresentationFormat>Panorámica</PresentationFormat>
  <Paragraphs>11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Retrospección</vt:lpstr>
      <vt:lpstr>SaltoMáximo en n  desde  n+3 hasta n - redondeo(raíz(n+3))-3</vt:lpstr>
      <vt:lpstr>Hay formas de contar los primos</vt:lpstr>
      <vt:lpstr>Para poder calcular</vt:lpstr>
      <vt:lpstr>El resultado debido a la aportación</vt:lpstr>
      <vt:lpstr>Donde son validos estos cálculos</vt:lpstr>
      <vt:lpstr>Víctor Manzanares Alberola  Conjetura propuesta a teorema por cota robusta y contéo viable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manzanares</dc:creator>
  <cp:lastModifiedBy>victor manzanares</cp:lastModifiedBy>
  <cp:revision>2</cp:revision>
  <dcterms:created xsi:type="dcterms:W3CDTF">2026-02-05T09:44:19Z</dcterms:created>
  <dcterms:modified xsi:type="dcterms:W3CDTF">2026-02-05T10:12:13Z</dcterms:modified>
</cp:coreProperties>
</file>