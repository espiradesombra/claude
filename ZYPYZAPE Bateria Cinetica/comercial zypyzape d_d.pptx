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7A20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10"/>
  </p:normalViewPr>
  <p:slideViewPr>
    <p:cSldViewPr snapToGrid="0" snapToObjects="1">
      <p:cViewPr>
        <p:scale>
          <a:sx n="123" d="100"/>
          <a:sy n="123" d="100"/>
        </p:scale>
        <p:origin x="326" y="-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013605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11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0" y="-914400"/>
            <a:ext cx="6858000" cy="6858000"/>
          </a:xfrm>
          <a:prstGeom prst="ellipse">
            <a:avLst/>
          </a:prstGeom>
          <a:solidFill>
            <a:srgbClr val="00C4AA">
              <a:alpha val="7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5943600" y="-182880"/>
            <a:ext cx="5029200" cy="5029200"/>
          </a:xfrm>
          <a:prstGeom prst="ellipse">
            <a:avLst/>
          </a:prstGeom>
          <a:solidFill>
            <a:srgbClr val="0A3260">
              <a:alpha val="1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A209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411480" y="777240"/>
            <a:ext cx="6858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kern="0" spc="1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ZYPYZAPE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411480" y="2240280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00C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KINETIC BATTERY FOR THE GRID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11480" y="2743200"/>
            <a:ext cx="5029200" cy="0"/>
          </a:xfrm>
          <a:prstGeom prst="line">
            <a:avLst/>
          </a:prstGeom>
          <a:noFill/>
          <a:ln w="19050">
            <a:solidFill>
              <a:srgbClr val="00C4AA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411480" y="2852928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7A9AB8"/>
                </a:solidFill>
              </a:rPr>
              <a:t>Batería de inercia sintética · Regulación de red en tiempo real · Sin electroquímica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11480" y="3429000"/>
            <a:ext cx="2468880" cy="1325880"/>
          </a:xfrm>
          <a:prstGeom prst="rect">
            <a:avLst/>
          </a:prstGeom>
          <a:solidFill>
            <a:srgbClr val="00C4AA">
              <a:alpha val="12000"/>
            </a:srgbClr>
          </a:solidFill>
          <a:ln w="12700">
            <a:solidFill>
              <a:srgbClr val="00C4A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521208" y="3493008"/>
            <a:ext cx="22494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00C4A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521208" y="4133088"/>
            <a:ext cx="2249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molinos/módulo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21208" y="4407408"/>
            <a:ext cx="2249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A9AB8"/>
                </a:solidFill>
              </a:rPr>
              <a:t>Topología autorregulable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154680" y="3429000"/>
            <a:ext cx="2468880" cy="1325880"/>
          </a:xfrm>
          <a:prstGeom prst="rect">
            <a:avLst/>
          </a:prstGeom>
          <a:solidFill>
            <a:srgbClr val="00C4AA">
              <a:alpha val="12000"/>
            </a:srgbClr>
          </a:solidFill>
          <a:ln w="12700">
            <a:solidFill>
              <a:srgbClr val="00C4A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3264408" y="3493008"/>
            <a:ext cx="22494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00C4A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50Hz</a:t>
            </a:r>
            <a:endParaRPr lang="en-US" sz="4200" dirty="0"/>
          </a:p>
        </p:txBody>
      </p:sp>
      <p:sp>
        <p:nvSpPr>
          <p:cNvPr id="15" name="Text 13"/>
          <p:cNvSpPr/>
          <p:nvPr/>
        </p:nvSpPr>
        <p:spPr>
          <a:xfrm>
            <a:off x="3264408" y="4133088"/>
            <a:ext cx="2249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sinc. perfecta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264408" y="4407408"/>
            <a:ext cx="2249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A9AB8"/>
                </a:solidFill>
              </a:rPr>
              <a:t>Onda limpia garantizada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897880" y="3429000"/>
            <a:ext cx="2468880" cy="1325880"/>
          </a:xfrm>
          <a:prstGeom prst="rect">
            <a:avLst/>
          </a:prstGeom>
          <a:solidFill>
            <a:srgbClr val="00C4AA">
              <a:alpha val="12000"/>
            </a:srgbClr>
          </a:solidFill>
          <a:ln w="12700">
            <a:solidFill>
              <a:srgbClr val="00C4A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Text 16"/>
          <p:cNvSpPr/>
          <p:nvPr/>
        </p:nvSpPr>
        <p:spPr>
          <a:xfrm>
            <a:off x="6007608" y="3493008"/>
            <a:ext cx="22494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00C4A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</a:t>
            </a:r>
            <a:endParaRPr lang="en-US" sz="4200" dirty="0"/>
          </a:p>
        </p:txBody>
      </p:sp>
      <p:sp>
        <p:nvSpPr>
          <p:cNvPr id="19" name="Text 17"/>
          <p:cNvSpPr/>
          <p:nvPr/>
        </p:nvSpPr>
        <p:spPr>
          <a:xfrm>
            <a:off x="6007608" y="4133088"/>
            <a:ext cx="2249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baterías quím.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007608" y="4407408"/>
            <a:ext cx="2249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A9AB8"/>
                </a:solidFill>
              </a:rPr>
              <a:t>Solo física mecánica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11480" y="4864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9AB8"/>
                </a:solidFill>
              </a:rPr>
              <a:t>Victor Manzanares Alberola  ·  victormanzaresalberola@gmail.com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A326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326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El problema que resolvemos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2606040" cy="3657600"/>
          </a:xfrm>
          <a:prstGeom prst="rect">
            <a:avLst/>
          </a:prstGeom>
          <a:solidFill>
            <a:srgbClr val="FFFFFF"/>
          </a:solidFill>
          <a:ln w="25400">
            <a:solidFill>
              <a:srgbClr val="D93636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2606040" cy="658368"/>
          </a:xfrm>
          <a:prstGeom prst="rect">
            <a:avLst/>
          </a:prstGeom>
          <a:solidFill>
            <a:srgbClr val="D9363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475488" y="960120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⚡  Inercia en colapso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1691640"/>
            <a:ext cx="2359152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redes con alta penetración renovable pierden inercia natural. Sin masa giratoria en red, cualquier desequilibrio provoca caída de frecuencia.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88720" y="320040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⚡</a:t>
            </a:r>
            <a:endParaRPr lang="en-US" sz="3600" dirty="0"/>
          </a:p>
        </p:txBody>
      </p:sp>
      <p:sp>
        <p:nvSpPr>
          <p:cNvPr id="9" name="Shape 7"/>
          <p:cNvSpPr/>
          <p:nvPr/>
        </p:nvSpPr>
        <p:spPr>
          <a:xfrm>
            <a:off x="3200400" y="914400"/>
            <a:ext cx="2606040" cy="3657600"/>
          </a:xfrm>
          <a:prstGeom prst="rect">
            <a:avLst/>
          </a:prstGeom>
          <a:solidFill>
            <a:srgbClr val="FFFFFF"/>
          </a:solidFill>
          <a:ln w="25400">
            <a:solidFill>
              <a:srgbClr val="E8971A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0" name="Shape 8"/>
          <p:cNvSpPr/>
          <p:nvPr/>
        </p:nvSpPr>
        <p:spPr>
          <a:xfrm>
            <a:off x="3200400" y="914400"/>
            <a:ext cx="2606040" cy="658368"/>
          </a:xfrm>
          <a:prstGeom prst="rect">
            <a:avLst/>
          </a:prstGeom>
          <a:solidFill>
            <a:srgbClr val="E8971A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3310128" y="960120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🔋  Baterías: caro y tóxico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337560" y="1691640"/>
            <a:ext cx="2359152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soluciones actuales (litio, hidrógeno) cuestan 300–600 €/kWh, requieren mantenimiento intensivo y tienen vida útil limitada.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023360" y="320040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🔋</a:t>
            </a:r>
            <a:endParaRPr lang="en-US" sz="3600" dirty="0"/>
          </a:p>
        </p:txBody>
      </p:sp>
      <p:sp>
        <p:nvSpPr>
          <p:cNvPr id="14" name="Shape 12"/>
          <p:cNvSpPr/>
          <p:nvPr/>
        </p:nvSpPr>
        <p:spPr>
          <a:xfrm>
            <a:off x="6035040" y="914400"/>
            <a:ext cx="2606040" cy="3657600"/>
          </a:xfrm>
          <a:prstGeom prst="rect">
            <a:avLst/>
          </a:prstGeom>
          <a:solidFill>
            <a:srgbClr val="FFFFFF"/>
          </a:solidFill>
          <a:ln w="25400">
            <a:solidFill>
              <a:srgbClr val="1A7FD4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5" name="Shape 13"/>
          <p:cNvSpPr/>
          <p:nvPr/>
        </p:nvSpPr>
        <p:spPr>
          <a:xfrm>
            <a:off x="6035040" y="914400"/>
            <a:ext cx="2606040" cy="658368"/>
          </a:xfrm>
          <a:prstGeom prst="rect">
            <a:avLst/>
          </a:prstGeom>
          <a:solidFill>
            <a:srgbClr val="1A7FD4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6144768" y="960120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💨  Eólica: agente pasivo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172200" y="1691640"/>
            <a:ext cx="2359152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aerogeneradores actuales toman lo que el viento da. No regulan, no almacenan, no responden. Son precio-tomadores, no reguladores.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858000" y="320040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💨</a:t>
            </a:r>
            <a:endParaRPr lang="en-US" sz="3600" dirty="0"/>
          </a:p>
        </p:txBody>
      </p:sp>
      <p:sp>
        <p:nvSpPr>
          <p:cNvPr id="19" name="Shape 17"/>
          <p:cNvSpPr/>
          <p:nvPr/>
        </p:nvSpPr>
        <p:spPr>
          <a:xfrm>
            <a:off x="0" y="4736592"/>
            <a:ext cx="9144000" cy="406908"/>
          </a:xfrm>
          <a:prstGeom prst="rect">
            <a:avLst/>
          </a:prstGeom>
          <a:solidFill>
            <a:srgbClr val="0A326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0" name="Text 18"/>
          <p:cNvSpPr/>
          <p:nvPr/>
        </p:nvSpPr>
        <p:spPr>
          <a:xfrm>
            <a:off x="365760" y="477316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C4AA"/>
                </a:solidFill>
              </a:rPr>
              <a:t>ZypyZape convierte los molinos existentes en reguladores activos de red con inercia sintética.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11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3"/>
          <p:cNvSpPr/>
          <p:nvPr/>
        </p:nvSpPr>
        <p:spPr>
          <a:xfrm>
            <a:off x="320039" y="987552"/>
            <a:ext cx="1176867" cy="1207008"/>
          </a:xfrm>
          <a:prstGeom prst="rect">
            <a:avLst/>
          </a:prstGeom>
          <a:solidFill>
            <a:srgbClr val="00C4A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" name="Shape 0"/>
          <p:cNvSpPr/>
          <p:nvPr/>
        </p:nvSpPr>
        <p:spPr>
          <a:xfrm>
            <a:off x="0" y="-1"/>
            <a:ext cx="9144000" cy="5143501"/>
          </a:xfrm>
          <a:prstGeom prst="rect">
            <a:avLst/>
          </a:prstGeom>
          <a:solidFill>
            <a:srgbClr val="F7A209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 física que lo sustenta · Base normativa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987552"/>
            <a:ext cx="4572000" cy="1207008"/>
          </a:xfrm>
          <a:prstGeom prst="rect">
            <a:avLst/>
          </a:prstGeom>
          <a:solidFill>
            <a:schemeClr val="bg2"/>
          </a:solidFill>
          <a:ln w="19050">
            <a:solidFill>
              <a:srgbClr val="00C4AA"/>
            </a:solidFill>
            <a:prstDash val="solid"/>
          </a:ln>
          <a:effectLst>
            <a:outerShdw blurRad="1270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530352" y="1024128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C4AA"/>
                </a:solidFill>
              </a:rPr>
              <a:t>Ley de Faraday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30352" y="1353312"/>
            <a:ext cx="42519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E = −dΦ/dt  ·  La variación de flujo magnético entre rotor y estátor genera tensión proporcional a la velocidad. A más velocidad → más tensión y potencia disponible.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2286000"/>
            <a:ext cx="4572000" cy="1207008"/>
          </a:xfrm>
          <a:prstGeom prst="rect">
            <a:avLst/>
          </a:prstGeom>
          <a:solidFill>
            <a:schemeClr val="bg2"/>
          </a:solidFill>
          <a:ln w="19050">
            <a:solidFill>
              <a:srgbClr val="22B96A"/>
            </a:solidFill>
            <a:prstDash val="solid"/>
          </a:ln>
          <a:effectLst>
            <a:outerShdw blurRad="1270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9" name="Shape 7"/>
          <p:cNvSpPr/>
          <p:nvPr/>
        </p:nvSpPr>
        <p:spPr>
          <a:xfrm>
            <a:off x="320040" y="2286000"/>
            <a:ext cx="109728" cy="1207008"/>
          </a:xfrm>
          <a:prstGeom prst="rect">
            <a:avLst/>
          </a:prstGeom>
          <a:solidFill>
            <a:srgbClr val="22B96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530352" y="2322576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B96A"/>
                </a:solidFill>
              </a:rPr>
              <a:t>Ley de Lenz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30352" y="2651760"/>
            <a:ext cx="42519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El campo inducido siempre se opone al cambio que lo produce. Al aumentar la velocidad del aspa, el motor ofrece más resistencia al movimiento → el viento tiene más superficie cinética contra la que empujar → capta más energía.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" y="3584448"/>
            <a:ext cx="4572000" cy="1207008"/>
          </a:xfrm>
          <a:prstGeom prst="rect">
            <a:avLst/>
          </a:prstGeom>
          <a:solidFill>
            <a:schemeClr val="bg2"/>
          </a:solidFill>
          <a:ln w="19050">
            <a:solidFill>
              <a:srgbClr val="E8971A"/>
            </a:solidFill>
            <a:prstDash val="solid"/>
          </a:ln>
          <a:effectLst>
            <a:outerShdw blurRad="1270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3" name="Shape 11"/>
          <p:cNvSpPr/>
          <p:nvPr/>
        </p:nvSpPr>
        <p:spPr>
          <a:xfrm>
            <a:off x="320040" y="3584448"/>
            <a:ext cx="109728" cy="1207008"/>
          </a:xfrm>
          <a:prstGeom prst="rect">
            <a:avLst/>
          </a:prstGeom>
          <a:solidFill>
            <a:srgbClr val="E8971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530352" y="3621024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971A"/>
                </a:solidFill>
              </a:rPr>
              <a:t>Conservación de energía cinética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30352" y="3950208"/>
            <a:ext cx="42519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E_rot = ½ · I · ω²  ·  La energía almacenada en la masa giratoria crece con el cuadrado de la velocidad angular. Duplicar ω cuadruplica la reserva cinética disponible para la red.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212080" y="960120"/>
            <a:ext cx="3657600" cy="4005072"/>
          </a:xfrm>
          <a:prstGeom prst="rect">
            <a:avLst/>
          </a:prstGeom>
          <a:solidFill>
            <a:schemeClr val="bg2"/>
          </a:solidFill>
          <a:ln w="19050">
            <a:solidFill>
              <a:srgbClr val="22B96A"/>
            </a:solidFill>
            <a:prstDash val="solid"/>
          </a:ln>
          <a:effectLst>
            <a:outerShdw blurRad="1270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7" name="Text 15"/>
          <p:cNvSpPr/>
          <p:nvPr/>
        </p:nvSpPr>
        <p:spPr>
          <a:xfrm>
            <a:off x="5349240" y="1024128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B96A"/>
                </a:solidFill>
              </a:rPr>
              <a:t>¿Por qué mejora más la captación que el rozamiento?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349240" y="1536192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Potencia captada del viento: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349240" y="1800933"/>
            <a:ext cx="3383280" cy="475488"/>
          </a:xfrm>
          <a:prstGeom prst="rect">
            <a:avLst/>
          </a:prstGeom>
          <a:solidFill>
            <a:srgbClr val="F7A209"/>
          </a:solidFill>
          <a:ln w="12700">
            <a:solidFill>
              <a:srgbClr val="22B96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Text 18"/>
          <p:cNvSpPr/>
          <p:nvPr/>
        </p:nvSpPr>
        <p:spPr>
          <a:xfrm>
            <a:off x="5349240" y="1824011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2B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P_viento  =  ½ · ρ · A · v³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349240" y="2312562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Rozamiento en rodamientos: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303520" y="2589370"/>
            <a:ext cx="3383280" cy="475488"/>
          </a:xfrm>
          <a:prstGeom prst="rect">
            <a:avLst/>
          </a:prstGeom>
          <a:solidFill>
            <a:srgbClr val="F7A209"/>
          </a:solidFill>
          <a:ln w="12700">
            <a:solidFill>
              <a:srgbClr val="E8971A"/>
            </a:solidFill>
            <a:prstDash val="solid"/>
          </a:ln>
        </p:spPr>
        <p:txBody>
          <a:bodyPr/>
          <a:lstStyle/>
          <a:p>
            <a:endParaRPr lang="es-ES" dirty="0"/>
          </a:p>
        </p:txBody>
      </p:sp>
      <p:sp>
        <p:nvSpPr>
          <p:cNvPr id="23" name="Text 21"/>
          <p:cNvSpPr/>
          <p:nvPr/>
        </p:nvSpPr>
        <p:spPr>
          <a:xfrm>
            <a:off x="5326380" y="2628900"/>
            <a:ext cx="3383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P_roz  =  f · ω  ·  (lineal en ω)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349240" y="3186468"/>
            <a:ext cx="3383280" cy="1586700"/>
          </a:xfrm>
          <a:prstGeom prst="rect">
            <a:avLst/>
          </a:prstGeom>
          <a:solidFill>
            <a:srgbClr val="F7A209"/>
          </a:solidFill>
          <a:ln w="12700">
            <a:solidFill>
              <a:srgbClr val="00C4A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5" name="Text 23"/>
          <p:cNvSpPr/>
          <p:nvPr/>
        </p:nvSpPr>
        <p:spPr>
          <a:xfrm>
            <a:off x="5440680" y="3197229"/>
            <a:ext cx="3246120" cy="1521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0C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Conclusión:
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la velocidad sube un 15%:
</a:t>
            </a:r>
            <a:r>
              <a:rPr lang="en-US" sz="1400" b="1" dirty="0">
                <a:solidFill>
                  <a:srgbClr val="22B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Captación ↑ 52% (v³)
</a:t>
            </a:r>
            <a:r>
              <a:rPr lang="en-US" sz="1400" dirty="0">
                <a:solidFill>
                  <a:srgbClr val="E89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Rozamiento ↑ 15% (lineal)
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Balance: </a:t>
            </a:r>
            <a:r>
              <a:rPr lang="en-US" sz="1400" b="1" dirty="0">
                <a:solidFill>
                  <a:srgbClr val="22B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+37% neto
</a:t>
            </a:r>
            <a:r>
              <a:rPr lang="en-US" sz="1400" i="1" dirty="0">
                <a:solidFill>
                  <a:srgbClr val="7A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Ref: IEC 61400-1:2019</a:t>
            </a:r>
            <a:endParaRPr lang="en-US" sz="1400" dirty="0"/>
          </a:p>
          <a:p>
            <a:pPr marL="0" indent="0">
              <a:buNone/>
            </a:pPr>
            <a:r>
              <a:rPr lang="en-US" sz="1400" i="1" dirty="0">
                <a:solidFill>
                  <a:srgbClr val="7A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Betz limit: Cp_max = 16/27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2B96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A326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¿Por qué 5 molinos para la autorregulación?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7A9AB8"/>
                </a:solidFill>
              </a:rPr>
              <a:t>Topología mínima que garantiza regulación autónoma y escalabilidad por conexionado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240280" y="1207008"/>
            <a:ext cx="4663440" cy="3072384"/>
          </a:xfrm>
          <a:prstGeom prst="ellipse">
            <a:avLst/>
          </a:prstGeom>
          <a:solidFill>
            <a:srgbClr val="22B96A">
              <a:alpha val="8000"/>
            </a:srgbClr>
          </a:solidFill>
          <a:ln w="31750">
            <a:solidFill>
              <a:srgbClr val="22B96A"/>
            </a:solidFill>
            <a:prstDash val="dash"/>
          </a:ln>
        </p:spPr>
        <p:txBody>
          <a:bodyPr/>
          <a:lstStyle/>
          <a:p>
            <a:endParaRPr lang="es-ES"/>
          </a:p>
        </p:txBody>
      </p:sp>
      <p:sp>
        <p:nvSpPr>
          <p:cNvPr id="6" name="Shape 4"/>
          <p:cNvSpPr/>
          <p:nvPr/>
        </p:nvSpPr>
        <p:spPr>
          <a:xfrm>
            <a:off x="4114800" y="1069848"/>
            <a:ext cx="914400" cy="685800"/>
          </a:xfrm>
          <a:prstGeom prst="ellipse">
            <a:avLst/>
          </a:prstGeom>
          <a:solidFill>
            <a:srgbClr val="22B96A">
              <a:alpha val="80000"/>
            </a:srgbClr>
          </a:solidFill>
          <a:ln w="25400">
            <a:solidFill>
              <a:srgbClr val="22B96A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4114800" y="1069848"/>
            <a:ext cx="91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ANILLO A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0" y="1874520"/>
            <a:ext cx="0" cy="0"/>
          </a:xfrm>
          <a:prstGeom prst="line">
            <a:avLst/>
          </a:prstGeom>
          <a:noFill/>
          <a:ln w="15240">
            <a:solidFill>
              <a:srgbClr val="22B96A"/>
            </a:solidFill>
            <a:prstDash val="sysDash"/>
          </a:ln>
        </p:spPr>
        <p:txBody>
          <a:bodyPr/>
          <a:lstStyle/>
          <a:p>
            <a:endParaRPr lang="es-ES"/>
          </a:p>
        </p:txBody>
      </p:sp>
      <p:sp>
        <p:nvSpPr>
          <p:cNvPr id="9" name="Shape 7"/>
          <p:cNvSpPr/>
          <p:nvPr/>
        </p:nvSpPr>
        <p:spPr>
          <a:xfrm>
            <a:off x="2966554" y="3058668"/>
            <a:ext cx="914400" cy="685800"/>
          </a:xfrm>
          <a:prstGeom prst="ellipse">
            <a:avLst/>
          </a:prstGeom>
          <a:solidFill>
            <a:srgbClr val="22B96A">
              <a:alpha val="80000"/>
            </a:srgbClr>
          </a:solidFill>
          <a:ln w="25400">
            <a:solidFill>
              <a:srgbClr val="22B96A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2966554" y="3058668"/>
            <a:ext cx="91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ANILLO B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819701" y="3177540"/>
            <a:ext cx="0" cy="329184"/>
          </a:xfrm>
          <a:prstGeom prst="line">
            <a:avLst/>
          </a:prstGeom>
          <a:noFill/>
          <a:ln w="15240">
            <a:solidFill>
              <a:srgbClr val="22B96A"/>
            </a:solidFill>
            <a:prstDash val="sysDash"/>
          </a:ln>
        </p:spPr>
        <p:txBody>
          <a:bodyPr/>
          <a:lstStyle/>
          <a:p>
            <a:endParaRPr lang="es-ES"/>
          </a:p>
        </p:txBody>
      </p:sp>
      <p:sp>
        <p:nvSpPr>
          <p:cNvPr id="12" name="Shape 10"/>
          <p:cNvSpPr/>
          <p:nvPr/>
        </p:nvSpPr>
        <p:spPr>
          <a:xfrm>
            <a:off x="5263046" y="3058668"/>
            <a:ext cx="914400" cy="685800"/>
          </a:xfrm>
          <a:prstGeom prst="ellipse">
            <a:avLst/>
          </a:prstGeom>
          <a:solidFill>
            <a:srgbClr val="22B96A">
              <a:alpha val="80000"/>
            </a:srgbClr>
          </a:solidFill>
          <a:ln w="25400">
            <a:solidFill>
              <a:srgbClr val="22B96A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5263046" y="3058668"/>
            <a:ext cx="91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ANILLO C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324299" y="3177540"/>
            <a:ext cx="570163" cy="329184"/>
          </a:xfrm>
          <a:prstGeom prst="line">
            <a:avLst/>
          </a:prstGeom>
          <a:noFill/>
          <a:ln w="15240">
            <a:solidFill>
              <a:srgbClr val="22B96A"/>
            </a:solidFill>
            <a:prstDash val="sysDash"/>
          </a:ln>
        </p:spPr>
        <p:txBody>
          <a:bodyPr/>
          <a:lstStyle/>
          <a:p>
            <a:endParaRPr lang="es-ES"/>
          </a:p>
        </p:txBody>
      </p:sp>
      <p:sp>
        <p:nvSpPr>
          <p:cNvPr id="15" name="Shape 13"/>
          <p:cNvSpPr/>
          <p:nvPr/>
        </p:nvSpPr>
        <p:spPr>
          <a:xfrm>
            <a:off x="2999232" y="2267712"/>
            <a:ext cx="1417320" cy="960120"/>
          </a:xfrm>
          <a:prstGeom prst="ellipse">
            <a:avLst/>
          </a:prstGeom>
          <a:solidFill>
            <a:srgbClr val="1A7FD4">
              <a:alpha val="82000"/>
            </a:srgbClr>
          </a:solidFill>
          <a:ln w="31750">
            <a:solidFill>
              <a:srgbClr val="1A7FD4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2999232" y="242316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MOTOR 1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120°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727448" y="2267712"/>
            <a:ext cx="1417320" cy="960120"/>
          </a:xfrm>
          <a:prstGeom prst="ellipse">
            <a:avLst/>
          </a:prstGeom>
          <a:solidFill>
            <a:srgbClr val="0A3260">
              <a:alpha val="82000"/>
            </a:srgbClr>
          </a:solidFill>
          <a:ln w="31750">
            <a:solidFill>
              <a:srgbClr val="0A326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8" name="Text 16"/>
          <p:cNvSpPr/>
          <p:nvPr/>
        </p:nvSpPr>
        <p:spPr>
          <a:xfrm>
            <a:off x="4727448" y="242316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MOTOR 2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120°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023360" y="208483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E8971A"/>
                </a:solidFill>
              </a:rPr>
              <a:t>desfase 120°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28600" y="1005840"/>
            <a:ext cx="214884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0A326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1" name="Shape 19"/>
          <p:cNvSpPr/>
          <p:nvPr/>
        </p:nvSpPr>
        <p:spPr>
          <a:xfrm>
            <a:off x="228600" y="1005840"/>
            <a:ext cx="2148840" cy="457200"/>
          </a:xfrm>
          <a:prstGeom prst="rect">
            <a:avLst/>
          </a:prstGeom>
          <a:solidFill>
            <a:srgbClr val="0A326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2" name="Text 20"/>
          <p:cNvSpPr/>
          <p:nvPr/>
        </p:nvSpPr>
        <p:spPr>
          <a:xfrm>
            <a:off x="320040" y="1033272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¿Por qué 5?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20040" y="1600200"/>
            <a:ext cx="402336" cy="402336"/>
          </a:xfrm>
          <a:prstGeom prst="ellipse">
            <a:avLst/>
          </a:prstGeom>
          <a:solidFill>
            <a:srgbClr val="1A7FD4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4" name="Text 22"/>
          <p:cNvSpPr/>
          <p:nvPr/>
        </p:nvSpPr>
        <p:spPr>
          <a:xfrm>
            <a:off x="320040" y="16002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95528" y="1581912"/>
            <a:ext cx="1463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Centrales a 120°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permiten conexión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directa a red trifásica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20040" y="2606040"/>
            <a:ext cx="402336" cy="402336"/>
          </a:xfrm>
          <a:prstGeom prst="ellipse">
            <a:avLst/>
          </a:prstGeom>
          <a:solidFill>
            <a:srgbClr val="22B96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7" name="Text 25"/>
          <p:cNvSpPr/>
          <p:nvPr/>
        </p:nvSpPr>
        <p:spPr>
          <a:xfrm>
            <a:off x="320040" y="26060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95528" y="2587752"/>
            <a:ext cx="1463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Anillo = regulador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magnético autónomo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amortiguador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20040" y="3611880"/>
            <a:ext cx="402336" cy="402336"/>
          </a:xfrm>
          <a:prstGeom prst="ellipse">
            <a:avLst/>
          </a:prstGeom>
          <a:solidFill>
            <a:srgbClr val="E8971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0" name="Text 28"/>
          <p:cNvSpPr/>
          <p:nvPr/>
        </p:nvSpPr>
        <p:spPr>
          <a:xfrm>
            <a:off x="320040" y="36118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=5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795528" y="3593592"/>
            <a:ext cx="1463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Mínimo indivisible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autorregulación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control externo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812280" y="1005840"/>
            <a:ext cx="214884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C4AA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3" name="Shape 31"/>
          <p:cNvSpPr/>
          <p:nvPr/>
        </p:nvSpPr>
        <p:spPr>
          <a:xfrm>
            <a:off x="6812280" y="1005840"/>
            <a:ext cx="2148840" cy="457200"/>
          </a:xfrm>
          <a:prstGeom prst="rect">
            <a:avLst/>
          </a:prstGeom>
          <a:solidFill>
            <a:srgbClr val="00C4A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4" name="Text 32"/>
          <p:cNvSpPr/>
          <p:nvPr/>
        </p:nvSpPr>
        <p:spPr>
          <a:xfrm>
            <a:off x="6903720" y="1033272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Escalabilidad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903720" y="1572768"/>
            <a:ext cx="19659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conexionado eléctrico
(sin obra mecánica):
</a:t>
            </a:r>
            <a:r>
              <a:rPr lang="en-US" sz="1100" b="1" dirty="0">
                <a:solidFill>
                  <a:srgbClr val="00C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módulo  →
</a:t>
            </a: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autorregulación local
</a:t>
            </a:r>
            <a:r>
              <a:rPr lang="en-US" sz="1100" b="1" dirty="0">
                <a:solidFill>
                  <a:srgbClr val="00C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módulos →
</a:t>
            </a: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regulación de red
regional / nacional
</a:t>
            </a:r>
            <a:r>
              <a:rPr lang="en-US" sz="1100" b="1" dirty="0">
                <a:solidFill>
                  <a:srgbClr val="22B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módulo añadido
</a:t>
            </a: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aumenta la capacidad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inercia total del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forma lineal.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11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7450"/>
            <a:ext cx="9144000" cy="5136049"/>
          </a:xfrm>
          <a:prstGeom prst="rect">
            <a:avLst/>
          </a:prstGeom>
          <a:solidFill>
            <a:srgbClr val="1A7FD4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Desfase 120° · Conexión a red e inercia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/>
              <a:t>Por qué dos centrales desfasados 120° es la clave para red trifásica y reserva de inercia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4114800" cy="3931920"/>
          </a:xfrm>
          <a:prstGeom prst="rect">
            <a:avLst/>
          </a:prstGeom>
          <a:solidFill>
            <a:schemeClr val="bg2"/>
          </a:solidFill>
          <a:ln w="19050">
            <a:solidFill>
              <a:srgbClr val="1A7FD4"/>
            </a:solidFill>
            <a:prstDash val="solid"/>
          </a:ln>
          <a:effectLst>
            <a:outerShdw blurRad="1270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411480" y="107899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7FD4"/>
                </a:solidFill>
              </a:rPr>
              <a:t>Red trifásica 50 Hz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325880" y="1691640"/>
            <a:ext cx="2011680" cy="2011680"/>
          </a:xfrm>
          <a:prstGeom prst="ellipse">
            <a:avLst/>
          </a:prstGeom>
          <a:solidFill>
            <a:srgbClr val="1A7FD4">
              <a:alpha val="5000"/>
            </a:srgbClr>
          </a:solidFill>
          <a:ln w="12700">
            <a:solidFill>
              <a:srgbClr val="1A7FD4"/>
            </a:solidFill>
            <a:prstDash val="dash"/>
          </a:ln>
        </p:spPr>
        <p:txBody>
          <a:bodyPr/>
          <a:lstStyle/>
          <a:p>
            <a:endParaRPr lang="es-ES"/>
          </a:p>
        </p:txBody>
      </p:sp>
      <p:sp>
        <p:nvSpPr>
          <p:cNvPr id="8" name="Shape 6"/>
          <p:cNvSpPr/>
          <p:nvPr/>
        </p:nvSpPr>
        <p:spPr>
          <a:xfrm>
            <a:off x="2331720" y="2697480"/>
            <a:ext cx="0" cy="0"/>
          </a:xfrm>
          <a:prstGeom prst="line">
            <a:avLst/>
          </a:prstGeom>
          <a:noFill/>
          <a:ln w="38100">
            <a:solidFill>
              <a:srgbClr val="1A7FD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Shape 7"/>
          <p:cNvSpPr/>
          <p:nvPr/>
        </p:nvSpPr>
        <p:spPr>
          <a:xfrm>
            <a:off x="2194560" y="1554480"/>
            <a:ext cx="274320" cy="274320"/>
          </a:xfrm>
          <a:prstGeom prst="ellipse">
            <a:avLst/>
          </a:prstGeom>
          <a:solidFill>
            <a:srgbClr val="1A7FD4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2011680" y="1325880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7FD4"/>
                </a:solidFill>
              </a:rPr>
              <a:t>L1 (M1)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 flipH="1">
            <a:off x="1460637" y="2697480"/>
            <a:ext cx="871083" cy="502920"/>
          </a:xfrm>
          <a:prstGeom prst="line">
            <a:avLst/>
          </a:prstGeom>
          <a:noFill/>
          <a:ln w="38100">
            <a:solidFill>
              <a:srgbClr val="00C4A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Shape 10"/>
          <p:cNvSpPr/>
          <p:nvPr/>
        </p:nvSpPr>
        <p:spPr>
          <a:xfrm>
            <a:off x="1323477" y="3063240"/>
            <a:ext cx="274320" cy="274320"/>
          </a:xfrm>
          <a:prstGeom prst="ellipse">
            <a:avLst/>
          </a:prstGeom>
          <a:solidFill>
            <a:srgbClr val="00C4A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966380" y="3136392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C4AA"/>
                </a:solidFill>
              </a:rPr>
              <a:t>L2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331720" y="2697480"/>
            <a:ext cx="871083" cy="502920"/>
          </a:xfrm>
          <a:prstGeom prst="line">
            <a:avLst/>
          </a:prstGeom>
          <a:noFill/>
          <a:ln w="38100">
            <a:solidFill>
              <a:srgbClr val="22B96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Shape 13"/>
          <p:cNvSpPr/>
          <p:nvPr/>
        </p:nvSpPr>
        <p:spPr>
          <a:xfrm>
            <a:off x="3065643" y="3063240"/>
            <a:ext cx="274320" cy="274320"/>
          </a:xfrm>
          <a:prstGeom prst="ellipse">
            <a:avLst/>
          </a:prstGeom>
          <a:solidFill>
            <a:srgbClr val="22B96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3056980" y="3136392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B96A"/>
                </a:solidFill>
              </a:rPr>
              <a:t>L3 (M2)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468880" y="225856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971A"/>
                </a:solidFill>
              </a:rPr>
              <a:t>120°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673352" y="274320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971A"/>
                </a:solidFill>
              </a:rPr>
              <a:t>120°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11480" y="3310128"/>
            <a:ext cx="384048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100" b="1" dirty="0">
              <a:solidFill>
                <a:srgbClr val="1A7FD4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en-US" sz="1100" b="1" dirty="0">
              <a:solidFill>
                <a:srgbClr val="1A7FD4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100" b="1" dirty="0" err="1">
                <a:solidFill>
                  <a:srgbClr val="1A7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Desfase</a:t>
            </a:r>
            <a:r>
              <a:rPr lang="en-US" sz="1100" b="1" dirty="0">
                <a:solidFill>
                  <a:srgbClr val="1A7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simétrico 120°
</a:t>
            </a: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= inyección trifásica perfecta.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Dos motores centrales desfasados 120° por control eléctrico reproducen los 3 vectores de fase de la red. El tercer vector lo completa el anillo.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54880" y="1005840"/>
            <a:ext cx="4114800" cy="3931920"/>
          </a:xfrm>
          <a:prstGeom prst="rect">
            <a:avLst/>
          </a:prstGeom>
          <a:solidFill>
            <a:schemeClr val="bg2"/>
          </a:solidFill>
          <a:ln w="19050">
            <a:solidFill>
              <a:srgbClr val="00C4AA"/>
            </a:solidFill>
            <a:prstDash val="solid"/>
          </a:ln>
          <a:effectLst>
            <a:outerShdw blurRad="1270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1" name="Text 19"/>
          <p:cNvSpPr/>
          <p:nvPr/>
        </p:nvSpPr>
        <p:spPr>
          <a:xfrm>
            <a:off x="4892040" y="107899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C4AA"/>
                </a:solidFill>
              </a:rPr>
              <a:t>Inercia sintética al sistema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892040" y="1508760"/>
            <a:ext cx="3657600" cy="566928"/>
          </a:xfrm>
          <a:prstGeom prst="rect">
            <a:avLst/>
          </a:prstGeom>
          <a:solidFill>
            <a:srgbClr val="F7A209"/>
          </a:solidFill>
          <a:ln w="12700">
            <a:solidFill>
              <a:srgbClr val="00C4A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3" name="Text 21"/>
          <p:cNvSpPr/>
          <p:nvPr/>
        </p:nvSpPr>
        <p:spPr>
          <a:xfrm>
            <a:off x="4892040" y="1536192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C4AA"/>
                </a:solidFill>
              </a:rPr>
              <a:t>H = ½·I·ω² / S_nominal  [MWs/MVA]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892040" y="21031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7A9AB8"/>
                </a:solidFill>
              </a:rPr>
              <a:t>ENTSO-E NC RfG 2.0 · T_M,PPM compliance metric · Phase II Report nov.2025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892040" y="2423160"/>
            <a:ext cx="146304" cy="475488"/>
          </a:xfrm>
          <a:prstGeom prst="rect">
            <a:avLst/>
          </a:prstGeom>
          <a:solidFill>
            <a:srgbClr val="00C4A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6" name="Text 24"/>
          <p:cNvSpPr/>
          <p:nvPr/>
        </p:nvSpPr>
        <p:spPr>
          <a:xfrm>
            <a:off x="5120640" y="2423160"/>
            <a:ext cx="3611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5 molinos con masas giratorias = H ≈ 3–6 MWs/MVA (equivalente a central de ciclo combinado)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892040" y="3081528"/>
            <a:ext cx="146304" cy="475488"/>
          </a:xfrm>
          <a:prstGeom prst="rect">
            <a:avLst/>
          </a:prstGeom>
          <a:solidFill>
            <a:srgbClr val="1A7FD4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8" name="Text 26"/>
          <p:cNvSpPr/>
          <p:nvPr/>
        </p:nvSpPr>
        <p:spPr>
          <a:xfrm>
            <a:off x="5120640" y="3081528"/>
            <a:ext cx="3611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Al caer la frecuencia, los rotores ceden energía cinética automáticamente — sin control electrónico (física pura)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892040" y="3739896"/>
            <a:ext cx="146304" cy="475488"/>
          </a:xfrm>
          <a:prstGeom prst="rect">
            <a:avLst/>
          </a:prstGeom>
          <a:solidFill>
            <a:srgbClr val="22B96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0" name="Text 28"/>
          <p:cNvSpPr/>
          <p:nvPr/>
        </p:nvSpPr>
        <p:spPr>
          <a:xfrm>
            <a:off x="5120640" y="3739896"/>
            <a:ext cx="3611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Desfase 120° garantiza entrega continua en las 3 fases simultáneamente — conexión directa a red trifásica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892040" y="4398264"/>
            <a:ext cx="146304" cy="475488"/>
          </a:xfrm>
          <a:prstGeom prst="rect">
            <a:avLst/>
          </a:prstGeom>
          <a:solidFill>
            <a:srgbClr val="E8971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2" name="Text 30"/>
          <p:cNvSpPr/>
          <p:nvPr/>
        </p:nvSpPr>
        <p:spPr>
          <a:xfrm>
            <a:off x="5120640" y="4398264"/>
            <a:ext cx="3611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El anillo amortigua transitorios y recicla armónicos: onda limpia a red. Sin baterías de respaldo.</a:t>
            </a:r>
            <a:endParaRPr lang="en-US" sz="1100" dirty="0"/>
          </a:p>
        </p:txBody>
      </p:sp>
      <p:sp>
        <p:nvSpPr>
          <p:cNvPr id="33" name="Shape 9">
            <a:extLst>
              <a:ext uri="{FF2B5EF4-FFF2-40B4-BE49-F238E27FC236}">
                <a16:creationId xmlns:a16="http://schemas.microsoft.com/office/drawing/2014/main" id="{19EBD26F-4052-A058-3CF1-41EA19B79559}"/>
              </a:ext>
            </a:extLst>
          </p:cNvPr>
          <p:cNvSpPr/>
          <p:nvPr/>
        </p:nvSpPr>
        <p:spPr>
          <a:xfrm flipH="1" flipV="1">
            <a:off x="2329317" y="1746504"/>
            <a:ext cx="11066" cy="950976"/>
          </a:xfrm>
          <a:prstGeom prst="line">
            <a:avLst/>
          </a:prstGeom>
          <a:noFill/>
          <a:ln w="381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A326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A326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Material necesario · Hardware existente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7A9AB8"/>
                </a:solidFill>
              </a:rPr>
              <a:t>ZypyZape opera sobre aerogeneradores estándar. No requiere nueva infraestructura de generación.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4160520" cy="1097280"/>
          </a:xfrm>
          <a:prstGeom prst="rect">
            <a:avLst/>
          </a:prstGeom>
          <a:solidFill>
            <a:srgbClr val="FFFFFF"/>
          </a:solidFill>
          <a:ln w="10160">
            <a:solidFill>
              <a:srgbClr val="0A326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457200" y="112471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💨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078992" y="1133856"/>
            <a:ext cx="3337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3260"/>
                </a:solidFill>
              </a:rPr>
              <a:t>Aerogeneradores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78992" y="1481328"/>
            <a:ext cx="3337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molinos estándar por módulo (multimegavatio), ya instalados o nuevos. Conexionado eléctrico híbrido a 2 estrellas + 1 anillo.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00600" y="1078992"/>
            <a:ext cx="4160520" cy="1097280"/>
          </a:xfrm>
          <a:prstGeom prst="rect">
            <a:avLst/>
          </a:prstGeom>
          <a:solidFill>
            <a:srgbClr val="FFFFFF"/>
          </a:solidFill>
          <a:ln w="10160">
            <a:solidFill>
              <a:srgbClr val="0A326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4892040" y="112471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⚡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5513832" y="1133856"/>
            <a:ext cx="3337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3260"/>
                </a:solidFill>
              </a:rPr>
              <a:t>Electrónica potencia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513832" y="1481328"/>
            <a:ext cx="3337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Convertidores back-to-back rápidos para control del desfase 120° y gestión de las permutaciones a k×50 Hz.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2286000"/>
            <a:ext cx="4160520" cy="1097280"/>
          </a:xfrm>
          <a:prstGeom prst="rect">
            <a:avLst/>
          </a:prstGeom>
          <a:solidFill>
            <a:srgbClr val="FFFFFF"/>
          </a:solidFill>
          <a:ln w="10160">
            <a:solidFill>
              <a:srgbClr val="0A326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457200" y="23317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🖥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1078992" y="2340864"/>
            <a:ext cx="3337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3260"/>
                </a:solidFill>
              </a:rPr>
              <a:t>Control SCADA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78992" y="2688336"/>
            <a:ext cx="3337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monitorización y control distribuido. Lectura de red → ajuste automático del punto de operación.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800600" y="2286000"/>
            <a:ext cx="4160520" cy="1097280"/>
          </a:xfrm>
          <a:prstGeom prst="rect">
            <a:avLst/>
          </a:prstGeom>
          <a:solidFill>
            <a:srgbClr val="FFFFFF"/>
          </a:solidFill>
          <a:ln w="10160">
            <a:solidFill>
              <a:srgbClr val="0A326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8" name="Text 16"/>
          <p:cNvSpPr/>
          <p:nvPr/>
        </p:nvSpPr>
        <p:spPr>
          <a:xfrm>
            <a:off x="4892040" y="23317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🔌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5513832" y="2340864"/>
            <a:ext cx="3337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3260"/>
                </a:solidFill>
              </a:rPr>
              <a:t>Conexión a red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513832" y="2688336"/>
            <a:ext cx="3337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conexiones de potencia por módulo: 6 líneas + 2 neutros de inyección (solar u otras renovables).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" y="3493008"/>
            <a:ext cx="4160520" cy="1097280"/>
          </a:xfrm>
          <a:prstGeom prst="rect">
            <a:avLst/>
          </a:prstGeom>
          <a:solidFill>
            <a:srgbClr val="FFFFFF"/>
          </a:solidFill>
          <a:ln w="10160">
            <a:solidFill>
              <a:srgbClr val="0A326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2" name="Text 20"/>
          <p:cNvSpPr/>
          <p:nvPr/>
        </p:nvSpPr>
        <p:spPr>
          <a:xfrm>
            <a:off x="457200" y="353872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📡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1078992" y="3547872"/>
            <a:ext cx="3337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3260"/>
                </a:solidFill>
              </a:rPr>
              <a:t>Instrumentación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078992" y="3895344"/>
            <a:ext cx="3337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PMU (unidades de medición fasorial) para sincronización de desfase y lectura de frecuencia / tensión en tiempo real.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800600" y="3493008"/>
            <a:ext cx="4160520" cy="1097280"/>
          </a:xfrm>
          <a:prstGeom prst="rect">
            <a:avLst/>
          </a:prstGeom>
          <a:solidFill>
            <a:srgbClr val="FFFFFF"/>
          </a:solidFill>
          <a:ln w="10160">
            <a:solidFill>
              <a:srgbClr val="0A326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6" name="Text 24"/>
          <p:cNvSpPr/>
          <p:nvPr/>
        </p:nvSpPr>
        <p:spPr>
          <a:xfrm>
            <a:off x="4892040" y="353872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💡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5513832" y="3547872"/>
            <a:ext cx="3337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3260"/>
                </a:solidFill>
              </a:rPr>
              <a:t>Software de gestión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513832" y="3895344"/>
            <a:ext cx="3337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 de optimización del ciclo ZypyZape y coordinación entre módulos. Adaptable a BMS existente de parque.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0" y="4736592"/>
            <a:ext cx="9144000" cy="406908"/>
          </a:xfrm>
          <a:prstGeom prst="rect">
            <a:avLst/>
          </a:prstGeom>
          <a:solidFill>
            <a:srgbClr val="00C4A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0" name="Text 28"/>
          <p:cNvSpPr/>
          <p:nvPr/>
        </p:nvSpPr>
        <p:spPr>
          <a:xfrm>
            <a:off x="274320" y="4773168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E33"/>
                </a:solidFill>
              </a:rPr>
              <a:t>✔  Sin grandes excavaciones  ·  ✔  Integra solar existente  ·  ✔  Software actualizable  ·  ✔  Retro-compatible con parques en operación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11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92833" y="-109729"/>
            <a:ext cx="9144000" cy="5143501"/>
          </a:xfrm>
          <a:prstGeom prst="rect">
            <a:avLst/>
          </a:prstGeom>
          <a:solidFill>
            <a:srgbClr val="00C4A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457200" y="10972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 Ventajas competitivas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2743200" cy="124358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5240">
            <a:solidFill>
              <a:srgbClr val="22B96A"/>
            </a:solidFill>
            <a:prstDash val="solid"/>
          </a:ln>
          <a:effectLst>
            <a:outerShdw blurRad="1270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s-ES" dirty="0"/>
          </a:p>
        </p:txBody>
      </p:sp>
      <p:sp>
        <p:nvSpPr>
          <p:cNvPr id="5" name="Text 3"/>
          <p:cNvSpPr/>
          <p:nvPr/>
        </p:nvSpPr>
        <p:spPr>
          <a:xfrm>
            <a:off x="365760" y="96926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☀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96112" y="978408"/>
            <a:ext cx="2029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B96A"/>
                </a:solidFill>
              </a:rPr>
              <a:t>Regulación solar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1417320"/>
            <a:ext cx="25786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Integra generación fotovoltaica no estable a través de los neutros de inyección. Sin inversores adicionales.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0" y="914400"/>
            <a:ext cx="2743200" cy="124358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5240">
            <a:solidFill>
              <a:srgbClr val="00C4AA"/>
            </a:solidFill>
            <a:prstDash val="solid"/>
          </a:ln>
          <a:effectLst>
            <a:outerShdw blurRad="1270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3291840" y="96926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💨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822192" y="978408"/>
            <a:ext cx="2029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4AA"/>
                </a:solidFill>
              </a:rPr>
              <a:t>Regulación eólica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91840" y="1417320"/>
            <a:ext cx="25786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El módulo optimiza la captación según la velocidad del viento. Opera en punto óptimo dinámico.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126480" y="914400"/>
            <a:ext cx="2743200" cy="124358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5240">
            <a:solidFill>
              <a:srgbClr val="1A7FD4"/>
            </a:solidFill>
            <a:prstDash val="solid"/>
          </a:ln>
          <a:effectLst>
            <a:outerShdw blurRad="1270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6217920" y="96926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🔌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748272" y="978408"/>
            <a:ext cx="2029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7FD4"/>
                </a:solidFill>
              </a:rPr>
              <a:t>Regulación de red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217920" y="1417320"/>
            <a:ext cx="25786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Estabilización de frecuencia a 50 Hz en tiempo real, físicamente instantánea por inercia mecánica.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2267712"/>
            <a:ext cx="2743200" cy="124358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5240">
            <a:solidFill>
              <a:srgbClr val="E8971A"/>
            </a:solidFill>
            <a:prstDash val="solid"/>
          </a:ln>
          <a:effectLst>
            <a:outerShdw blurRad="1270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7" name="Text 15"/>
          <p:cNvSpPr/>
          <p:nvPr/>
        </p:nvSpPr>
        <p:spPr>
          <a:xfrm>
            <a:off x="365760" y="232257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⚙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896112" y="2331720"/>
            <a:ext cx="2029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971A"/>
                </a:solidFill>
              </a:rPr>
              <a:t>Inercia a red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65760" y="2770632"/>
            <a:ext cx="25786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H = 3–6 MWs/MVA por módulo. Compensa la pérdida de inercia de centrales convencionales al cierre.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0" y="2267712"/>
            <a:ext cx="2743200" cy="124358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5240">
            <a:solidFill>
              <a:srgbClr val="D93636"/>
            </a:solidFill>
            <a:prstDash val="solid"/>
          </a:ln>
          <a:effectLst>
            <a:outerShdw blurRad="1270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1" name="Text 19"/>
          <p:cNvSpPr/>
          <p:nvPr/>
        </p:nvSpPr>
        <p:spPr>
          <a:xfrm>
            <a:off x="3291840" y="232257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⛈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3822192" y="2331720"/>
            <a:ext cx="2029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3636"/>
                </a:solidFill>
              </a:rPr>
              <a:t>Captación de tormentas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291840" y="2770632"/>
            <a:ext cx="25786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Vientos extremos que hoy se cortan se pueden aprovechar: la mayor resistencia mejora la captación.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126480" y="2267712"/>
            <a:ext cx="2743200" cy="124358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5240">
            <a:solidFill>
              <a:srgbClr val="22B96A"/>
            </a:solidFill>
            <a:prstDash val="solid"/>
          </a:ln>
          <a:effectLst>
            <a:outerShdw blurRad="1270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5" name="Text 23"/>
          <p:cNvSpPr/>
          <p:nvPr/>
        </p:nvSpPr>
        <p:spPr>
          <a:xfrm>
            <a:off x="6217920" y="232257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📉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6748272" y="2331720"/>
            <a:ext cx="2029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B96A"/>
                </a:solidFill>
              </a:rPr>
              <a:t>Menor dependencia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217920" y="2770632"/>
            <a:ext cx="25786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La inercia almacenada cubre picos de demanda reduciendo la necesidad de gas de respaldo.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74320" y="3621024"/>
            <a:ext cx="2743200" cy="124358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5240">
            <a:solidFill>
              <a:srgbClr val="00C4AA"/>
            </a:solidFill>
            <a:prstDash val="solid"/>
          </a:ln>
          <a:effectLst>
            <a:outerShdw blurRad="1270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9" name="Text 27"/>
          <p:cNvSpPr/>
          <p:nvPr/>
        </p:nvSpPr>
        <p:spPr>
          <a:xfrm>
            <a:off x="365760" y="36758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🔄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896112" y="3685032"/>
            <a:ext cx="2029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4AA"/>
                </a:solidFill>
              </a:rPr>
              <a:t>Cambio de paradigma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65760" y="4123944"/>
            <a:ext cx="25786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De agente pasivo a regulador activo de red. El parque eólico cobra valor de regulación además de generación.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200400" y="3621024"/>
            <a:ext cx="2743200" cy="124358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5240">
            <a:solidFill>
              <a:srgbClr val="0A3260"/>
            </a:solidFill>
            <a:prstDash val="solid"/>
          </a:ln>
          <a:effectLst>
            <a:outerShdw blurRad="1270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3" name="Text 31"/>
          <p:cNvSpPr/>
          <p:nvPr/>
        </p:nvSpPr>
        <p:spPr>
          <a:xfrm>
            <a:off x="3291840" y="36758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🌐</a:t>
            </a:r>
            <a:endParaRPr lang="en-US" sz="2400" dirty="0"/>
          </a:p>
        </p:txBody>
      </p:sp>
      <p:sp>
        <p:nvSpPr>
          <p:cNvPr id="34" name="Text 32"/>
          <p:cNvSpPr/>
          <p:nvPr/>
        </p:nvSpPr>
        <p:spPr>
          <a:xfrm>
            <a:off x="3822192" y="3685032"/>
            <a:ext cx="2029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3260"/>
                </a:solidFill>
              </a:rPr>
              <a:t>Regulación distribuida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3291840" y="4123944"/>
            <a:ext cx="25786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Cada módulo es un nodo de regulación. La red mejora con cada nueva instalación ZypyZape.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126480" y="3621024"/>
            <a:ext cx="2743200" cy="124358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5240">
            <a:solidFill>
              <a:srgbClr val="E8971A"/>
            </a:solidFill>
            <a:prstDash val="solid"/>
          </a:ln>
          <a:effectLst>
            <a:outerShdw blurRad="1270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7" name="Text 35"/>
          <p:cNvSpPr/>
          <p:nvPr/>
        </p:nvSpPr>
        <p:spPr>
          <a:xfrm>
            <a:off x="6217920" y="36758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🌞</a:t>
            </a:r>
            <a:endParaRPr lang="en-US" sz="2400" dirty="0"/>
          </a:p>
        </p:txBody>
      </p:sp>
      <p:sp>
        <p:nvSpPr>
          <p:cNvPr id="38" name="Text 36"/>
          <p:cNvSpPr/>
          <p:nvPr/>
        </p:nvSpPr>
        <p:spPr>
          <a:xfrm>
            <a:off x="6748272" y="3685032"/>
            <a:ext cx="2029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971A"/>
                </a:solidFill>
              </a:rPr>
              <a:t>Parques optimizados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217920" y="4123944"/>
            <a:ext cx="25786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Nuevas instalaciones diseñadas para máxima captación de viento y solar simultánea en el mismo emplazamiento.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8971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A326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Estimaciones de retorno económico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7A9AB8"/>
                </a:solidFill>
              </a:rPr>
              <a:t>Valores conservadores sobre parque tipo de 50 MW (10 módulos ZypyZape)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2011680" cy="2194560"/>
          </a:xfrm>
          <a:prstGeom prst="rect">
            <a:avLst/>
          </a:prstGeom>
          <a:solidFill>
            <a:srgbClr val="FFFFFF"/>
          </a:solidFill>
          <a:ln w="25400">
            <a:solidFill>
              <a:srgbClr val="22B96A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6" name="Shape 4"/>
          <p:cNvSpPr/>
          <p:nvPr/>
        </p:nvSpPr>
        <p:spPr>
          <a:xfrm>
            <a:off x="320040" y="1051560"/>
            <a:ext cx="2011680" cy="566928"/>
          </a:xfrm>
          <a:prstGeom prst="rect">
            <a:avLst/>
          </a:prstGeom>
          <a:solidFill>
            <a:srgbClr val="22B96A">
              <a:alpha val="82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+15–25%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93192" y="169164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2B96A"/>
                </a:solidFill>
              </a:rPr>
              <a:t>generación eólica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" y="2176272"/>
            <a:ext cx="184708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Ley del cubo: +10% vel. → +33% captación vs +10% rozamiento (Betz law, IEC 61400-1)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496312" y="1051560"/>
            <a:ext cx="2011680" cy="2194560"/>
          </a:xfrm>
          <a:prstGeom prst="rect">
            <a:avLst/>
          </a:prstGeom>
          <a:solidFill>
            <a:srgbClr val="FFFFFF"/>
          </a:solidFill>
          <a:ln w="25400">
            <a:solidFill>
              <a:srgbClr val="00C4AA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1" name="Shape 9"/>
          <p:cNvSpPr/>
          <p:nvPr/>
        </p:nvSpPr>
        <p:spPr>
          <a:xfrm>
            <a:off x="2496312" y="1051560"/>
            <a:ext cx="2011680" cy="566928"/>
          </a:xfrm>
          <a:prstGeom prst="rect">
            <a:avLst/>
          </a:prstGeom>
          <a:solidFill>
            <a:srgbClr val="00C4AA">
              <a:alpha val="82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2496312" y="10972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30–50%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2569464" y="169164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C4AA"/>
                </a:solidFill>
              </a:rPr>
              <a:t>menos curtailment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587752" y="2176272"/>
            <a:ext cx="184708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Reducción de cortes forzados por inestabilidad de frecuencia (fuente: REE, RTE informes 2023-24)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72584" y="1051560"/>
            <a:ext cx="2011680" cy="2194560"/>
          </a:xfrm>
          <a:prstGeom prst="rect">
            <a:avLst/>
          </a:prstGeom>
          <a:solidFill>
            <a:srgbClr val="FFFFFF"/>
          </a:solidFill>
          <a:ln w="25400">
            <a:solidFill>
              <a:srgbClr val="E8971A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6" name="Shape 14"/>
          <p:cNvSpPr/>
          <p:nvPr/>
        </p:nvSpPr>
        <p:spPr>
          <a:xfrm>
            <a:off x="4672584" y="1051560"/>
            <a:ext cx="2011680" cy="566928"/>
          </a:xfrm>
          <a:prstGeom prst="rect">
            <a:avLst/>
          </a:prstGeom>
          <a:solidFill>
            <a:srgbClr val="E8971A">
              <a:alpha val="82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7" name="Text 15"/>
          <p:cNvSpPr/>
          <p:nvPr/>
        </p:nvSpPr>
        <p:spPr>
          <a:xfrm>
            <a:off x="4672584" y="10972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€112k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4745736" y="169164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8971A"/>
                </a:solidFill>
              </a:rPr>
              <a:t>/MW·año FCR (real)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764024" y="2176272"/>
            <a:ext cx="184708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 real Alemania 2023: €112.000/MW/año en mercado FCR (fuente: GEM Energy Analytics, ENTSO-E)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848856" y="1051560"/>
            <a:ext cx="2011680" cy="2194560"/>
          </a:xfrm>
          <a:prstGeom prst="rect">
            <a:avLst/>
          </a:prstGeom>
          <a:solidFill>
            <a:srgbClr val="FFFFFF"/>
          </a:solidFill>
          <a:ln w="25400">
            <a:solidFill>
              <a:srgbClr val="1A7FD4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1" name="Shape 19"/>
          <p:cNvSpPr/>
          <p:nvPr/>
        </p:nvSpPr>
        <p:spPr>
          <a:xfrm>
            <a:off x="6848856" y="1051560"/>
            <a:ext cx="2011680" cy="566928"/>
          </a:xfrm>
          <a:prstGeom prst="rect">
            <a:avLst/>
          </a:prstGeom>
          <a:solidFill>
            <a:srgbClr val="1A7FD4">
              <a:alpha val="82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2" name="Text 20"/>
          <p:cNvSpPr/>
          <p:nvPr/>
        </p:nvSpPr>
        <p:spPr>
          <a:xfrm>
            <a:off x="6848856" y="10972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-60%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6922008" y="169164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7FD4"/>
                </a:solidFill>
              </a:rPr>
              <a:t>vs. batería litio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940296" y="2176272"/>
            <a:ext cx="184708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CAPEX mecánico estimado 80–120 €/kWh vs 300–500 €/kWh litio. Sin degradación electroquímica.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20040" y="3401568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3260"/>
                </a:solidFill>
              </a:rPr>
              <a:t>Flujo de caja estimado · Módulo 5 molinos (25 MW)</a:t>
            </a:r>
            <a:endParaRPr lang="en-US" sz="13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767328"/>
          <a:ext cx="8412480" cy="1298450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969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Concepto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2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Año 1–3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2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Año 4–7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2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Año 8–15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2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969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A3260"/>
                          </a:solidFill>
                        </a:rPr>
                        <a:t>Ingresos generación extra (+20%)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</a:rPr>
                        <a:t>+1.2 M€/año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</a:rPr>
                        <a:t>+1.4 M€/año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</a:rPr>
                        <a:t>+1.6 M€/año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969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A3260"/>
                          </a:solidFill>
                        </a:rPr>
                        <a:t>Ingresos servicios de red (FCR)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</a:rPr>
                        <a:t>+0.6 M€/año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</a:rPr>
                        <a:t>+0.9 M€/año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</a:rPr>
                        <a:t>+1.2 M€/año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969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A3260"/>
                          </a:solidFill>
                        </a:rPr>
                        <a:t>Ahorro curtailment (-40%)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</a:rPr>
                        <a:t>+0.4 M€/año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</a:rPr>
                        <a:t>+0.5 M€/año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</a:rPr>
                        <a:t>+0.6 M€/año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969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A3260"/>
                          </a:solidFill>
                        </a:rPr>
                        <a:t>TOTAL estimado / módulo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2B96A"/>
                          </a:solidFill>
                        </a:rPr>
                        <a:t>+2.2 M€/año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2B96A"/>
                          </a:solidFill>
                        </a:rPr>
                        <a:t>+2.8 M€/año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2B96A"/>
                          </a:solidFill>
                        </a:rPr>
                        <a:t>+3.4 M€/año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811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C4A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457200" y="109728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Mercados que buscan esta solución HOY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A9AB8"/>
                </a:solidFill>
              </a:rPr>
              <a:t>Reguladores, operadores de red y fondos de infraestructura con necesidades activas de inercia sintética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078992"/>
            <a:ext cx="8595360" cy="713232"/>
          </a:xfrm>
          <a:prstGeom prst="rect">
            <a:avLst/>
          </a:prstGeom>
          <a:solidFill>
            <a:schemeClr val="accent1"/>
          </a:solidFill>
          <a:ln w="12700">
            <a:solidFill>
              <a:srgbClr val="1A7FD4"/>
            </a:solidFill>
            <a:prstDash val="solid"/>
          </a:ln>
          <a:effectLst>
            <a:outerShdw blurRad="1270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6" name="Shape 4"/>
          <p:cNvSpPr/>
          <p:nvPr/>
        </p:nvSpPr>
        <p:spPr>
          <a:xfrm>
            <a:off x="274320" y="1078992"/>
            <a:ext cx="109728" cy="713232"/>
          </a:xfrm>
          <a:prstGeom prst="rect">
            <a:avLst/>
          </a:prstGeom>
          <a:solidFill>
            <a:srgbClr val="1A7FD4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7845552" y="1216152"/>
            <a:ext cx="914400" cy="292608"/>
          </a:xfrm>
          <a:prstGeom prst="rect">
            <a:avLst/>
          </a:prstGeom>
          <a:solidFill>
            <a:srgbClr val="1A7FD4">
              <a:alpha val="80000"/>
            </a:srgbClr>
          </a:solidFill>
          <a:ln w="12700">
            <a:solidFill>
              <a:srgbClr val="1A7FD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7845552" y="121615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7FD4"/>
                </a:solidFill>
              </a:rPr>
              <a:t>URGENTE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75488" y="978408"/>
            <a:ext cx="201168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7FD4"/>
                </a:solidFill>
              </a:rPr>
              <a:t>🇪🇺 Europa — NC RfG 2.0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75488" y="1426464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ENTSO-E Phase II Report (nov. 2025): obligatorio Grid Forming &gt;1 MW. REE, RTE, National Grid, TenneT requieren inercia sintética con parámetro T_M,PPM (tiempo de arranque mecánico). Reglamento EU 2019/943.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400800" y="1115568"/>
            <a:ext cx="1325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A7FD4"/>
                </a:solidFill>
              </a:rPr>
              <a:t>FCR continental: 3.000 MW · €300M/año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" y="1874520"/>
            <a:ext cx="8595360" cy="713232"/>
          </a:xfrm>
          <a:prstGeom prst="rect">
            <a:avLst/>
          </a:prstGeom>
          <a:solidFill>
            <a:schemeClr val="accent6">
              <a:lumMod val="75000"/>
            </a:schemeClr>
          </a:solidFill>
          <a:ln w="12700">
            <a:solidFill>
              <a:srgbClr val="00C4AA"/>
            </a:solidFill>
            <a:prstDash val="solid"/>
          </a:ln>
          <a:effectLst>
            <a:outerShdw blurRad="1270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3" name="Shape 11"/>
          <p:cNvSpPr/>
          <p:nvPr/>
        </p:nvSpPr>
        <p:spPr>
          <a:xfrm>
            <a:off x="274320" y="1874520"/>
            <a:ext cx="109728" cy="713232"/>
          </a:xfrm>
          <a:prstGeom prst="rect">
            <a:avLst/>
          </a:prstGeom>
          <a:solidFill>
            <a:srgbClr val="00C4A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4" name="Shape 12"/>
          <p:cNvSpPr/>
          <p:nvPr/>
        </p:nvSpPr>
        <p:spPr>
          <a:xfrm>
            <a:off x="7845552" y="2011680"/>
            <a:ext cx="914400" cy="292608"/>
          </a:xfrm>
          <a:prstGeom prst="rect">
            <a:avLst/>
          </a:prstGeom>
          <a:solidFill>
            <a:srgbClr val="00C4AA">
              <a:alpha val="80000"/>
            </a:srgbClr>
          </a:solidFill>
          <a:ln w="12700">
            <a:solidFill>
              <a:srgbClr val="00C4A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7845552" y="201168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C4AA"/>
                </a:solidFill>
              </a:rPr>
              <a:t>ALTA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75488" y="1911096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4AA"/>
                </a:solidFill>
              </a:rPr>
              <a:t>🇩🇰🇮🇪 Nórdicos + Irlanda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75488" y="2221992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Dinamarca: 100% eólica en puntas. Fingrid (Finlandia) y Eirgrid (Irlanda) con mercados FCR-N / FCR-D activos y precios máximos. Irlanda: Modelo DS3 con 8 servicios de sistema incluyendo inertia.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400800" y="1911096"/>
            <a:ext cx="1325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0C4AA"/>
                </a:solidFill>
              </a:rPr>
              <a:t>FCR-N + FCR-D: &gt;€400M/año Nórdicos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" y="2670048"/>
            <a:ext cx="8595360" cy="7132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2700">
            <a:solidFill>
              <a:srgbClr val="22B96A"/>
            </a:solidFill>
            <a:prstDash val="solid"/>
          </a:ln>
          <a:effectLst>
            <a:outerShdw blurRad="1270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0" name="Shape 18"/>
          <p:cNvSpPr/>
          <p:nvPr/>
        </p:nvSpPr>
        <p:spPr>
          <a:xfrm>
            <a:off x="274320" y="2670048"/>
            <a:ext cx="109728" cy="713232"/>
          </a:xfrm>
          <a:prstGeom prst="rect">
            <a:avLst/>
          </a:prstGeom>
          <a:solidFill>
            <a:srgbClr val="22B96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1" name="Shape 19"/>
          <p:cNvSpPr/>
          <p:nvPr/>
        </p:nvSpPr>
        <p:spPr>
          <a:xfrm>
            <a:off x="7845552" y="2807208"/>
            <a:ext cx="914400" cy="292608"/>
          </a:xfrm>
          <a:prstGeom prst="rect">
            <a:avLst/>
          </a:prstGeom>
          <a:solidFill>
            <a:srgbClr val="22B96A">
              <a:alpha val="80000"/>
            </a:srgbClr>
          </a:solidFill>
          <a:ln w="12700">
            <a:solidFill>
              <a:srgbClr val="22B96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Text 20"/>
          <p:cNvSpPr/>
          <p:nvPr/>
        </p:nvSpPr>
        <p:spPr>
          <a:xfrm>
            <a:off x="7845552" y="280720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2B96A"/>
                </a:solidFill>
              </a:rPr>
              <a:t>ALTA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75488" y="270662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B96A"/>
                </a:solidFill>
              </a:rPr>
              <a:t>🇦🇺 Australia / AEMO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75488" y="301752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AEMO Core Requirements Test Framework (enero 2024). NEM con &gt;40% renovable. AEMO publica abiertamente déficit de inercia. Referencia explícita en ENTSO-E Phase II como mercado piloto validado.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400800" y="2706624"/>
            <a:ext cx="1325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2B96A"/>
                </a:solidFill>
              </a:rPr>
              <a:t>FCAS market: &gt;AUD 500M/año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74320" y="3465576"/>
            <a:ext cx="8595360" cy="7132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rgbClr val="E8971A"/>
            </a:solidFill>
            <a:prstDash val="solid"/>
          </a:ln>
          <a:effectLst>
            <a:outerShdw blurRad="1270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7" name="Shape 25"/>
          <p:cNvSpPr/>
          <p:nvPr/>
        </p:nvSpPr>
        <p:spPr>
          <a:xfrm>
            <a:off x="274320" y="3465576"/>
            <a:ext cx="109728" cy="713232"/>
          </a:xfrm>
          <a:prstGeom prst="rect">
            <a:avLst/>
          </a:prstGeom>
          <a:solidFill>
            <a:srgbClr val="E8971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8" name="Shape 26"/>
          <p:cNvSpPr/>
          <p:nvPr/>
        </p:nvSpPr>
        <p:spPr>
          <a:xfrm>
            <a:off x="7845552" y="3602736"/>
            <a:ext cx="914400" cy="292608"/>
          </a:xfrm>
          <a:prstGeom prst="rect">
            <a:avLst/>
          </a:prstGeom>
          <a:solidFill>
            <a:srgbClr val="E8971A">
              <a:alpha val="80000"/>
            </a:srgbClr>
          </a:solidFill>
          <a:ln w="12700">
            <a:solidFill>
              <a:srgbClr val="E8971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9" name="Text 27"/>
          <p:cNvSpPr/>
          <p:nvPr/>
        </p:nvSpPr>
        <p:spPr>
          <a:xfrm>
            <a:off x="7845552" y="3602736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8971A"/>
                </a:solidFill>
              </a:rPr>
              <a:t>MEDIA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75488" y="3502152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971A"/>
                </a:solidFill>
              </a:rPr>
              <a:t>🇺🇸 EEUU — FERC Order 842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75488" y="3813048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FERC Order 842: nuevas plantas deben tener Primary Frequency Response. ERCOT (Texas) implementó Fast Frequency Response (&lt;250ms). NERC reliability standards PRC-024/025 aplicables.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400800" y="3502152"/>
            <a:ext cx="1325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E8971A"/>
                </a:solidFill>
              </a:rPr>
              <a:t>Ancillary services: &gt;USD 5.000M/año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74320" y="4261104"/>
            <a:ext cx="8595360" cy="713232"/>
          </a:xfrm>
          <a:prstGeom prst="rect">
            <a:avLst/>
          </a:prstGeom>
          <a:solidFill>
            <a:srgbClr val="FF0000"/>
          </a:solidFill>
          <a:ln w="12700">
            <a:solidFill>
              <a:srgbClr val="D93636"/>
            </a:solidFill>
            <a:prstDash val="solid"/>
          </a:ln>
          <a:effectLst>
            <a:outerShdw blurRad="1270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4" name="Shape 32"/>
          <p:cNvSpPr/>
          <p:nvPr/>
        </p:nvSpPr>
        <p:spPr>
          <a:xfrm>
            <a:off x="274320" y="4261104"/>
            <a:ext cx="109728" cy="713232"/>
          </a:xfrm>
          <a:prstGeom prst="rect">
            <a:avLst/>
          </a:prstGeom>
          <a:solidFill>
            <a:srgbClr val="D9363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5" name="Shape 33"/>
          <p:cNvSpPr/>
          <p:nvPr/>
        </p:nvSpPr>
        <p:spPr>
          <a:xfrm>
            <a:off x="7845552" y="4398264"/>
            <a:ext cx="914400" cy="292608"/>
          </a:xfrm>
          <a:prstGeom prst="rect">
            <a:avLst/>
          </a:prstGeom>
          <a:solidFill>
            <a:srgbClr val="D93636">
              <a:alpha val="80000"/>
            </a:srgbClr>
          </a:solidFill>
          <a:ln w="12700">
            <a:solidFill>
              <a:srgbClr val="D9363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6" name="Text 34"/>
          <p:cNvSpPr/>
          <p:nvPr/>
        </p:nvSpPr>
        <p:spPr>
          <a:xfrm>
            <a:off x="7845552" y="439826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93636"/>
                </a:solidFill>
              </a:rPr>
              <a:t>CRECIENTE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75488" y="429768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/>
              <a:t>🌍 Mercados emergentes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475488" y="4608576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Chile, Brasil, India y Marruecos: expansión masiva de eólica con grids débiles. Oportunidad de ser tecnología base de parques de nueva generación bajo marcos IRENA Grid Code Guidelines 2022.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6400800" y="4297680"/>
            <a:ext cx="1325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D93636"/>
                </a:solidFill>
              </a:rPr>
              <a:t>TAM potencial: &gt;€1.000M/año en 5 años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2B96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A326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Cambio de paradigma en la eólica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3931920" cy="3931920"/>
          </a:xfrm>
          <a:prstGeom prst="rect">
            <a:avLst/>
          </a:prstGeom>
          <a:solidFill>
            <a:srgbClr val="FFFFFF"/>
          </a:solidFill>
          <a:ln w="25400">
            <a:solidFill>
              <a:srgbClr val="D93636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3931920" cy="594360"/>
          </a:xfrm>
          <a:prstGeom prst="rect">
            <a:avLst/>
          </a:prstGeom>
          <a:solidFill>
            <a:srgbClr val="D9363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384048" y="950976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ANTES  ·  Aerogenerador pasivo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11480" y="162763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r>
              <a:rPr lang="en-US" sz="12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 cuando hay viento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194767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r>
              <a:rPr lang="en-US" sz="12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puede regular frecuencia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226771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r>
              <a:rPr lang="en-US" sz="12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tiene inercia controlable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11480" y="258775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r>
              <a:rPr lang="en-US" sz="12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corta en tormentas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11480" y="290779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r>
              <a:rPr lang="en-US" sz="12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Precio variable imprevisible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11480" y="322783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r>
              <a:rPr lang="en-US" sz="12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 de la red para equilibrio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11480" y="354787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r>
              <a:rPr lang="en-US" sz="12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integra solar de forma activa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224528" y="2852928"/>
            <a:ext cx="694944" cy="0"/>
          </a:xfrm>
          <a:prstGeom prst="line">
            <a:avLst/>
          </a:prstGeom>
          <a:noFill/>
          <a:ln w="38100">
            <a:solidFill>
              <a:srgbClr val="0A326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4681728" y="2679192"/>
            <a:ext cx="320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A3260"/>
                </a:solidFill>
              </a:rPr>
              <a:t>▶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069080" y="3200400"/>
            <a:ext cx="10241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C4AA"/>
                </a:solidFill>
              </a:rPr>
              <a:t>ZypyZape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937760" y="914400"/>
            <a:ext cx="3931920" cy="3931920"/>
          </a:xfrm>
          <a:prstGeom prst="rect">
            <a:avLst/>
          </a:prstGeom>
          <a:solidFill>
            <a:srgbClr val="FFFFFF"/>
          </a:solidFill>
          <a:ln w="25400">
            <a:solidFill>
              <a:srgbClr val="22B96A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8" name="Shape 16"/>
          <p:cNvSpPr/>
          <p:nvPr/>
        </p:nvSpPr>
        <p:spPr>
          <a:xfrm>
            <a:off x="4937760" y="914400"/>
            <a:ext cx="3931920" cy="594360"/>
          </a:xfrm>
          <a:prstGeom prst="rect">
            <a:avLst/>
          </a:prstGeom>
          <a:solidFill>
            <a:srgbClr val="22B96A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9" name="Text 17"/>
          <p:cNvSpPr/>
          <p:nvPr/>
        </p:nvSpPr>
        <p:spPr>
          <a:xfrm>
            <a:off x="5047488" y="950976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CON ZYPYZAPE  ·  Regulador activo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074920" y="162763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B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</a:t>
            </a:r>
            <a:r>
              <a:rPr lang="en-US" sz="12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 Y regula simultáneamente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074920" y="194767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B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</a:t>
            </a:r>
            <a:r>
              <a:rPr lang="en-US" sz="12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Controla frecuencia de red en tiempo real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074920" y="226771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B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</a:t>
            </a:r>
            <a:r>
              <a:rPr lang="en-US" sz="12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Inercia sintética programable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074920" y="258775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B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</a:t>
            </a:r>
            <a:r>
              <a:rPr lang="en-US" sz="12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Capta más en tormentas (ley cubo)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074920" y="290779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B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</a:t>
            </a:r>
            <a:r>
              <a:rPr lang="en-US" sz="12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Ingresos por servicios de red +FCR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074920" y="322783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B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</a:t>
            </a:r>
            <a:r>
              <a:rPr lang="en-US" sz="12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propio módulo equilibra su entorno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074920" y="354787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B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</a:t>
            </a:r>
            <a:r>
              <a:rPr lang="en-US" sz="12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 solar por neutros: sin desperdicio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811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1"/>
            <a:ext cx="9144000" cy="514350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457200" y="109728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Regulación distribuida · La red mejora con cada módulo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A9AB8"/>
                </a:solidFill>
              </a:rPr>
              <a:t>A diferencia de las soluciones centralizadas, ZypyZape mejora la estabilidad de la red de forma aditiva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714500" y="2354580"/>
            <a:ext cx="1554480" cy="1097280"/>
          </a:xfrm>
          <a:prstGeom prst="line">
            <a:avLst/>
          </a:prstGeom>
          <a:noFill/>
          <a:ln w="15240">
            <a:solidFill>
              <a:srgbClr val="0A3260"/>
            </a:solidFill>
            <a:prstDash val="sysDash"/>
          </a:ln>
        </p:spPr>
        <p:txBody>
          <a:bodyPr/>
          <a:lstStyle/>
          <a:p>
            <a:endParaRPr lang="es-ES"/>
          </a:p>
        </p:txBody>
      </p:sp>
      <p:sp>
        <p:nvSpPr>
          <p:cNvPr id="6" name="Shape 4"/>
          <p:cNvSpPr/>
          <p:nvPr/>
        </p:nvSpPr>
        <p:spPr>
          <a:xfrm flipV="1">
            <a:off x="3333828" y="2491740"/>
            <a:ext cx="1329612" cy="731520"/>
          </a:xfrm>
          <a:prstGeom prst="line">
            <a:avLst/>
          </a:prstGeom>
          <a:noFill/>
          <a:ln w="15240">
            <a:solidFill>
              <a:srgbClr val="0A3260"/>
            </a:solidFill>
            <a:prstDash val="sysDash"/>
          </a:ln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4937760" y="2194560"/>
            <a:ext cx="1645920" cy="1097280"/>
          </a:xfrm>
          <a:prstGeom prst="line">
            <a:avLst/>
          </a:prstGeom>
          <a:noFill/>
          <a:ln w="15240">
            <a:solidFill>
              <a:srgbClr val="0A3260"/>
            </a:solidFill>
            <a:prstDash val="sysDash"/>
          </a:ln>
        </p:spPr>
        <p:txBody>
          <a:bodyPr/>
          <a:lstStyle/>
          <a:p>
            <a:endParaRPr lang="es-ES"/>
          </a:p>
        </p:txBody>
      </p:sp>
      <p:sp>
        <p:nvSpPr>
          <p:cNvPr id="8" name="Shape 6"/>
          <p:cNvSpPr/>
          <p:nvPr/>
        </p:nvSpPr>
        <p:spPr>
          <a:xfrm flipV="1">
            <a:off x="6515100" y="2761488"/>
            <a:ext cx="1098680" cy="461772"/>
          </a:xfrm>
          <a:prstGeom prst="line">
            <a:avLst/>
          </a:prstGeom>
          <a:noFill/>
          <a:ln w="15240">
            <a:solidFill>
              <a:srgbClr val="0A3260"/>
            </a:solidFill>
            <a:prstDash val="sysDash"/>
          </a:ln>
        </p:spPr>
        <p:txBody>
          <a:bodyPr/>
          <a:lstStyle/>
          <a:p>
            <a:endParaRPr lang="es-ES"/>
          </a:p>
        </p:txBody>
      </p:sp>
      <p:sp>
        <p:nvSpPr>
          <p:cNvPr id="9" name="Shape 7"/>
          <p:cNvSpPr/>
          <p:nvPr/>
        </p:nvSpPr>
        <p:spPr>
          <a:xfrm flipH="1">
            <a:off x="2720340" y="3406140"/>
            <a:ext cx="502920" cy="800099"/>
          </a:xfrm>
          <a:prstGeom prst="line">
            <a:avLst/>
          </a:prstGeom>
          <a:noFill/>
          <a:ln w="15240">
            <a:solidFill>
              <a:srgbClr val="0A3260"/>
            </a:solidFill>
            <a:prstDash val="sysDash"/>
          </a:ln>
        </p:spPr>
        <p:txBody>
          <a:bodyPr/>
          <a:lstStyle/>
          <a:p>
            <a:endParaRPr lang="es-ES"/>
          </a:p>
        </p:txBody>
      </p:sp>
      <p:sp>
        <p:nvSpPr>
          <p:cNvPr id="10" name="Shape 8"/>
          <p:cNvSpPr/>
          <p:nvPr/>
        </p:nvSpPr>
        <p:spPr>
          <a:xfrm>
            <a:off x="6515100" y="3223260"/>
            <a:ext cx="182880" cy="1280160"/>
          </a:xfrm>
          <a:prstGeom prst="line">
            <a:avLst/>
          </a:prstGeom>
          <a:noFill/>
          <a:ln w="15240">
            <a:solidFill>
              <a:srgbClr val="0A3260"/>
            </a:solidFill>
            <a:prstDash val="sysDash"/>
          </a:ln>
        </p:spPr>
        <p:txBody>
          <a:bodyPr/>
          <a:lstStyle/>
          <a:p>
            <a:endParaRPr lang="es-ES"/>
          </a:p>
        </p:txBody>
      </p:sp>
      <p:sp>
        <p:nvSpPr>
          <p:cNvPr id="11" name="Shape 9"/>
          <p:cNvSpPr/>
          <p:nvPr/>
        </p:nvSpPr>
        <p:spPr>
          <a:xfrm>
            <a:off x="1714500" y="2354580"/>
            <a:ext cx="3200400" cy="0"/>
          </a:xfrm>
          <a:prstGeom prst="line">
            <a:avLst/>
          </a:prstGeom>
          <a:noFill/>
          <a:ln w="15240">
            <a:solidFill>
              <a:srgbClr val="0A3260"/>
            </a:solidFill>
            <a:prstDash val="sysDash"/>
          </a:ln>
        </p:spPr>
        <p:txBody>
          <a:bodyPr/>
          <a:lstStyle/>
          <a:p>
            <a:endParaRPr lang="es-ES"/>
          </a:p>
        </p:txBody>
      </p:sp>
      <p:sp>
        <p:nvSpPr>
          <p:cNvPr id="12" name="Shape 10"/>
          <p:cNvSpPr/>
          <p:nvPr/>
        </p:nvSpPr>
        <p:spPr>
          <a:xfrm>
            <a:off x="4937760" y="2194560"/>
            <a:ext cx="2926080" cy="365760"/>
          </a:xfrm>
          <a:prstGeom prst="line">
            <a:avLst/>
          </a:prstGeom>
          <a:noFill/>
          <a:ln w="15240">
            <a:solidFill>
              <a:srgbClr val="0A3260"/>
            </a:solidFill>
            <a:prstDash val="sysDash"/>
          </a:ln>
        </p:spPr>
        <p:txBody>
          <a:bodyPr/>
          <a:lstStyle/>
          <a:p>
            <a:endParaRPr lang="es-ES"/>
          </a:p>
        </p:txBody>
      </p:sp>
      <p:sp>
        <p:nvSpPr>
          <p:cNvPr id="13" name="Shape 11"/>
          <p:cNvSpPr/>
          <p:nvPr/>
        </p:nvSpPr>
        <p:spPr>
          <a:xfrm>
            <a:off x="1371600" y="2011680"/>
            <a:ext cx="685800" cy="685800"/>
          </a:xfrm>
          <a:prstGeom prst="ellipse">
            <a:avLst/>
          </a:prstGeom>
          <a:solidFill>
            <a:srgbClr val="00C4AA">
              <a:alpha val="75000"/>
            </a:srgbClr>
          </a:solidFill>
          <a:ln w="31750">
            <a:solidFill>
              <a:srgbClr val="00C4AA"/>
            </a:solidFill>
            <a:prstDash val="solid"/>
          </a:ln>
          <a:effectLst>
            <a:outerShdw blurRad="1270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1371600" y="20116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Módulo 1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25 MW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926080" y="3108960"/>
            <a:ext cx="594360" cy="594360"/>
          </a:xfrm>
          <a:prstGeom prst="ellipse">
            <a:avLst/>
          </a:prstGeom>
          <a:solidFill>
            <a:srgbClr val="1A7FD4">
              <a:alpha val="75000"/>
            </a:srgbClr>
          </a:solidFill>
          <a:ln w="31750">
            <a:solidFill>
              <a:srgbClr val="1A7FD4"/>
            </a:solidFill>
            <a:prstDash val="solid"/>
          </a:ln>
          <a:effectLst>
            <a:outerShdw blurRad="1270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2926080" y="31089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Módulo 2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25 MW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72000" y="1828800"/>
            <a:ext cx="731520" cy="731520"/>
          </a:xfrm>
          <a:prstGeom prst="ellipse">
            <a:avLst/>
          </a:prstGeom>
          <a:solidFill>
            <a:srgbClr val="22B96A">
              <a:alpha val="75000"/>
            </a:srgbClr>
          </a:solidFill>
          <a:ln w="31750">
            <a:solidFill>
              <a:srgbClr val="22B96A"/>
            </a:solidFill>
            <a:prstDash val="solid"/>
          </a:ln>
          <a:effectLst>
            <a:outerShdw blurRad="1270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8" name="Text 16"/>
          <p:cNvSpPr/>
          <p:nvPr/>
        </p:nvSpPr>
        <p:spPr>
          <a:xfrm>
            <a:off x="4572000" y="18288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Módulo 3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25 MW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217920" y="2926080"/>
            <a:ext cx="594360" cy="594360"/>
          </a:xfrm>
          <a:prstGeom prst="ellipse">
            <a:avLst/>
          </a:prstGeom>
          <a:solidFill>
            <a:srgbClr val="00C4AA">
              <a:alpha val="75000"/>
            </a:srgbClr>
          </a:solidFill>
          <a:ln w="31750">
            <a:solidFill>
              <a:srgbClr val="00C4AA"/>
            </a:solidFill>
            <a:prstDash val="solid"/>
          </a:ln>
          <a:effectLst>
            <a:outerShdw blurRad="1270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0" name="Text 18"/>
          <p:cNvSpPr/>
          <p:nvPr/>
        </p:nvSpPr>
        <p:spPr>
          <a:xfrm>
            <a:off x="6217920" y="29260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Módulo 4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25 MW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498080" y="2194560"/>
            <a:ext cx="640080" cy="640080"/>
          </a:xfrm>
          <a:prstGeom prst="ellipse">
            <a:avLst/>
          </a:prstGeom>
          <a:solidFill>
            <a:srgbClr val="1A7FD4">
              <a:alpha val="75000"/>
            </a:srgbClr>
          </a:solidFill>
          <a:ln w="31750">
            <a:solidFill>
              <a:srgbClr val="1A7FD4"/>
            </a:solidFill>
            <a:prstDash val="solid"/>
          </a:ln>
          <a:effectLst>
            <a:outerShdw blurRad="1270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2" name="Text 20"/>
          <p:cNvSpPr/>
          <p:nvPr/>
        </p:nvSpPr>
        <p:spPr>
          <a:xfrm>
            <a:off x="7498080" y="21945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Módulo 5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25 MW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194560" y="4023360"/>
            <a:ext cx="502920" cy="502920"/>
          </a:xfrm>
          <a:prstGeom prst="ellipse">
            <a:avLst/>
          </a:prstGeom>
          <a:solidFill>
            <a:srgbClr val="22B96A">
              <a:alpha val="75000"/>
            </a:srgbClr>
          </a:solidFill>
          <a:ln w="31750">
            <a:solidFill>
              <a:srgbClr val="22B96A"/>
            </a:solidFill>
            <a:prstDash val="solid"/>
          </a:ln>
          <a:effectLst>
            <a:outerShdw blurRad="1270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4" name="Text 22"/>
          <p:cNvSpPr/>
          <p:nvPr/>
        </p:nvSpPr>
        <p:spPr>
          <a:xfrm>
            <a:off x="2194560" y="4023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Módulo N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400800" y="4206240"/>
            <a:ext cx="502920" cy="502920"/>
          </a:xfrm>
          <a:prstGeom prst="ellipse">
            <a:avLst/>
          </a:prstGeom>
          <a:solidFill>
            <a:srgbClr val="00C4AA">
              <a:alpha val="75000"/>
            </a:srgbClr>
          </a:solidFill>
          <a:ln w="31750">
            <a:solidFill>
              <a:srgbClr val="00C4AA"/>
            </a:solidFill>
            <a:prstDash val="solid"/>
          </a:ln>
          <a:effectLst>
            <a:outerShdw blurRad="1270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6" name="Text 24"/>
          <p:cNvSpPr/>
          <p:nvPr/>
        </p:nvSpPr>
        <p:spPr>
          <a:xfrm>
            <a:off x="6400800" y="4206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Módulo N+1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0D1E33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8" name="Text 26"/>
          <p:cNvSpPr/>
          <p:nvPr/>
        </p:nvSpPr>
        <p:spPr>
          <a:xfrm>
            <a:off x="457200" y="463600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C4AA"/>
                </a:solidFill>
              </a:rPr>
              <a:t>Lineal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457200" y="491032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A9AB8"/>
                </a:solidFill>
              </a:rPr>
              <a:t>Escalado de inercia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633472" y="463600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2B96A"/>
                </a:solidFill>
              </a:rPr>
              <a:t>Local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2633472" y="491032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A9AB8"/>
                </a:solidFill>
              </a:rPr>
              <a:t>Respuesta autónoma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809744" y="463600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7FD4"/>
                </a:solidFill>
              </a:rPr>
              <a:t>Sin SPC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4809744" y="491032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A9AB8"/>
                </a:solidFill>
              </a:rPr>
              <a:t>Sin super-computación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986016" y="463600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8971A"/>
                </a:solidFill>
              </a:rPr>
              <a:t>Modular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986016" y="491032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A9AB8"/>
                </a:solidFill>
              </a:rPr>
              <a:t>CAPEX fraccionable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811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C4A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4114800" y="-457200"/>
            <a:ext cx="6400800" cy="6400800"/>
          </a:xfrm>
          <a:prstGeom prst="ellipse">
            <a:avLst/>
          </a:prstGeom>
          <a:solidFill>
            <a:srgbClr val="00C4AA">
              <a:alpha val="6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411480" y="5029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ZypyZape es la solución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411480" y="11887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C4A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que el sistema eléctrico europeo necesita hoy.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411480" y="1920240"/>
            <a:ext cx="4572000" cy="0"/>
          </a:xfrm>
          <a:prstGeom prst="line">
            <a:avLst/>
          </a:prstGeom>
          <a:noFill/>
          <a:ln w="19050">
            <a:solidFill>
              <a:srgbClr val="00C4AA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411480" y="2029968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7A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existente  ·  Sin electroquímica  ·  Respuesta instantánea
</a:t>
            </a: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agente pasivo a regulador activo de red
</a:t>
            </a:r>
            <a:r>
              <a:rPr lang="en-US" sz="1400" dirty="0">
                <a:solidFill>
                  <a:srgbClr val="00C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Ingresos por generación + servicios de red + reducción de curtailment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11480" y="3127248"/>
            <a:ext cx="2697480" cy="1600200"/>
          </a:xfrm>
          <a:prstGeom prst="rect">
            <a:avLst/>
          </a:prstGeom>
          <a:solidFill>
            <a:srgbClr val="FF0000">
              <a:alpha val="18000"/>
            </a:srgbClr>
          </a:solidFill>
          <a:ln w="19050">
            <a:solidFill>
              <a:srgbClr val="00C4AA"/>
            </a:solidFill>
            <a:prstDash val="solid"/>
          </a:ln>
          <a:effectLst>
            <a:outerShdw blurRad="1270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9" name="Shape 7"/>
          <p:cNvSpPr/>
          <p:nvPr/>
        </p:nvSpPr>
        <p:spPr>
          <a:xfrm>
            <a:off x="411480" y="3127248"/>
            <a:ext cx="2697480" cy="457200"/>
          </a:xfrm>
          <a:prstGeom prst="rect">
            <a:avLst/>
          </a:prstGeom>
          <a:solidFill>
            <a:srgbClr val="FF0000">
              <a:alpha val="70000"/>
            </a:srgbClr>
          </a:solidFill>
          <a:ln/>
        </p:spPr>
        <p:txBody>
          <a:bodyPr/>
          <a:lstStyle/>
          <a:p>
            <a:endParaRPr lang="es-ES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521208" y="3145536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Siguiente paso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21208" y="3639312"/>
            <a:ext cx="24688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Demostración técnica en parque existente + simulación de balance energético con datos reales.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319272" y="3127248"/>
            <a:ext cx="2697480" cy="1600200"/>
          </a:xfrm>
          <a:prstGeom prst="rect">
            <a:avLst/>
          </a:prstGeom>
          <a:solidFill>
            <a:srgbClr val="E8971A">
              <a:alpha val="18000"/>
            </a:srgbClr>
          </a:solidFill>
          <a:ln w="19050">
            <a:solidFill>
              <a:srgbClr val="E8971A"/>
            </a:solidFill>
            <a:prstDash val="solid"/>
          </a:ln>
          <a:effectLst>
            <a:outerShdw blurRad="1270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3" name="Shape 11"/>
          <p:cNvSpPr/>
          <p:nvPr/>
        </p:nvSpPr>
        <p:spPr>
          <a:xfrm>
            <a:off x="3319272" y="3127248"/>
            <a:ext cx="2697480" cy="457200"/>
          </a:xfrm>
          <a:prstGeom prst="rect">
            <a:avLst/>
          </a:prstGeom>
          <a:solidFill>
            <a:srgbClr val="E8971A">
              <a:alpha val="70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3429000" y="3145536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Propuesta de piloto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429000" y="3639312"/>
            <a:ext cx="24688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de 5 molinos en parque de 25+ MW. Período de validación: 12 meses. ROI estimado desde año 2.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227064" y="3127248"/>
            <a:ext cx="2697480" cy="1600200"/>
          </a:xfrm>
          <a:prstGeom prst="rect">
            <a:avLst/>
          </a:prstGeom>
          <a:solidFill>
            <a:srgbClr val="22B96A">
              <a:alpha val="18000"/>
            </a:srgbClr>
          </a:solidFill>
          <a:ln w="19050">
            <a:solidFill>
              <a:srgbClr val="22B96A"/>
            </a:solidFill>
            <a:prstDash val="solid"/>
          </a:ln>
          <a:effectLst>
            <a:outerShdw blurRad="1270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7" name="Shape 15"/>
          <p:cNvSpPr/>
          <p:nvPr/>
        </p:nvSpPr>
        <p:spPr>
          <a:xfrm>
            <a:off x="6227064" y="3127248"/>
            <a:ext cx="2697480" cy="457200"/>
          </a:xfrm>
          <a:prstGeom prst="rect">
            <a:avLst/>
          </a:prstGeom>
          <a:solidFill>
            <a:srgbClr val="22B96A">
              <a:alpha val="70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8" name="Text 16"/>
          <p:cNvSpPr/>
          <p:nvPr/>
        </p:nvSpPr>
        <p:spPr>
          <a:xfrm>
            <a:off x="6336792" y="3145536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Búsqueda de socios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336792" y="3639312"/>
            <a:ext cx="24688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Buscamos socio tecnológico (electrónica de potencia) e inversor estratégico del sector energético.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11480" y="4846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9AB8"/>
                </a:solidFill>
              </a:rPr>
              <a:t>Victor Manzanares Alberola  ·  victormanzaresalberola@gmail.com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1863</Words>
  <Application>Microsoft Office PowerPoint</Application>
  <PresentationFormat>Presentación en pantalla (16:9)</PresentationFormat>
  <Paragraphs>254</Paragraphs>
  <Slides>12</Slides>
  <Notes>12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6" baseType="lpstr">
      <vt:lpstr>Arial</vt:lpstr>
      <vt:lpstr>Arial Black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ZypyZape — Commercial Pitch</dc:title>
  <dc:subject>PptxGenJS Presentation</dc:subject>
  <dc:creator>Victor Manzanares Alberola</dc:creator>
  <cp:lastModifiedBy>victor manzanares</cp:lastModifiedBy>
  <cp:revision>2</cp:revision>
  <dcterms:created xsi:type="dcterms:W3CDTF">2026-03-01T07:59:47Z</dcterms:created>
  <dcterms:modified xsi:type="dcterms:W3CDTF">2026-04-13T10:24:11Z</dcterms:modified>
</cp:coreProperties>
</file>