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36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858000" cy="68580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943600" y="-182880"/>
            <a:ext cx="5029200" cy="5029200"/>
          </a:xfrm>
          <a:prstGeom prst="ellipse">
            <a:avLst/>
          </a:prstGeom>
          <a:solidFill>
            <a:srgbClr val="0D1B2A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KINETIC BATTERY FOR THE 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5029200" cy="0"/>
          </a:xfrm>
          <a:prstGeom prst="line">
            <a:avLst/>
          </a:prstGeom>
          <a:noFill/>
          <a:ln w="1905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28529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9B9B"/>
                </a:solidFill>
              </a:rPr>
              <a:t>Batería de inercia sintética · Regulación de red en tiempo real · Sin electroquímica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429000"/>
            <a:ext cx="2468880" cy="1325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12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212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molinos/módulo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Topología autorregulable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3429000"/>
            <a:ext cx="2468880" cy="1325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2644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50Hz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644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sinc. perfecta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Onda limpia garantizada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429000"/>
            <a:ext cx="2468880" cy="13258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0076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0076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baterías quím.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076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Solo física mecánica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9B"/>
                </a:solidFill>
              </a:rPr>
              <a:t>Victor Manzanares Alberola  ·  victor@techamv.com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658368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Inercia en colapso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con alta penetración renovable pierden inercia natural. Sin masa giratoria en red, cualquier desequilibrio provoca caída de frecuencia.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06040" cy="658368"/>
          </a:xfrm>
          <a:prstGeom prst="rect">
            <a:avLst/>
          </a:prstGeom>
          <a:solidFill>
            <a:srgbClr val="C9A84C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1012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🔋  Baterías: caro y tóxico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(litio, hidrógeno) cuestan 300–600 €/kWh, requieren mantenimiento intensivo y tienen vida útil limitada.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🔋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606040" cy="658368"/>
          </a:xfrm>
          <a:prstGeom prst="rect">
            <a:avLst/>
          </a:prstGeom>
          <a:solidFill>
            <a:srgbClr val="1E3A5C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4476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💨  Eólica: agente pasivo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aerogeneradores actuales toman lo que el viento da. No regulan, no almacenan, no responden. Son precio-tomadores, no reguladores.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💨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C"/>
                </a:solidFill>
              </a:rPr>
              <a:t>ZypyZape convierte los molinos existentes en reguladores activos de red con inercia sintética.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20039" y="987552"/>
            <a:ext cx="1176867" cy="1207008"/>
          </a:xfrm>
          <a:prstGeom prst="rect">
            <a:avLst/>
          </a:prstGeom>
          <a:solidFill>
            <a:srgbClr val="E8E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" name="Shape 0"/>
          <p:cNvSpPr/>
          <p:nvPr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rgbClr val="E8E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física que lo sustenta · Base normativa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572000" cy="1207008"/>
          </a:xfrm>
          <a:prstGeom prst="rect">
            <a:avLst/>
          </a:prstGeom>
          <a:solidFill>
            <a:schemeClr val="bg2"/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30352" y="1024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Ley de Faraday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 = −dΦ/dt  ·  La variación de flujo magnético entre rotor y estátor genera tensión proporcional a la velocidad. A más velocidad → más tensión y potencia disponible.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572000" cy="1207008"/>
          </a:xfrm>
          <a:prstGeom prst="rect">
            <a:avLst/>
          </a:prstGeom>
          <a:solidFill>
            <a:schemeClr val="bg2"/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109728" cy="1207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30352" y="2322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Ley de Lenz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campo inducido siempre se opone al cambio que lo produce. Al aumentar la velocidad del aspa, el motor ofrece más resistencia al movimiento → el viento tiene más superficie cinética contra la que empujar → capta más energía.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572000" cy="1207008"/>
          </a:xfrm>
          <a:prstGeom prst="rect">
            <a:avLst/>
          </a:prstGeom>
          <a:solidFill>
            <a:schemeClr val="bg2"/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" y="3584448"/>
            <a:ext cx="109728" cy="1207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30352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Conservación de energía cinética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395020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E_rot = ½ · I · ω²  ·  La energía almacenada en la masa giratoria crece con el cuadrado de la velocidad angular. Duplicar ω cuadruplica la reserva cinética disponible para la 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657600" cy="4005072"/>
          </a:xfrm>
          <a:prstGeom prst="rect">
            <a:avLst/>
          </a:prstGeom>
          <a:solidFill>
            <a:schemeClr val="bg2"/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349240" y="10241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¿Por qué mejora más la captación que el rozamiento?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Potencia captada del viento: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800933"/>
            <a:ext cx="33832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349240" y="1824011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P_viento  =  ½ · ρ · A · v³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31256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Rozamiento en rodamientos: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2589370"/>
            <a:ext cx="33832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3" name="Text 21"/>
          <p:cNvSpPr/>
          <p:nvPr/>
        </p:nvSpPr>
        <p:spPr>
          <a:xfrm>
            <a:off x="5326380" y="26289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P_roz  =  f · ω  ·  (lineal en ω)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3186468"/>
            <a:ext cx="3383280" cy="15867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440680" y="3197229"/>
            <a:ext cx="3246120" cy="152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
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velocidad sube un 15%:
</a:t>
            </a: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Captación ↑ 52% (v³)
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Rozamiento ↑ 15% (lineal)
Balance: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neto
</a:t>
            </a:r>
            <a:r>
              <a:rPr lang="en-US" sz="14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IEC 61400-1:2019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Betz limit: Cp_max = 16/27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5 molinos para la autorregulación?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9B9B"/>
                </a:solidFill>
              </a:rPr>
              <a:t>Topología mínima que garantiza regulación autónoma y escalabilidad por conexionado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207008"/>
            <a:ext cx="4663440" cy="3072384"/>
          </a:xfrm>
          <a:prstGeom prst="ellipse">
            <a:avLst/>
          </a:prstGeom>
          <a:solidFill>
            <a:srgbClr val="1E3A5C">
              <a:alpha val="8000"/>
            </a:srgbClr>
          </a:solidFill>
          <a:ln w="31750">
            <a:solidFill>
              <a:srgbClr val="1E3A5C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0" y="1069848"/>
            <a:ext cx="914400" cy="685800"/>
          </a:xfrm>
          <a:prstGeom prst="ellipse">
            <a:avLst/>
          </a:prstGeom>
          <a:solidFill>
            <a:srgbClr val="1E3A5C">
              <a:alpha val="80000"/>
            </a:srgbClr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0" y="10698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0" cy="0"/>
          </a:xfrm>
          <a:prstGeom prst="line">
            <a:avLst/>
          </a:prstGeom>
          <a:noFill/>
          <a:ln w="15240">
            <a:solidFill>
              <a:srgbClr val="1E3A5C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966554" y="3058668"/>
            <a:ext cx="914400" cy="685800"/>
          </a:xfrm>
          <a:prstGeom prst="ellipse">
            <a:avLst/>
          </a:prstGeom>
          <a:solidFill>
            <a:srgbClr val="1E3A5C">
              <a:alpha val="80000"/>
            </a:srgbClr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966554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9701" y="3177540"/>
            <a:ext cx="0" cy="329184"/>
          </a:xfrm>
          <a:prstGeom prst="line">
            <a:avLst/>
          </a:prstGeom>
          <a:noFill/>
          <a:ln w="15240">
            <a:solidFill>
              <a:srgbClr val="1E3A5C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263046" y="3058668"/>
            <a:ext cx="914400" cy="685800"/>
          </a:xfrm>
          <a:prstGeom prst="ellipse">
            <a:avLst/>
          </a:prstGeom>
          <a:solidFill>
            <a:srgbClr val="1E3A5C">
              <a:alpha val="80000"/>
            </a:srgbClr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263046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4299" y="3177540"/>
            <a:ext cx="570163" cy="329184"/>
          </a:xfrm>
          <a:prstGeom prst="line">
            <a:avLst/>
          </a:prstGeom>
          <a:noFill/>
          <a:ln w="15240">
            <a:solidFill>
              <a:srgbClr val="1E3A5C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999232" y="2267712"/>
            <a:ext cx="1417320" cy="960120"/>
          </a:xfrm>
          <a:prstGeom prst="ellipse">
            <a:avLst/>
          </a:prstGeom>
          <a:solidFill>
            <a:srgbClr val="1E3A5C">
              <a:alpha val="82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999232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2267712"/>
            <a:ext cx="1417320" cy="960120"/>
          </a:xfrm>
          <a:prstGeom prst="ellipse">
            <a:avLst/>
          </a:prstGeom>
          <a:solidFill>
            <a:srgbClr val="0D1B2A">
              <a:alpha val="82000"/>
            </a:srgbClr>
          </a:solidFill>
          <a:ln w="3175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27448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084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84C"/>
                </a:solidFill>
              </a:rPr>
              <a:t>desfase 120°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28600" y="1005840"/>
            <a:ext cx="214884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004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¿Por qué 5?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1600200"/>
            <a:ext cx="402336" cy="402336"/>
          </a:xfrm>
          <a:prstGeom prst="ellipse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15819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Centrales a 120°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conexión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a red trifásica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402336" cy="402336"/>
          </a:xfrm>
          <a:prstGeom prst="ellipse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004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258775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= regulador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magnético autónomo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amortiguador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02336" cy="402336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2004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=5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359359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indivisible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autorregulación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externo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812280" y="1005840"/>
            <a:ext cx="2148840" cy="457200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90372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1572768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conexionado eléctrico
(sin obra mecánica):
</a:t>
            </a:r>
            <a:r>
              <a:rPr lang="en-US" sz="11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módulo  →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autorregulación local
</a:t>
            </a:r>
            <a:r>
              <a:rPr lang="en-US" sz="11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módulos →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de red
regional / nacional
</a:t>
            </a:r>
            <a:r>
              <a:rPr lang="en-US" sz="11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añadido
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capacidad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inercia total 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forma lineal.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50"/>
            <a:ext cx="9144000" cy="5136049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Desfase 120° · Conexión a red e inercia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/>
              <a:t>Por qué dos centrales desfasados 120° es la clave para red trifásica y reserva de inercia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chemeClr val="bg2"/>
          </a:solidFill>
          <a:ln w="190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C"/>
                </a:solidFill>
              </a:rPr>
              <a:t>Red trifásica 50 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2011680" cy="2011680"/>
          </a:xfrm>
          <a:prstGeom prst="ellipse">
            <a:avLst/>
          </a:prstGeom>
          <a:solidFill>
            <a:srgbClr val="1E3A5C">
              <a:alpha val="5000"/>
            </a:srgbClr>
          </a:solidFill>
          <a:ln w="12700">
            <a:solidFill>
              <a:srgbClr val="1E3A5C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331720" y="2697480"/>
            <a:ext cx="0" cy="0"/>
          </a:xfrm>
          <a:prstGeom prst="line">
            <a:avLst/>
          </a:prstGeom>
          <a:noFill/>
          <a:ln w="381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274320" cy="274320"/>
          </a:xfrm>
          <a:prstGeom prst="ellipse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C"/>
                </a:solidFill>
              </a:rPr>
              <a:t>L1 (M1)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1460637" y="2697480"/>
            <a:ext cx="871083" cy="502920"/>
          </a:xfrm>
          <a:prstGeom prst="line">
            <a:avLst/>
          </a:prstGeom>
          <a:noFill/>
          <a:ln w="381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323477" y="3063240"/>
            <a:ext cx="274320" cy="274320"/>
          </a:xfrm>
          <a:prstGeom prst="ellipse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663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C"/>
                </a:solidFill>
              </a:rPr>
              <a:t>L2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697480"/>
            <a:ext cx="871083" cy="502920"/>
          </a:xfrm>
          <a:prstGeom prst="line">
            <a:avLst/>
          </a:prstGeom>
          <a:noFill/>
          <a:ln w="381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065643" y="3063240"/>
            <a:ext cx="274320" cy="274320"/>
          </a:xfrm>
          <a:prstGeom prst="ellipse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0569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C"/>
                </a:solidFill>
              </a:rPr>
              <a:t>L3 (M2)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258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120°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3352" y="2743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</a:rPr>
              <a:t>120°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3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1E3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 err="1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Desfase</a:t>
            </a:r>
            <a:r>
              <a:rPr lang="en-US" sz="11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simétrico 120°
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 inyección trifásica perfecta.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Dos motores centrales desfasados 120° por control eléctrico reproducen los 3 vectores de fase de la red. El tercer vector lo completa el anillo.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chemeClr val="bg2"/>
          </a:solidFill>
          <a:ln w="190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C"/>
                </a:solidFill>
              </a:rPr>
              <a:t>Inercia sintética al sistema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508760"/>
            <a:ext cx="365760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92040" y="1536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C"/>
                </a:solidFill>
              </a:rPr>
              <a:t>H = ½·I·ω² / S_nominal  [MWs/MVA]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9B9B"/>
                </a:solidFill>
              </a:rPr>
              <a:t>ENTSO-E NC RfG 2.0 · T_M,PPM compliance metric · Phase II Report nov.2025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2423160"/>
            <a:ext cx="146304" cy="475488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120640" y="24231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molinos con masas giratorias = H ≈ 3–6 MWs/MVA (equivalente a central de ciclo combinado)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081528"/>
            <a:ext cx="146304" cy="475488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120640" y="30815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 caer la frecuencia, los rotores ceden energía cinética automáticamente — sin control electrónico (física pura)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739896"/>
            <a:ext cx="146304" cy="475488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120640" y="373989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Desfase 120° garantiza entrega continua en las 3 fases simultáneamente — conexión directa a red trifásica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4398264"/>
            <a:ext cx="146304" cy="4754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120640" y="439826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anillo amortigua transitorios y recicla armónicos: onda limpia a red. Sin baterías de respaldo.</a:t>
            </a:r>
            <a:endParaRPr lang="en-US" sz="11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9EBD26F-4052-A058-3CF1-41EA19B79559}"/>
              </a:ext>
            </a:extLst>
          </p:cNvPr>
          <p:cNvSpPr/>
          <p:nvPr/>
        </p:nvSpPr>
        <p:spPr>
          <a:xfrm flipH="1" flipV="1">
            <a:off x="2329317" y="1746504"/>
            <a:ext cx="11066" cy="950976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necesario · Hardware existente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9B9B"/>
                </a:solidFill>
              </a:rPr>
              <a:t>ZypyZape opera sobre aerogeneradores estándar. No requiere nueva infraestructura de generación.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Aerogeneradores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estándar por módulo (multimegavatio), ya instalados o nuevos. Conexionado eléctrico híbrido a 2 estrellas + 1 anillo.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9204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1383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Electrónica potencia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383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Convertidores back-to-back rápidos para control del desfase 120° y gestión de las permutaciones a k×50 Hz.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7899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Control SCADA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monitorización y control distribuido. Lectura de red → ajuste automático del punto de operación.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1383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Conexión a 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conexiones de potencia por módulo: 6 líneas + 2 neutros de inyección (solar u otras renovables).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7899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Instrumentación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(unidades de medición fasorial) para sincronización de desfase y lectura de frecuencia / tensión en tiempo real.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89204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1383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Software de gestión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optimización del ciclo ZypyZape y coordinación entre módulos. Adaptable a BMS existente de parque.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✔  Sin grandes excavaciones  ·  ✔  Integra solar existente  ·  ✔  Software actualizable  ·  ✔  Retro-compatible con parques en operación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833" y="-109729"/>
            <a:ext cx="9144000" cy="5143501"/>
          </a:xfrm>
          <a:prstGeom prst="rect">
            <a:avLst/>
          </a:prstGeom>
          <a:solidFill>
            <a:srgbClr val="E8E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2435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611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Regulación solar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 generación fotovoltaica no estable a través de los neutros de inyección. Sin inversores adicionales.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2435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9184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2219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Regulación eólica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optimiza la captación según la velocidad del viento. Opera en punto óptimo dinámico.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243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21792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4827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Regulación de 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 de frecuencia a 50 Hz en tiempo real, físicamente instantánea por inercia mecánica.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2743200" cy="1243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611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Inercia a 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 = 3–6 MWs/MVA por módulo. Compensa la pérdida de inercia de centrales convencionales al cierre.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743200" cy="12435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9184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2219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Captación de tormentas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Vientos extremos que hoy se cortan se pueden aprovechar: la mayor resistencia mejora la captación.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267712"/>
            <a:ext cx="2743200" cy="12435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21792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4827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Menor dependencia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inercia almacenada cubre picos de demanda reduciendo la necesidad de gas de respaldo.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2743200" cy="12435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6576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9611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Cambio de paradigma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red. El parque eólico cobra valor de regulación además de generación.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621024"/>
            <a:ext cx="2743200" cy="1243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9184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82219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Regulación distribuida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es un nodo de regulación. La red mejora con cada nueva instalación ZypyZape.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21024"/>
            <a:ext cx="2743200" cy="12435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24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21792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🌞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4827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Parques optimizados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Nuevas instalaciones diseñadas para máxima captación de viento y solar simultánea en el mismo emplazamiento.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Estimaciones de retorno económico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9B9B"/>
                </a:solidFill>
              </a:rPr>
              <a:t>Valores conservadores sobre parque tipo de 50 MW (10 módulos ZypyZape)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011680" cy="566928"/>
          </a:xfrm>
          <a:prstGeom prst="rect">
            <a:avLst/>
          </a:prstGeom>
          <a:solidFill>
            <a:srgbClr val="1E3A5C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+15–25%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C"/>
                </a:solidFill>
              </a:rPr>
              <a:t>generación eólica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del cubo: +10% vel. → +33% captación vs +10% rozamiento (Betz law, IEC 61400-1)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2011680" cy="566928"/>
          </a:xfrm>
          <a:prstGeom prst="rect">
            <a:avLst/>
          </a:prstGeom>
          <a:solidFill>
            <a:srgbClr val="1E3A5C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9631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9464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C"/>
                </a:solidFill>
              </a:rPr>
              <a:t>menos curtailment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cortes forzados por inestabilidad de frecuencia (fuente: REE, RTE informes 2023-24)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672584" y="1051560"/>
            <a:ext cx="2011680" cy="566928"/>
          </a:xfrm>
          <a:prstGeom prst="rect">
            <a:avLst/>
          </a:prstGeom>
          <a:solidFill>
            <a:srgbClr val="C9A84C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7258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€112k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/MW·año FCR (real)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real Alemania 2023: €112.000/MW/año en mercado FCR (fuente: GEM Energy Analytics, ENTSO-E)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848856" y="1051560"/>
            <a:ext cx="2011680" cy="566928"/>
          </a:xfrm>
          <a:prstGeom prst="rect">
            <a:avLst/>
          </a:prstGeom>
          <a:solidFill>
            <a:srgbClr val="1E3A5C">
              <a:alpha val="8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84885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22008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C"/>
                </a:solidFill>
              </a:rPr>
              <a:t>vs. batería litio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mecánico estimado 80–120 €/kWh vs 300–500 €/kWh litio. Sin degradación electroquímica.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401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Flujo de caja estimado · Módulo 5 molinos (25 MW)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67328"/>
          <a:ext cx="8412480" cy="129845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1–3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4–7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8–15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Ingresos generación extra (+20%)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+1.4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+1.6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Ingresos servicios de red (FCR)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+0.9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Ahorro curtailment (-40%)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+0.4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+0.5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TOTAL estimado / módulo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C"/>
                          </a:solidFill>
                        </a:rPr>
                        <a:t>+2.2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C"/>
                          </a:solidFill>
                        </a:rPr>
                        <a:t>+2.8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C"/>
                          </a:solidFill>
                        </a:rPr>
                        <a:t>+3.4 M€/año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Mercados que buscan esta solución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B9B"/>
                </a:solidFill>
              </a:rPr>
              <a:t>Reguladores, operadores de red y fondos de infraestructura con necesidades activas de inercia sintética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09728" cy="7132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</a:rPr>
              <a:t>URGENTE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978408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🇪🇺 Europa — NC RfG 2.0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4264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Phase II Report (nov. 2025): obligatorio Grid Forming &gt;1 MW. REE, RTE, National Grid, TenneT requieren inercia sintética con parámetro T_M,PPM (tiempo de arranque mecánico). Reglamento EU 2019/943.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115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</a:rPr>
              <a:t>FCR continental: 3.000 MW · €300M/año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7132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109728" cy="7132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</a:rPr>
              <a:t>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1911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🇩🇰🇮🇪 Nórdicos + Irlanda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221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Dinamarca: 100% eólica en puntas. Fingrid (Finlandia) y Eirgrid (Irlanda) con mercados FCR-N / FCR-D activos y precios máximos. Irlanda: Modelo DS3 con 8 servicios de sistema incluyendo inertia.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19110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</a:rPr>
              <a:t>FCR-N + FCR-D: &gt;€400M/año Nórdicos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8595360" cy="7132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109728" cy="7132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</a:rPr>
              <a:t>ALTA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706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🇦🇺 Australia / AEMO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AEMO Core Requirements Test Framework (enero 2024). NEM con &gt;40% renovable. AEMO publica abiertamente déficit de inercia. Referencia explícita en ENTSO-E Phase II como mercado piloto validado.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70662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</a:rPr>
              <a:t>FCAS market: &gt;AUD 500M/año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65576"/>
            <a:ext cx="8595360" cy="713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74320" y="3465576"/>
            <a:ext cx="109728" cy="7132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9" name="Text 27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2"/>
                </a:solidFill>
              </a:rPr>
              <a:t>MEDIA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5488" y="35021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🇺🇸 EEUU — FERC Order 842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38130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FERC Order 842: nuevas plantas deben tener Primary Frequency Response. ERCOT (Texas) implementó Fast Frequency Response (&lt;250ms). NERC reliability standards PRC-024/025 aplicables.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</a:rPr>
              <a:t>Ancillary services: &gt;USD 5.000M/año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859536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274320" y="4261104"/>
            <a:ext cx="109728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2"/>
                </a:solidFill>
              </a:rPr>
              <a:t>CRECIENTE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5488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🌍 Mercados emergentes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5488" y="46085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Chile, Brasil, India y Marruecos: expansión masiva de eólica con grids débiles. Oportunidad de ser tecnología base de parques de nueva generación bajo marcos IRENA Grid Code Guidelines 2022.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2"/>
                </a:solidFill>
              </a:rPr>
              <a:t>TAM potencial: &gt;€1.000M/año en 5 años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Cambio de paradigma en la eólica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59436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ANTES  ·  Aerogenerador pasivo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cuando hay viento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regular frecuencia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inercia controlable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en tormentas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variable imprevisible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red para equilibrio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solar de forma 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24528" y="2852928"/>
            <a:ext cx="694944" cy="0"/>
          </a:xfrm>
          <a:prstGeom prst="line">
            <a:avLst/>
          </a:prstGeom>
          <a:noFill/>
          <a:ln w="381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681728" y="26791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B2A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32004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C"/>
                </a:solidFill>
              </a:rPr>
              <a:t>ZypyZape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937760" y="914400"/>
            <a:ext cx="3931920" cy="594360"/>
          </a:xfrm>
          <a:prstGeom prst="rect">
            <a:avLst/>
          </a:prstGeom>
          <a:solidFill>
            <a:srgbClr val="1E3A5C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4748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 ZYPYZAPE  ·  Regulador activo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 regula simultáneamente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frecuencia de red en tiempo real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sintética programable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más en tormentas (ley cubo)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servicios de red +FCR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módulo equilibra su entorno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solar por neutros: sin desperdicio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Regulación distribuida · La red mejora con cada módulo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9B9B"/>
                </a:solidFill>
              </a:rPr>
              <a:t>A diferencia de las soluciones centralizadas, ZypyZape mejora la estabilidad de la red de forma aditiva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14500" y="2354580"/>
            <a:ext cx="1257300" cy="845818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 flipV="1">
            <a:off x="3429000" y="2446020"/>
            <a:ext cx="1234440" cy="731520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212080" y="2423160"/>
            <a:ext cx="1028700" cy="685800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 flipV="1">
            <a:off x="6789420" y="2761488"/>
            <a:ext cx="824360" cy="325230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 flipH="1">
            <a:off x="2720340" y="3611879"/>
            <a:ext cx="457200" cy="594360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697980" y="3429000"/>
            <a:ext cx="502920" cy="594360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 flipV="1">
            <a:off x="1714500" y="2276856"/>
            <a:ext cx="2857500" cy="77724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303520" y="2162556"/>
            <a:ext cx="2560320" cy="397764"/>
          </a:xfrm>
          <a:prstGeom prst="line">
            <a:avLst/>
          </a:prstGeom>
          <a:noFill/>
          <a:ln w="15240">
            <a:solidFill>
              <a:srgbClr val="0D1B2A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371600" y="2011680"/>
            <a:ext cx="685800" cy="68580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3108960"/>
            <a:ext cx="594360" cy="59436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731520" cy="73152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594360" cy="59436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2194560"/>
            <a:ext cx="640080" cy="64008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498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4023360"/>
            <a:ext cx="502920" cy="50292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1945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00900" y="3862722"/>
            <a:ext cx="502920" cy="502920"/>
          </a:xfrm>
          <a:prstGeom prst="ellipse">
            <a:avLst/>
          </a:prstGeom>
          <a:solidFill>
            <a:srgbClr val="1E3A5C">
              <a:alpha val="75000"/>
            </a:srgbClr>
          </a:solidFill>
          <a:ln w="31750">
            <a:solidFill>
              <a:srgbClr val="1E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200900" y="38349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N+1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5720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C"/>
                </a:solidFill>
              </a:rPr>
              <a:t>Lineal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Escalado de inercia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33472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C"/>
                </a:solidFill>
              </a:rPr>
              <a:t>Local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33472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Respuesta autónoma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9744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C"/>
                </a:solidFill>
              </a:rPr>
              <a:t>Sin SPC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9744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Sin super-computación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</a:rPr>
              <a:t>Modular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86016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</a:rPr>
              <a:t>CAPEX fraccionable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0" y="-457200"/>
            <a:ext cx="6400800" cy="6400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3154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 es la solución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el sistema </a:t>
            </a:r>
            <a:r>
              <a:rPr lang="en-US" sz="3200" b="1" dirty="0" err="1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eléctrico</a:t>
            </a:r>
            <a:r>
              <a:rPr lang="en-US" sz="3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200" b="1" dirty="0" err="1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europeo</a:t>
            </a:r>
            <a:r>
              <a:rPr lang="en-US" sz="3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y </a:t>
            </a:r>
            <a:r>
              <a:rPr lang="en-US" sz="3200" b="1" dirty="0" err="1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mundial</a:t>
            </a:r>
            <a:r>
              <a:rPr lang="en-US" sz="3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necesita hoy.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4572000" cy="0"/>
          </a:xfrm>
          <a:prstGeom prst="line">
            <a:avLst/>
          </a:prstGeom>
          <a:noFill/>
          <a:ln w="1905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existente  ·  Sin electroquímica  ·  Respuesta instantánea
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
</a:t>
            </a: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generación + servicios de red + reducción de curtailment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2697480" cy="1600200"/>
          </a:xfrm>
          <a:prstGeom prst="rect">
            <a:avLst/>
          </a:prstGeom>
          <a:solidFill>
            <a:srgbClr val="0D1B2A">
              <a:alpha val="18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11480" y="3127248"/>
            <a:ext cx="2697480" cy="457200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</p:spPr>
        <p:txBody>
          <a:bodyPr/>
          <a:lstStyle/>
          <a:p>
            <a:endParaRPr lang="es-E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Siguiente paso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técnica en parque existente + simulación de balance energético con datos reales.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3127248"/>
            <a:ext cx="2697480" cy="1600200"/>
          </a:xfrm>
          <a:prstGeom prst="rect">
            <a:avLst/>
          </a:prstGeom>
          <a:solidFill>
            <a:srgbClr val="0D1B2A">
              <a:alpha val="18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319272" y="3127248"/>
            <a:ext cx="2697480" cy="45720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29000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Propuesta de piloto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5 molinos en parque de 25+ MW. Período de validación: 12 meses. ROI estimado desde año 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7064" y="3127248"/>
            <a:ext cx="2697480" cy="1600200"/>
          </a:xfrm>
          <a:prstGeom prst="rect">
            <a:avLst/>
          </a:prstGeom>
          <a:solidFill>
            <a:srgbClr val="C9A84C">
              <a:alpha val="18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227064" y="3127248"/>
            <a:ext cx="269748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36792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Búsqueda de socios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socio tecnológico (electrónica de potencia) e inversor estratégico del sector energético.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B9B"/>
                </a:solidFill>
              </a:rPr>
              <a:t>Victor Manzanares Alberola  ·  victor@techamv.com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D1B2A"/>
      </a:dk2>
      <a:lt2>
        <a:srgbClr val="F4F4F2"/>
      </a:lt2>
      <a:accent1>
        <a:srgbClr val="1E3A5C"/>
      </a:accent1>
      <a:accent2>
        <a:srgbClr val="C9A84C"/>
      </a:accent2>
      <a:accent3>
        <a:srgbClr val="9B9B9B"/>
      </a:accent3>
      <a:accent4>
        <a:srgbClr val="C9A84C"/>
      </a:accent4>
      <a:accent5>
        <a:srgbClr val="1E3A5C"/>
      </a:accent5>
      <a:accent6>
        <a:srgbClr val="1E3A5C"/>
      </a:accent6>
      <a:hlink>
        <a:srgbClr val="1E3A5C"/>
      </a:hlink>
      <a:folHlink>
        <a:srgbClr val="C9A84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D1B2A"/>
      </a:dk2>
      <a:lt2>
        <a:srgbClr val="F4F4F2"/>
      </a:lt2>
      <a:accent1>
        <a:srgbClr val="1E3A5C"/>
      </a:accent1>
      <a:accent2>
        <a:srgbClr val="C9A84C"/>
      </a:accent2>
      <a:accent3>
        <a:srgbClr val="0D1B2A"/>
      </a:accent3>
      <a:accent4>
        <a:srgbClr val="1E3A5C"/>
      </a:accent4>
      <a:accent5>
        <a:srgbClr val="C9A84C"/>
      </a:accent5>
      <a:accent6>
        <a:srgbClr val="1E3A5C"/>
      </a:accent6>
      <a:hlink>
        <a:srgbClr val="1E3A5C"/>
      </a:hlink>
      <a:folHlink>
        <a:srgbClr val="C9A84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1865</Words>
  <Application>Microsoft Office PowerPoint</Application>
  <PresentationFormat>Presentación en pantalla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ZypyZape — Commercial Pitch</dc:title>
  <dc:subject>PptxGenJS Presentation</dc:subject>
  <dc:creator>Victor Manzanares Alberola</dc:creator>
  <cp:lastModifiedBy>victor manzanares</cp:lastModifiedBy>
  <cp:revision>3</cp:revision>
  <dcterms:created xsi:type="dcterms:W3CDTF">2026-03-01T07:59:47Z</dcterms:created>
  <dcterms:modified xsi:type="dcterms:W3CDTF">2026-04-22T19:19:24Z</dcterms:modified>
</cp:coreProperties>
</file>