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48" y="-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B08E8-2C1F-D5E2-76DE-6E3855D53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04D86A-7E7E-4330-92AB-96B0A2BC5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42199C-8D8F-B076-6729-FA858C1F6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AA1523-1E88-8612-A381-76945FC4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6390B4-53C6-1C14-C186-64484790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0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39FD8-C084-D567-ABF1-F9CA3A22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E21F4-B754-0111-47C6-86BF3177E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9FEB44-8186-6694-6B5E-723323A0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0A9AE6-4543-E5D3-DE66-E26CA623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24F3B5-1BDC-0569-2957-45873F37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82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BC1D-CB6B-A840-EDAC-C0645736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D44306-A15A-A39A-D7F4-2FE8CDA64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2561ED-9229-9F93-D76E-3E5D5FBD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144954-CA5B-EACA-DFFC-4EE08291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4DD9E-43BF-9803-1639-BA46235A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852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F4CE0-B3A8-4F79-8006-18336DF5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72F087-C41A-0C15-B763-5CBCE6594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E90897-56F1-C954-74B4-1E1E0D861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696572-AF34-8DBC-C5C6-521C7A75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1BF176-5B1F-487E-46BB-A771C870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28CB4D-29A8-DDEE-D39D-F437BAC5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56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D02E6-F419-EF67-0092-E33F15119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1AB92C-FD44-3B56-3217-302DD02DF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6620FD-E508-51F6-2576-C70B53FF1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0EEFAE-809D-C192-5382-7A6525A01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9BE129-41EA-FA53-0C49-41B19946F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4AAF4C-456F-39D3-5C4A-B4F3732CC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61EA2D6-DE32-BA25-4E40-0E9CD76D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FB80E90-A9EB-4B6C-18A8-A6BAAE57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17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0BD64-D7E0-73F8-8291-5120580E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D2389-3FFD-5AFE-56FB-0E7931BB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1434D9-15D8-D8FF-02AE-EF200FD2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1819A1-9EE1-8157-B0BF-99D8CE9E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95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7BC72D-88CB-AFF4-CA7D-A42F82E1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482263-24B2-BFFC-6D39-7C5FA214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16D30A-B45A-4CAD-A30E-D0AF69D8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24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7345F-F75E-3A55-7BF2-58DA5DC85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DC025A-6BDD-0E0B-9F80-129C05E6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6F66DB-BC53-CF61-2EDD-FC457DAE0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E79F80-D42B-D8BD-FE99-D05582E7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4E8C5F-66CB-7FBF-45A8-FC10315C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EE6A05-3C27-9873-E9AE-1902ABAF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B27C9-EF2C-B7F2-8D15-74145364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DE47CB-CF57-91E3-06A2-71626985E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88ACBE-802C-607A-48B0-009CA70BE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BC909F-466D-86ED-2304-DF96C585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4D03A7-C870-B57B-EC02-97D8ADA5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9D50BE-5B4E-E1EA-22E8-CBF1EDF4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00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8D53B-6105-3E95-DF2E-7EF3A122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200BC2-7F64-4FB8-4AB7-09AFD831D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8D3EE1-7ECA-ABB0-4A64-4BE82B3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242450-DFB7-9598-764F-6E999F99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40A512-1678-11B3-B6AA-E214654C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456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4D3E7D-D7EA-8B94-AA0A-7BC75EE46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4C9D0D-EF9E-AA72-322F-B417F4F8B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B8FC09-1AB9-438E-1268-811D0359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354E2-2854-6BA6-92A4-BF24F22F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BE94A2-23D6-24BA-5A08-2714D102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755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E15E64-1816-D2F2-4294-4D5C374E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14601D-5817-AC4A-C1B9-364747014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6D3ECC-19E6-0034-402D-44997558B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86556-DDFE-485D-A05E-0DD7FF11D04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34F6A-F627-09A4-C020-F8A4E6FC5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2C19FA-5427-521C-78B7-70CACE064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5AA41-8409-4AAE-BD0A-DEA3DBE52A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216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3D8F35-B4E9-07AB-31E9-5A6D49343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Criva marcado unico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21B222-3119-86DA-D791-944D2EA60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Víctor Manzanares Alberola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17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626EFE8-111C-1BD6-2D2F-2F1D3671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Código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C5EA4D-3A03-2D19-5C26-FBECDF7B6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pt-BR" sz="1500">
                <a:solidFill>
                  <a:schemeClr val="bg1"/>
                </a:solidFill>
              </a:rPr>
              <a:t>Código: p[0]=1 ; p[2]=1; p[3]=1 ; anterior=0; </a:t>
            </a:r>
          </a:p>
          <a:p>
            <a:r>
              <a:rPr lang="es-ES" sz="1500">
                <a:solidFill>
                  <a:schemeClr val="bg1"/>
                </a:solidFill>
              </a:rPr>
              <a:t>desde v=0 a limite^2:{ v++; p[v]=1; v+=4; p[v]=1; } </a:t>
            </a:r>
          </a:p>
          <a:p>
            <a:r>
              <a:rPr lang="pt-BR" sz="1500">
                <a:solidFill>
                  <a:schemeClr val="bg1"/>
                </a:solidFill>
              </a:rPr>
              <a:t>para n de 0 a (limite-3)/2:{ </a:t>
            </a:r>
          </a:p>
          <a:p>
            <a:r>
              <a:rPr lang="pt-BR" sz="1500">
                <a:solidFill>
                  <a:schemeClr val="bg1"/>
                </a:solidFill>
              </a:rPr>
              <a:t>  si(anterior+3=n){anterior=n;n++;} </a:t>
            </a:r>
          </a:p>
          <a:p>
            <a:r>
              <a:rPr lang="pt-BR" sz="1500">
                <a:solidFill>
                  <a:schemeClr val="bg1"/>
                </a:solidFill>
              </a:rPr>
              <a:t>  si(p[2n+3])=1{</a:t>
            </a:r>
          </a:p>
          <a:p>
            <a:r>
              <a:rPr lang="pt-BR" sz="1500">
                <a:solidFill>
                  <a:schemeClr val="bg1"/>
                </a:solidFill>
              </a:rPr>
              <a:t>    ñ=1; anteriorMM= 2n+3; </a:t>
            </a:r>
          </a:p>
          <a:p>
            <a:r>
              <a:rPr lang="pt-BR" sz="1500">
                <a:solidFill>
                  <a:schemeClr val="bg1"/>
                </a:solidFill>
              </a:rPr>
              <a:t>    para m de n a limite*limite/(2n+3):{ </a:t>
            </a:r>
            <a:r>
              <a:rPr lang="it-IT" sz="1500">
                <a:solidFill>
                  <a:schemeClr val="bg1"/>
                </a:solidFill>
              </a:rPr>
              <a:t> </a:t>
            </a:r>
          </a:p>
          <a:p>
            <a:r>
              <a:rPr lang="it-IT" sz="1500">
                <a:solidFill>
                  <a:schemeClr val="bg1"/>
                </a:solidFill>
              </a:rPr>
              <a:t>      ñ++;</a:t>
            </a:r>
          </a:p>
          <a:p>
            <a:r>
              <a:rPr lang="es-ES" sz="1500">
                <a:solidFill>
                  <a:schemeClr val="bg1"/>
                </a:solidFill>
              </a:rPr>
              <a:t>      si(anteriorMM=2m+3){ </a:t>
            </a:r>
          </a:p>
          <a:p>
            <a:r>
              <a:rPr lang="es-ES" sz="1500">
                <a:solidFill>
                  <a:schemeClr val="bg1"/>
                </a:solidFill>
              </a:rPr>
              <a:t>      si(anteriorNY=ñ){anteriorNY+=3;ñ++;} </a:t>
            </a:r>
          </a:p>
          <a:p>
            <a:r>
              <a:rPr lang="es-ES" sz="1500">
                <a:solidFill>
                  <a:schemeClr val="bg1"/>
                </a:solidFill>
              </a:rPr>
              <a:t>      anteriorMM=(2ñ+3)(2n+3); p[4mn+6n+6m+9]=3; m=((2ñ+3)(2n+3)-3)/2;</a:t>
            </a:r>
          </a:p>
          <a:p>
            <a:r>
              <a:rPr lang="es-ES" sz="1500">
                <a:solidFill>
                  <a:schemeClr val="bg1"/>
                </a:solidFill>
              </a:rPr>
              <a:t>} } } } p[0]=3;p[1]=3;</a:t>
            </a:r>
          </a:p>
        </p:txBody>
      </p:sp>
    </p:spTree>
    <p:extLst>
      <p:ext uri="{BB962C8B-B14F-4D97-AF65-F5344CB8AC3E}">
        <p14:creationId xmlns:p14="http://schemas.microsoft.com/office/powerpoint/2010/main" val="381517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D350AF-A1B4-037E-2FAC-CF207971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inicialización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6A792-9C99-007A-BA7C-E7B99A1B2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Código: p[0]=1 ; p[2]=1; p[3]=1 ; anterior=0; </a:t>
            </a:r>
          </a:p>
          <a:p>
            <a:r>
              <a:rPr lang="es-ES">
                <a:solidFill>
                  <a:schemeClr val="bg1"/>
                </a:solidFill>
              </a:rPr>
              <a:t>desde v=0 a limite^2:{ v++; p[v]=1; v+=4; p[v]=1; } </a:t>
            </a:r>
          </a:p>
          <a:p>
            <a:pPr marL="0" indent="0">
              <a:buNone/>
            </a:pP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este trozo de código crea una rejilla de candidatos y marca 0 2 3 a primo. </a:t>
            </a:r>
          </a:p>
        </p:txBody>
      </p:sp>
    </p:spTree>
    <p:extLst>
      <p:ext uri="{BB962C8B-B14F-4D97-AF65-F5344CB8AC3E}">
        <p14:creationId xmlns:p14="http://schemas.microsoft.com/office/powerpoint/2010/main" val="22499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34257F-78D1-9D13-93D0-9544529A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Flujo del codigo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E88AE-015E-0F59-1DF0-2173910EB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pt-BR" sz="2400">
                <a:solidFill>
                  <a:schemeClr val="bg1"/>
                </a:solidFill>
              </a:rPr>
              <a:t>para n de 0 a (limite-3)/2:{ // para el rango</a:t>
            </a:r>
          </a:p>
          <a:p>
            <a:endParaRPr lang="pt-BR" sz="2400">
              <a:solidFill>
                <a:schemeClr val="bg1"/>
              </a:solidFill>
            </a:endParaRPr>
          </a:p>
          <a:p>
            <a:r>
              <a:rPr lang="pt-BR" sz="2400">
                <a:solidFill>
                  <a:schemeClr val="bg1"/>
                </a:solidFill>
              </a:rPr>
              <a:t>si(p[2n+3])=1{ //solo si es primo aun</a:t>
            </a:r>
          </a:p>
          <a:p>
            <a:endParaRPr lang="pt-BR" sz="2400">
              <a:solidFill>
                <a:schemeClr val="bg1"/>
              </a:solidFill>
            </a:endParaRPr>
          </a:p>
          <a:p>
            <a:r>
              <a:rPr lang="pt-BR" sz="2400">
                <a:solidFill>
                  <a:schemeClr val="bg1"/>
                </a:solidFill>
              </a:rPr>
              <a:t>para m de n a limite*limite/(2n+3):{ // recorremos los multiplos</a:t>
            </a:r>
          </a:p>
          <a:p>
            <a:endParaRPr lang="pt-BR" sz="2400">
              <a:solidFill>
                <a:schemeClr val="bg1"/>
              </a:solidFill>
            </a:endParaRPr>
          </a:p>
          <a:p>
            <a:r>
              <a:rPr lang="es-ES" sz="2400">
                <a:solidFill>
                  <a:schemeClr val="bg1"/>
                </a:solidFill>
              </a:rPr>
              <a:t> si(anteriorMM=2m+3){ </a:t>
            </a:r>
            <a:r>
              <a:rPr lang="pt-BR" sz="2400">
                <a:solidFill>
                  <a:schemeClr val="bg1"/>
                </a:solidFill>
              </a:rPr>
              <a:t> //solo marcaremos em esta situación</a:t>
            </a:r>
          </a:p>
          <a:p>
            <a:endParaRPr lang="pt-BR" sz="2400">
              <a:solidFill>
                <a:schemeClr val="bg1"/>
              </a:solidFill>
            </a:endParaRPr>
          </a:p>
          <a:p>
            <a:endParaRPr lang="pt-BR" sz="2400">
              <a:solidFill>
                <a:schemeClr val="bg1"/>
              </a:solidFill>
            </a:endParaRPr>
          </a:p>
          <a:p>
            <a:endParaRPr lang="pt-BR" sz="2400">
              <a:solidFill>
                <a:schemeClr val="bg1"/>
              </a:solidFill>
            </a:endParaRPr>
          </a:p>
          <a:p>
            <a:endParaRPr lang="es-ES" sz="2400">
              <a:solidFill>
                <a:schemeClr val="bg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24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B30EF-1DE0-08C1-DA06-C22E08A5D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7" y="1264801"/>
            <a:ext cx="4114571" cy="4296387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2n+3 : n!= 0%3 =&gt;6k+-1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8B7B2-55CF-9ACB-CD95-DE467AA5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345827"/>
            <a:ext cx="5217173" cy="4351338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si(anterior+3=n){anterior=n;n++;}</a:t>
            </a:r>
            <a:br>
              <a:rPr lang="pt-BR">
                <a:solidFill>
                  <a:schemeClr val="bg1"/>
                </a:solidFill>
              </a:rPr>
            </a:b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</a:rPr>
              <a:t>Nos asseguramos de solo iterar sobre los 6k+-1 esta instruccion sale varias veces.</a:t>
            </a:r>
            <a:endParaRPr lang="es-ES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76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CFAE63-6355-5733-BDE6-17398F32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s-ES">
                <a:solidFill>
                  <a:schemeClr val="bg1"/>
                </a:solidFill>
              </a:rPr>
              <a:t>Lógica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9B021B-1D18-0472-B56D-C40E1C012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pt-BR" sz="1300">
                <a:solidFill>
                  <a:schemeClr val="bg1"/>
                </a:solidFill>
              </a:rPr>
              <a:t>si(p[2n+3])=1{</a:t>
            </a:r>
          </a:p>
          <a:p>
            <a:r>
              <a:rPr lang="pt-BR" sz="1300">
                <a:solidFill>
                  <a:schemeClr val="bg1"/>
                </a:solidFill>
              </a:rPr>
              <a:t>    ñ=1; anteriorM=n; anteriorMM= 2n+3; </a:t>
            </a:r>
          </a:p>
          <a:p>
            <a:r>
              <a:rPr lang="pt-BR" sz="1300">
                <a:solidFill>
                  <a:schemeClr val="bg1"/>
                </a:solidFill>
              </a:rPr>
              <a:t>    para m de n a limite*limite/(2n+3):{ </a:t>
            </a:r>
          </a:p>
          <a:p>
            <a:r>
              <a:rPr lang="pt-BR" sz="1300">
                <a:solidFill>
                  <a:schemeClr val="bg1"/>
                </a:solidFill>
              </a:rPr>
              <a:t>      ñ++;</a:t>
            </a:r>
          </a:p>
          <a:p>
            <a:r>
              <a:rPr lang="es-ES" sz="1300">
                <a:solidFill>
                  <a:schemeClr val="bg1"/>
                </a:solidFill>
              </a:rPr>
              <a:t>      si(anteriorMM=2m+3){ </a:t>
            </a:r>
          </a:p>
          <a:p>
            <a:r>
              <a:rPr lang="es-ES" sz="1300">
                <a:solidFill>
                  <a:schemeClr val="bg1"/>
                </a:solidFill>
              </a:rPr>
              <a:t>      si(anteriorNY=ñ){anteriorNY+=3;ñ++;} </a:t>
            </a:r>
          </a:p>
          <a:p>
            <a:r>
              <a:rPr lang="es-ES" sz="1300">
                <a:solidFill>
                  <a:schemeClr val="bg1"/>
                </a:solidFill>
              </a:rPr>
              <a:t>      anteriorMM=(2ñ+3)(2n+3); p[4mn+6n+6m+9]=3; m=((2ñ+3)(2n+3)-3)/(2);ñ++</a:t>
            </a:r>
          </a:p>
          <a:p>
            <a:r>
              <a:rPr lang="es-ES" sz="1300">
                <a:solidFill>
                  <a:schemeClr val="bg1"/>
                </a:solidFill>
              </a:rPr>
              <a:t>} } } }</a:t>
            </a:r>
            <a:br>
              <a:rPr lang="es-ES" sz="1300">
                <a:solidFill>
                  <a:schemeClr val="bg1"/>
                </a:solidFill>
              </a:rPr>
            </a:br>
            <a:br>
              <a:rPr lang="es-ES" sz="1300">
                <a:solidFill>
                  <a:schemeClr val="bg1"/>
                </a:solidFill>
              </a:rPr>
            </a:br>
            <a:r>
              <a:rPr lang="es-ES" sz="1300">
                <a:solidFill>
                  <a:schemeClr val="bg1"/>
                </a:solidFill>
              </a:rPr>
              <a:t>Si es primo inicializamos ñ y entramos al bucle interno donde solo si anteriorMM lo permite, se marca p[4mn+6n+6m+9]=3 a compuesto y m va directamente a m=(2ñ+3)(2n+3)/2-3 para saltarse los compuestos dados. </a:t>
            </a:r>
            <a:br>
              <a:rPr lang="es-ES" sz="1300">
                <a:solidFill>
                  <a:schemeClr val="bg1"/>
                </a:solidFill>
              </a:rPr>
            </a:br>
            <a:br>
              <a:rPr lang="es-ES" sz="1300">
                <a:solidFill>
                  <a:schemeClr val="bg1"/>
                </a:solidFill>
              </a:rPr>
            </a:br>
            <a:r>
              <a:rPr lang="es-ES" sz="1300">
                <a:solidFill>
                  <a:schemeClr val="bg1"/>
                </a:solidFill>
              </a:rPr>
              <a:t>Dicho de otra forma: si es primo multiplicación de primo*(6k+-1) para el bucle interno</a:t>
            </a:r>
            <a:br>
              <a:rPr lang="es-ES" sz="1300">
                <a:solidFill>
                  <a:schemeClr val="bg1"/>
                </a:solidFill>
              </a:rPr>
            </a:br>
            <a:r>
              <a:rPr lang="es-ES" sz="1300">
                <a:solidFill>
                  <a:schemeClr val="bg1"/>
                </a:solidFill>
              </a:rPr>
              <a:t>Solo se marca si 2m+3 siendo m el contador del bucle interno es 2ñ+3 debido a anteriorMM que actualiza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8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F55E75-CCE3-08FE-064B-31EB3BF6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 finalizar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573F8E-06B5-3A47-1666-27017ED26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p[0]=3;p[1]=3;</a:t>
            </a:r>
          </a:p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marcamos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compuesto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0 y 1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porque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antes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estaba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mal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marcado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es un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deje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autor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 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17220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618</Words>
  <Application>Microsoft Office PowerPoint</Application>
  <PresentationFormat>Panorámica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Criva marcado unico</vt:lpstr>
      <vt:lpstr>Código </vt:lpstr>
      <vt:lpstr>inicialización</vt:lpstr>
      <vt:lpstr>Flujo del codigo</vt:lpstr>
      <vt:lpstr>2n+3 : n!= 0%3 =&gt;6k+-1</vt:lpstr>
      <vt:lpstr>Lógica</vt:lpstr>
      <vt:lpstr>Para finalizar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manzanares</dc:creator>
  <cp:lastModifiedBy>victor manzanares</cp:lastModifiedBy>
  <cp:revision>1</cp:revision>
  <dcterms:created xsi:type="dcterms:W3CDTF">2026-02-16T11:07:09Z</dcterms:created>
  <dcterms:modified xsi:type="dcterms:W3CDTF">2026-02-16T11:32:57Z</dcterms:modified>
</cp:coreProperties>
</file>