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858000" cy="6858000"/>
          </a:xfrm>
          <a:prstGeom prst="ellipse">
            <a:avLst/>
          </a:prstGeom>
          <a:solidFill>
            <a:srgbClr val="00C4AA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82880"/>
            <a:ext cx="5029200" cy="5029200"/>
          </a:xfrm>
          <a:prstGeom prst="ellipse">
            <a:avLst/>
          </a:prstGeom>
          <a:solidFill>
            <a:srgbClr val="0A326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7724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ZYPYZAPE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KINETIC BATTERY FOR THE GRID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743200"/>
            <a:ext cx="5029200" cy="0"/>
          </a:xfrm>
          <a:prstGeom prst="line">
            <a:avLst/>
          </a:prstGeom>
          <a:noFill/>
          <a:ln w="19050">
            <a:solidFill>
              <a:srgbClr val="00C4A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8529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Batería de inercia sintética · Regulación de red en tiempo real · Sin electroquímica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429000"/>
            <a:ext cx="2468880" cy="1325880"/>
          </a:xfrm>
          <a:prstGeom prst="rect">
            <a:avLst/>
          </a:prstGeom>
          <a:solidFill>
            <a:srgbClr val="00C4AA">
              <a:alpha val="12000"/>
            </a:srgbClr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212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molinos/módulo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Topología autorregulable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3429000"/>
            <a:ext cx="2468880" cy="1325880"/>
          </a:xfrm>
          <a:prstGeom prst="rect">
            <a:avLst/>
          </a:prstGeom>
          <a:solidFill>
            <a:srgbClr val="00C4AA">
              <a:alpha val="12000"/>
            </a:srgbClr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50Hz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2644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sinc. perfecta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Onda limpia garantizada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3429000"/>
            <a:ext cx="2468880" cy="1325880"/>
          </a:xfrm>
          <a:prstGeom prst="rect">
            <a:avLst/>
          </a:prstGeom>
          <a:solidFill>
            <a:srgbClr val="00C4AA">
              <a:alpha val="12000"/>
            </a:srgbClr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07608" y="349300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007608" y="413308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baterías quím.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07608" y="44074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Solo física mecánica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Victor Manzanares Alberola  ·  victormanzaresalberola@gmail.com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2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 que resolvemos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363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06040" cy="658368"/>
          </a:xfrm>
          <a:prstGeom prst="rect">
            <a:avLst/>
          </a:prstGeom>
          <a:solidFill>
            <a:srgbClr val="D9363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Inercia en colapso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redes con alta penetración renovable pierden inercia natural. Sin masa giratoria en red, cualquier desequilibrio provoca caída de frecuencia.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971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606040" cy="658368"/>
          </a:xfrm>
          <a:prstGeom prst="rect">
            <a:avLst/>
          </a:prstGeom>
          <a:solidFill>
            <a:srgbClr val="E8971A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🔋  Baterías: caro y tóxico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actuales (litio, hidrógeno) cuestan 300–600 €/kWh, requieren mantenimiento intensivo y tienen vida útil limitada.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🔋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06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14400"/>
            <a:ext cx="2606040" cy="658368"/>
          </a:xfrm>
          <a:prstGeom prst="rect">
            <a:avLst/>
          </a:prstGeom>
          <a:solidFill>
            <a:srgbClr val="1A7FD4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44768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💨  Eólica: agente pasivo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3591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aerogeneradores actuales toman lo que el viento da. No regulan, no almacenan, no responden. Son precio-tomadores, no reguladores.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💨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32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AA"/>
                </a:solidFill>
              </a:rPr>
              <a:t>ZypyZape convierte los molinos existentes en reguladores activos de red con inercia sintética.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física que lo sustenta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572000" cy="1207008"/>
          </a:xfrm>
          <a:prstGeom prst="rect">
            <a:avLst/>
          </a:prstGeom>
          <a:solidFill>
            <a:srgbClr val="0D1E33"/>
          </a:solidFill>
          <a:ln w="190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109728" cy="1207008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24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AA"/>
                </a:solidFill>
              </a:rPr>
              <a:t>Ley de Faraday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5331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−dΦ/dt  ·  La variación de flujo magnético entre rotor y estátor genera tensión proporcional a la velocidad. A más velocidad → más tensión y potencia disponible.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572000" cy="1207008"/>
          </a:xfrm>
          <a:prstGeom prst="rect">
            <a:avLst/>
          </a:prstGeom>
          <a:solidFill>
            <a:srgbClr val="0D1E33"/>
          </a:solidFill>
          <a:ln w="1905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86000"/>
            <a:ext cx="109728" cy="1207008"/>
          </a:xfrm>
          <a:prstGeom prst="rect">
            <a:avLst/>
          </a:prstGeom>
          <a:solidFill>
            <a:srgbClr val="22B96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3225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96A"/>
                </a:solidFill>
              </a:rPr>
              <a:t>Ley de Lenz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65176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inducido siempre se opone al cambio que lo produce. Al aumentar la velocidad del aspa, el motor ofrece más resistencia al movimiento → el viento tiene más superficie cinética contra la que empujar → capta más energía.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84448"/>
            <a:ext cx="4572000" cy="1207008"/>
          </a:xfrm>
          <a:prstGeom prst="rect">
            <a:avLst/>
          </a:prstGeom>
          <a:solidFill>
            <a:srgbClr val="0D1E33"/>
          </a:solidFill>
          <a:ln w="19050">
            <a:solidFill>
              <a:srgbClr val="E897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584448"/>
            <a:ext cx="109728" cy="1207008"/>
          </a:xfrm>
          <a:prstGeom prst="rect">
            <a:avLst/>
          </a:prstGeom>
          <a:solidFill>
            <a:srgbClr val="E8971A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621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71A"/>
                </a:solidFill>
              </a:rPr>
              <a:t>Conservación de energía cinética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" y="395020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E_rot = ½ · I · ω²  ·  La energía almacenada en la masa giratoria crece con el cuadrado de la velocidad angular. Duplicar ω cuadruplica la reserva cinética disponible para la 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3657600" cy="4005072"/>
          </a:xfrm>
          <a:prstGeom prst="rect">
            <a:avLst/>
          </a:prstGeom>
          <a:solidFill>
            <a:srgbClr val="0D1E33"/>
          </a:solidFill>
          <a:ln w="1905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9240" y="10241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96A"/>
                </a:solidFill>
              </a:rPr>
              <a:t>¿Por qué mejora más la captación que el rozamiento?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Potencia captada del viento: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1993392"/>
            <a:ext cx="3383280" cy="475488"/>
          </a:xfrm>
          <a:prstGeom prst="rect">
            <a:avLst/>
          </a:prstGeom>
          <a:solidFill>
            <a:srgbClr val="0A2A18"/>
          </a:solidFill>
          <a:ln w="12700">
            <a:solidFill>
              <a:srgbClr val="22B9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0299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P_viento  =  ½ · ρ · A · v³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578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Rozamiento en rodamientos: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2907792"/>
            <a:ext cx="3383280" cy="475488"/>
          </a:xfrm>
          <a:prstGeom prst="rect">
            <a:avLst/>
          </a:prstGeom>
          <a:solidFill>
            <a:srgbClr val="2A1A0A"/>
          </a:solidFill>
          <a:ln w="12700">
            <a:solidFill>
              <a:srgbClr val="E897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9443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9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P_roz  =  f · ω  ·  (lineal en ω)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49240" y="3493008"/>
            <a:ext cx="3383280" cy="1280160"/>
          </a:xfrm>
          <a:prstGeom prst="rect">
            <a:avLst/>
          </a:prstGeom>
          <a:solidFill>
            <a:srgbClr val="0A1A30"/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547872"/>
            <a:ext cx="3246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velocidad sube un 15%:
</a:t>
            </a:r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Captación ↑ 52% (v³)
</a:t>
            </a:r>
            <a:pPr indent="0" marL="0">
              <a:buNone/>
            </a:pPr>
            <a:r>
              <a:rPr lang="en-US" sz="1200" dirty="0">
                <a:solidFill>
                  <a:srgbClr val="E89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Rozamiento ↑ 15% (lineal)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</a:t>
            </a:r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+37% neto de ganancia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B9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5 molinos para la autorregulación?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Topología mínima que garantiza regulación autónoma y escalabilidad por conexionado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40280" y="1207008"/>
            <a:ext cx="4663440" cy="3072384"/>
          </a:xfrm>
          <a:prstGeom prst="ellipse">
            <a:avLst/>
          </a:prstGeom>
          <a:solidFill>
            <a:srgbClr val="22B96A">
              <a:alpha val="8000"/>
            </a:srgbClr>
          </a:solidFill>
          <a:ln w="31750">
            <a:solidFill>
              <a:srgbClr val="22B96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114800" y="1069848"/>
            <a:ext cx="914400" cy="685800"/>
          </a:xfrm>
          <a:prstGeom prst="ellipse">
            <a:avLst/>
          </a:prstGeom>
          <a:solidFill>
            <a:srgbClr val="22B96A">
              <a:alpha val="80000"/>
            </a:srgbClr>
          </a:solidFill>
          <a:ln w="25400">
            <a:solidFill>
              <a:srgbClr val="22B9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0" y="106984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0" cy="-658368"/>
          </a:xfrm>
          <a:prstGeom prst="line">
            <a:avLst/>
          </a:prstGeom>
          <a:noFill/>
          <a:ln w="15240">
            <a:solidFill>
              <a:srgbClr val="22B96A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2966554" y="3058668"/>
            <a:ext cx="914400" cy="685800"/>
          </a:xfrm>
          <a:prstGeom prst="ellipse">
            <a:avLst/>
          </a:prstGeom>
          <a:solidFill>
            <a:srgbClr val="22B96A">
              <a:alpha val="80000"/>
            </a:srgbClr>
          </a:solidFill>
          <a:ln w="25400">
            <a:solidFill>
              <a:srgbClr val="22B9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66554" y="305866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19701" y="3177540"/>
            <a:ext cx="-570163" cy="329184"/>
          </a:xfrm>
          <a:prstGeom prst="line">
            <a:avLst/>
          </a:prstGeom>
          <a:noFill/>
          <a:ln w="15240">
            <a:solidFill>
              <a:srgbClr val="22B96A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5263046" y="3058668"/>
            <a:ext cx="914400" cy="685800"/>
          </a:xfrm>
          <a:prstGeom prst="ellipse">
            <a:avLst/>
          </a:prstGeom>
          <a:solidFill>
            <a:srgbClr val="22B96A">
              <a:alpha val="80000"/>
            </a:srgbClr>
          </a:solidFill>
          <a:ln w="25400">
            <a:solidFill>
              <a:srgbClr val="22B9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3046" y="305866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ANILLO 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4299" y="3177540"/>
            <a:ext cx="570163" cy="329184"/>
          </a:xfrm>
          <a:prstGeom prst="line">
            <a:avLst/>
          </a:prstGeom>
          <a:noFill/>
          <a:ln w="15240">
            <a:solidFill>
              <a:srgbClr val="22B96A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2999232" y="2267712"/>
            <a:ext cx="1417320" cy="960120"/>
          </a:xfrm>
          <a:prstGeom prst="ellipse">
            <a:avLst/>
          </a:prstGeom>
          <a:solidFill>
            <a:srgbClr val="1A7FD4">
              <a:alpha val="82000"/>
            </a:srgbClr>
          </a:solidFill>
          <a:ln w="31750">
            <a:solidFill>
              <a:srgbClr val="1A7F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99232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120°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7448" y="2267712"/>
            <a:ext cx="1417320" cy="960120"/>
          </a:xfrm>
          <a:prstGeom prst="ellipse">
            <a:avLst/>
          </a:prstGeom>
          <a:solidFill>
            <a:srgbClr val="0A3260">
              <a:alpha val="82000"/>
            </a:srgbClr>
          </a:solidFill>
          <a:ln w="3175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7448" y="24231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MOTOR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120°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20848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971A"/>
                </a:solidFill>
              </a:rPr>
              <a:t>desfase 120°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100584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1005840"/>
            <a:ext cx="2148840" cy="457200"/>
          </a:xfrm>
          <a:prstGeom prst="rect">
            <a:avLst/>
          </a:prstGeom>
          <a:solidFill>
            <a:srgbClr val="0A326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1033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¿Por qué 5?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1600200"/>
            <a:ext cx="402336" cy="402336"/>
          </a:xfrm>
          <a:prstGeom prst="ellipse">
            <a:avLst/>
          </a:prstGeom>
          <a:solidFill>
            <a:srgbClr val="1A7FD4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15819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Centrales a 120°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conexión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 a red trifásica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606040"/>
            <a:ext cx="402336" cy="402336"/>
          </a:xfrm>
          <a:prstGeom prst="ellipse">
            <a:avLst/>
          </a:prstGeom>
          <a:solidFill>
            <a:srgbClr val="22B96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" y="258775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= regulador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magnético autónomo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amortiguador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402336" cy="402336"/>
          </a:xfrm>
          <a:prstGeom prst="ellipse">
            <a:avLst/>
          </a:prstGeom>
          <a:solidFill>
            <a:srgbClr val="E8971A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=5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" y="359359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indivisible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autorregulación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externo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12280" y="1005840"/>
            <a:ext cx="2148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12280" y="1005840"/>
            <a:ext cx="2148840" cy="457200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10332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Escalabilidad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1572768"/>
            <a:ext cx="1965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conexionado eléctrico
(sin obra mecánica):
</a:t>
            </a:r>
            <a:pPr indent="0" marL="0">
              <a:buNone/>
            </a:pPr>
            <a:r>
              <a:rPr lang="en-US" sz="1100" b="1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módulo  →
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autorregulación local
</a:t>
            </a:r>
            <a:pPr indent="0" marL="0">
              <a:buNone/>
            </a:pPr>
            <a:r>
              <a:rPr lang="en-US" sz="1100" b="1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módulos →
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de red
regional / nacional
</a:t>
            </a:r>
            <a:pPr indent="0" marL="0">
              <a:buNone/>
            </a:pPr>
            <a:r>
              <a:rPr lang="en-US" sz="11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añadido
</a:t>
            </a:r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la capacidad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inercia total 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forma lineal.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7F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Desfase 120° · Conexión a red e inercia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Por qué dos centrales desfasados 120° es la clave para red trifásica y reserva de inercia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0D1E33"/>
          </a:solidFill>
          <a:ln w="19050">
            <a:solidFill>
              <a:srgbClr val="1A7F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D4"/>
                </a:solidFill>
              </a:rPr>
              <a:t>Red trifásica 50 Hz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691640"/>
            <a:ext cx="2011680" cy="2011680"/>
          </a:xfrm>
          <a:prstGeom prst="ellipse">
            <a:avLst/>
          </a:prstGeom>
          <a:solidFill>
            <a:srgbClr val="1A7FD4">
              <a:alpha val="5000"/>
            </a:srgbClr>
          </a:solidFill>
          <a:ln w="12700">
            <a:solidFill>
              <a:srgbClr val="1A7FD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331720" y="2697480"/>
            <a:ext cx="0" cy="-1005840"/>
          </a:xfrm>
          <a:prstGeom prst="line">
            <a:avLst/>
          </a:prstGeom>
          <a:noFill/>
          <a:ln w="38100">
            <a:solidFill>
              <a:srgbClr val="1A7F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554480"/>
            <a:ext cx="274320" cy="274320"/>
          </a:xfrm>
          <a:prstGeom prst="ellipse">
            <a:avLst/>
          </a:prstGeom>
          <a:solidFill>
            <a:srgbClr val="1A7FD4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325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D4"/>
                </a:solidFill>
              </a:rPr>
              <a:t>L1 (M1)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697480"/>
            <a:ext cx="-871083" cy="502920"/>
          </a:xfrm>
          <a:prstGeom prst="line">
            <a:avLst/>
          </a:prstGeom>
          <a:noFill/>
          <a:ln w="38100">
            <a:solidFill>
              <a:srgbClr val="00C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3477" y="3063240"/>
            <a:ext cx="274320" cy="274320"/>
          </a:xfrm>
          <a:prstGeom prst="ellipse">
            <a:avLst/>
          </a:prstGeom>
          <a:solidFill>
            <a:srgbClr val="00C4AA"/>
          </a:solidFill>
          <a:ln/>
        </p:spPr>
      </p:sp>
      <p:sp>
        <p:nvSpPr>
          <p:cNvPr id="13" name="Text 11"/>
          <p:cNvSpPr/>
          <p:nvPr/>
        </p:nvSpPr>
        <p:spPr>
          <a:xfrm>
            <a:off x="966380" y="3136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AA"/>
                </a:solidFill>
              </a:rPr>
              <a:t>L2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2697480"/>
            <a:ext cx="871083" cy="502920"/>
          </a:xfrm>
          <a:prstGeom prst="line">
            <a:avLst/>
          </a:prstGeom>
          <a:noFill/>
          <a:ln w="38100">
            <a:solidFill>
              <a:srgbClr val="22B9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5643" y="3063240"/>
            <a:ext cx="274320" cy="274320"/>
          </a:xfrm>
          <a:prstGeom prst="ellipse">
            <a:avLst/>
          </a:prstGeom>
          <a:solidFill>
            <a:srgbClr val="22B96A"/>
          </a:solidFill>
          <a:ln/>
        </p:spPr>
      </p:sp>
      <p:sp>
        <p:nvSpPr>
          <p:cNvPr id="16" name="Text 14"/>
          <p:cNvSpPr/>
          <p:nvPr/>
        </p:nvSpPr>
        <p:spPr>
          <a:xfrm>
            <a:off x="3056980" y="3136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B96A"/>
                </a:solidFill>
              </a:rPr>
              <a:t>L3 (M2)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2585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971A"/>
                </a:solidFill>
              </a:rPr>
              <a:t>120°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73352" y="2743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971A"/>
                </a:solidFill>
              </a:rPr>
              <a:t>120°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3840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Desfase simétrico 120°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inyección trifásica perfecta.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motores centrales desfasados 120° por control eléctrico reproducen los 3 vectores de fase de la red. El tercer vector lo completa el anillo.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0D1E33"/>
          </a:solidFill>
          <a:ln w="190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AA"/>
                </a:solidFill>
              </a:rPr>
              <a:t>Inercia sintética al sistema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508760"/>
            <a:ext cx="3657600" cy="566928"/>
          </a:xfrm>
          <a:prstGeom prst="rect">
            <a:avLst/>
          </a:prstGeom>
          <a:solidFill>
            <a:srgbClr val="0A1A30"/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536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AA"/>
                </a:solidFill>
              </a:rPr>
              <a:t>H = ½·I·ω² / S_nominal  [MWs/MVA]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2212848"/>
            <a:ext cx="146304" cy="475488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21284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molinos con masas giratorias a alta velocidad = H ≈ 3–6 MWs/MVA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92040" y="2871216"/>
            <a:ext cx="146304" cy="475488"/>
          </a:xfrm>
          <a:prstGeom prst="rect">
            <a:avLst/>
          </a:prstGeom>
          <a:solidFill>
            <a:srgbClr val="1A7FD4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87121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caer la frecuencia de red, los rotores ceden energía cinética automáticamente (sin control electrónico)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92040" y="3529584"/>
            <a:ext cx="146304" cy="475488"/>
          </a:xfrm>
          <a:prstGeom prst="rect">
            <a:avLst/>
          </a:prstGeom>
          <a:solidFill>
            <a:srgbClr val="22B96A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352958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desfase 120° garantiza entrega continua en las 3 fases simultáneamente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92040" y="4187952"/>
            <a:ext cx="146304" cy="475488"/>
          </a:xfrm>
          <a:prstGeom prst="rect">
            <a:avLst/>
          </a:prstGeom>
          <a:solidFill>
            <a:srgbClr val="E8971A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418795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anillo amortigua los transitorios y recicla los armónicos: onda limpia a red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2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Material necesario · Hardware existente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ZypyZape opera sobre aerogeneradores estándar. No requiere nueva infraestructura de generación.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1133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Aerogeneradores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molinos estándar por módulo (multimegavatio), ya instalados o nuevos. Conexionado eléctrico híbrido a 2 estrellas + 1 anillo.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78992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1247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13832" y="1133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Electrónica potencia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13832" y="148132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Convertidores back-to-back rápidos para control del desfase 120° y gestión de las permutaciones a k×50 Hz.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78992" y="234086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Control SCADA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268833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monitorización y control distribuido. Lectura de red → ajuste automático del punto de operación.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13832" y="234086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Conexión a 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13832" y="268833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conexiones de potencia por módulo: 6 líneas + 2 neutros de inyección (solar u otras renovables).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93008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538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78992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Instrumentación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89534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PMU (unidades de medición fasorial) para sincronización de desfase y lectura de frecuencia / tensión en tiempo real.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493008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538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513832" y="3547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Software de gestión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13832" y="389534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optimización del ciclo ZypyZape y coordinación entre módulos. Adaptable a BMS existente de parque.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3"/>
                </a:solidFill>
              </a:rPr>
              <a:t>✔  Sin grandes excavaciones  ·  ✔  Integra solar existente  ·  ✔  Software actualizable  ·  ✔  Retro-compatible con parques en operación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Ventajas competitivas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611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</a:rPr>
              <a:t>Regulación solar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generación fotovoltaica no estable a través de los neutros de inyección. Sin inversores adicionales.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2219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A"/>
                </a:solidFill>
              </a:rPr>
              <a:t>Regulación eólica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optimiza la captación según la velocidad del viento. Opera en punto óptimo dinámico.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1A7F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48272" y="9784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D4"/>
                </a:solidFill>
              </a:rPr>
              <a:t>Regulación de 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 de frecuencia a 50 Hz en tiempo real, físicamente instantánea por inercia mecánica.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E897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611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71A"/>
                </a:solidFill>
              </a:rPr>
              <a:t>Inercia a red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3–6 MWs/MVA por módulo. Compensa la pérdida de inercia de centrales convencionales al cierre.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267712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D9363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2219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</a:rPr>
              <a:t>Captación de tormentas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Vientos extremos que hoy se cortan se pueden aprovechar: la mayor resistencia mejora la captación.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267712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48272" y="2331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</a:rPr>
              <a:t>Menor dependencia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770632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inercia almacenada cubre picos de demanda reduciendo la necesidad de gas de respaldo.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21024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9611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A"/>
                </a:solidFill>
              </a:rPr>
              <a:t>Cambio de paradigma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agente pasivo a regulador activo de red. El parque eólico cobra valor de regulación además de generación.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621024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0A32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9184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82219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260"/>
                </a:solidFill>
              </a:rPr>
              <a:t>Regulación distribuida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9184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es un nodo de regulación. La red mejora con cada nueva instalación ZypyZape.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621024"/>
            <a:ext cx="2743200" cy="1243584"/>
          </a:xfrm>
          <a:prstGeom prst="rect">
            <a:avLst/>
          </a:prstGeom>
          <a:solidFill>
            <a:srgbClr val="0D1E33"/>
          </a:solidFill>
          <a:ln w="15240">
            <a:solidFill>
              <a:srgbClr val="E897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1792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🌞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748272" y="368503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71A"/>
                </a:solidFill>
              </a:rPr>
              <a:t>Parques optimizados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17920" y="4123944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instalaciones diseñadas para máxima captación de viento y solar simultánea en el mismo emplazamiento.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97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Estimaciones de retorno económico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AB8"/>
                </a:solidFill>
              </a:rPr>
              <a:t>Valores conservadores sobre parque tipo de 50 MW (10 módulos ZypyZape)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2B9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011680" cy="566928"/>
          </a:xfrm>
          <a:prstGeom prst="rect">
            <a:avLst/>
          </a:prstGeom>
          <a:solidFill>
            <a:srgbClr val="22B96A">
              <a:alpha val="8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+15–25%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B96A"/>
                </a:solidFill>
              </a:rPr>
              <a:t>generación eólica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mejora de captación (ley del cubo, Δv=+10–15%)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051560"/>
            <a:ext cx="2011680" cy="566928"/>
          </a:xfrm>
          <a:prstGeom prst="rect">
            <a:avLst/>
          </a:prstGeom>
          <a:solidFill>
            <a:srgbClr val="00C4AA">
              <a:alpha val="8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30–50%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9464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AA"/>
                </a:solidFill>
              </a:rPr>
              <a:t>menos curtailment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7752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cortes forzados por inestabilidad de 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971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051560"/>
            <a:ext cx="2011680" cy="566928"/>
          </a:xfrm>
          <a:prstGeom prst="rect">
            <a:avLst/>
          </a:prstGeom>
          <a:solidFill>
            <a:srgbClr val="E8971A">
              <a:alpha val="8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×2–3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45736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971A"/>
                </a:solidFill>
              </a:rPr>
              <a:t>ingresos regulación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64024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servicios de red (FCR, aFRR) 80–200 k€/MW·año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105156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F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051560"/>
            <a:ext cx="2011680" cy="566928"/>
          </a:xfrm>
          <a:prstGeom prst="rect">
            <a:avLst/>
          </a:prstGeom>
          <a:solidFill>
            <a:srgbClr val="1A7FD4">
              <a:alpha val="8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48856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-60%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22008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FD4"/>
                </a:solidFill>
              </a:rPr>
              <a:t>vs. batería litio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0296" y="217627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estimado 80–120 €/kWh vs. 300–500 €/kWh del litio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4015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260"/>
                </a:solidFill>
              </a:rPr>
              <a:t>Flujo de caja estimado · Módulo 5 molinos (25 MW)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67328"/>
          <a:ext cx="8503920" cy="1298448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  <a:gridCol w="1737360"/>
                <a:gridCol w="1737360"/>
              </a:tblGrid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1–3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4–7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 8–15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60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Ingresos generación extra (+20%)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+1.2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+1.4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+1.6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Ingresos servicios de red (FCR)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+0.6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+0.9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+1.2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Ahorro curtailment (-40%)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+0.4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+0.5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+0.6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3260"/>
                          </a:solidFill>
                        </a:rPr>
                        <a:t>TOTAL estimado / módulo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B96A"/>
                          </a:solidFill>
                        </a:rPr>
                        <a:t>+2.2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B96A"/>
                          </a:solidFill>
                        </a:rPr>
                        <a:t>+2.8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B96A"/>
                          </a:solidFill>
                        </a:rPr>
                        <a:t>+3.4 M€/año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Mercados que buscan esta solución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AB8"/>
                </a:solidFill>
              </a:rPr>
              <a:t>Reguladores, operadores de red y fondos de infraestructura con necesidades activas de inercia sintética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713232"/>
          </a:xfrm>
          <a:prstGeom prst="rect">
            <a:avLst/>
          </a:prstGeom>
          <a:solidFill>
            <a:srgbClr val="0D1E33"/>
          </a:solidFill>
          <a:ln w="12700">
            <a:solidFill>
              <a:srgbClr val="1A7F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109728" cy="713232"/>
          </a:xfrm>
          <a:prstGeom prst="rect">
            <a:avLst/>
          </a:prstGeom>
          <a:solidFill>
            <a:srgbClr val="1A7FD4"/>
          </a:solidFill>
          <a:ln/>
        </p:spPr>
      </p:sp>
      <p:sp>
        <p:nvSpPr>
          <p:cNvPr id="7" name="Shape 5"/>
          <p:cNvSpPr/>
          <p:nvPr/>
        </p:nvSpPr>
        <p:spPr>
          <a:xfrm>
            <a:off x="7845552" y="1216152"/>
            <a:ext cx="914400" cy="292608"/>
          </a:xfrm>
          <a:prstGeom prst="rect">
            <a:avLst/>
          </a:prstGeom>
          <a:solidFill>
            <a:srgbClr val="1A7FD4">
              <a:alpha val="80000"/>
            </a:srgbClr>
          </a:solidFill>
          <a:ln w="12700">
            <a:solidFill>
              <a:srgbClr val="1A7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45552" y="1216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D4"/>
                </a:solidFill>
              </a:rPr>
              <a:t>URGENTE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1155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D4"/>
                </a:solidFill>
              </a:rPr>
              <a:t>🇪🇺 Europa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42646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 (España), RTE (Francia), National Grid (UK), TenneT (NL/DE) buscan activamente soluciones de inercia sintética. La normativa ENTSO-E exige reservas de frecuencia crecientes.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11155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7FD4"/>
                </a:solidFill>
              </a:rPr>
              <a:t>TAM: &gt;2.000 M€/año en servicios de 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713232"/>
          </a:xfrm>
          <a:prstGeom prst="rect">
            <a:avLst/>
          </a:prstGeom>
          <a:solidFill>
            <a:srgbClr val="0D1E33"/>
          </a:solidFill>
          <a:ln w="1270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74520"/>
            <a:ext cx="109728" cy="713232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845552" y="2011680"/>
            <a:ext cx="914400" cy="292608"/>
          </a:xfrm>
          <a:prstGeom prst="rect">
            <a:avLst/>
          </a:prstGeom>
          <a:solidFill>
            <a:srgbClr val="00C4AA">
              <a:alpha val="80000"/>
            </a:srgbClr>
          </a:solidFill>
          <a:ln w="12700">
            <a:solidFill>
              <a:srgbClr val="00C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2011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AA"/>
                </a:solidFill>
              </a:rPr>
              <a:t>ALTA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19110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AA"/>
                </a:solidFill>
              </a:rPr>
              <a:t>🇮🇸 Países nórdicos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22219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Dinamarca (100% eólica en puntas), Irlanda e Islandia: alta penetración renovable con déficit severo de inercia. Mercados FCR con precios en máximos históricos.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191109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4AA"/>
                </a:solidFill>
              </a:rPr>
              <a:t>TAM: &gt;400 M€/año en FCR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70048"/>
            <a:ext cx="8595360" cy="713232"/>
          </a:xfrm>
          <a:prstGeom prst="rect">
            <a:avLst/>
          </a:prstGeom>
          <a:solidFill>
            <a:srgbClr val="0D1E33"/>
          </a:solidFill>
          <a:ln w="1270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70048"/>
            <a:ext cx="109728" cy="713232"/>
          </a:xfrm>
          <a:prstGeom prst="rect">
            <a:avLst/>
          </a:prstGeom>
          <a:solidFill>
            <a:srgbClr val="22B96A"/>
          </a:solidFill>
          <a:ln/>
        </p:spPr>
      </p:sp>
      <p:sp>
        <p:nvSpPr>
          <p:cNvPr id="21" name="Shape 19"/>
          <p:cNvSpPr/>
          <p:nvPr/>
        </p:nvSpPr>
        <p:spPr>
          <a:xfrm>
            <a:off x="7845552" y="2807208"/>
            <a:ext cx="914400" cy="292608"/>
          </a:xfrm>
          <a:prstGeom prst="rect">
            <a:avLst/>
          </a:prstGeom>
          <a:solidFill>
            <a:srgbClr val="22B96A">
              <a:alpha val="80000"/>
            </a:srgbClr>
          </a:solidFill>
          <a:ln w="12700">
            <a:solidFill>
              <a:srgbClr val="22B9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2807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B96A"/>
                </a:solidFill>
              </a:rPr>
              <a:t>ALTA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27066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96A"/>
                </a:solidFill>
              </a:rPr>
              <a:t>🇦🇺 Australia/AEMO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AEMO (Australian Energy Market Operator) publica abiertamente necesidades de inercia. Fondos de regulación disponibles. Zona NEM con &gt;40% renovable.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70662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B96A"/>
                </a:solidFill>
              </a:rPr>
              <a:t>TAM: &gt;300 M€/año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65576"/>
            <a:ext cx="8595360" cy="713232"/>
          </a:xfrm>
          <a:prstGeom prst="rect">
            <a:avLst/>
          </a:prstGeom>
          <a:solidFill>
            <a:srgbClr val="0D1E33"/>
          </a:solidFill>
          <a:ln w="12700">
            <a:solidFill>
              <a:srgbClr val="E897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465576"/>
            <a:ext cx="109728" cy="713232"/>
          </a:xfrm>
          <a:prstGeom prst="rect">
            <a:avLst/>
          </a:prstGeom>
          <a:solidFill>
            <a:srgbClr val="E8971A"/>
          </a:solidFill>
          <a:ln/>
        </p:spPr>
      </p:sp>
      <p:sp>
        <p:nvSpPr>
          <p:cNvPr id="28" name="Shape 26"/>
          <p:cNvSpPr/>
          <p:nvPr/>
        </p:nvSpPr>
        <p:spPr>
          <a:xfrm>
            <a:off x="7845552" y="3602736"/>
            <a:ext cx="914400" cy="292608"/>
          </a:xfrm>
          <a:prstGeom prst="rect">
            <a:avLst/>
          </a:prstGeom>
          <a:solidFill>
            <a:srgbClr val="E8971A">
              <a:alpha val="80000"/>
            </a:srgbClr>
          </a:solidFill>
          <a:ln w="12700">
            <a:solidFill>
              <a:srgbClr val="E897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3602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71A"/>
                </a:solidFill>
              </a:rPr>
              <a:t>MEDIA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" y="35021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71A"/>
                </a:solidFill>
              </a:rPr>
              <a:t>🇺🇸 EEUU (FERC 842)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" y="38130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FERC Order 842 obliga a nuevas plantas a tener capacidad de respuesta de frecuencia. Texas (ERCOT) y California son mercados prioritarios por % renovable.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502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971A"/>
                </a:solidFill>
              </a:rPr>
              <a:t>TAM: &gt;5.000 M€/año (total servicios auxiliares)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61104"/>
            <a:ext cx="8595360" cy="713232"/>
          </a:xfrm>
          <a:prstGeom prst="rect">
            <a:avLst/>
          </a:prstGeom>
          <a:solidFill>
            <a:srgbClr val="0D1E33"/>
          </a:solidFill>
          <a:ln w="12700">
            <a:solidFill>
              <a:srgbClr val="D9363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261104"/>
            <a:ext cx="109728" cy="713232"/>
          </a:xfrm>
          <a:prstGeom prst="rect">
            <a:avLst/>
          </a:prstGeom>
          <a:solidFill>
            <a:srgbClr val="D93636"/>
          </a:solidFill>
          <a:ln/>
        </p:spPr>
      </p:sp>
      <p:sp>
        <p:nvSpPr>
          <p:cNvPr id="35" name="Shape 33"/>
          <p:cNvSpPr/>
          <p:nvPr/>
        </p:nvSpPr>
        <p:spPr>
          <a:xfrm>
            <a:off x="7845552" y="4398264"/>
            <a:ext cx="914400" cy="292608"/>
          </a:xfrm>
          <a:prstGeom prst="rect">
            <a:avLst/>
          </a:prstGeom>
          <a:solidFill>
            <a:srgbClr val="D93636">
              <a:alpha val="80000"/>
            </a:srgbClr>
          </a:solidFill>
          <a:ln w="12700">
            <a:solidFill>
              <a:srgbClr val="D936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5552" y="43982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3636"/>
                </a:solidFill>
              </a:rPr>
              <a:t>CRECIENTE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4297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3636"/>
                </a:solidFill>
              </a:rPr>
              <a:t>🌍 Mercados emergentes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5488" y="460857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Chile, Brasil, India y Marruecos: expansión masiva de eólica con grids débiles. Oportunidad de ser tecnología base de los parques de nueva generación.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3636"/>
                </a:solidFill>
              </a:rPr>
              <a:t>TAM potencial: &gt;1.000 M€/año en 5 años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B9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2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Cambio de paradigma en la eólica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363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594360"/>
          </a:xfrm>
          <a:prstGeom prst="rect">
            <a:avLst/>
          </a:prstGeom>
          <a:solidFill>
            <a:srgbClr val="D93636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509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ANTES  ·  Aerogenerador pasivo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cuando hay viento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47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regular frecuencia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inercia controlable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corta en tormentas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variable imprevisible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la red para equilibrio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 solar de forma activa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24528" y="2852928"/>
            <a:ext cx="694944" cy="0"/>
          </a:xfrm>
          <a:prstGeom prst="line">
            <a:avLst/>
          </a:prstGeom>
          <a:noFill/>
          <a:ln w="38100">
            <a:solidFill>
              <a:srgbClr val="0A32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6791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3260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69080" y="32004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AA"/>
                </a:solidFill>
              </a:rPr>
              <a:t>ZypyZape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914400"/>
            <a:ext cx="393192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2B9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914400"/>
            <a:ext cx="3931920" cy="594360"/>
          </a:xfrm>
          <a:prstGeom prst="rect">
            <a:avLst/>
          </a:prstGeom>
          <a:solidFill>
            <a:srgbClr val="22B96A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95097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 ZYPYZAPE  ·  Regulador activo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Y regula simultáneamente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947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frecuencia de red en tiempo real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Inercia sintética programable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587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más en tormentas (ley cubo)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9077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servicios de red +FCR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módulo equilibra su entorno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solar por neutros: sin desperdicio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2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Regulación distribuida · La red mejora con cada módulo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AB8"/>
                </a:solidFill>
              </a:rPr>
              <a:t>A diferencia de las soluciones centralizadas, ZypyZape mejora la estabilidad de la red de forma aditiva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14500" y="2354580"/>
            <a:ext cx="1554480" cy="109728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3223260" y="3406140"/>
            <a:ext cx="1645920" cy="-128016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4937760" y="2194560"/>
            <a:ext cx="1645920" cy="109728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6515100" y="3223260"/>
            <a:ext cx="1280160" cy="-73152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3223260" y="3406140"/>
            <a:ext cx="-731520" cy="91440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6515100" y="3223260"/>
            <a:ext cx="182880" cy="128016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1714500" y="2354580"/>
            <a:ext cx="3200400" cy="-18288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4937760" y="2194560"/>
            <a:ext cx="2926080" cy="365760"/>
          </a:xfrm>
          <a:prstGeom prst="line">
            <a:avLst/>
          </a:prstGeom>
          <a:noFill/>
          <a:ln w="15240">
            <a:solidFill>
              <a:srgbClr val="0A3260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1371600" y="2011680"/>
            <a:ext cx="685800" cy="685800"/>
          </a:xfrm>
          <a:prstGeom prst="ellipse">
            <a:avLst/>
          </a:prstGeom>
          <a:solidFill>
            <a:srgbClr val="00C4AA">
              <a:alpha val="75000"/>
            </a:srgbClr>
          </a:solidFill>
          <a:ln w="317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3108960"/>
            <a:ext cx="594360" cy="594360"/>
          </a:xfrm>
          <a:prstGeom prst="ellipse">
            <a:avLst/>
          </a:prstGeom>
          <a:solidFill>
            <a:srgbClr val="1A7FD4">
              <a:alpha val="75000"/>
            </a:srgbClr>
          </a:solidFill>
          <a:ln w="31750">
            <a:solidFill>
              <a:srgbClr val="1A7F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731520" cy="731520"/>
          </a:xfrm>
          <a:prstGeom prst="ellipse">
            <a:avLst/>
          </a:prstGeom>
          <a:solidFill>
            <a:srgbClr val="22B96A">
              <a:alpha val="75000"/>
            </a:srgbClr>
          </a:solidFill>
          <a:ln w="3175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594360" cy="594360"/>
          </a:xfrm>
          <a:prstGeom prst="ellipse">
            <a:avLst/>
          </a:prstGeom>
          <a:solidFill>
            <a:srgbClr val="00C4AA">
              <a:alpha val="75000"/>
            </a:srgbClr>
          </a:solidFill>
          <a:ln w="317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2194560"/>
            <a:ext cx="640080" cy="640080"/>
          </a:xfrm>
          <a:prstGeom prst="ellipse">
            <a:avLst/>
          </a:prstGeom>
          <a:solidFill>
            <a:srgbClr val="1A7FD4">
              <a:alpha val="75000"/>
            </a:srgbClr>
          </a:solidFill>
          <a:ln w="31750">
            <a:solidFill>
              <a:srgbClr val="1A7F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4023360"/>
            <a:ext cx="502920" cy="502920"/>
          </a:xfrm>
          <a:prstGeom prst="ellipse">
            <a:avLst/>
          </a:prstGeom>
          <a:solidFill>
            <a:srgbClr val="22B96A">
              <a:alpha val="75000"/>
            </a:srgbClr>
          </a:solidFill>
          <a:ln w="3175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945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00C4AA">
              <a:alpha val="75000"/>
            </a:srgbClr>
          </a:solidFill>
          <a:ln w="317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Módulo N+1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E33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AA"/>
                </a:solidFill>
              </a:rPr>
              <a:t>Lineal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Escalado de inercia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33472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B96A"/>
                </a:solidFill>
              </a:rPr>
              <a:t>Local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633472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Respuesta autónoma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9744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FD4"/>
                </a:solidFill>
              </a:rPr>
              <a:t>Sin SPC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09744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Sin super-computación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86016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71A"/>
                </a:solidFill>
              </a:rPr>
              <a:t>Modular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86016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B8"/>
                </a:solidFill>
              </a:rPr>
              <a:t>CAPEX fraccionable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A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-457200"/>
            <a:ext cx="6400800" cy="6400800"/>
          </a:xfrm>
          <a:prstGeom prst="ellipse">
            <a:avLst/>
          </a:prstGeom>
          <a:solidFill>
            <a:srgbClr val="00C4AA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ZypyZape es la solución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el sistema eléctrico europeo necesita hoy.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4572000" cy="0"/>
          </a:xfrm>
          <a:prstGeom prst="line">
            <a:avLst/>
          </a:prstGeom>
          <a:noFill/>
          <a:ln w="19050">
            <a:solidFill>
              <a:srgbClr val="00C4A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299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existente  ·  Sin electroquímica  ·  Respuesta instantánea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agente pasivo a regulador activo de red
</a:t>
            </a:r>
            <a:pPr indent="0" marL="0">
              <a:buNone/>
            </a:pPr>
            <a:r>
              <a:rPr lang="en-US" sz="1400" dirty="0">
                <a:solidFill>
                  <a:srgbClr val="00C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generación + servicios de red + reducción de curtailment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127248"/>
            <a:ext cx="2697480" cy="1600200"/>
          </a:xfrm>
          <a:prstGeom prst="rect">
            <a:avLst/>
          </a:prstGeom>
          <a:solidFill>
            <a:srgbClr val="00C4AA">
              <a:alpha val="18000"/>
            </a:srgbClr>
          </a:solidFill>
          <a:ln w="19050">
            <a:solidFill>
              <a:srgbClr val="00C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3127248"/>
            <a:ext cx="2697480" cy="457200"/>
          </a:xfrm>
          <a:prstGeom prst="rect">
            <a:avLst/>
          </a:prstGeom>
          <a:solidFill>
            <a:srgbClr val="00C4A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Siguiente paso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técnica en parque existente + simulación de balance energético con datos reales.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9272" y="3127248"/>
            <a:ext cx="2697480" cy="1600200"/>
          </a:xfrm>
          <a:prstGeom prst="rect">
            <a:avLst/>
          </a:prstGeom>
          <a:solidFill>
            <a:srgbClr val="E8971A">
              <a:alpha val="18000"/>
            </a:srgbClr>
          </a:solidFill>
          <a:ln w="19050">
            <a:solidFill>
              <a:srgbClr val="E897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3127248"/>
            <a:ext cx="2697480" cy="457200"/>
          </a:xfrm>
          <a:prstGeom prst="rect">
            <a:avLst/>
          </a:prstGeom>
          <a:solidFill>
            <a:srgbClr val="E8971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Propuesta de piloto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5 molinos en parque de 25+ MW. Período de validación: 12 meses. ROI estimado desde año 2.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7064" y="3127248"/>
            <a:ext cx="2697480" cy="1600200"/>
          </a:xfrm>
          <a:prstGeom prst="rect">
            <a:avLst/>
          </a:prstGeom>
          <a:solidFill>
            <a:srgbClr val="22B96A">
              <a:alpha val="18000"/>
            </a:srgbClr>
          </a:solidFill>
          <a:ln w="19050">
            <a:solidFill>
              <a:srgbClr val="22B9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7064" y="3127248"/>
            <a:ext cx="2697480" cy="457200"/>
          </a:xfrm>
          <a:prstGeom prst="rect">
            <a:avLst/>
          </a:prstGeom>
          <a:solidFill>
            <a:srgbClr val="22B96A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3145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Búsqueda de socios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36792" y="3639312"/>
            <a:ext cx="2468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socio tecnológico (electrónica de potencia) e inversor estratégico del sector energético.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B8"/>
                </a:solidFill>
              </a:rPr>
              <a:t>Victor Manzanares Alberola  ·  victormanzaresalberola@gmail.com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ZypyZape — Commercial Pitch</dc:title>
  <dc:subject>PptxGenJS Presentation</dc:subject>
  <dc:creator>Victor Manzanares Alberola</dc:creator>
  <cp:lastModifiedBy>Victor Manzanares Alberola</cp:lastModifiedBy>
  <cp:revision>1</cp:revision>
  <dcterms:created xsi:type="dcterms:W3CDTF">2026-02-28T14:07:23Z</dcterms:created>
  <dcterms:modified xsi:type="dcterms:W3CDTF">2026-02-28T14:07:23Z</dcterms:modified>
</cp:coreProperties>
</file>